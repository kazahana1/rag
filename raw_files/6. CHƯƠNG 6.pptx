
<file path=[Content_Types].xml><?xml version="1.0" encoding="utf-8"?>
<Types xmlns="http://schemas.openxmlformats.org/package/2006/content-types">
  <Default Extension="gif" ContentType="image/gi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1"/>
  </p:sldMasterIdLst>
  <p:notesMasterIdLst>
    <p:notesMasterId r:id="rId43"/>
  </p:notesMasterIdLst>
  <p:handoutMasterIdLst>
    <p:handoutMasterId r:id="rId44"/>
  </p:handoutMasterIdLst>
  <p:sldIdLst>
    <p:sldId id="579" r:id="rId2"/>
    <p:sldId id="559" r:id="rId3"/>
    <p:sldId id="614" r:id="rId4"/>
    <p:sldId id="615" r:id="rId5"/>
    <p:sldId id="566" r:id="rId6"/>
    <p:sldId id="567" r:id="rId7"/>
    <p:sldId id="568" r:id="rId8"/>
    <p:sldId id="569" r:id="rId9"/>
    <p:sldId id="570" r:id="rId10"/>
    <p:sldId id="571" r:id="rId11"/>
    <p:sldId id="580" r:id="rId12"/>
    <p:sldId id="581" r:id="rId13"/>
    <p:sldId id="582" r:id="rId14"/>
    <p:sldId id="583" r:id="rId15"/>
    <p:sldId id="603" r:id="rId16"/>
    <p:sldId id="584" r:id="rId17"/>
    <p:sldId id="585" r:id="rId18"/>
    <p:sldId id="587" r:id="rId19"/>
    <p:sldId id="588" r:id="rId20"/>
    <p:sldId id="616" r:id="rId21"/>
    <p:sldId id="590" r:id="rId22"/>
    <p:sldId id="591" r:id="rId23"/>
    <p:sldId id="592" r:id="rId24"/>
    <p:sldId id="256" r:id="rId25"/>
    <p:sldId id="259" r:id="rId26"/>
    <p:sldId id="257" r:id="rId27"/>
    <p:sldId id="617" r:id="rId28"/>
    <p:sldId id="593" r:id="rId29"/>
    <p:sldId id="594" r:id="rId30"/>
    <p:sldId id="618" r:id="rId31"/>
    <p:sldId id="573" r:id="rId32"/>
    <p:sldId id="575" r:id="rId33"/>
    <p:sldId id="595" r:id="rId34"/>
    <p:sldId id="596" r:id="rId35"/>
    <p:sldId id="597" r:id="rId36"/>
    <p:sldId id="598" r:id="rId37"/>
    <p:sldId id="576" r:id="rId38"/>
    <p:sldId id="577" r:id="rId39"/>
    <p:sldId id="578" r:id="rId40"/>
    <p:sldId id="600" r:id="rId41"/>
    <p:sldId id="565" r:id="rId42"/>
  </p:sldIdLst>
  <p:sldSz cx="9144000" cy="6858000" type="screen4x3"/>
  <p:notesSz cx="9601200" cy="7315200"/>
  <p:defaultTextStyle>
    <a:defPPr>
      <a:defRPr lang="en-US"/>
    </a:defPPr>
    <a:lvl1pPr algn="ctr" rtl="0" fontAlgn="base">
      <a:spcBef>
        <a:spcPct val="0"/>
      </a:spcBef>
      <a:spcAft>
        <a:spcPct val="0"/>
      </a:spcAft>
      <a:defRPr kern="1200">
        <a:solidFill>
          <a:schemeClr val="tx1"/>
        </a:solidFill>
        <a:latin typeface="Symbol" panose="05050102010706020507" pitchFamily="18" charset="2"/>
        <a:ea typeface="+mn-ea"/>
        <a:cs typeface="+mn-cs"/>
      </a:defRPr>
    </a:lvl1pPr>
    <a:lvl2pPr marL="457200" algn="ctr" rtl="0" fontAlgn="base">
      <a:spcBef>
        <a:spcPct val="0"/>
      </a:spcBef>
      <a:spcAft>
        <a:spcPct val="0"/>
      </a:spcAft>
      <a:defRPr kern="1200">
        <a:solidFill>
          <a:schemeClr val="tx1"/>
        </a:solidFill>
        <a:latin typeface="Symbol" panose="05050102010706020507" pitchFamily="18" charset="2"/>
        <a:ea typeface="+mn-ea"/>
        <a:cs typeface="+mn-cs"/>
      </a:defRPr>
    </a:lvl2pPr>
    <a:lvl3pPr marL="914400" algn="ctr" rtl="0" fontAlgn="base">
      <a:spcBef>
        <a:spcPct val="0"/>
      </a:spcBef>
      <a:spcAft>
        <a:spcPct val="0"/>
      </a:spcAft>
      <a:defRPr kern="1200">
        <a:solidFill>
          <a:schemeClr val="tx1"/>
        </a:solidFill>
        <a:latin typeface="Symbol" panose="05050102010706020507" pitchFamily="18" charset="2"/>
        <a:ea typeface="+mn-ea"/>
        <a:cs typeface="+mn-cs"/>
      </a:defRPr>
    </a:lvl3pPr>
    <a:lvl4pPr marL="1371600" algn="ctr" rtl="0" fontAlgn="base">
      <a:spcBef>
        <a:spcPct val="0"/>
      </a:spcBef>
      <a:spcAft>
        <a:spcPct val="0"/>
      </a:spcAft>
      <a:defRPr kern="1200">
        <a:solidFill>
          <a:schemeClr val="tx1"/>
        </a:solidFill>
        <a:latin typeface="Symbol" panose="05050102010706020507" pitchFamily="18" charset="2"/>
        <a:ea typeface="+mn-ea"/>
        <a:cs typeface="+mn-cs"/>
      </a:defRPr>
    </a:lvl4pPr>
    <a:lvl5pPr marL="1828800" algn="ctr" rtl="0" fontAlgn="base">
      <a:spcBef>
        <a:spcPct val="0"/>
      </a:spcBef>
      <a:spcAft>
        <a:spcPct val="0"/>
      </a:spcAft>
      <a:defRPr kern="1200">
        <a:solidFill>
          <a:schemeClr val="tx1"/>
        </a:solidFill>
        <a:latin typeface="Symbol" panose="05050102010706020507" pitchFamily="18" charset="2"/>
        <a:ea typeface="+mn-ea"/>
        <a:cs typeface="+mn-cs"/>
      </a:defRPr>
    </a:lvl5pPr>
    <a:lvl6pPr marL="2286000" algn="l" defTabSz="914400" rtl="0" eaLnBrk="1" latinLnBrk="0" hangingPunct="1">
      <a:defRPr kern="1200">
        <a:solidFill>
          <a:schemeClr val="tx1"/>
        </a:solidFill>
        <a:latin typeface="Symbol" panose="05050102010706020507" pitchFamily="18" charset="2"/>
        <a:ea typeface="+mn-ea"/>
        <a:cs typeface="+mn-cs"/>
      </a:defRPr>
    </a:lvl6pPr>
    <a:lvl7pPr marL="2743200" algn="l" defTabSz="914400" rtl="0" eaLnBrk="1" latinLnBrk="0" hangingPunct="1">
      <a:defRPr kern="1200">
        <a:solidFill>
          <a:schemeClr val="tx1"/>
        </a:solidFill>
        <a:latin typeface="Symbol" panose="05050102010706020507" pitchFamily="18" charset="2"/>
        <a:ea typeface="+mn-ea"/>
        <a:cs typeface="+mn-cs"/>
      </a:defRPr>
    </a:lvl7pPr>
    <a:lvl8pPr marL="3200400" algn="l" defTabSz="914400" rtl="0" eaLnBrk="1" latinLnBrk="0" hangingPunct="1">
      <a:defRPr kern="1200">
        <a:solidFill>
          <a:schemeClr val="tx1"/>
        </a:solidFill>
        <a:latin typeface="Symbol" panose="05050102010706020507" pitchFamily="18" charset="2"/>
        <a:ea typeface="+mn-ea"/>
        <a:cs typeface="+mn-cs"/>
      </a:defRPr>
    </a:lvl8pPr>
    <a:lvl9pPr marL="3657600" algn="l" defTabSz="914400" rtl="0" eaLnBrk="1" latinLnBrk="0" hangingPunct="1">
      <a:defRPr kern="1200">
        <a:solidFill>
          <a:schemeClr val="tx1"/>
        </a:solidFill>
        <a:latin typeface="Symbol" panose="05050102010706020507" pitchFamily="18" charset="2"/>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C1C1C"/>
    <a:srgbClr val="B32C16"/>
    <a:srgbClr val="F8F8F8"/>
    <a:srgbClr val="4F81BD"/>
    <a:srgbClr val="F5CD2D"/>
    <a:srgbClr val="3A7F86"/>
    <a:srgbClr val="9BBB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annguyen141601@gmail.com" userId="d93b6337fa10e7e9" providerId="LiveId" clId="{D4D2FD69-6570-450D-B624-7E5998EED435}"/>
    <pc:docChg chg="modSld">
      <pc:chgData name="toannguyen141601@gmail.com" userId="d93b6337fa10e7e9" providerId="LiveId" clId="{D4D2FD69-6570-450D-B624-7E5998EED435}" dt="2024-01-07T01:27:40.295" v="50" actId="20577"/>
      <pc:docMkLst>
        <pc:docMk/>
      </pc:docMkLst>
      <pc:sldChg chg="modSp mod">
        <pc:chgData name="toannguyen141601@gmail.com" userId="d93b6337fa10e7e9" providerId="LiveId" clId="{D4D2FD69-6570-450D-B624-7E5998EED435}" dt="2024-01-07T01:27:40.295" v="50" actId="20577"/>
        <pc:sldMkLst>
          <pc:docMk/>
          <pc:sldMk cId="831814043" sldId="579"/>
        </pc:sldMkLst>
        <pc:spChg chg="mod">
          <ac:chgData name="toannguyen141601@gmail.com" userId="d93b6337fa10e7e9" providerId="LiveId" clId="{D4D2FD69-6570-450D-B624-7E5998EED435}" dt="2024-01-07T01:27:40.295" v="50" actId="20577"/>
          <ac:spMkLst>
            <pc:docMk/>
            <pc:sldMk cId="831814043" sldId="579"/>
            <ac:spMk id="18" creationId="{00000000-0000-0000-0000-000000000000}"/>
          </ac:spMkLst>
        </pc:spChg>
        <pc:spChg chg="mod">
          <ac:chgData name="toannguyen141601@gmail.com" userId="d93b6337fa10e7e9" providerId="LiveId" clId="{D4D2FD69-6570-450D-B624-7E5998EED435}" dt="2024-01-07T01:27:36.436" v="46" actId="20577"/>
          <ac:spMkLst>
            <pc:docMk/>
            <pc:sldMk cId="831814043" sldId="579"/>
            <ac:spMk id="2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4162425"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Arial" panose="020B0604020202020204" pitchFamily="34" charset="0"/>
              </a:defRPr>
            </a:lvl1pPr>
          </a:lstStyle>
          <a:p>
            <a:endParaRPr lang="en-US" altLang="en-US"/>
          </a:p>
        </p:txBody>
      </p:sp>
      <p:sp>
        <p:nvSpPr>
          <p:cNvPr id="27651" name="Rectangle 3"/>
          <p:cNvSpPr>
            <a:spLocks noGrp="1" noChangeArrowheads="1"/>
          </p:cNvSpPr>
          <p:nvPr>
            <p:ph type="dt" sz="quarter" idx="1"/>
          </p:nvPr>
        </p:nvSpPr>
        <p:spPr bwMode="auto">
          <a:xfrm>
            <a:off x="5437188" y="0"/>
            <a:ext cx="4162425"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panose="020B0604020202020204" pitchFamily="34" charset="0"/>
              </a:defRPr>
            </a:lvl1pPr>
          </a:lstStyle>
          <a:p>
            <a:endParaRPr lang="en-US" altLang="en-US"/>
          </a:p>
        </p:txBody>
      </p:sp>
      <p:sp>
        <p:nvSpPr>
          <p:cNvPr id="27652" name="Rectangle 4"/>
          <p:cNvSpPr>
            <a:spLocks noGrp="1" noChangeArrowheads="1"/>
          </p:cNvSpPr>
          <p:nvPr>
            <p:ph type="ftr" sz="quarter" idx="2"/>
          </p:nvPr>
        </p:nvSpPr>
        <p:spPr bwMode="auto">
          <a:xfrm>
            <a:off x="0" y="6948488"/>
            <a:ext cx="4162425"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Arial" panose="020B0604020202020204" pitchFamily="34" charset="0"/>
              </a:defRPr>
            </a:lvl1pPr>
          </a:lstStyle>
          <a:p>
            <a:endParaRPr lang="en-US" altLang="en-US"/>
          </a:p>
        </p:txBody>
      </p:sp>
      <p:sp>
        <p:nvSpPr>
          <p:cNvPr id="27653" name="Rectangle 5"/>
          <p:cNvSpPr>
            <a:spLocks noGrp="1" noChangeArrowheads="1"/>
          </p:cNvSpPr>
          <p:nvPr>
            <p:ph type="sldNum" sz="quarter" idx="3"/>
          </p:nvPr>
        </p:nvSpPr>
        <p:spPr bwMode="auto">
          <a:xfrm>
            <a:off x="5437188" y="6948488"/>
            <a:ext cx="4162425"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panose="020B0604020202020204" pitchFamily="34" charset="0"/>
              </a:defRPr>
            </a:lvl1pPr>
          </a:lstStyle>
          <a:p>
            <a:fld id="{A1D52AD1-1446-4549-A4A4-CD4E8DCF87B8}" type="slidenum">
              <a:rPr lang="en-US" altLang="en-US"/>
              <a:pPr/>
              <a:t>‹#›</a:t>
            </a:fld>
            <a:endParaRPr lang="en-US" altLang="en-US"/>
          </a:p>
        </p:txBody>
      </p:sp>
    </p:spTree>
    <p:extLst>
      <p:ext uri="{BB962C8B-B14F-4D97-AF65-F5344CB8AC3E}">
        <p14:creationId xmlns:p14="http://schemas.microsoft.com/office/powerpoint/2010/main" val="13893595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1794" name="Rectangle 2"/>
          <p:cNvSpPr>
            <a:spLocks noGrp="1" noChangeArrowheads="1"/>
          </p:cNvSpPr>
          <p:nvPr>
            <p:ph type="hdr" sz="quarter"/>
          </p:nvPr>
        </p:nvSpPr>
        <p:spPr bwMode="auto">
          <a:xfrm>
            <a:off x="0" y="0"/>
            <a:ext cx="4162425"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Arial" panose="020B0604020202020204" pitchFamily="34" charset="0"/>
              </a:defRPr>
            </a:lvl1pPr>
          </a:lstStyle>
          <a:p>
            <a:endParaRPr lang="en-US" altLang="en-US"/>
          </a:p>
        </p:txBody>
      </p:sp>
      <p:sp>
        <p:nvSpPr>
          <p:cNvPr id="161795" name="Rectangle 3"/>
          <p:cNvSpPr>
            <a:spLocks noGrp="1" noChangeArrowheads="1"/>
          </p:cNvSpPr>
          <p:nvPr>
            <p:ph type="dt" idx="1"/>
          </p:nvPr>
        </p:nvSpPr>
        <p:spPr bwMode="auto">
          <a:xfrm>
            <a:off x="5437188" y="0"/>
            <a:ext cx="4162425"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panose="020B0604020202020204" pitchFamily="34" charset="0"/>
              </a:defRPr>
            </a:lvl1pPr>
          </a:lstStyle>
          <a:p>
            <a:endParaRPr lang="en-US" altLang="en-US"/>
          </a:p>
        </p:txBody>
      </p:sp>
      <p:sp>
        <p:nvSpPr>
          <p:cNvPr id="161796" name="Rectangle 4"/>
          <p:cNvSpPr>
            <a:spLocks noGrp="1" noRot="1" noChangeAspect="1" noChangeArrowheads="1" noTextEdit="1"/>
          </p:cNvSpPr>
          <p:nvPr>
            <p:ph type="sldImg" idx="2"/>
          </p:nvPr>
        </p:nvSpPr>
        <p:spPr bwMode="auto">
          <a:xfrm>
            <a:off x="2973388" y="549275"/>
            <a:ext cx="3657600" cy="2743200"/>
          </a:xfrm>
          <a:prstGeom prst="rect">
            <a:avLst/>
          </a:prstGeom>
          <a:noFill/>
          <a:ln w="9525">
            <a:solidFill>
              <a:srgbClr val="000000"/>
            </a:solidFill>
            <a:miter lim="800000"/>
            <a:headEnd/>
            <a:tailEnd/>
          </a:ln>
          <a:effectLst/>
          <a:extLst>
            <a:ext uri="{AF507438-7753-43e0-B8FC-AC1667EBCBE1}">
              <a14:hiddenEffects xmlns:a14="http://schemas.microsoft.com/office/drawing/2010/main" xmlns="">
                <a:effectLst>
                  <a:outerShdw dist="35921" dir="2700000" algn="ctr" rotWithShape="0">
                    <a:srgbClr val="808080"/>
                  </a:outerShdw>
                </a:effectLst>
              </a14:hiddenEffects>
            </a:ext>
            <a:ext uri="{53640926-AAD7-44d8-BBD7-CCE9431645EC}">
              <a14:shadowObscured xmlns:a14="http://schemas.microsoft.com/office/drawing/2010/main" xmlns="" val="1"/>
            </a:ext>
          </a:extLst>
        </p:spPr>
      </p:sp>
      <p:sp>
        <p:nvSpPr>
          <p:cNvPr id="161797" name="Rectangle 5"/>
          <p:cNvSpPr>
            <a:spLocks noGrp="1" noChangeArrowheads="1"/>
          </p:cNvSpPr>
          <p:nvPr>
            <p:ph type="body" sz="quarter" idx="3"/>
          </p:nvPr>
        </p:nvSpPr>
        <p:spPr bwMode="auto">
          <a:xfrm>
            <a:off x="958850" y="3475038"/>
            <a:ext cx="7683500" cy="3290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61798" name="Rectangle 6"/>
          <p:cNvSpPr>
            <a:spLocks noGrp="1" noChangeArrowheads="1"/>
          </p:cNvSpPr>
          <p:nvPr>
            <p:ph type="ftr" sz="quarter" idx="4"/>
          </p:nvPr>
        </p:nvSpPr>
        <p:spPr bwMode="auto">
          <a:xfrm>
            <a:off x="0" y="6948488"/>
            <a:ext cx="4162425"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Arial" panose="020B0604020202020204" pitchFamily="34" charset="0"/>
              </a:defRPr>
            </a:lvl1pPr>
          </a:lstStyle>
          <a:p>
            <a:endParaRPr lang="en-US" altLang="en-US"/>
          </a:p>
        </p:txBody>
      </p:sp>
      <p:sp>
        <p:nvSpPr>
          <p:cNvPr id="161799" name="Rectangle 7"/>
          <p:cNvSpPr>
            <a:spLocks noGrp="1" noChangeArrowheads="1"/>
          </p:cNvSpPr>
          <p:nvPr>
            <p:ph type="sldNum" sz="quarter" idx="5"/>
          </p:nvPr>
        </p:nvSpPr>
        <p:spPr bwMode="auto">
          <a:xfrm>
            <a:off x="5437188" y="6948488"/>
            <a:ext cx="4162425"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panose="020B0604020202020204" pitchFamily="34" charset="0"/>
              </a:defRPr>
            </a:lvl1pPr>
          </a:lstStyle>
          <a:p>
            <a:fld id="{B328405B-8ADB-4823-A440-87945971CF17}" type="slidenum">
              <a:rPr lang="en-US" altLang="en-US"/>
              <a:pPr/>
              <a:t>‹#›</a:t>
            </a:fld>
            <a:endParaRPr lang="en-US" altLang="en-US"/>
          </a:p>
        </p:txBody>
      </p:sp>
    </p:spTree>
    <p:extLst>
      <p:ext uri="{BB962C8B-B14F-4D97-AF65-F5344CB8AC3E}">
        <p14:creationId xmlns:p14="http://schemas.microsoft.com/office/powerpoint/2010/main" val="225722395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13205-DC60-4BDB-910C-1848EF35C863}" type="slidenum">
              <a:rPr lang="en-US" altLang="en-US"/>
              <a:pPr/>
              <a:t>4</a:t>
            </a:fld>
            <a:endParaRPr lang="en-US" altLang="en-US"/>
          </a:p>
        </p:txBody>
      </p:sp>
      <p:sp>
        <p:nvSpPr>
          <p:cNvPr id="970754" name="Rectangle 2"/>
          <p:cNvSpPr>
            <a:spLocks noGrp="1" noRot="1" noChangeAspect="1" noChangeArrowheads="1" noTextEdit="1"/>
          </p:cNvSpPr>
          <p:nvPr>
            <p:ph type="sldImg"/>
          </p:nvPr>
        </p:nvSpPr>
        <p:spPr>
          <a:xfrm>
            <a:off x="2971800" y="549275"/>
            <a:ext cx="3657600" cy="2743200"/>
          </a:xfrm>
          <a:ln/>
        </p:spPr>
      </p:sp>
      <p:sp>
        <p:nvSpPr>
          <p:cNvPr id="970755" name="Rectangle 3"/>
          <p:cNvSpPr>
            <a:spLocks noGrp="1" noChangeArrowheads="1"/>
          </p:cNvSpPr>
          <p:nvPr>
            <p:ph type="body" idx="1"/>
          </p:nvPr>
        </p:nvSpPr>
        <p:spPr>
          <a:xfrm>
            <a:off x="960438" y="3475038"/>
            <a:ext cx="7681912" cy="3290887"/>
          </a:xfrm>
        </p:spPr>
        <p:txBody>
          <a:bodyPr/>
          <a:lstStyle/>
          <a:p>
            <a:r>
              <a:rPr lang="en-US" altLang="en-US"/>
              <a:t>Content Layouts</a:t>
            </a:r>
          </a:p>
        </p:txBody>
      </p:sp>
    </p:spTree>
    <p:extLst>
      <p:ext uri="{BB962C8B-B14F-4D97-AF65-F5344CB8AC3E}">
        <p14:creationId xmlns:p14="http://schemas.microsoft.com/office/powerpoint/2010/main" val="1419660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13205-DC60-4BDB-910C-1848EF35C863}" type="slidenum">
              <a:rPr lang="en-US" altLang="en-US"/>
              <a:pPr/>
              <a:t>5</a:t>
            </a:fld>
            <a:endParaRPr lang="en-US" altLang="en-US"/>
          </a:p>
        </p:txBody>
      </p:sp>
      <p:sp>
        <p:nvSpPr>
          <p:cNvPr id="970754" name="Rectangle 2"/>
          <p:cNvSpPr>
            <a:spLocks noGrp="1" noRot="1" noChangeAspect="1" noChangeArrowheads="1" noTextEdit="1"/>
          </p:cNvSpPr>
          <p:nvPr>
            <p:ph type="sldImg"/>
          </p:nvPr>
        </p:nvSpPr>
        <p:spPr>
          <a:xfrm>
            <a:off x="2971800" y="549275"/>
            <a:ext cx="3657600" cy="2743200"/>
          </a:xfrm>
          <a:ln/>
        </p:spPr>
      </p:sp>
      <p:sp>
        <p:nvSpPr>
          <p:cNvPr id="970755" name="Rectangle 3"/>
          <p:cNvSpPr>
            <a:spLocks noGrp="1" noChangeArrowheads="1"/>
          </p:cNvSpPr>
          <p:nvPr>
            <p:ph type="body" idx="1"/>
          </p:nvPr>
        </p:nvSpPr>
        <p:spPr>
          <a:xfrm>
            <a:off x="960438" y="3475038"/>
            <a:ext cx="7681912" cy="3290887"/>
          </a:xfrm>
        </p:spPr>
        <p:txBody>
          <a:bodyPr/>
          <a:lstStyle/>
          <a:p>
            <a:r>
              <a:rPr lang="en-US" altLang="en-US"/>
              <a:t>Content Layouts</a:t>
            </a:r>
          </a:p>
        </p:txBody>
      </p:sp>
    </p:spTree>
    <p:extLst>
      <p:ext uri="{BB962C8B-B14F-4D97-AF65-F5344CB8AC3E}">
        <p14:creationId xmlns:p14="http://schemas.microsoft.com/office/powerpoint/2010/main" val="3460237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13205-DC60-4BDB-910C-1848EF35C863}" type="slidenum">
              <a:rPr lang="en-US" altLang="en-US"/>
              <a:pPr/>
              <a:t>6</a:t>
            </a:fld>
            <a:endParaRPr lang="en-US" altLang="en-US"/>
          </a:p>
        </p:txBody>
      </p:sp>
      <p:sp>
        <p:nvSpPr>
          <p:cNvPr id="970754" name="Rectangle 2"/>
          <p:cNvSpPr>
            <a:spLocks noGrp="1" noRot="1" noChangeAspect="1" noChangeArrowheads="1" noTextEdit="1"/>
          </p:cNvSpPr>
          <p:nvPr>
            <p:ph type="sldImg"/>
          </p:nvPr>
        </p:nvSpPr>
        <p:spPr>
          <a:xfrm>
            <a:off x="2971800" y="549275"/>
            <a:ext cx="3657600" cy="2743200"/>
          </a:xfrm>
          <a:ln/>
        </p:spPr>
      </p:sp>
      <p:sp>
        <p:nvSpPr>
          <p:cNvPr id="970755" name="Rectangle 3"/>
          <p:cNvSpPr>
            <a:spLocks noGrp="1" noChangeArrowheads="1"/>
          </p:cNvSpPr>
          <p:nvPr>
            <p:ph type="body" idx="1"/>
          </p:nvPr>
        </p:nvSpPr>
        <p:spPr>
          <a:xfrm>
            <a:off x="960438" y="3475038"/>
            <a:ext cx="7681912" cy="3290887"/>
          </a:xfrm>
        </p:spPr>
        <p:txBody>
          <a:bodyPr/>
          <a:lstStyle/>
          <a:p>
            <a:r>
              <a:rPr lang="en-US" altLang="en-US"/>
              <a:t>Content Layouts</a:t>
            </a:r>
          </a:p>
        </p:txBody>
      </p:sp>
    </p:spTree>
    <p:extLst>
      <p:ext uri="{BB962C8B-B14F-4D97-AF65-F5344CB8AC3E}">
        <p14:creationId xmlns:p14="http://schemas.microsoft.com/office/powerpoint/2010/main" val="2806924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13205-DC60-4BDB-910C-1848EF35C863}" type="slidenum">
              <a:rPr lang="en-US" altLang="en-US"/>
              <a:pPr/>
              <a:t>7</a:t>
            </a:fld>
            <a:endParaRPr lang="en-US" altLang="en-US"/>
          </a:p>
        </p:txBody>
      </p:sp>
      <p:sp>
        <p:nvSpPr>
          <p:cNvPr id="970754" name="Rectangle 2"/>
          <p:cNvSpPr>
            <a:spLocks noGrp="1" noRot="1" noChangeAspect="1" noChangeArrowheads="1" noTextEdit="1"/>
          </p:cNvSpPr>
          <p:nvPr>
            <p:ph type="sldImg"/>
          </p:nvPr>
        </p:nvSpPr>
        <p:spPr>
          <a:xfrm>
            <a:off x="2971800" y="549275"/>
            <a:ext cx="3657600" cy="2743200"/>
          </a:xfrm>
          <a:ln/>
        </p:spPr>
      </p:sp>
      <p:sp>
        <p:nvSpPr>
          <p:cNvPr id="970755" name="Rectangle 3"/>
          <p:cNvSpPr>
            <a:spLocks noGrp="1" noChangeArrowheads="1"/>
          </p:cNvSpPr>
          <p:nvPr>
            <p:ph type="body" idx="1"/>
          </p:nvPr>
        </p:nvSpPr>
        <p:spPr>
          <a:xfrm>
            <a:off x="960438" y="3475038"/>
            <a:ext cx="7681912" cy="3290887"/>
          </a:xfrm>
        </p:spPr>
        <p:txBody>
          <a:bodyPr/>
          <a:lstStyle/>
          <a:p>
            <a:r>
              <a:rPr lang="en-US" altLang="en-US"/>
              <a:t>Content Layouts</a:t>
            </a:r>
          </a:p>
        </p:txBody>
      </p:sp>
    </p:spTree>
    <p:extLst>
      <p:ext uri="{BB962C8B-B14F-4D97-AF65-F5344CB8AC3E}">
        <p14:creationId xmlns:p14="http://schemas.microsoft.com/office/powerpoint/2010/main" val="2881959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13205-DC60-4BDB-910C-1848EF35C863}" type="slidenum">
              <a:rPr lang="en-US" altLang="en-US"/>
              <a:pPr/>
              <a:t>8</a:t>
            </a:fld>
            <a:endParaRPr lang="en-US" altLang="en-US"/>
          </a:p>
        </p:txBody>
      </p:sp>
      <p:sp>
        <p:nvSpPr>
          <p:cNvPr id="970754" name="Rectangle 2"/>
          <p:cNvSpPr>
            <a:spLocks noGrp="1" noRot="1" noChangeAspect="1" noChangeArrowheads="1" noTextEdit="1"/>
          </p:cNvSpPr>
          <p:nvPr>
            <p:ph type="sldImg"/>
          </p:nvPr>
        </p:nvSpPr>
        <p:spPr>
          <a:xfrm>
            <a:off x="2971800" y="549275"/>
            <a:ext cx="3657600" cy="2743200"/>
          </a:xfrm>
          <a:ln/>
        </p:spPr>
      </p:sp>
      <p:sp>
        <p:nvSpPr>
          <p:cNvPr id="970755" name="Rectangle 3"/>
          <p:cNvSpPr>
            <a:spLocks noGrp="1" noChangeArrowheads="1"/>
          </p:cNvSpPr>
          <p:nvPr>
            <p:ph type="body" idx="1"/>
          </p:nvPr>
        </p:nvSpPr>
        <p:spPr>
          <a:xfrm>
            <a:off x="960438" y="3475038"/>
            <a:ext cx="7681912" cy="3290887"/>
          </a:xfrm>
        </p:spPr>
        <p:txBody>
          <a:bodyPr/>
          <a:lstStyle/>
          <a:p>
            <a:r>
              <a:rPr lang="en-US" altLang="en-US"/>
              <a:t>Content Layouts</a:t>
            </a:r>
          </a:p>
        </p:txBody>
      </p:sp>
    </p:spTree>
    <p:extLst>
      <p:ext uri="{BB962C8B-B14F-4D97-AF65-F5344CB8AC3E}">
        <p14:creationId xmlns:p14="http://schemas.microsoft.com/office/powerpoint/2010/main" val="310744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13205-DC60-4BDB-910C-1848EF35C863}" type="slidenum">
              <a:rPr lang="en-US" altLang="en-US"/>
              <a:pPr/>
              <a:t>9</a:t>
            </a:fld>
            <a:endParaRPr lang="en-US" altLang="en-US"/>
          </a:p>
        </p:txBody>
      </p:sp>
      <p:sp>
        <p:nvSpPr>
          <p:cNvPr id="970754" name="Rectangle 2"/>
          <p:cNvSpPr>
            <a:spLocks noGrp="1" noRot="1" noChangeAspect="1" noChangeArrowheads="1" noTextEdit="1"/>
          </p:cNvSpPr>
          <p:nvPr>
            <p:ph type="sldImg"/>
          </p:nvPr>
        </p:nvSpPr>
        <p:spPr>
          <a:xfrm>
            <a:off x="2971800" y="549275"/>
            <a:ext cx="3657600" cy="2743200"/>
          </a:xfrm>
          <a:ln/>
        </p:spPr>
      </p:sp>
      <p:sp>
        <p:nvSpPr>
          <p:cNvPr id="970755" name="Rectangle 3"/>
          <p:cNvSpPr>
            <a:spLocks noGrp="1" noChangeArrowheads="1"/>
          </p:cNvSpPr>
          <p:nvPr>
            <p:ph type="body" idx="1"/>
          </p:nvPr>
        </p:nvSpPr>
        <p:spPr>
          <a:xfrm>
            <a:off x="960438" y="3475038"/>
            <a:ext cx="7681912" cy="3290887"/>
          </a:xfrm>
        </p:spPr>
        <p:txBody>
          <a:bodyPr/>
          <a:lstStyle/>
          <a:p>
            <a:r>
              <a:rPr lang="en-US" altLang="en-US"/>
              <a:t>Content Layouts</a:t>
            </a:r>
          </a:p>
        </p:txBody>
      </p:sp>
    </p:spTree>
    <p:extLst>
      <p:ext uri="{BB962C8B-B14F-4D97-AF65-F5344CB8AC3E}">
        <p14:creationId xmlns:p14="http://schemas.microsoft.com/office/powerpoint/2010/main" val="2790555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13205-DC60-4BDB-910C-1848EF35C863}" type="slidenum">
              <a:rPr lang="en-US" altLang="en-US"/>
              <a:pPr/>
              <a:t>14</a:t>
            </a:fld>
            <a:endParaRPr lang="en-US" altLang="en-US"/>
          </a:p>
        </p:txBody>
      </p:sp>
      <p:sp>
        <p:nvSpPr>
          <p:cNvPr id="970754" name="Rectangle 2"/>
          <p:cNvSpPr>
            <a:spLocks noGrp="1" noRot="1" noChangeAspect="1" noChangeArrowheads="1" noTextEdit="1"/>
          </p:cNvSpPr>
          <p:nvPr>
            <p:ph type="sldImg"/>
          </p:nvPr>
        </p:nvSpPr>
        <p:spPr>
          <a:xfrm>
            <a:off x="2971800" y="549275"/>
            <a:ext cx="3657600" cy="2743200"/>
          </a:xfrm>
          <a:ln/>
        </p:spPr>
      </p:sp>
      <p:sp>
        <p:nvSpPr>
          <p:cNvPr id="970755" name="Rectangle 3"/>
          <p:cNvSpPr>
            <a:spLocks noGrp="1" noChangeArrowheads="1"/>
          </p:cNvSpPr>
          <p:nvPr>
            <p:ph type="body" idx="1"/>
          </p:nvPr>
        </p:nvSpPr>
        <p:spPr>
          <a:xfrm>
            <a:off x="960438" y="3475038"/>
            <a:ext cx="7681912" cy="3290887"/>
          </a:xfrm>
        </p:spPr>
        <p:txBody>
          <a:bodyPr/>
          <a:lstStyle/>
          <a:p>
            <a:r>
              <a:rPr lang="en-US" altLang="en-US"/>
              <a:t>Content Layouts</a:t>
            </a:r>
          </a:p>
        </p:txBody>
      </p:sp>
    </p:spTree>
    <p:extLst>
      <p:ext uri="{BB962C8B-B14F-4D97-AF65-F5344CB8AC3E}">
        <p14:creationId xmlns:p14="http://schemas.microsoft.com/office/powerpoint/2010/main" val="2375683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13205-DC60-4BDB-910C-1848EF35C863}" type="slidenum">
              <a:rPr lang="en-US" altLang="en-US"/>
              <a:pPr/>
              <a:t>15</a:t>
            </a:fld>
            <a:endParaRPr lang="en-US" altLang="en-US"/>
          </a:p>
        </p:txBody>
      </p:sp>
      <p:sp>
        <p:nvSpPr>
          <p:cNvPr id="970754" name="Rectangle 2"/>
          <p:cNvSpPr>
            <a:spLocks noGrp="1" noRot="1" noChangeAspect="1" noChangeArrowheads="1" noTextEdit="1"/>
          </p:cNvSpPr>
          <p:nvPr>
            <p:ph type="sldImg"/>
          </p:nvPr>
        </p:nvSpPr>
        <p:spPr>
          <a:xfrm>
            <a:off x="2971800" y="549275"/>
            <a:ext cx="3657600" cy="2743200"/>
          </a:xfrm>
          <a:ln/>
        </p:spPr>
      </p:sp>
      <p:sp>
        <p:nvSpPr>
          <p:cNvPr id="970755" name="Rectangle 3"/>
          <p:cNvSpPr>
            <a:spLocks noGrp="1" noChangeArrowheads="1"/>
          </p:cNvSpPr>
          <p:nvPr>
            <p:ph type="body" idx="1"/>
          </p:nvPr>
        </p:nvSpPr>
        <p:spPr>
          <a:xfrm>
            <a:off x="960438" y="3475038"/>
            <a:ext cx="7681912" cy="3290887"/>
          </a:xfrm>
        </p:spPr>
        <p:txBody>
          <a:bodyPr/>
          <a:lstStyle/>
          <a:p>
            <a:r>
              <a:rPr lang="en-US" altLang="en-US"/>
              <a:t>Content Layouts</a:t>
            </a:r>
          </a:p>
        </p:txBody>
      </p:sp>
    </p:spTree>
    <p:extLst>
      <p:ext uri="{BB962C8B-B14F-4D97-AF65-F5344CB8AC3E}">
        <p14:creationId xmlns:p14="http://schemas.microsoft.com/office/powerpoint/2010/main" val="28905297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13205-DC60-4BDB-910C-1848EF35C863}" type="slidenum">
              <a:rPr lang="en-US" altLang="en-US"/>
              <a:pPr/>
              <a:t>16</a:t>
            </a:fld>
            <a:endParaRPr lang="en-US" altLang="en-US"/>
          </a:p>
        </p:txBody>
      </p:sp>
      <p:sp>
        <p:nvSpPr>
          <p:cNvPr id="970754" name="Rectangle 2"/>
          <p:cNvSpPr>
            <a:spLocks noGrp="1" noRot="1" noChangeAspect="1" noChangeArrowheads="1" noTextEdit="1"/>
          </p:cNvSpPr>
          <p:nvPr>
            <p:ph type="sldImg"/>
          </p:nvPr>
        </p:nvSpPr>
        <p:spPr>
          <a:xfrm>
            <a:off x="2971800" y="549275"/>
            <a:ext cx="3657600" cy="2743200"/>
          </a:xfrm>
          <a:ln/>
        </p:spPr>
      </p:sp>
      <p:sp>
        <p:nvSpPr>
          <p:cNvPr id="970755" name="Rectangle 3"/>
          <p:cNvSpPr>
            <a:spLocks noGrp="1" noChangeArrowheads="1"/>
          </p:cNvSpPr>
          <p:nvPr>
            <p:ph type="body" idx="1"/>
          </p:nvPr>
        </p:nvSpPr>
        <p:spPr>
          <a:xfrm>
            <a:off x="960438" y="3475038"/>
            <a:ext cx="7681912" cy="3290887"/>
          </a:xfrm>
        </p:spPr>
        <p:txBody>
          <a:bodyPr/>
          <a:lstStyle/>
          <a:p>
            <a:r>
              <a:rPr lang="en-US" altLang="en-US"/>
              <a:t>Content Layouts</a:t>
            </a:r>
          </a:p>
        </p:txBody>
      </p:sp>
    </p:spTree>
    <p:extLst>
      <p:ext uri="{BB962C8B-B14F-4D97-AF65-F5344CB8AC3E}">
        <p14:creationId xmlns:p14="http://schemas.microsoft.com/office/powerpoint/2010/main" val="28271919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13205-DC60-4BDB-910C-1848EF35C863}" type="slidenum">
              <a:rPr lang="en-US" altLang="en-US"/>
              <a:pPr/>
              <a:t>17</a:t>
            </a:fld>
            <a:endParaRPr lang="en-US" altLang="en-US"/>
          </a:p>
        </p:txBody>
      </p:sp>
      <p:sp>
        <p:nvSpPr>
          <p:cNvPr id="970754" name="Rectangle 2"/>
          <p:cNvSpPr>
            <a:spLocks noGrp="1" noRot="1" noChangeAspect="1" noChangeArrowheads="1" noTextEdit="1"/>
          </p:cNvSpPr>
          <p:nvPr>
            <p:ph type="sldImg"/>
          </p:nvPr>
        </p:nvSpPr>
        <p:spPr>
          <a:xfrm>
            <a:off x="2971800" y="549275"/>
            <a:ext cx="3657600" cy="2743200"/>
          </a:xfrm>
          <a:ln/>
        </p:spPr>
      </p:sp>
      <p:sp>
        <p:nvSpPr>
          <p:cNvPr id="970755" name="Rectangle 3"/>
          <p:cNvSpPr>
            <a:spLocks noGrp="1" noChangeArrowheads="1"/>
          </p:cNvSpPr>
          <p:nvPr>
            <p:ph type="body" idx="1"/>
          </p:nvPr>
        </p:nvSpPr>
        <p:spPr>
          <a:xfrm>
            <a:off x="960438" y="3475038"/>
            <a:ext cx="7681912" cy="3290887"/>
          </a:xfrm>
        </p:spPr>
        <p:txBody>
          <a:bodyPr/>
          <a:lstStyle/>
          <a:p>
            <a:r>
              <a:rPr lang="en-US" altLang="en-US"/>
              <a:t>Content Layouts</a:t>
            </a:r>
          </a:p>
        </p:txBody>
      </p:sp>
    </p:spTree>
    <p:extLst>
      <p:ext uri="{BB962C8B-B14F-4D97-AF65-F5344CB8AC3E}">
        <p14:creationId xmlns:p14="http://schemas.microsoft.com/office/powerpoint/2010/main" val="27365722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13205-DC60-4BDB-910C-1848EF35C863}" type="slidenum">
              <a:rPr lang="en-US" altLang="en-US"/>
              <a:pPr/>
              <a:t>18</a:t>
            </a:fld>
            <a:endParaRPr lang="en-US" altLang="en-US"/>
          </a:p>
        </p:txBody>
      </p:sp>
      <p:sp>
        <p:nvSpPr>
          <p:cNvPr id="970754" name="Rectangle 2"/>
          <p:cNvSpPr>
            <a:spLocks noGrp="1" noRot="1" noChangeAspect="1" noChangeArrowheads="1" noTextEdit="1"/>
          </p:cNvSpPr>
          <p:nvPr>
            <p:ph type="sldImg"/>
          </p:nvPr>
        </p:nvSpPr>
        <p:spPr>
          <a:xfrm>
            <a:off x="2971800" y="549275"/>
            <a:ext cx="3657600" cy="2743200"/>
          </a:xfrm>
          <a:ln/>
        </p:spPr>
      </p:sp>
      <p:sp>
        <p:nvSpPr>
          <p:cNvPr id="970755" name="Rectangle 3"/>
          <p:cNvSpPr>
            <a:spLocks noGrp="1" noChangeArrowheads="1"/>
          </p:cNvSpPr>
          <p:nvPr>
            <p:ph type="body" idx="1"/>
          </p:nvPr>
        </p:nvSpPr>
        <p:spPr>
          <a:xfrm>
            <a:off x="960438" y="3475038"/>
            <a:ext cx="7681912" cy="3290887"/>
          </a:xfrm>
        </p:spPr>
        <p:txBody>
          <a:bodyPr/>
          <a:lstStyle/>
          <a:p>
            <a:r>
              <a:rPr lang="en-US" altLang="en-US"/>
              <a:t>Content Layouts</a:t>
            </a:r>
          </a:p>
        </p:txBody>
      </p:sp>
    </p:spTree>
    <p:extLst>
      <p:ext uri="{BB962C8B-B14F-4D97-AF65-F5344CB8AC3E}">
        <p14:creationId xmlns:p14="http://schemas.microsoft.com/office/powerpoint/2010/main" val="94822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13205-DC60-4BDB-910C-1848EF35C863}" type="slidenum">
              <a:rPr lang="en-US" altLang="en-US"/>
              <a:pPr/>
              <a:t>19</a:t>
            </a:fld>
            <a:endParaRPr lang="en-US" altLang="en-US"/>
          </a:p>
        </p:txBody>
      </p:sp>
      <p:sp>
        <p:nvSpPr>
          <p:cNvPr id="970754" name="Rectangle 2"/>
          <p:cNvSpPr>
            <a:spLocks noGrp="1" noRot="1" noChangeAspect="1" noChangeArrowheads="1" noTextEdit="1"/>
          </p:cNvSpPr>
          <p:nvPr>
            <p:ph type="sldImg"/>
          </p:nvPr>
        </p:nvSpPr>
        <p:spPr>
          <a:xfrm>
            <a:off x="2971800" y="549275"/>
            <a:ext cx="3657600" cy="2743200"/>
          </a:xfrm>
          <a:ln/>
        </p:spPr>
      </p:sp>
      <p:sp>
        <p:nvSpPr>
          <p:cNvPr id="970755" name="Rectangle 3"/>
          <p:cNvSpPr>
            <a:spLocks noGrp="1" noChangeArrowheads="1"/>
          </p:cNvSpPr>
          <p:nvPr>
            <p:ph type="body" idx="1"/>
          </p:nvPr>
        </p:nvSpPr>
        <p:spPr>
          <a:xfrm>
            <a:off x="960438" y="3475038"/>
            <a:ext cx="7681912" cy="3290887"/>
          </a:xfrm>
        </p:spPr>
        <p:txBody>
          <a:bodyPr/>
          <a:lstStyle/>
          <a:p>
            <a:r>
              <a:rPr lang="en-US" altLang="en-US"/>
              <a:t>Content Layouts</a:t>
            </a:r>
          </a:p>
        </p:txBody>
      </p:sp>
    </p:spTree>
    <p:extLst>
      <p:ext uri="{BB962C8B-B14F-4D97-AF65-F5344CB8AC3E}">
        <p14:creationId xmlns:p14="http://schemas.microsoft.com/office/powerpoint/2010/main" val="3129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13205-DC60-4BDB-910C-1848EF35C863}" type="slidenum">
              <a:rPr lang="en-US" altLang="en-US"/>
              <a:pPr/>
              <a:t>21</a:t>
            </a:fld>
            <a:endParaRPr lang="en-US" altLang="en-US"/>
          </a:p>
        </p:txBody>
      </p:sp>
      <p:sp>
        <p:nvSpPr>
          <p:cNvPr id="970754" name="Rectangle 2"/>
          <p:cNvSpPr>
            <a:spLocks noGrp="1" noRot="1" noChangeAspect="1" noChangeArrowheads="1" noTextEdit="1"/>
          </p:cNvSpPr>
          <p:nvPr>
            <p:ph type="sldImg"/>
          </p:nvPr>
        </p:nvSpPr>
        <p:spPr>
          <a:xfrm>
            <a:off x="2971800" y="549275"/>
            <a:ext cx="3657600" cy="2743200"/>
          </a:xfrm>
          <a:ln/>
        </p:spPr>
      </p:sp>
      <p:sp>
        <p:nvSpPr>
          <p:cNvPr id="970755" name="Rectangle 3"/>
          <p:cNvSpPr>
            <a:spLocks noGrp="1" noChangeArrowheads="1"/>
          </p:cNvSpPr>
          <p:nvPr>
            <p:ph type="body" idx="1"/>
          </p:nvPr>
        </p:nvSpPr>
        <p:spPr>
          <a:xfrm>
            <a:off x="960438" y="3475038"/>
            <a:ext cx="7681912" cy="3290887"/>
          </a:xfrm>
        </p:spPr>
        <p:txBody>
          <a:bodyPr/>
          <a:lstStyle/>
          <a:p>
            <a:r>
              <a:rPr lang="en-US" altLang="en-US"/>
              <a:t>Content Layouts</a:t>
            </a:r>
          </a:p>
        </p:txBody>
      </p:sp>
    </p:spTree>
    <p:extLst>
      <p:ext uri="{BB962C8B-B14F-4D97-AF65-F5344CB8AC3E}">
        <p14:creationId xmlns:p14="http://schemas.microsoft.com/office/powerpoint/2010/main" val="37703317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13205-DC60-4BDB-910C-1848EF35C863}" type="slidenum">
              <a:rPr lang="en-US" altLang="en-US"/>
              <a:pPr/>
              <a:t>22</a:t>
            </a:fld>
            <a:endParaRPr lang="en-US" altLang="en-US"/>
          </a:p>
        </p:txBody>
      </p:sp>
      <p:sp>
        <p:nvSpPr>
          <p:cNvPr id="970754" name="Rectangle 2"/>
          <p:cNvSpPr>
            <a:spLocks noGrp="1" noRot="1" noChangeAspect="1" noChangeArrowheads="1" noTextEdit="1"/>
          </p:cNvSpPr>
          <p:nvPr>
            <p:ph type="sldImg"/>
          </p:nvPr>
        </p:nvSpPr>
        <p:spPr>
          <a:xfrm>
            <a:off x="2971800" y="549275"/>
            <a:ext cx="3657600" cy="2743200"/>
          </a:xfrm>
          <a:ln/>
        </p:spPr>
      </p:sp>
      <p:sp>
        <p:nvSpPr>
          <p:cNvPr id="970755" name="Rectangle 3"/>
          <p:cNvSpPr>
            <a:spLocks noGrp="1" noChangeArrowheads="1"/>
          </p:cNvSpPr>
          <p:nvPr>
            <p:ph type="body" idx="1"/>
          </p:nvPr>
        </p:nvSpPr>
        <p:spPr>
          <a:xfrm>
            <a:off x="960438" y="3475038"/>
            <a:ext cx="7681912" cy="3290887"/>
          </a:xfrm>
        </p:spPr>
        <p:txBody>
          <a:bodyPr/>
          <a:lstStyle/>
          <a:p>
            <a:r>
              <a:rPr lang="en-US" altLang="en-US"/>
              <a:t>Content Layouts</a:t>
            </a:r>
          </a:p>
        </p:txBody>
      </p:sp>
    </p:spTree>
    <p:extLst>
      <p:ext uri="{BB962C8B-B14F-4D97-AF65-F5344CB8AC3E}">
        <p14:creationId xmlns:p14="http://schemas.microsoft.com/office/powerpoint/2010/main" val="34443207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13205-DC60-4BDB-910C-1848EF35C863}" type="slidenum">
              <a:rPr lang="en-US" altLang="en-US"/>
              <a:pPr/>
              <a:t>23</a:t>
            </a:fld>
            <a:endParaRPr lang="en-US" altLang="en-US"/>
          </a:p>
        </p:txBody>
      </p:sp>
      <p:sp>
        <p:nvSpPr>
          <p:cNvPr id="970754" name="Rectangle 2"/>
          <p:cNvSpPr>
            <a:spLocks noGrp="1" noRot="1" noChangeAspect="1" noChangeArrowheads="1" noTextEdit="1"/>
          </p:cNvSpPr>
          <p:nvPr>
            <p:ph type="sldImg"/>
          </p:nvPr>
        </p:nvSpPr>
        <p:spPr>
          <a:xfrm>
            <a:off x="2971800" y="549275"/>
            <a:ext cx="3657600" cy="2743200"/>
          </a:xfrm>
          <a:ln/>
        </p:spPr>
      </p:sp>
      <p:sp>
        <p:nvSpPr>
          <p:cNvPr id="970755" name="Rectangle 3"/>
          <p:cNvSpPr>
            <a:spLocks noGrp="1" noChangeArrowheads="1"/>
          </p:cNvSpPr>
          <p:nvPr>
            <p:ph type="body" idx="1"/>
          </p:nvPr>
        </p:nvSpPr>
        <p:spPr>
          <a:xfrm>
            <a:off x="960438" y="3475038"/>
            <a:ext cx="7681912" cy="3290887"/>
          </a:xfrm>
        </p:spPr>
        <p:txBody>
          <a:bodyPr/>
          <a:lstStyle/>
          <a:p>
            <a:r>
              <a:rPr lang="en-US" altLang="en-US"/>
              <a:t>Content Layouts</a:t>
            </a:r>
          </a:p>
        </p:txBody>
      </p:sp>
    </p:spTree>
    <p:extLst>
      <p:ext uri="{BB962C8B-B14F-4D97-AF65-F5344CB8AC3E}">
        <p14:creationId xmlns:p14="http://schemas.microsoft.com/office/powerpoint/2010/main" val="15349707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13205-DC60-4BDB-910C-1848EF35C863}" type="slidenum">
              <a:rPr lang="en-US" altLang="en-US"/>
              <a:pPr/>
              <a:t>31</a:t>
            </a:fld>
            <a:endParaRPr lang="en-US" altLang="en-US"/>
          </a:p>
        </p:txBody>
      </p:sp>
      <p:sp>
        <p:nvSpPr>
          <p:cNvPr id="970754" name="Rectangle 2"/>
          <p:cNvSpPr>
            <a:spLocks noGrp="1" noRot="1" noChangeAspect="1" noChangeArrowheads="1" noTextEdit="1"/>
          </p:cNvSpPr>
          <p:nvPr>
            <p:ph type="sldImg"/>
          </p:nvPr>
        </p:nvSpPr>
        <p:spPr>
          <a:xfrm>
            <a:off x="2971800" y="549275"/>
            <a:ext cx="3657600" cy="2743200"/>
          </a:xfrm>
          <a:ln/>
        </p:spPr>
      </p:sp>
      <p:sp>
        <p:nvSpPr>
          <p:cNvPr id="970755" name="Rectangle 3"/>
          <p:cNvSpPr>
            <a:spLocks noGrp="1" noChangeArrowheads="1"/>
          </p:cNvSpPr>
          <p:nvPr>
            <p:ph type="body" idx="1"/>
          </p:nvPr>
        </p:nvSpPr>
        <p:spPr>
          <a:xfrm>
            <a:off x="960438" y="3475038"/>
            <a:ext cx="7681912" cy="3290887"/>
          </a:xfrm>
        </p:spPr>
        <p:txBody>
          <a:bodyPr/>
          <a:lstStyle/>
          <a:p>
            <a:r>
              <a:rPr lang="en-US" altLang="en-US"/>
              <a:t>Content Layouts</a:t>
            </a:r>
          </a:p>
        </p:txBody>
      </p:sp>
    </p:spTree>
    <p:extLst>
      <p:ext uri="{BB962C8B-B14F-4D97-AF65-F5344CB8AC3E}">
        <p14:creationId xmlns:p14="http://schemas.microsoft.com/office/powerpoint/2010/main" val="1196595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24523E25-97A7-41C1-906C-9E005A331CB3}" type="slidenum">
              <a:rPr lang="en-US" altLang="en-US" smtClean="0"/>
              <a:pPr/>
              <a:t>‹#›</a:t>
            </a:fld>
            <a:endParaRPr lang="en-US" altLang="en-US"/>
          </a:p>
        </p:txBody>
      </p:sp>
    </p:spTree>
    <p:extLst>
      <p:ext uri="{BB962C8B-B14F-4D97-AF65-F5344CB8AC3E}">
        <p14:creationId xmlns:p14="http://schemas.microsoft.com/office/powerpoint/2010/main" val="168990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4AC9EAFF-59CD-44C7-8BB0-D027505A41A1}" type="slidenum">
              <a:rPr lang="en-US" altLang="en-US" smtClean="0"/>
              <a:pPr/>
              <a:t>‹#›</a:t>
            </a:fld>
            <a:endParaRPr lang="en-US" altLang="en-US"/>
          </a:p>
        </p:txBody>
      </p:sp>
    </p:spTree>
    <p:extLst>
      <p:ext uri="{BB962C8B-B14F-4D97-AF65-F5344CB8AC3E}">
        <p14:creationId xmlns:p14="http://schemas.microsoft.com/office/powerpoint/2010/main" val="550911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27C33CCE-377D-4DFB-86C6-416D618B1412}" type="slidenum">
              <a:rPr lang="en-US" altLang="en-US" smtClean="0"/>
              <a:pPr/>
              <a:t>‹#›</a:t>
            </a:fld>
            <a:endParaRPr lang="en-US" altLang="en-US"/>
          </a:p>
        </p:txBody>
      </p:sp>
    </p:spTree>
    <p:extLst>
      <p:ext uri="{BB962C8B-B14F-4D97-AF65-F5344CB8AC3E}">
        <p14:creationId xmlns:p14="http://schemas.microsoft.com/office/powerpoint/2010/main" val="1716113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107FFD9A-0C1E-44BD-97A8-0519605A7433}" type="slidenum">
              <a:rPr lang="en-US" altLang="en-US" smtClean="0"/>
              <a:pPr/>
              <a:t>‹#›</a:t>
            </a:fld>
            <a:endParaRPr lang="en-US" altLang="en-US"/>
          </a:p>
        </p:txBody>
      </p:sp>
    </p:spTree>
    <p:extLst>
      <p:ext uri="{BB962C8B-B14F-4D97-AF65-F5344CB8AC3E}">
        <p14:creationId xmlns:p14="http://schemas.microsoft.com/office/powerpoint/2010/main" val="252666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ltLang="en-US"/>
          </a:p>
        </p:txBody>
      </p:sp>
      <p:sp>
        <p:nvSpPr>
          <p:cNvPr id="8" name="Footer Placeholder 7"/>
          <p:cNvSpPr>
            <a:spLocks noGrp="1"/>
          </p:cNvSpPr>
          <p:nvPr>
            <p:ph type="ftr" sz="quarter" idx="11"/>
          </p:nvPr>
        </p:nvSpPr>
        <p:spPr/>
        <p:txBody>
          <a:bodyPr/>
          <a:lstStyle/>
          <a:p>
            <a:endParaRPr lang="en-US" altLang="en-US"/>
          </a:p>
        </p:txBody>
      </p:sp>
      <p:sp>
        <p:nvSpPr>
          <p:cNvPr id="9" name="Slide Number Placeholder 8"/>
          <p:cNvSpPr>
            <a:spLocks noGrp="1"/>
          </p:cNvSpPr>
          <p:nvPr>
            <p:ph type="sldNum" sz="quarter" idx="12"/>
          </p:nvPr>
        </p:nvSpPr>
        <p:spPr/>
        <p:txBody>
          <a:bodyPr/>
          <a:lstStyle/>
          <a:p>
            <a:fld id="{D2014272-2685-4ECB-9633-2DAD699545D3}" type="slidenum">
              <a:rPr lang="en-US" altLang="en-US" smtClean="0"/>
              <a:pPr/>
              <a:t>‹#›</a:t>
            </a:fld>
            <a:endParaRPr lang="en-US" altLang="en-US"/>
          </a:p>
        </p:txBody>
      </p:sp>
    </p:spTree>
    <p:extLst>
      <p:ext uri="{BB962C8B-B14F-4D97-AF65-F5344CB8AC3E}">
        <p14:creationId xmlns:p14="http://schemas.microsoft.com/office/powerpoint/2010/main" val="2428707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ltLang="en-US"/>
          </a:p>
        </p:txBody>
      </p:sp>
      <p:sp>
        <p:nvSpPr>
          <p:cNvPr id="4" name="Footer Placeholder 3"/>
          <p:cNvSpPr>
            <a:spLocks noGrp="1"/>
          </p:cNvSpPr>
          <p:nvPr>
            <p:ph type="ftr" sz="quarter" idx="11"/>
          </p:nvPr>
        </p:nvSpPr>
        <p:spPr/>
        <p:txBody>
          <a:bodyPr/>
          <a:lstStyle/>
          <a:p>
            <a:endParaRPr lang="en-US" altLang="en-US"/>
          </a:p>
        </p:txBody>
      </p:sp>
      <p:sp>
        <p:nvSpPr>
          <p:cNvPr id="5" name="Slide Number Placeholder 4"/>
          <p:cNvSpPr>
            <a:spLocks noGrp="1"/>
          </p:cNvSpPr>
          <p:nvPr>
            <p:ph type="sldNum" sz="quarter" idx="12"/>
          </p:nvPr>
        </p:nvSpPr>
        <p:spPr/>
        <p:txBody>
          <a:bodyPr/>
          <a:lstStyle/>
          <a:p>
            <a:fld id="{042DEB3A-1AFC-418E-9188-02DDFD71D585}" type="slidenum">
              <a:rPr lang="en-US" altLang="en-US" smtClean="0"/>
              <a:pPr/>
              <a:t>‹#›</a:t>
            </a:fld>
            <a:endParaRPr lang="en-US" altLang="en-US"/>
          </a:p>
        </p:txBody>
      </p:sp>
    </p:spTree>
    <p:extLst>
      <p:ext uri="{BB962C8B-B14F-4D97-AF65-F5344CB8AC3E}">
        <p14:creationId xmlns:p14="http://schemas.microsoft.com/office/powerpoint/2010/main" val="479379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Slide Number Placeholder 3"/>
          <p:cNvSpPr>
            <a:spLocks noGrp="1"/>
          </p:cNvSpPr>
          <p:nvPr>
            <p:ph type="sldNum" sz="quarter" idx="12"/>
          </p:nvPr>
        </p:nvSpPr>
        <p:spPr/>
        <p:txBody>
          <a:bodyPr/>
          <a:lstStyle/>
          <a:p>
            <a:fld id="{72F91D6F-9B3E-4570-B4B3-04001183861A}" type="slidenum">
              <a:rPr lang="en-US" altLang="en-US" smtClean="0"/>
              <a:pPr/>
              <a:t>‹#›</a:t>
            </a:fld>
            <a:endParaRPr lang="en-US" altLang="en-US"/>
          </a:p>
        </p:txBody>
      </p:sp>
    </p:spTree>
    <p:extLst>
      <p:ext uri="{BB962C8B-B14F-4D97-AF65-F5344CB8AC3E}">
        <p14:creationId xmlns:p14="http://schemas.microsoft.com/office/powerpoint/2010/main" val="972828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9A8E9FA5-807E-4FB6-8D65-6825E96C11AD}" type="slidenum">
              <a:rPr lang="en-US" altLang="en-US" smtClean="0"/>
              <a:pPr/>
              <a:t>‹#›</a:t>
            </a:fld>
            <a:endParaRPr lang="en-US" altLang="en-US"/>
          </a:p>
        </p:txBody>
      </p:sp>
    </p:spTree>
    <p:extLst>
      <p:ext uri="{BB962C8B-B14F-4D97-AF65-F5344CB8AC3E}">
        <p14:creationId xmlns:p14="http://schemas.microsoft.com/office/powerpoint/2010/main" val="2466742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3A7344CA-70EA-4AEF-8A0F-A6F351739745}" type="slidenum">
              <a:rPr lang="en-US" altLang="en-US" smtClean="0"/>
              <a:pPr/>
              <a:t>‹#›</a:t>
            </a:fld>
            <a:endParaRPr lang="en-US" altLang="en-US"/>
          </a:p>
        </p:txBody>
      </p:sp>
    </p:spTree>
    <p:extLst>
      <p:ext uri="{BB962C8B-B14F-4D97-AF65-F5344CB8AC3E}">
        <p14:creationId xmlns:p14="http://schemas.microsoft.com/office/powerpoint/2010/main" val="108412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1DE24C5F-DC36-4284-A9D6-C1473D2E769C}" type="slidenum">
              <a:rPr lang="en-US" altLang="en-US" smtClean="0"/>
              <a:pPr/>
              <a:t>‹#›</a:t>
            </a:fld>
            <a:endParaRPr lang="en-US" altLang="en-US"/>
          </a:p>
        </p:txBody>
      </p:sp>
    </p:spTree>
    <p:extLst>
      <p:ext uri="{BB962C8B-B14F-4D97-AF65-F5344CB8AC3E}">
        <p14:creationId xmlns:p14="http://schemas.microsoft.com/office/powerpoint/2010/main" val="2692647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BB8BCFB6-1F3D-4EBB-B502-887CFA7282D4}" type="slidenum">
              <a:rPr lang="en-US" altLang="en-US" smtClean="0"/>
              <a:pPr/>
              <a:t>‹#›</a:t>
            </a:fld>
            <a:endParaRPr lang="en-US" altLang="en-US"/>
          </a:p>
        </p:txBody>
      </p:sp>
    </p:spTree>
    <p:extLst>
      <p:ext uri="{BB962C8B-B14F-4D97-AF65-F5344CB8AC3E}">
        <p14:creationId xmlns:p14="http://schemas.microsoft.com/office/powerpoint/2010/main" val="619733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3827197-CD69-40CD-A4DB-62C971C40137}" type="slidenum">
              <a:rPr lang="en-US" altLang="en-US" smtClean="0"/>
              <a:pPr/>
              <a:t>‹#›</a:t>
            </a:fld>
            <a:endParaRPr lang="en-US" altLang="en-US"/>
          </a:p>
        </p:txBody>
      </p:sp>
    </p:spTree>
    <p:extLst>
      <p:ext uri="{BB962C8B-B14F-4D97-AF65-F5344CB8AC3E}">
        <p14:creationId xmlns:p14="http://schemas.microsoft.com/office/powerpoint/2010/main" val="1637374372"/>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2"/>
          <p:cNvSpPr txBox="1">
            <a:spLocks noChangeArrowheads="1"/>
          </p:cNvSpPr>
          <p:nvPr/>
        </p:nvSpPr>
        <p:spPr bwMode="black">
          <a:xfrm>
            <a:off x="330338" y="4696032"/>
            <a:ext cx="8548621" cy="12436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lvl1pPr algn="r" rtl="0" eaLnBrk="0" fontAlgn="base" hangingPunct="0">
              <a:spcBef>
                <a:spcPct val="0"/>
              </a:spcBef>
              <a:spcAft>
                <a:spcPct val="0"/>
              </a:spcAft>
              <a:defRPr sz="2800" b="1" i="1" kern="1200">
                <a:solidFill>
                  <a:schemeClr val="tx1"/>
                </a:solidFill>
                <a:latin typeface="+mj-lt"/>
                <a:ea typeface="+mj-ea"/>
                <a:cs typeface="+mj-cs"/>
              </a:defRPr>
            </a:lvl1pPr>
            <a:lvl2pPr algn="r" rtl="0" eaLnBrk="0" fontAlgn="base" hangingPunct="0">
              <a:spcBef>
                <a:spcPct val="0"/>
              </a:spcBef>
              <a:spcAft>
                <a:spcPct val="0"/>
              </a:spcAft>
              <a:defRPr sz="2800" b="1" i="1">
                <a:solidFill>
                  <a:schemeClr val="tx1"/>
                </a:solidFill>
                <a:latin typeface="Verdana" panose="020B0604030504040204" pitchFamily="34" charset="0"/>
              </a:defRPr>
            </a:lvl2pPr>
            <a:lvl3pPr algn="r" rtl="0" eaLnBrk="0" fontAlgn="base" hangingPunct="0">
              <a:spcBef>
                <a:spcPct val="0"/>
              </a:spcBef>
              <a:spcAft>
                <a:spcPct val="0"/>
              </a:spcAft>
              <a:defRPr sz="2800" b="1" i="1">
                <a:solidFill>
                  <a:schemeClr val="tx1"/>
                </a:solidFill>
                <a:latin typeface="Verdana" panose="020B0604030504040204" pitchFamily="34" charset="0"/>
              </a:defRPr>
            </a:lvl3pPr>
            <a:lvl4pPr algn="r" rtl="0" eaLnBrk="0" fontAlgn="base" hangingPunct="0">
              <a:spcBef>
                <a:spcPct val="0"/>
              </a:spcBef>
              <a:spcAft>
                <a:spcPct val="0"/>
              </a:spcAft>
              <a:defRPr sz="2800" b="1" i="1">
                <a:solidFill>
                  <a:schemeClr val="tx1"/>
                </a:solidFill>
                <a:latin typeface="Verdana" panose="020B0604030504040204" pitchFamily="34" charset="0"/>
              </a:defRPr>
            </a:lvl4pPr>
            <a:lvl5pPr algn="r" rtl="0" eaLnBrk="0" fontAlgn="base" hangingPunct="0">
              <a:spcBef>
                <a:spcPct val="0"/>
              </a:spcBef>
              <a:spcAft>
                <a:spcPct val="0"/>
              </a:spcAft>
              <a:defRPr sz="2800" b="1" i="1">
                <a:solidFill>
                  <a:schemeClr val="tx1"/>
                </a:solidFill>
                <a:latin typeface="Verdana" panose="020B0604030504040204" pitchFamily="34" charset="0"/>
              </a:defRPr>
            </a:lvl5pPr>
            <a:lvl6pPr marL="457200" algn="r" rtl="0" eaLnBrk="1" fontAlgn="base" hangingPunct="1">
              <a:spcBef>
                <a:spcPct val="0"/>
              </a:spcBef>
              <a:spcAft>
                <a:spcPct val="0"/>
              </a:spcAft>
              <a:defRPr sz="2800" b="1" i="1">
                <a:solidFill>
                  <a:schemeClr val="tx1"/>
                </a:solidFill>
                <a:latin typeface="Verdana" panose="020B0604030504040204" pitchFamily="34" charset="0"/>
              </a:defRPr>
            </a:lvl6pPr>
            <a:lvl7pPr marL="914400" algn="r" rtl="0" eaLnBrk="1" fontAlgn="base" hangingPunct="1">
              <a:spcBef>
                <a:spcPct val="0"/>
              </a:spcBef>
              <a:spcAft>
                <a:spcPct val="0"/>
              </a:spcAft>
              <a:defRPr sz="2800" b="1" i="1">
                <a:solidFill>
                  <a:schemeClr val="tx1"/>
                </a:solidFill>
                <a:latin typeface="Verdana" panose="020B0604030504040204" pitchFamily="34" charset="0"/>
              </a:defRPr>
            </a:lvl7pPr>
            <a:lvl8pPr marL="1371600" algn="r" rtl="0" eaLnBrk="1" fontAlgn="base" hangingPunct="1">
              <a:spcBef>
                <a:spcPct val="0"/>
              </a:spcBef>
              <a:spcAft>
                <a:spcPct val="0"/>
              </a:spcAft>
              <a:defRPr sz="2800" b="1" i="1">
                <a:solidFill>
                  <a:schemeClr val="tx1"/>
                </a:solidFill>
                <a:latin typeface="Verdana" panose="020B0604030504040204" pitchFamily="34" charset="0"/>
              </a:defRPr>
            </a:lvl8pPr>
            <a:lvl9pPr marL="1828800" algn="r" rtl="0" eaLnBrk="1" fontAlgn="base" hangingPunct="1">
              <a:spcBef>
                <a:spcPct val="0"/>
              </a:spcBef>
              <a:spcAft>
                <a:spcPct val="0"/>
              </a:spcAft>
              <a:defRPr sz="2800" b="1" i="1">
                <a:solidFill>
                  <a:schemeClr val="tx1"/>
                </a:solidFill>
                <a:latin typeface="Verdana" panose="020B0604030504040204" pitchFamily="34" charset="0"/>
              </a:defRPr>
            </a:lvl9pPr>
          </a:lstStyle>
          <a:p>
            <a:pPr algn="ctr" eaLnBrk="1" hangingPunct="1">
              <a:defRPr/>
            </a:pPr>
            <a:r>
              <a:rPr lang="en-US" sz="2400" i="0" dirty="0">
                <a:solidFill>
                  <a:srgbClr val="002060"/>
                </a:solidFill>
                <a:latin typeface="Arial" panose="020B0604020202020204" pitchFamily="34" charset="0"/>
                <a:cs typeface="Arial" panose="020B0604020202020204" pitchFamily="34" charset="0"/>
              </a:rPr>
              <a:t> </a:t>
            </a:r>
            <a:br>
              <a:rPr lang="en-US" sz="2400" i="0" dirty="0">
                <a:solidFill>
                  <a:srgbClr val="002060"/>
                </a:solidFill>
                <a:latin typeface="Arial" panose="020B0604020202020204" pitchFamily="34" charset="0"/>
                <a:cs typeface="Arial" panose="020B0604020202020204" pitchFamily="34" charset="0"/>
              </a:rPr>
            </a:br>
            <a:r>
              <a:rPr lang="en-US" sz="2400" i="0" dirty="0">
                <a:solidFill>
                  <a:srgbClr val="002060"/>
                </a:solidFill>
                <a:latin typeface="Arial" panose="020B0604020202020204" pitchFamily="34" charset="0"/>
                <a:cs typeface="Arial" panose="020B0604020202020204" pitchFamily="34" charset="0"/>
              </a:rPr>
              <a:t>CHƯƠNG 6: CÔNG NGHIỆP HOÁ, HIỆN ĐẠI HOÁ </a:t>
            </a:r>
            <a:r>
              <a:rPr lang="en-US" sz="2400" i="0">
                <a:solidFill>
                  <a:srgbClr val="002060"/>
                </a:solidFill>
                <a:latin typeface="Arial" panose="020B0604020202020204" pitchFamily="34" charset="0"/>
                <a:cs typeface="Arial" panose="020B0604020202020204" pitchFamily="34" charset="0"/>
              </a:rPr>
              <a:t>VÀ </a:t>
            </a:r>
          </a:p>
          <a:p>
            <a:pPr algn="ctr" eaLnBrk="1" hangingPunct="1">
              <a:defRPr/>
            </a:pPr>
            <a:r>
              <a:rPr lang="en-US" sz="2400" i="0">
                <a:solidFill>
                  <a:srgbClr val="002060"/>
                </a:solidFill>
                <a:latin typeface="Arial" panose="020B0604020202020204" pitchFamily="34" charset="0"/>
                <a:cs typeface="Arial" panose="020B0604020202020204" pitchFamily="34" charset="0"/>
              </a:rPr>
              <a:t>HỘI </a:t>
            </a:r>
            <a:r>
              <a:rPr lang="en-US" sz="2400" i="0" dirty="0">
                <a:solidFill>
                  <a:srgbClr val="002060"/>
                </a:solidFill>
                <a:latin typeface="Arial" panose="020B0604020202020204" pitchFamily="34" charset="0"/>
                <a:cs typeface="Arial" panose="020B0604020202020204" pitchFamily="34" charset="0"/>
              </a:rPr>
              <a:t>NHẬP KINH TẾ QUỐC TẾ TRONG PHÁT TRIỂN </a:t>
            </a:r>
          </a:p>
          <a:p>
            <a:pPr algn="ctr" eaLnBrk="1" hangingPunct="1">
              <a:defRPr/>
            </a:pPr>
            <a:r>
              <a:rPr lang="en-US" sz="2400" i="0" dirty="0">
                <a:solidFill>
                  <a:srgbClr val="002060"/>
                </a:solidFill>
                <a:latin typeface="Arial" panose="020B0604020202020204" pitchFamily="34" charset="0"/>
                <a:cs typeface="Arial" panose="020B0604020202020204" pitchFamily="34" charset="0"/>
              </a:rPr>
              <a:t>CỦA VIỆT NAM</a:t>
            </a:r>
          </a:p>
          <a:p>
            <a:pPr algn="ctr" eaLnBrk="1" hangingPunct="1">
              <a:defRPr/>
            </a:pPr>
            <a:endParaRPr lang="en-US" sz="2400" i="0" dirty="0">
              <a:solidFill>
                <a:srgbClr val="002060"/>
              </a:solidFill>
              <a:latin typeface="Arial" panose="020B0604020202020204" pitchFamily="34" charset="0"/>
              <a:cs typeface="Arial" panose="020B0604020202020204" pitchFamily="34" charset="0"/>
            </a:endParaRPr>
          </a:p>
        </p:txBody>
      </p:sp>
      <p:sp>
        <p:nvSpPr>
          <p:cNvPr id="18" name="Subtitle 2"/>
          <p:cNvSpPr txBox="1">
            <a:spLocks noChangeArrowheads="1"/>
          </p:cNvSpPr>
          <p:nvPr/>
        </p:nvSpPr>
        <p:spPr bwMode="auto">
          <a:xfrm>
            <a:off x="1967740" y="6069218"/>
            <a:ext cx="5184775" cy="38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buFont typeface="Wingdings" panose="05000000000000000000" pitchFamily="2" charset="2"/>
              <a:buNone/>
            </a:pPr>
            <a:r>
              <a:rPr lang="en-US" altLang="en-US" sz="2400" b="1">
                <a:solidFill>
                  <a:srgbClr val="002060"/>
                </a:solidFill>
              </a:rPr>
              <a:t>TS.GVC. NGUYỄN QUỐC TOÀN</a:t>
            </a:r>
            <a:endParaRPr lang="en-US" altLang="en-US" sz="2400" b="1" dirty="0">
              <a:solidFill>
                <a:srgbClr val="002060"/>
              </a:solidFill>
            </a:endParaRPr>
          </a:p>
        </p:txBody>
      </p:sp>
      <p:pic>
        <p:nvPicPr>
          <p:cNvPr id="19"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15264" y="1676607"/>
            <a:ext cx="1566862" cy="2232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44051" y="1676607"/>
            <a:ext cx="1550988" cy="2232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55376" y="1676607"/>
            <a:ext cx="1550988" cy="2232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2" name="Picture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368290" y="1676607"/>
            <a:ext cx="1584325" cy="2232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3" name="Rectangle 7"/>
          <p:cNvSpPr>
            <a:spLocks noChangeArrowheads="1"/>
          </p:cNvSpPr>
          <p:nvPr/>
        </p:nvSpPr>
        <p:spPr bwMode="auto">
          <a:xfrm>
            <a:off x="1221574" y="235157"/>
            <a:ext cx="6581033"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3600">
                <a:solidFill>
                  <a:schemeClr val="accent5">
                    <a:lumMod val="25000"/>
                  </a:schemeClr>
                </a:solidFill>
                <a:latin typeface="SVN-Transformer" pitchFamily="2" charset="0"/>
                <a:cs typeface="Times New Roman" panose="02020603050405020304" pitchFamily="18" charset="0"/>
              </a:rPr>
              <a:t>TRƯỜNG ĐH BÁCH KHOA TP. HCM</a:t>
            </a:r>
            <a:endParaRPr lang="en-US" altLang="en-US" sz="3600">
              <a:solidFill>
                <a:schemeClr val="accent5">
                  <a:lumMod val="25000"/>
                </a:schemeClr>
              </a:solidFill>
              <a:latin typeface="SVN-Transformer" pitchFamily="2" charset="0"/>
            </a:endParaRPr>
          </a:p>
        </p:txBody>
      </p:sp>
      <p:sp>
        <p:nvSpPr>
          <p:cNvPr id="24" name="Rectangle 2"/>
          <p:cNvSpPr txBox="1">
            <a:spLocks noChangeArrowheads="1"/>
          </p:cNvSpPr>
          <p:nvPr/>
        </p:nvSpPr>
        <p:spPr bwMode="white">
          <a:xfrm>
            <a:off x="1288290" y="4099683"/>
            <a:ext cx="6575425" cy="685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a:lstStyle>
          <a:p>
            <a:pPr eaLnBrk="1" hangingPunct="1">
              <a:defRPr/>
            </a:pPr>
            <a:r>
              <a:rPr lang="en-US" sz="2000" kern="0">
                <a:solidFill>
                  <a:srgbClr val="FF0000"/>
                </a:solidFill>
                <a:latin typeface="Arial (Body)"/>
              </a:rPr>
              <a:t>MARXIST – LENINIST POLITICAL ECONOMICS</a:t>
            </a:r>
          </a:p>
        </p:txBody>
      </p:sp>
    </p:spTree>
    <p:extLst>
      <p:ext uri="{BB962C8B-B14F-4D97-AF65-F5344CB8AC3E}">
        <p14:creationId xmlns:p14="http://schemas.microsoft.com/office/powerpoint/2010/main" val="831814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562" name="Rectangle 2"/>
          <p:cNvSpPr>
            <a:spLocks noGrp="1" noChangeArrowheads="1"/>
          </p:cNvSpPr>
          <p:nvPr>
            <p:ph type="title"/>
          </p:nvPr>
        </p:nvSpPr>
        <p:spPr/>
        <p:txBody>
          <a:bodyPr>
            <a:normAutofit/>
          </a:bodyPr>
          <a:lstStyle/>
          <a:p>
            <a:pPr algn="ctr"/>
            <a:r>
              <a:rPr lang="en-US" altLang="en-US" sz="4000" b="1" dirty="0" err="1">
                <a:solidFill>
                  <a:srgbClr val="002060"/>
                </a:solidFill>
                <a:latin typeface="Arial" panose="020B0604020202020204" pitchFamily="34" charset="0"/>
                <a:cs typeface="Arial" panose="020B0604020202020204" pitchFamily="34" charset="0"/>
              </a:rPr>
              <a:t>Nội</a:t>
            </a:r>
            <a:r>
              <a:rPr lang="en-US" altLang="en-US" sz="4000" b="1" dirty="0">
                <a:solidFill>
                  <a:srgbClr val="002060"/>
                </a:solidFill>
                <a:latin typeface="Arial" panose="020B0604020202020204" pitchFamily="34" charset="0"/>
                <a:cs typeface="Arial" panose="020B0604020202020204" pitchFamily="34" charset="0"/>
              </a:rPr>
              <a:t> dung </a:t>
            </a:r>
            <a:r>
              <a:rPr lang="en-US" altLang="en-US" sz="4000" b="1" dirty="0" err="1">
                <a:solidFill>
                  <a:srgbClr val="002060"/>
                </a:solidFill>
                <a:latin typeface="Arial" panose="020B0604020202020204" pitchFamily="34" charset="0"/>
                <a:cs typeface="Arial" panose="020B0604020202020204" pitchFamily="34" charset="0"/>
              </a:rPr>
              <a:t>Chương</a:t>
            </a:r>
            <a:r>
              <a:rPr lang="en-US" altLang="en-US" sz="4000" b="1" dirty="0">
                <a:solidFill>
                  <a:srgbClr val="002060"/>
                </a:solidFill>
                <a:latin typeface="Arial" panose="020B0604020202020204" pitchFamily="34" charset="0"/>
                <a:cs typeface="Arial" panose="020B0604020202020204" pitchFamily="34" charset="0"/>
              </a:rPr>
              <a:t> 6</a:t>
            </a:r>
          </a:p>
        </p:txBody>
      </p:sp>
      <p:sp>
        <p:nvSpPr>
          <p:cNvPr id="1090565" name="AutoShape 5"/>
          <p:cNvSpPr>
            <a:spLocks noChangeArrowheads="1"/>
          </p:cNvSpPr>
          <p:nvPr/>
        </p:nvSpPr>
        <p:spPr bwMode="gray">
          <a:xfrm>
            <a:off x="3590924" y="1868560"/>
            <a:ext cx="4924426" cy="927652"/>
          </a:xfrm>
          <a:prstGeom prst="roundRect">
            <a:avLst>
              <a:gd name="adj" fmla="val 50000"/>
            </a:avLst>
          </a:prstGeom>
          <a:noFill/>
          <a:ln w="19050" cap="rnd">
            <a:solidFill>
              <a:schemeClr val="tx1"/>
            </a:solidFill>
            <a:prstDash val="sysDot"/>
            <a:round/>
            <a:headEnd/>
            <a:tailEnd/>
          </a:ln>
          <a:effectLst>
            <a:outerShdw dist="40161" dir="4293903" algn="ctr" rotWithShape="0">
              <a:srgbClr val="1C1C1C">
                <a:alpha val="50000"/>
              </a:srgbClr>
            </a:outerShdw>
          </a:effectLst>
          <a:extLst>
            <a:ext uri="{909E8E84-426E-40dd-AFC4-6F175D3DCCD1}">
              <a14:hiddenFill xmlns:a14="http://schemas.microsoft.com/office/drawing/2010/main" xmlns="">
                <a:solidFill>
                  <a:schemeClr val="bg1"/>
                </a:solidFill>
              </a14:hiddenFill>
            </a:ext>
          </a:extLst>
        </p:spPr>
        <p:txBody>
          <a:bodyPr wrap="none" anchor="ctr"/>
          <a:lstStyle/>
          <a:p>
            <a:endParaRPr lang="en-US">
              <a:solidFill>
                <a:srgbClr val="002060"/>
              </a:solidFill>
            </a:endParaRPr>
          </a:p>
        </p:txBody>
      </p:sp>
      <p:sp>
        <p:nvSpPr>
          <p:cNvPr id="1090566" name="Rectangle 6"/>
          <p:cNvSpPr>
            <a:spLocks noChangeArrowheads="1"/>
          </p:cNvSpPr>
          <p:nvPr/>
        </p:nvSpPr>
        <p:spPr bwMode="black">
          <a:xfrm>
            <a:off x="3819525" y="2048357"/>
            <a:ext cx="4566315" cy="64633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eaLnBrk="0" hangingPunct="0"/>
            <a:r>
              <a:rPr lang="en-US" altLang="en-US" b="1">
                <a:solidFill>
                  <a:srgbClr val="002060"/>
                </a:solidFill>
                <a:latin typeface="Arial" panose="020B0604020202020204" pitchFamily="34" charset="0"/>
              </a:rPr>
              <a:t>6.1. CÔNG NGHIỆP HÓA, HIỆN ĐẠI HÓA</a:t>
            </a:r>
          </a:p>
          <a:p>
            <a:pPr eaLnBrk="0" hangingPunct="0"/>
            <a:r>
              <a:rPr lang="en-US" altLang="en-US" b="1">
                <a:solidFill>
                  <a:srgbClr val="002060"/>
                </a:solidFill>
                <a:latin typeface="Arial" panose="020B0604020202020204" pitchFamily="34" charset="0"/>
              </a:rPr>
              <a:t> Ở VIỆT NAM</a:t>
            </a:r>
          </a:p>
        </p:txBody>
      </p:sp>
      <p:sp>
        <p:nvSpPr>
          <p:cNvPr id="1090567" name="Oval 7"/>
          <p:cNvSpPr>
            <a:spLocks noChangeArrowheads="1"/>
          </p:cNvSpPr>
          <p:nvPr/>
        </p:nvSpPr>
        <p:spPr bwMode="gray">
          <a:xfrm>
            <a:off x="3505200" y="2238375"/>
            <a:ext cx="228600" cy="228600"/>
          </a:xfrm>
          <a:prstGeom prst="ellipse">
            <a:avLst/>
          </a:prstGeom>
          <a:gradFill rotWithShape="1">
            <a:gsLst>
              <a:gs pos="0">
                <a:schemeClr val="accent1"/>
              </a:gs>
              <a:gs pos="100000">
                <a:schemeClr val="accent1">
                  <a:gamma/>
                  <a:shade val="66667"/>
                  <a:invGamma/>
                </a:schemeClr>
              </a:gs>
            </a:gsLst>
            <a:path path="shape">
              <a:fillToRect l="50000" t="50000" r="50000" b="50000"/>
            </a:path>
          </a:gradFill>
          <a:ln w="19050">
            <a:solidFill>
              <a:schemeClr val="tx1"/>
            </a:solidFill>
            <a:round/>
            <a:headEnd/>
            <a:tailEnd/>
          </a:ln>
          <a:effectLst>
            <a:outerShdw dist="12700" dir="10800000" algn="ctr" rotWithShape="0">
              <a:srgbClr val="1C1C1C">
                <a:alpha val="50000"/>
              </a:srgbClr>
            </a:outerShdw>
          </a:effectLst>
        </p:spPr>
        <p:txBody>
          <a:bodyPr wrap="none" anchor="ctr"/>
          <a:lstStyle/>
          <a:p>
            <a:endParaRPr lang="en-US">
              <a:solidFill>
                <a:srgbClr val="002060"/>
              </a:solidFill>
            </a:endParaRPr>
          </a:p>
        </p:txBody>
      </p:sp>
      <p:sp>
        <p:nvSpPr>
          <p:cNvPr id="1090581" name="AutoShape 21"/>
          <p:cNvSpPr>
            <a:spLocks noChangeArrowheads="1"/>
          </p:cNvSpPr>
          <p:nvPr/>
        </p:nvSpPr>
        <p:spPr bwMode="gray">
          <a:xfrm>
            <a:off x="3590924" y="4717775"/>
            <a:ext cx="4924425" cy="914400"/>
          </a:xfrm>
          <a:prstGeom prst="roundRect">
            <a:avLst>
              <a:gd name="adj" fmla="val 50000"/>
            </a:avLst>
          </a:prstGeom>
          <a:noFill/>
          <a:ln w="19050" cap="rnd">
            <a:solidFill>
              <a:schemeClr val="tx1"/>
            </a:solidFill>
            <a:prstDash val="sysDot"/>
            <a:round/>
            <a:headEnd/>
            <a:tailEnd/>
          </a:ln>
          <a:effectLst>
            <a:outerShdw dist="40161" dir="4293903" algn="ctr" rotWithShape="0">
              <a:srgbClr val="1C1C1C">
                <a:alpha val="50000"/>
              </a:srgbClr>
            </a:outerShdw>
          </a:effectLst>
          <a:extLst>
            <a:ext uri="{909E8E84-426E-40dd-AFC4-6F175D3DCCD1}">
              <a14:hiddenFill xmlns:a14="http://schemas.microsoft.com/office/drawing/2010/main" xmlns="">
                <a:solidFill>
                  <a:schemeClr val="bg1"/>
                </a:solidFill>
              </a14:hiddenFill>
            </a:ext>
          </a:extLst>
        </p:spPr>
        <p:txBody>
          <a:bodyPr wrap="none" anchor="ctr"/>
          <a:lstStyle/>
          <a:p>
            <a:endParaRPr lang="en-US">
              <a:solidFill>
                <a:srgbClr val="002060"/>
              </a:solidFill>
            </a:endParaRPr>
          </a:p>
        </p:txBody>
      </p:sp>
      <p:sp>
        <p:nvSpPr>
          <p:cNvPr id="1090582" name="Rectangle 22"/>
          <p:cNvSpPr>
            <a:spLocks noChangeArrowheads="1"/>
          </p:cNvSpPr>
          <p:nvPr/>
        </p:nvSpPr>
        <p:spPr bwMode="black">
          <a:xfrm>
            <a:off x="4114800" y="4887075"/>
            <a:ext cx="3925113" cy="64633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eaLnBrk="0" hangingPunct="0"/>
            <a:r>
              <a:rPr lang="en-US" altLang="en-US" b="1">
                <a:solidFill>
                  <a:srgbClr val="002060"/>
                </a:solidFill>
                <a:latin typeface="Arial" panose="020B0604020202020204" pitchFamily="34" charset="0"/>
              </a:rPr>
              <a:t>6.2. HỘI NHẬP KINH TẾ QUỐC TẾ </a:t>
            </a:r>
          </a:p>
          <a:p>
            <a:pPr eaLnBrk="0" hangingPunct="0"/>
            <a:r>
              <a:rPr lang="en-US" altLang="en-US" b="1">
                <a:solidFill>
                  <a:srgbClr val="002060"/>
                </a:solidFill>
                <a:latin typeface="Arial" panose="020B0604020202020204" pitchFamily="34" charset="0"/>
              </a:rPr>
              <a:t>CỦA VIỆT NAM</a:t>
            </a:r>
          </a:p>
        </p:txBody>
      </p:sp>
      <p:sp>
        <p:nvSpPr>
          <p:cNvPr id="1090583" name="Oval 23"/>
          <p:cNvSpPr>
            <a:spLocks noChangeArrowheads="1"/>
          </p:cNvSpPr>
          <p:nvPr/>
        </p:nvSpPr>
        <p:spPr bwMode="gray">
          <a:xfrm>
            <a:off x="3505200" y="5053013"/>
            <a:ext cx="228600" cy="228600"/>
          </a:xfrm>
          <a:prstGeom prst="ellipse">
            <a:avLst/>
          </a:prstGeom>
          <a:gradFill rotWithShape="1">
            <a:gsLst>
              <a:gs pos="0">
                <a:schemeClr val="tx1"/>
              </a:gs>
              <a:gs pos="100000">
                <a:schemeClr val="tx1">
                  <a:gamma/>
                  <a:shade val="66667"/>
                  <a:invGamma/>
                </a:schemeClr>
              </a:gs>
            </a:gsLst>
            <a:path path="shape">
              <a:fillToRect l="50000" t="50000" r="50000" b="50000"/>
            </a:path>
          </a:gradFill>
          <a:ln w="19050">
            <a:solidFill>
              <a:schemeClr val="tx1"/>
            </a:solidFill>
            <a:round/>
            <a:headEnd/>
            <a:tailEnd/>
          </a:ln>
          <a:effectLst>
            <a:outerShdw dist="12700" dir="10800000" algn="ctr" rotWithShape="0">
              <a:srgbClr val="1C1C1C">
                <a:alpha val="50000"/>
              </a:srgbClr>
            </a:outerShdw>
          </a:effectLst>
        </p:spPr>
        <p:txBody>
          <a:bodyPr wrap="none" anchor="ctr"/>
          <a:lstStyle/>
          <a:p>
            <a:endParaRPr lang="en-US">
              <a:solidFill>
                <a:srgbClr val="002060"/>
              </a:solidFill>
            </a:endParaRPr>
          </a:p>
        </p:txBody>
      </p:sp>
      <p:sp>
        <p:nvSpPr>
          <p:cNvPr id="1090585" name="Line 25"/>
          <p:cNvSpPr>
            <a:spLocks noChangeShapeType="1"/>
          </p:cNvSpPr>
          <p:nvPr/>
        </p:nvSpPr>
        <p:spPr bwMode="gray">
          <a:xfrm flipV="1">
            <a:off x="2514600" y="2362200"/>
            <a:ext cx="381000" cy="38100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090586" name="Line 26"/>
          <p:cNvSpPr>
            <a:spLocks noChangeShapeType="1"/>
          </p:cNvSpPr>
          <p:nvPr/>
        </p:nvSpPr>
        <p:spPr bwMode="gray">
          <a:xfrm>
            <a:off x="2438400" y="4876800"/>
            <a:ext cx="457200" cy="30480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grpSp>
        <p:nvGrpSpPr>
          <p:cNvPr id="1090587" name="Group 27"/>
          <p:cNvGrpSpPr>
            <a:grpSpLocks/>
          </p:cNvGrpSpPr>
          <p:nvPr/>
        </p:nvGrpSpPr>
        <p:grpSpPr bwMode="auto">
          <a:xfrm>
            <a:off x="2895600" y="2362200"/>
            <a:ext cx="609600" cy="2819400"/>
            <a:chOff x="1824" y="1488"/>
            <a:chExt cx="240" cy="1776"/>
          </a:xfrm>
        </p:grpSpPr>
        <p:sp>
          <p:nvSpPr>
            <p:cNvPr id="1090588" name="Line 28"/>
            <p:cNvSpPr>
              <a:spLocks noChangeShapeType="1"/>
            </p:cNvSpPr>
            <p:nvPr/>
          </p:nvSpPr>
          <p:spPr bwMode="gray">
            <a:xfrm>
              <a:off x="1824" y="1488"/>
              <a:ext cx="240" cy="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090589" name="Line 29"/>
            <p:cNvSpPr>
              <a:spLocks noChangeShapeType="1"/>
            </p:cNvSpPr>
            <p:nvPr/>
          </p:nvSpPr>
          <p:spPr bwMode="gray">
            <a:xfrm>
              <a:off x="1824" y="3264"/>
              <a:ext cx="240" cy="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grpSp>
      <p:pic>
        <p:nvPicPr>
          <p:cNvPr id="1090593" name="Picture 3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2150" y="2743200"/>
            <a:ext cx="2159000" cy="2133599"/>
          </a:xfrm>
          <a:prstGeom prst="rect">
            <a:avLst/>
          </a:prstGeom>
          <a:ln>
            <a:noFill/>
          </a:ln>
          <a:effectLst>
            <a:softEdge rad="112500"/>
          </a:effectLst>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562" name="Rectangle 2"/>
          <p:cNvSpPr>
            <a:spLocks noGrp="1" noChangeArrowheads="1"/>
          </p:cNvSpPr>
          <p:nvPr>
            <p:ph type="title"/>
          </p:nvPr>
        </p:nvSpPr>
        <p:spPr/>
        <p:txBody>
          <a:bodyPr>
            <a:normAutofit/>
          </a:bodyPr>
          <a:lstStyle/>
          <a:p>
            <a:pPr algn="ctr"/>
            <a:r>
              <a:rPr lang="en-US" altLang="en-US" sz="2800" b="1" dirty="0">
                <a:solidFill>
                  <a:srgbClr val="002060"/>
                </a:solidFill>
                <a:latin typeface="Arial" panose="020B0604020202020204" pitchFamily="34" charset="0"/>
                <a:cs typeface="Arial" panose="020B0604020202020204" pitchFamily="34" charset="0"/>
              </a:rPr>
              <a:t>6.1. CÔNG NGHIỆP HOÁ, HIỆN ĐẠI HOÁ </a:t>
            </a:r>
            <a:br>
              <a:rPr lang="en-US" altLang="en-US" sz="2800" b="1" dirty="0">
                <a:solidFill>
                  <a:srgbClr val="002060"/>
                </a:solidFill>
                <a:latin typeface="Arial" panose="020B0604020202020204" pitchFamily="34" charset="0"/>
                <a:cs typeface="Arial" panose="020B0604020202020204" pitchFamily="34" charset="0"/>
              </a:rPr>
            </a:br>
            <a:r>
              <a:rPr lang="en-US" altLang="en-US" sz="2800" b="1" dirty="0" err="1">
                <a:solidFill>
                  <a:srgbClr val="002060"/>
                </a:solidFill>
                <a:latin typeface="Arial" panose="020B0604020202020204" pitchFamily="34" charset="0"/>
                <a:cs typeface="Arial" panose="020B0604020202020204" pitchFamily="34" charset="0"/>
              </a:rPr>
              <a:t>Ở</a:t>
            </a:r>
            <a:r>
              <a:rPr lang="en-US" altLang="en-US" sz="2800" b="1" dirty="0">
                <a:solidFill>
                  <a:srgbClr val="002060"/>
                </a:solidFill>
                <a:latin typeface="Arial" panose="020B0604020202020204" pitchFamily="34" charset="0"/>
                <a:cs typeface="Arial" panose="020B0604020202020204" pitchFamily="34" charset="0"/>
              </a:rPr>
              <a:t> VIỆT NAM</a:t>
            </a:r>
          </a:p>
        </p:txBody>
      </p:sp>
      <p:sp>
        <p:nvSpPr>
          <p:cNvPr id="1090565" name="AutoShape 5"/>
          <p:cNvSpPr>
            <a:spLocks noChangeArrowheads="1"/>
          </p:cNvSpPr>
          <p:nvPr/>
        </p:nvSpPr>
        <p:spPr bwMode="gray">
          <a:xfrm>
            <a:off x="3590924" y="1868559"/>
            <a:ext cx="5121224" cy="1067169"/>
          </a:xfrm>
          <a:prstGeom prst="roundRect">
            <a:avLst>
              <a:gd name="adj" fmla="val 50000"/>
            </a:avLst>
          </a:prstGeom>
          <a:noFill/>
          <a:ln w="19050" cap="rnd">
            <a:solidFill>
              <a:schemeClr val="tx1"/>
            </a:solidFill>
            <a:prstDash val="sysDot"/>
            <a:round/>
            <a:headEnd/>
            <a:tailEnd/>
          </a:ln>
          <a:effectLst>
            <a:outerShdw dist="40161" dir="4293903" algn="ctr" rotWithShape="0">
              <a:srgbClr val="1C1C1C">
                <a:alpha val="50000"/>
              </a:srgbClr>
            </a:outerShdw>
          </a:effectLst>
          <a:extLst>
            <a:ext uri="{909E8E84-426E-40dd-AFC4-6F175D3DCCD1}">
              <a14:hiddenFill xmlns:a14="http://schemas.microsoft.com/office/drawing/2010/main" xmlns="">
                <a:solidFill>
                  <a:schemeClr val="bg1"/>
                </a:solidFill>
              </a14:hiddenFill>
            </a:ext>
          </a:extLst>
        </p:spPr>
        <p:txBody>
          <a:bodyPr wrap="none" anchor="ctr"/>
          <a:lstStyle/>
          <a:p>
            <a:endParaRPr lang="en-US">
              <a:solidFill>
                <a:srgbClr val="002060"/>
              </a:solidFill>
            </a:endParaRPr>
          </a:p>
        </p:txBody>
      </p:sp>
      <p:sp>
        <p:nvSpPr>
          <p:cNvPr id="1090566" name="Rectangle 6"/>
          <p:cNvSpPr>
            <a:spLocks noChangeArrowheads="1"/>
          </p:cNvSpPr>
          <p:nvPr/>
        </p:nvSpPr>
        <p:spPr bwMode="black">
          <a:xfrm>
            <a:off x="3705986" y="2048357"/>
            <a:ext cx="4793399" cy="64633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eaLnBrk="0" hangingPunct="0"/>
            <a:r>
              <a:rPr lang="en-US" altLang="en-US" b="1" dirty="0">
                <a:solidFill>
                  <a:srgbClr val="002060"/>
                </a:solidFill>
                <a:latin typeface="Arial" panose="020B0604020202020204" pitchFamily="34" charset="0"/>
              </a:rPr>
              <a:t>KHÁI QUÁT CÁCH MẠNG CÔNG NGHIỆP</a:t>
            </a:r>
          </a:p>
          <a:p>
            <a:pPr eaLnBrk="0" hangingPunct="0"/>
            <a:r>
              <a:rPr lang="en-US" altLang="en-US" b="1" dirty="0">
                <a:solidFill>
                  <a:srgbClr val="002060"/>
                </a:solidFill>
                <a:latin typeface="Arial" panose="020B0604020202020204" pitchFamily="34" charset="0"/>
              </a:rPr>
              <a:t>VÀ CÔNG NGHIỆP HOÁ HÓA</a:t>
            </a:r>
          </a:p>
        </p:txBody>
      </p:sp>
      <p:sp>
        <p:nvSpPr>
          <p:cNvPr id="1090567" name="Oval 7"/>
          <p:cNvSpPr>
            <a:spLocks noChangeArrowheads="1"/>
          </p:cNvSpPr>
          <p:nvPr/>
        </p:nvSpPr>
        <p:spPr bwMode="gray">
          <a:xfrm>
            <a:off x="3505200" y="2238375"/>
            <a:ext cx="228600" cy="228600"/>
          </a:xfrm>
          <a:prstGeom prst="ellipse">
            <a:avLst/>
          </a:prstGeom>
          <a:gradFill rotWithShape="1">
            <a:gsLst>
              <a:gs pos="0">
                <a:schemeClr val="accent1"/>
              </a:gs>
              <a:gs pos="100000">
                <a:schemeClr val="accent1">
                  <a:gamma/>
                  <a:shade val="66667"/>
                  <a:invGamma/>
                </a:schemeClr>
              </a:gs>
            </a:gsLst>
            <a:path path="shape">
              <a:fillToRect l="50000" t="50000" r="50000" b="50000"/>
            </a:path>
          </a:gradFill>
          <a:ln w="19050">
            <a:solidFill>
              <a:schemeClr val="tx1"/>
            </a:solidFill>
            <a:round/>
            <a:headEnd/>
            <a:tailEnd/>
          </a:ln>
          <a:effectLst>
            <a:outerShdw dist="12700" dir="10800000" algn="ctr" rotWithShape="0">
              <a:srgbClr val="1C1C1C">
                <a:alpha val="50000"/>
              </a:srgbClr>
            </a:outerShdw>
          </a:effectLst>
        </p:spPr>
        <p:txBody>
          <a:bodyPr wrap="none" anchor="ctr"/>
          <a:lstStyle/>
          <a:p>
            <a:endParaRPr lang="en-US">
              <a:solidFill>
                <a:srgbClr val="002060"/>
              </a:solidFill>
            </a:endParaRPr>
          </a:p>
        </p:txBody>
      </p:sp>
      <p:sp>
        <p:nvSpPr>
          <p:cNvPr id="1090581" name="AutoShape 21"/>
          <p:cNvSpPr>
            <a:spLocks noChangeArrowheads="1"/>
          </p:cNvSpPr>
          <p:nvPr/>
        </p:nvSpPr>
        <p:spPr bwMode="gray">
          <a:xfrm>
            <a:off x="3590923" y="4594883"/>
            <a:ext cx="5326055" cy="1153683"/>
          </a:xfrm>
          <a:prstGeom prst="roundRect">
            <a:avLst>
              <a:gd name="adj" fmla="val 50000"/>
            </a:avLst>
          </a:prstGeom>
          <a:noFill/>
          <a:ln w="19050" cap="rnd">
            <a:solidFill>
              <a:schemeClr val="tx1"/>
            </a:solidFill>
            <a:prstDash val="sysDot"/>
            <a:round/>
            <a:headEnd/>
            <a:tailEnd/>
          </a:ln>
          <a:effectLst>
            <a:outerShdw dist="40161" dir="4293903" algn="ctr" rotWithShape="0">
              <a:srgbClr val="1C1C1C">
                <a:alpha val="50000"/>
              </a:srgbClr>
            </a:outerShdw>
          </a:effectLst>
          <a:extLst>
            <a:ext uri="{909E8E84-426E-40dd-AFC4-6F175D3DCCD1}">
              <a14:hiddenFill xmlns:a14="http://schemas.microsoft.com/office/drawing/2010/main" xmlns="">
                <a:solidFill>
                  <a:schemeClr val="bg1"/>
                </a:solidFill>
              </a14:hiddenFill>
            </a:ext>
          </a:extLst>
        </p:spPr>
        <p:txBody>
          <a:bodyPr wrap="none" anchor="ctr"/>
          <a:lstStyle/>
          <a:p>
            <a:endParaRPr lang="en-US">
              <a:solidFill>
                <a:srgbClr val="002060"/>
              </a:solidFill>
            </a:endParaRPr>
          </a:p>
        </p:txBody>
      </p:sp>
      <p:sp>
        <p:nvSpPr>
          <p:cNvPr id="1090582" name="Rectangle 22"/>
          <p:cNvSpPr>
            <a:spLocks noChangeArrowheads="1"/>
          </p:cNvSpPr>
          <p:nvPr/>
        </p:nvSpPr>
        <p:spPr bwMode="black">
          <a:xfrm>
            <a:off x="3805449" y="4873421"/>
            <a:ext cx="4844257" cy="64633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eaLnBrk="0" hangingPunct="0"/>
            <a:r>
              <a:rPr lang="en-US" altLang="en-US" b="1" dirty="0">
                <a:solidFill>
                  <a:srgbClr val="002060"/>
                </a:solidFill>
                <a:latin typeface="Arial" panose="020B0604020202020204" pitchFamily="34" charset="0"/>
              </a:rPr>
              <a:t>CNH, HĐH </a:t>
            </a:r>
            <a:r>
              <a:rPr lang="en-US" altLang="en-US" b="1" dirty="0" err="1">
                <a:solidFill>
                  <a:srgbClr val="002060"/>
                </a:solidFill>
                <a:latin typeface="Arial" panose="020B0604020202020204" pitchFamily="34" charset="0"/>
              </a:rPr>
              <a:t>Ở</a:t>
            </a:r>
            <a:r>
              <a:rPr lang="en-US" altLang="en-US" b="1" dirty="0">
                <a:solidFill>
                  <a:srgbClr val="002060"/>
                </a:solidFill>
                <a:latin typeface="Arial" panose="020B0604020202020204" pitchFamily="34" charset="0"/>
              </a:rPr>
              <a:t> VIỆT NAM TRONG BỐI CẢNH</a:t>
            </a:r>
          </a:p>
          <a:p>
            <a:pPr eaLnBrk="0" hangingPunct="0"/>
            <a:r>
              <a:rPr lang="en-US" altLang="en-US" b="1" dirty="0">
                <a:solidFill>
                  <a:srgbClr val="002060"/>
                </a:solidFill>
                <a:latin typeface="Arial" panose="020B0604020202020204" pitchFamily="34" charset="0"/>
              </a:rPr>
              <a:t>CÁCH MẠNG CÔNG NGHIỆP LẦN THỨ 4</a:t>
            </a:r>
          </a:p>
        </p:txBody>
      </p:sp>
      <p:sp>
        <p:nvSpPr>
          <p:cNvPr id="1090583" name="Oval 23"/>
          <p:cNvSpPr>
            <a:spLocks noChangeArrowheads="1"/>
          </p:cNvSpPr>
          <p:nvPr/>
        </p:nvSpPr>
        <p:spPr bwMode="gray">
          <a:xfrm>
            <a:off x="3505200" y="5053013"/>
            <a:ext cx="228600" cy="228600"/>
          </a:xfrm>
          <a:prstGeom prst="ellipse">
            <a:avLst/>
          </a:prstGeom>
          <a:gradFill rotWithShape="1">
            <a:gsLst>
              <a:gs pos="0">
                <a:schemeClr val="tx1"/>
              </a:gs>
              <a:gs pos="100000">
                <a:schemeClr val="tx1">
                  <a:gamma/>
                  <a:shade val="66667"/>
                  <a:invGamma/>
                </a:schemeClr>
              </a:gs>
            </a:gsLst>
            <a:path path="shape">
              <a:fillToRect l="50000" t="50000" r="50000" b="50000"/>
            </a:path>
          </a:gradFill>
          <a:ln w="19050">
            <a:solidFill>
              <a:schemeClr val="tx1"/>
            </a:solidFill>
            <a:round/>
            <a:headEnd/>
            <a:tailEnd/>
          </a:ln>
          <a:effectLst>
            <a:outerShdw dist="12700" dir="10800000" algn="ctr" rotWithShape="0">
              <a:srgbClr val="1C1C1C">
                <a:alpha val="50000"/>
              </a:srgbClr>
            </a:outerShdw>
          </a:effectLst>
        </p:spPr>
        <p:txBody>
          <a:bodyPr wrap="none" anchor="ctr"/>
          <a:lstStyle/>
          <a:p>
            <a:endParaRPr lang="en-US">
              <a:solidFill>
                <a:srgbClr val="002060"/>
              </a:solidFill>
            </a:endParaRPr>
          </a:p>
        </p:txBody>
      </p:sp>
      <p:sp>
        <p:nvSpPr>
          <p:cNvPr id="1090585" name="Line 25"/>
          <p:cNvSpPr>
            <a:spLocks noChangeShapeType="1"/>
          </p:cNvSpPr>
          <p:nvPr/>
        </p:nvSpPr>
        <p:spPr bwMode="gray">
          <a:xfrm flipV="1">
            <a:off x="2514600" y="2362200"/>
            <a:ext cx="381000" cy="38100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090586" name="Line 26"/>
          <p:cNvSpPr>
            <a:spLocks noChangeShapeType="1"/>
          </p:cNvSpPr>
          <p:nvPr/>
        </p:nvSpPr>
        <p:spPr bwMode="gray">
          <a:xfrm>
            <a:off x="2438400" y="4876800"/>
            <a:ext cx="457200" cy="30480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grpSp>
        <p:nvGrpSpPr>
          <p:cNvPr id="1090587" name="Group 27"/>
          <p:cNvGrpSpPr>
            <a:grpSpLocks/>
          </p:cNvGrpSpPr>
          <p:nvPr/>
        </p:nvGrpSpPr>
        <p:grpSpPr bwMode="auto">
          <a:xfrm>
            <a:off x="2895600" y="2362200"/>
            <a:ext cx="609600" cy="2819400"/>
            <a:chOff x="1824" y="1488"/>
            <a:chExt cx="240" cy="1776"/>
          </a:xfrm>
        </p:grpSpPr>
        <p:sp>
          <p:nvSpPr>
            <p:cNvPr id="1090588" name="Line 28"/>
            <p:cNvSpPr>
              <a:spLocks noChangeShapeType="1"/>
            </p:cNvSpPr>
            <p:nvPr/>
          </p:nvSpPr>
          <p:spPr bwMode="gray">
            <a:xfrm>
              <a:off x="1824" y="1488"/>
              <a:ext cx="240" cy="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090589" name="Line 29"/>
            <p:cNvSpPr>
              <a:spLocks noChangeShapeType="1"/>
            </p:cNvSpPr>
            <p:nvPr/>
          </p:nvSpPr>
          <p:spPr bwMode="gray">
            <a:xfrm>
              <a:off x="1824" y="3264"/>
              <a:ext cx="240" cy="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grpSp>
      <p:pic>
        <p:nvPicPr>
          <p:cNvPr id="1090593" name="Picture 3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2150" y="2743200"/>
            <a:ext cx="2159000" cy="2133599"/>
          </a:xfrm>
          <a:prstGeom prst="rect">
            <a:avLst/>
          </a:prstGeom>
          <a:ln>
            <a:noFill/>
          </a:ln>
          <a:effectLst>
            <a:softEdge rad="112500"/>
          </a:effectLst>
          <a:extLst>
            <a:ext uri="{909E8E84-426E-40dd-AFC4-6F175D3DCCD1}">
              <a14:hiddenFill xmlns:a14="http://schemas.microsoft.com/office/drawing/2010/main" xmlns="">
                <a:solidFill>
                  <a:srgbClr val="FFFFFF"/>
                </a:solidFill>
              </a14:hiddenFill>
            </a:ext>
          </a:extLst>
        </p:spPr>
      </p:pic>
      <p:sp>
        <p:nvSpPr>
          <p:cNvPr id="15" name="AutoShape 21"/>
          <p:cNvSpPr>
            <a:spLocks noChangeArrowheads="1"/>
          </p:cNvSpPr>
          <p:nvPr/>
        </p:nvSpPr>
        <p:spPr bwMode="gray">
          <a:xfrm>
            <a:off x="3538492" y="3272591"/>
            <a:ext cx="5326055" cy="1153683"/>
          </a:xfrm>
          <a:prstGeom prst="roundRect">
            <a:avLst>
              <a:gd name="adj" fmla="val 50000"/>
            </a:avLst>
          </a:prstGeom>
          <a:noFill/>
          <a:ln w="19050" cap="rnd">
            <a:solidFill>
              <a:schemeClr val="tx1"/>
            </a:solidFill>
            <a:prstDash val="sysDot"/>
            <a:round/>
            <a:headEnd/>
            <a:tailEnd/>
          </a:ln>
          <a:effectLst>
            <a:outerShdw dist="40161" dir="4293903" algn="ctr" rotWithShape="0">
              <a:srgbClr val="1C1C1C">
                <a:alpha val="50000"/>
              </a:srgbClr>
            </a:outerShdw>
          </a:effectLst>
          <a:extLst>
            <a:ext uri="{909E8E84-426E-40dd-AFC4-6F175D3DCCD1}">
              <a14:hiddenFill xmlns:a14="http://schemas.microsoft.com/office/drawing/2010/main" xmlns="">
                <a:solidFill>
                  <a:schemeClr val="bg1"/>
                </a:solidFill>
              </a14:hiddenFill>
            </a:ext>
          </a:extLst>
        </p:spPr>
        <p:txBody>
          <a:bodyPr wrap="none" anchor="ctr"/>
          <a:lstStyle/>
          <a:p>
            <a:endParaRPr lang="en-US">
              <a:solidFill>
                <a:srgbClr val="002060"/>
              </a:solidFill>
            </a:endParaRPr>
          </a:p>
        </p:txBody>
      </p:sp>
      <p:sp>
        <p:nvSpPr>
          <p:cNvPr id="16" name="Oval 7"/>
          <p:cNvSpPr>
            <a:spLocks noChangeArrowheads="1"/>
          </p:cNvSpPr>
          <p:nvPr/>
        </p:nvSpPr>
        <p:spPr bwMode="gray">
          <a:xfrm>
            <a:off x="3411803" y="3783540"/>
            <a:ext cx="228600" cy="228600"/>
          </a:xfrm>
          <a:prstGeom prst="ellipse">
            <a:avLst/>
          </a:prstGeom>
          <a:gradFill rotWithShape="1">
            <a:gsLst>
              <a:gs pos="0">
                <a:schemeClr val="accent1"/>
              </a:gs>
              <a:gs pos="100000">
                <a:schemeClr val="accent1">
                  <a:gamma/>
                  <a:shade val="66667"/>
                  <a:invGamma/>
                </a:schemeClr>
              </a:gs>
            </a:gsLst>
            <a:path path="shape">
              <a:fillToRect l="50000" t="50000" r="50000" b="50000"/>
            </a:path>
          </a:gradFill>
          <a:ln w="19050">
            <a:solidFill>
              <a:schemeClr val="tx1"/>
            </a:solidFill>
            <a:round/>
            <a:headEnd/>
            <a:tailEnd/>
          </a:ln>
          <a:effectLst>
            <a:outerShdw dist="12700" dir="10800000" algn="ctr" rotWithShape="0">
              <a:srgbClr val="1C1C1C">
                <a:alpha val="50000"/>
              </a:srgbClr>
            </a:outerShdw>
          </a:effectLst>
        </p:spPr>
        <p:txBody>
          <a:bodyPr wrap="none" anchor="ctr"/>
          <a:lstStyle/>
          <a:p>
            <a:endParaRPr lang="en-US">
              <a:solidFill>
                <a:srgbClr val="002060"/>
              </a:solidFill>
            </a:endParaRPr>
          </a:p>
        </p:txBody>
      </p:sp>
      <p:sp>
        <p:nvSpPr>
          <p:cNvPr id="18" name="Line 28"/>
          <p:cNvSpPr>
            <a:spLocks noChangeShapeType="1"/>
          </p:cNvSpPr>
          <p:nvPr/>
        </p:nvSpPr>
        <p:spPr bwMode="gray">
          <a:xfrm>
            <a:off x="2774892" y="3921019"/>
            <a:ext cx="609600" cy="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9" name="Rectangle 22"/>
          <p:cNvSpPr>
            <a:spLocks noChangeArrowheads="1"/>
          </p:cNvSpPr>
          <p:nvPr/>
        </p:nvSpPr>
        <p:spPr bwMode="black">
          <a:xfrm>
            <a:off x="3681232" y="3414584"/>
            <a:ext cx="5015127" cy="923330"/>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eaLnBrk="0" hangingPunct="0"/>
            <a:r>
              <a:rPr lang="en-US" altLang="en-US" b="1" dirty="0">
                <a:solidFill>
                  <a:srgbClr val="002060"/>
                </a:solidFill>
                <a:latin typeface="Arial" panose="020B0604020202020204" pitchFamily="34" charset="0"/>
              </a:rPr>
              <a:t>TÍNH TẤT YẾU KHÁCH QUAN VÀ NỘI DUNG </a:t>
            </a:r>
          </a:p>
          <a:p>
            <a:pPr eaLnBrk="0" hangingPunct="0"/>
            <a:r>
              <a:rPr lang="en-US" altLang="en-US" b="1" dirty="0">
                <a:solidFill>
                  <a:srgbClr val="002060"/>
                </a:solidFill>
                <a:latin typeface="Arial" panose="020B0604020202020204" pitchFamily="34" charset="0"/>
              </a:rPr>
              <a:t>CỦA CÔNG NGHIỆP HOÁ, HIỆN ĐẠI HOÁ</a:t>
            </a:r>
          </a:p>
          <a:p>
            <a:pPr eaLnBrk="0" hangingPunct="0"/>
            <a:r>
              <a:rPr lang="en-US" altLang="en-US" b="1" dirty="0" err="1">
                <a:solidFill>
                  <a:srgbClr val="002060"/>
                </a:solidFill>
                <a:latin typeface="Arial" panose="020B0604020202020204" pitchFamily="34" charset="0"/>
              </a:rPr>
              <a:t>Ở</a:t>
            </a:r>
            <a:r>
              <a:rPr lang="en-US" altLang="en-US" b="1" dirty="0">
                <a:solidFill>
                  <a:srgbClr val="002060"/>
                </a:solidFill>
                <a:latin typeface="Arial" panose="020B0604020202020204" pitchFamily="34" charset="0"/>
              </a:rPr>
              <a:t> VIỆT NAM</a:t>
            </a:r>
          </a:p>
        </p:txBody>
      </p:sp>
    </p:spTree>
    <p:extLst>
      <p:ext uri="{BB962C8B-B14F-4D97-AF65-F5344CB8AC3E}">
        <p14:creationId xmlns:p14="http://schemas.microsoft.com/office/powerpoint/2010/main" val="2243709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1090565"/>
                                        </p:tgtEl>
                                        <p:attrNameLst>
                                          <p:attrName>fillcolor</p:attrName>
                                        </p:attrNameLst>
                                      </p:cBhvr>
                                      <p:to>
                                        <a:schemeClr val="accent2"/>
                                      </p:to>
                                    </p:animClr>
                                    <p:set>
                                      <p:cBhvr>
                                        <p:cTn id="7" dur="2000" fill="hold"/>
                                        <p:tgtEl>
                                          <p:spTgt spid="1090565"/>
                                        </p:tgtEl>
                                        <p:attrNameLst>
                                          <p:attrName>fill.type</p:attrName>
                                        </p:attrNameLst>
                                      </p:cBhvr>
                                      <p:to>
                                        <p:strVal val="solid"/>
                                      </p:to>
                                    </p:set>
                                    <p:set>
                                      <p:cBhvr>
                                        <p:cTn id="8" dur="2000" fill="hold"/>
                                        <p:tgtEl>
                                          <p:spTgt spid="1090565"/>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mph" presetSubtype="2" fill="hold" nodeType="clickEffect">
                                  <p:stCondLst>
                                    <p:cond delay="0"/>
                                  </p:stCondLst>
                                  <p:childTnLst>
                                    <p:animClr clrSpc="rgb" dir="cw">
                                      <p:cBhvr>
                                        <p:cTn id="12" dur="2000" fill="hold"/>
                                        <p:tgtEl>
                                          <p:spTgt spid="1090565"/>
                                        </p:tgtEl>
                                        <p:attrNameLst>
                                          <p:attrName>fillcolor</p:attrName>
                                        </p:attrNameLst>
                                      </p:cBhvr>
                                      <p:to>
                                        <a:schemeClr val="accent2"/>
                                      </p:to>
                                    </p:animClr>
                                    <p:set>
                                      <p:cBhvr>
                                        <p:cTn id="13" dur="2000" fill="hold"/>
                                        <p:tgtEl>
                                          <p:spTgt spid="1090565"/>
                                        </p:tgtEl>
                                        <p:attrNameLst>
                                          <p:attrName>fill.type</p:attrName>
                                        </p:attrNameLst>
                                      </p:cBhvr>
                                      <p:to>
                                        <p:strVal val="solid"/>
                                      </p:to>
                                    </p:set>
                                    <p:set>
                                      <p:cBhvr>
                                        <p:cTn id="14" dur="2000" fill="hold"/>
                                        <p:tgtEl>
                                          <p:spTgt spid="109056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730" name="Rectangle 2"/>
          <p:cNvSpPr>
            <a:spLocks noGrp="1" noChangeArrowheads="1"/>
          </p:cNvSpPr>
          <p:nvPr>
            <p:ph type="title"/>
          </p:nvPr>
        </p:nvSpPr>
        <p:spPr>
          <a:xfrm>
            <a:off x="614994" y="283199"/>
            <a:ext cx="7886700" cy="1054947"/>
          </a:xfrm>
        </p:spPr>
        <p:txBody>
          <a:bodyPr>
            <a:no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Khái</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quát</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về</a:t>
            </a:r>
            <a:r>
              <a:rPr lang="en-US" altLang="en-US" sz="3200" b="1" dirty="0">
                <a:solidFill>
                  <a:srgbClr val="002060"/>
                </a:solidFill>
                <a:latin typeface="Arial" panose="020B0604020202020204" pitchFamily="34" charset="0"/>
                <a:cs typeface="Arial" panose="020B0604020202020204" pitchFamily="34" charset="0"/>
              </a:rPr>
              <a:t> CM </a:t>
            </a:r>
            <a:r>
              <a:rPr lang="en-US" altLang="en-US" sz="3200" b="1" dirty="0" err="1">
                <a:solidFill>
                  <a:srgbClr val="002060"/>
                </a:solidFill>
                <a:latin typeface="Arial" panose="020B0604020202020204" pitchFamily="34" charset="0"/>
                <a:cs typeface="Arial" panose="020B0604020202020204" pitchFamily="34" charset="0"/>
              </a:rPr>
              <a:t>Công</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nghiệp</a:t>
            </a:r>
            <a:endParaRPr lang="en-US" altLang="en-US" sz="3200" b="1" dirty="0">
              <a:solidFill>
                <a:srgbClr val="002060"/>
              </a:solidFill>
              <a:latin typeface="Arial" panose="020B0604020202020204" pitchFamily="34" charset="0"/>
              <a:cs typeface="Arial" panose="020B0604020202020204" pitchFamily="34" charset="0"/>
            </a:endParaRPr>
          </a:p>
        </p:txBody>
      </p:sp>
      <p:sp>
        <p:nvSpPr>
          <p:cNvPr id="969751" name="Rectangle 23"/>
          <p:cNvSpPr>
            <a:spLocks noGrp="1" noChangeArrowheads="1"/>
          </p:cNvSpPr>
          <p:nvPr>
            <p:ph idx="1"/>
          </p:nvPr>
        </p:nvSpPr>
        <p:spPr>
          <a:xfrm>
            <a:off x="706283" y="2037043"/>
            <a:ext cx="7507288" cy="2472055"/>
          </a:xfrm>
        </p:spPr>
        <p:txBody>
          <a:bodyPr>
            <a:noAutofit/>
          </a:bodyPr>
          <a:lstStyle/>
          <a:p>
            <a:pPr marL="0" indent="0" algn="just">
              <a:lnSpc>
                <a:spcPct val="120000"/>
              </a:lnSpc>
              <a:buNone/>
            </a:pPr>
            <a:r>
              <a:rPr lang="en-US" altLang="en-US" sz="2800" dirty="0" err="1">
                <a:solidFill>
                  <a:srgbClr val="002060"/>
                </a:solidFill>
                <a:sym typeface="Wingdings" panose="05000000000000000000" pitchFamily="2" charset="2"/>
              </a:rPr>
              <a:t>Là</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những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bước</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phát</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triển</a:t>
            </a:r>
            <a:r>
              <a:rPr lang="en-US" altLang="en-US" sz="2800" dirty="0">
                <a:solidFill>
                  <a:srgbClr val="002060"/>
                </a:solidFill>
                <a:sym typeface="Wingdings" panose="05000000000000000000" pitchFamily="2" charset="2"/>
              </a:rPr>
              <a:t> </a:t>
            </a:r>
            <a:r>
              <a:rPr lang="en-US" altLang="en-US" sz="2800" dirty="0" err="1">
                <a:solidFill>
                  <a:srgbClr val="FF0000"/>
                </a:solidFill>
                <a:sym typeface="Wingdings" panose="05000000000000000000" pitchFamily="2" charset="2"/>
              </a:rPr>
              <a:t>nhảy</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vọt</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về</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chất</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trình</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độ</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của</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tư</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liệu</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lao</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động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trên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cơ</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sở</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những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phát</a:t>
            </a:r>
            <a:r>
              <a:rPr lang="en-US" altLang="en-US" sz="2800" dirty="0">
                <a:solidFill>
                  <a:srgbClr val="002060"/>
                </a:solidFill>
                <a:sym typeface="Wingdings" panose="05000000000000000000" pitchFamily="2" charset="2"/>
              </a:rPr>
              <a:t> minh </a:t>
            </a:r>
            <a:r>
              <a:rPr lang="en-US" altLang="en-US" sz="2800" dirty="0" err="1">
                <a:solidFill>
                  <a:srgbClr val="002060"/>
                </a:solidFill>
                <a:sym typeface="Wingdings" panose="05000000000000000000" pitchFamily="2" charset="2"/>
              </a:rPr>
              <a:t>đột</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phá</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về</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kỹ</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thuật</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và</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công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nghệ</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trong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quá</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trình</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phát</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triển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của</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nhân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loại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kéo</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theo</a:t>
            </a:r>
            <a:r>
              <a:rPr lang="en-US" altLang="en-US" sz="2800" dirty="0">
                <a:solidFill>
                  <a:srgbClr val="002060"/>
                </a:solidFill>
                <a:sym typeface="Wingdings" panose="05000000000000000000" pitchFamily="2" charset="2"/>
              </a:rPr>
              <a:t> </a:t>
            </a:r>
            <a:r>
              <a:rPr lang="en-US" altLang="en-US" sz="2800" dirty="0" err="1">
                <a:solidFill>
                  <a:srgbClr val="FF0000"/>
                </a:solidFill>
                <a:sym typeface="Wingdings" panose="05000000000000000000" pitchFamily="2" charset="2"/>
              </a:rPr>
              <a:t>sự</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thay</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đổi</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căn</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bản</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về</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phân</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công</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lao</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động</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xã</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hộ</a:t>
            </a:r>
            <a:r>
              <a:rPr lang="en-US" altLang="en-US" sz="2800" dirty="0" err="1">
                <a:solidFill>
                  <a:srgbClr val="002060"/>
                </a:solidFill>
                <a:sym typeface="Wingdings" panose="05000000000000000000" pitchFamily="2" charset="2"/>
              </a:rPr>
              <a:t>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cũng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như</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tạo</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bước</a:t>
            </a:r>
            <a:r>
              <a:rPr lang="en-US" altLang="en-US" sz="2800" dirty="0">
                <a:solidFill>
                  <a:srgbClr val="002060"/>
                </a:solidFill>
                <a:sym typeface="Wingdings" panose="05000000000000000000" pitchFamily="2" charset="2"/>
              </a:rPr>
              <a:t> </a:t>
            </a:r>
            <a:r>
              <a:rPr lang="en-US" altLang="en-US" sz="2800" dirty="0" err="1">
                <a:solidFill>
                  <a:srgbClr val="FF0000"/>
                </a:solidFill>
                <a:sym typeface="Wingdings" panose="05000000000000000000" pitchFamily="2" charset="2"/>
              </a:rPr>
              <a:t>phát</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triển</a:t>
            </a:r>
            <a:r>
              <a:rPr lang="en-US" altLang="en-US" sz="2800" dirty="0">
                <a:solidFill>
                  <a:srgbClr val="FF0000"/>
                </a:solidFill>
                <a:sym typeface="Wingdings" panose="05000000000000000000" pitchFamily="2" charset="2"/>
              </a:rPr>
              <a:t> NSLĐ </a:t>
            </a:r>
            <a:r>
              <a:rPr lang="en-US" altLang="en-US" sz="2800" dirty="0" err="1">
                <a:solidFill>
                  <a:srgbClr val="FF0000"/>
                </a:solidFill>
                <a:sym typeface="Wingdings" panose="05000000000000000000" pitchFamily="2" charset="2"/>
              </a:rPr>
              <a:t>cao</a:t>
            </a:r>
            <a:r>
              <a:rPr lang="en-US" altLang="en-US" sz="2800" dirty="0">
                <a:solidFill>
                  <a:srgbClr val="FF0000"/>
                </a:solidFill>
                <a:sym typeface="Wingdings" panose="05000000000000000000" pitchFamily="2" charset="2"/>
              </a:rPr>
              <a:t> </a:t>
            </a:r>
            <a:r>
              <a:rPr lang="en-US" altLang="en-US" sz="2800" dirty="0" err="1">
                <a:solidFill>
                  <a:srgbClr val="FF0000"/>
                </a:solidFill>
                <a:sym typeface="Wingdings" panose="05000000000000000000" pitchFamily="2" charset="2"/>
              </a:rPr>
              <a:t>hơn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hẳn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nhờ</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áp</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dụng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một</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cách</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phổ</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biến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những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tính</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năng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mới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trong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kỹ</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thuật-công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nghệ</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đó</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vào</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đời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sống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xã</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hội</a:t>
            </a:r>
            <a:r>
              <a:rPr lang="en-US" altLang="en-US" sz="2800" dirty="0">
                <a:solidFill>
                  <a:srgbClr val="002060"/>
                </a:solidFill>
                <a:sym typeface="Wingdings" panose="05000000000000000000" pitchFamily="2" charset="2"/>
              </a:rPr>
              <a:t>.</a:t>
            </a:r>
          </a:p>
        </p:txBody>
      </p:sp>
      <p:sp>
        <p:nvSpPr>
          <p:cNvPr id="7" name="Rectangle 48"/>
          <p:cNvSpPr>
            <a:spLocks noChangeArrowheads="1"/>
          </p:cNvSpPr>
          <p:nvPr/>
        </p:nvSpPr>
        <p:spPr bwMode="gray">
          <a:xfrm>
            <a:off x="1319588" y="1392414"/>
            <a:ext cx="3385742" cy="422275"/>
          </a:xfrm>
          <a:prstGeom prst="rect">
            <a:avLst/>
          </a:prstGeom>
          <a:gradFill rotWithShape="1">
            <a:gsLst>
              <a:gs pos="0">
                <a:srgbClr val="93A719">
                  <a:alpha val="80000"/>
                </a:srgbClr>
              </a:gs>
              <a:gs pos="50000">
                <a:srgbClr val="93A719">
                  <a:gamma/>
                  <a:shade val="89020"/>
                  <a:invGamma/>
                </a:srgbClr>
              </a:gs>
              <a:gs pos="100000">
                <a:srgbClr val="93A719">
                  <a:alpha val="80000"/>
                </a:srgbClr>
              </a:gs>
            </a:gsLst>
            <a:lin ang="0" scaled="1"/>
          </a:gradFill>
          <a:ln>
            <a:noFill/>
          </a:ln>
          <a:effectLst/>
        </p:spPr>
        <p:txBody>
          <a:bodyPr wrap="none" anchor="ctr"/>
          <a:lstStyle/>
          <a:p>
            <a:pPr algn="ctr" eaLnBrk="1" fontAlgn="auto" hangingPunct="1">
              <a:spcBef>
                <a:spcPts val="0"/>
              </a:spcBef>
              <a:spcAft>
                <a:spcPts val="0"/>
              </a:spcAft>
              <a:defRPr/>
            </a:pPr>
            <a:r>
              <a:rPr lang="en-US" b="1" kern="0">
                <a:solidFill>
                  <a:srgbClr val="F8F8F8"/>
                </a:solidFill>
                <a:latin typeface="Times New Roman" panose="02020603050405020304" pitchFamily="18" charset="0"/>
                <a:cs typeface="Times New Roman" panose="02020603050405020304" pitchFamily="18" charset="0"/>
              </a:rPr>
              <a:t>CÁCH MẠNG CÔNG NGHIỆP</a:t>
            </a:r>
          </a:p>
        </p:txBody>
      </p:sp>
    </p:spTree>
    <p:extLst>
      <p:ext uri="{BB962C8B-B14F-4D97-AF65-F5344CB8AC3E}">
        <p14:creationId xmlns:p14="http://schemas.microsoft.com/office/powerpoint/2010/main" val="359573077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8"/>
          <p:cNvSpPr>
            <a:spLocks noChangeArrowheads="1"/>
          </p:cNvSpPr>
          <p:nvPr/>
        </p:nvSpPr>
        <p:spPr bwMode="gray">
          <a:xfrm>
            <a:off x="1332032" y="1556269"/>
            <a:ext cx="4771934" cy="422275"/>
          </a:xfrm>
          <a:prstGeom prst="rect">
            <a:avLst/>
          </a:prstGeom>
          <a:gradFill rotWithShape="1">
            <a:gsLst>
              <a:gs pos="0">
                <a:srgbClr val="93A719">
                  <a:alpha val="80000"/>
                </a:srgbClr>
              </a:gs>
              <a:gs pos="50000">
                <a:srgbClr val="93A719">
                  <a:gamma/>
                  <a:shade val="89020"/>
                  <a:invGamma/>
                </a:srgbClr>
              </a:gs>
              <a:gs pos="100000">
                <a:srgbClr val="93A719">
                  <a:alpha val="80000"/>
                </a:srgbClr>
              </a:gs>
            </a:gsLst>
            <a:lin ang="0" scaled="1"/>
          </a:gradFill>
          <a:ln>
            <a:noFill/>
          </a:ln>
          <a:effectLst/>
        </p:spPr>
        <p:txBody>
          <a:bodyPr wrap="none" anchor="ctr"/>
          <a:lstStyle/>
          <a:p>
            <a:pPr algn="ctr" eaLnBrk="1" fontAlgn="auto" hangingPunct="1">
              <a:spcBef>
                <a:spcPts val="0"/>
              </a:spcBef>
              <a:spcAft>
                <a:spcPts val="0"/>
              </a:spcAft>
              <a:defRPr/>
            </a:pPr>
            <a:r>
              <a:rPr lang="en-US" sz="2000" b="1" kern="0">
                <a:solidFill>
                  <a:srgbClr val="F8F8F8"/>
                </a:solidFill>
                <a:latin typeface="Times New Roman" panose="02020603050405020304" pitchFamily="18" charset="0"/>
                <a:cs typeface="Times New Roman" panose="02020603050405020304" pitchFamily="18" charset="0"/>
              </a:rPr>
              <a:t>LỊCH SỬ CÁCH MẠNG CÔNG NGHIỆP</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879" y="2109216"/>
            <a:ext cx="7654986" cy="4000036"/>
          </a:xfrm>
          <a:prstGeom prst="rect">
            <a:avLst/>
          </a:prstGeom>
        </p:spPr>
      </p:pic>
      <p:sp>
        <p:nvSpPr>
          <p:cNvPr id="8" name="Rectangle 2"/>
          <p:cNvSpPr>
            <a:spLocks noGrp="1" noChangeArrowheads="1"/>
          </p:cNvSpPr>
          <p:nvPr>
            <p:ph type="title"/>
          </p:nvPr>
        </p:nvSpPr>
        <p:spPr>
          <a:xfrm>
            <a:off x="614994" y="283199"/>
            <a:ext cx="7886700" cy="1054947"/>
          </a:xfrm>
        </p:spPr>
        <p:txBody>
          <a:bodyPr>
            <a:no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Khái</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quát</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về</a:t>
            </a:r>
            <a:r>
              <a:rPr lang="en-US" altLang="en-US" sz="3200" b="1" dirty="0">
                <a:solidFill>
                  <a:srgbClr val="002060"/>
                </a:solidFill>
                <a:latin typeface="Arial" panose="020B0604020202020204" pitchFamily="34" charset="0"/>
                <a:cs typeface="Arial" panose="020B0604020202020204" pitchFamily="34" charset="0"/>
              </a:rPr>
              <a:t> CM </a:t>
            </a:r>
            <a:r>
              <a:rPr lang="en-US" altLang="en-US" sz="3200" b="1" dirty="0" err="1">
                <a:solidFill>
                  <a:srgbClr val="002060"/>
                </a:solidFill>
                <a:latin typeface="Arial" panose="020B0604020202020204" pitchFamily="34" charset="0"/>
                <a:cs typeface="Arial" panose="020B0604020202020204" pitchFamily="34" charset="0"/>
              </a:rPr>
              <a:t>Công</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nghiệp</a:t>
            </a:r>
            <a:endParaRPr lang="en-US" altLang="en-US" sz="3200" b="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037325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8"/>
          <p:cNvSpPr>
            <a:spLocks noChangeArrowheads="1"/>
          </p:cNvSpPr>
          <p:nvPr/>
        </p:nvSpPr>
        <p:spPr bwMode="gray">
          <a:xfrm>
            <a:off x="1332031" y="1461037"/>
            <a:ext cx="5837055" cy="517507"/>
          </a:xfrm>
          <a:prstGeom prst="rect">
            <a:avLst/>
          </a:prstGeom>
          <a:gradFill rotWithShape="1">
            <a:gsLst>
              <a:gs pos="0">
                <a:srgbClr val="93A719">
                  <a:alpha val="80000"/>
                </a:srgbClr>
              </a:gs>
              <a:gs pos="50000">
                <a:srgbClr val="93A719">
                  <a:gamma/>
                  <a:shade val="89020"/>
                  <a:invGamma/>
                </a:srgbClr>
              </a:gs>
              <a:gs pos="100000">
                <a:srgbClr val="93A719">
                  <a:alpha val="80000"/>
                </a:srgbClr>
              </a:gs>
            </a:gsLst>
            <a:lin ang="0" scaled="1"/>
          </a:gradFill>
          <a:ln>
            <a:noFill/>
          </a:ln>
          <a:effectLst/>
        </p:spPr>
        <p:txBody>
          <a:bodyPr wrap="none" anchor="ctr"/>
          <a:lstStyle/>
          <a:p>
            <a:pPr algn="ctr" eaLnBrk="1" fontAlgn="auto" hangingPunct="1">
              <a:spcBef>
                <a:spcPts val="0"/>
              </a:spcBef>
              <a:spcAft>
                <a:spcPts val="0"/>
              </a:spcAft>
              <a:defRPr/>
            </a:pPr>
            <a:r>
              <a:rPr lang="en-US" sz="2000" b="1" kern="0">
                <a:solidFill>
                  <a:srgbClr val="F8F8F8"/>
                </a:solidFill>
                <a:latin typeface="Times New Roman" panose="02020603050405020304" pitchFamily="18" charset="0"/>
                <a:cs typeface="Times New Roman" panose="02020603050405020304" pitchFamily="18" charset="0"/>
              </a:rPr>
              <a:t>CÁCH MẠNG CÔNG NGHIỆP 1.0 (giữa TK XVIII)</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968" y="2421975"/>
            <a:ext cx="3526536" cy="1979337"/>
          </a:xfrm>
          <a:prstGeom prst="rect">
            <a:avLst/>
          </a:prstGeom>
        </p:spPr>
      </p:pic>
      <p:sp>
        <p:nvSpPr>
          <p:cNvPr id="6" name="Rectangle 23"/>
          <p:cNvSpPr txBox="1">
            <a:spLocks noChangeArrowheads="1"/>
          </p:cNvSpPr>
          <p:nvPr/>
        </p:nvSpPr>
        <p:spPr bwMode="black">
          <a:xfrm>
            <a:off x="4632961" y="2404745"/>
            <a:ext cx="4147502" cy="24720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v"/>
            </a:pPr>
            <a:r>
              <a:rPr lang="en-US" altLang="en-US" sz="2200" b="1">
                <a:solidFill>
                  <a:srgbClr val="FF0000"/>
                </a:solidFill>
              </a:rPr>
              <a:t>TIỀN ĐỀ: </a:t>
            </a:r>
            <a:r>
              <a:rPr lang="en-US" altLang="en-US" sz="2200" b="1">
                <a:solidFill>
                  <a:srgbClr val="002060"/>
                </a:solidFill>
              </a:rPr>
              <a:t>kinh tế hàng hóa phát triển; nhiều phát minh về địa lý; vai trò ngày càng lớn của giai cấp tư sản</a:t>
            </a:r>
            <a:endParaRPr lang="en-US" altLang="en-US" sz="2200" b="1">
              <a:solidFill>
                <a:srgbClr val="002060"/>
              </a:solidFill>
              <a:sym typeface="Wingdings" panose="05000000000000000000" pitchFamily="2" charset="2"/>
            </a:endParaRPr>
          </a:p>
          <a:p>
            <a:pPr algn="just">
              <a:buFont typeface="Wingdings" panose="05000000000000000000" pitchFamily="2" charset="2"/>
              <a:buChar char="v"/>
            </a:pPr>
            <a:r>
              <a:rPr lang="en-US" altLang="en-US" sz="2200" b="1">
                <a:solidFill>
                  <a:srgbClr val="FF0000"/>
                </a:solidFill>
                <a:sym typeface="Wingdings" panose="05000000000000000000" pitchFamily="2" charset="2"/>
              </a:rPr>
              <a:t>NỘI DUNG: </a:t>
            </a:r>
            <a:r>
              <a:rPr lang="en-US" altLang="en-US" sz="2200" b="1">
                <a:solidFill>
                  <a:srgbClr val="002060"/>
                </a:solidFill>
                <a:sym typeface="Wingdings" panose="05000000000000000000" pitchFamily="2" charset="2"/>
              </a:rPr>
              <a:t>cơ giới hóa sản xuất</a:t>
            </a:r>
          </a:p>
          <a:p>
            <a:pPr algn="just">
              <a:buFont typeface="Wingdings" panose="05000000000000000000" pitchFamily="2" charset="2"/>
              <a:buChar char="v"/>
            </a:pPr>
            <a:r>
              <a:rPr lang="en-US" altLang="en-US" sz="2200" b="1">
                <a:solidFill>
                  <a:srgbClr val="FF0000"/>
                </a:solidFill>
                <a:sym typeface="Wingdings" panose="05000000000000000000" pitchFamily="2" charset="2"/>
              </a:rPr>
              <a:t>TÁC ĐỘNG: </a:t>
            </a:r>
            <a:r>
              <a:rPr lang="en-US" altLang="en-US" sz="2200" b="1">
                <a:solidFill>
                  <a:srgbClr val="002060"/>
                </a:solidFill>
                <a:sym typeface="Wingdings" panose="05000000000000000000" pitchFamily="2" charset="2"/>
              </a:rPr>
              <a:t>mở đường cho kinh tế hàng hóa; tập trung TLSX  tập trung tài sản  tập trung chính trị; Tư sản &gt;&lt; Vô sản </a:t>
            </a: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86968" y="4401313"/>
            <a:ext cx="3526536" cy="1792224"/>
          </a:xfrm>
          <a:prstGeom prst="rect">
            <a:avLst/>
          </a:prstGeom>
        </p:spPr>
      </p:pic>
      <p:sp>
        <p:nvSpPr>
          <p:cNvPr id="9" name="Rectangle 2"/>
          <p:cNvSpPr>
            <a:spLocks noGrp="1" noChangeArrowheads="1"/>
          </p:cNvSpPr>
          <p:nvPr>
            <p:ph type="title"/>
          </p:nvPr>
        </p:nvSpPr>
        <p:spPr>
          <a:xfrm>
            <a:off x="614994" y="283199"/>
            <a:ext cx="7886700" cy="1054947"/>
          </a:xfrm>
        </p:spPr>
        <p:txBody>
          <a:bodyPr>
            <a:no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Khái</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quát</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về</a:t>
            </a:r>
            <a:r>
              <a:rPr lang="en-US" altLang="en-US" sz="3200" b="1" dirty="0">
                <a:solidFill>
                  <a:srgbClr val="002060"/>
                </a:solidFill>
                <a:latin typeface="Arial" panose="020B0604020202020204" pitchFamily="34" charset="0"/>
                <a:cs typeface="Arial" panose="020B0604020202020204" pitchFamily="34" charset="0"/>
              </a:rPr>
              <a:t> CM </a:t>
            </a:r>
            <a:r>
              <a:rPr lang="en-US" altLang="en-US" sz="3200" b="1" dirty="0" err="1">
                <a:solidFill>
                  <a:srgbClr val="002060"/>
                </a:solidFill>
                <a:latin typeface="Arial" panose="020B0604020202020204" pitchFamily="34" charset="0"/>
                <a:cs typeface="Arial" panose="020B0604020202020204" pitchFamily="34" charset="0"/>
              </a:rPr>
              <a:t>Công</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nghiệp</a:t>
            </a:r>
            <a:endParaRPr lang="en-US" altLang="en-US" sz="3200" b="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933531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8"/>
          <p:cNvSpPr>
            <a:spLocks noChangeArrowheads="1"/>
          </p:cNvSpPr>
          <p:nvPr/>
        </p:nvSpPr>
        <p:spPr bwMode="gray">
          <a:xfrm>
            <a:off x="1332032" y="1556269"/>
            <a:ext cx="6588102" cy="422275"/>
          </a:xfrm>
          <a:prstGeom prst="rect">
            <a:avLst/>
          </a:prstGeom>
          <a:gradFill rotWithShape="1">
            <a:gsLst>
              <a:gs pos="0">
                <a:srgbClr val="93A719">
                  <a:alpha val="80000"/>
                </a:srgbClr>
              </a:gs>
              <a:gs pos="50000">
                <a:srgbClr val="93A719">
                  <a:gamma/>
                  <a:shade val="89020"/>
                  <a:invGamma/>
                </a:srgbClr>
              </a:gs>
              <a:gs pos="100000">
                <a:srgbClr val="93A719">
                  <a:alpha val="80000"/>
                </a:srgbClr>
              </a:gs>
            </a:gsLst>
            <a:lin ang="0" scaled="1"/>
          </a:gradFill>
          <a:ln>
            <a:noFill/>
          </a:ln>
          <a:effectLst/>
        </p:spPr>
        <p:txBody>
          <a:bodyPr wrap="none" anchor="ctr"/>
          <a:lstStyle/>
          <a:p>
            <a:pPr algn="ctr" eaLnBrk="1" fontAlgn="auto" hangingPunct="1">
              <a:spcBef>
                <a:spcPts val="0"/>
              </a:spcBef>
              <a:spcAft>
                <a:spcPts val="0"/>
              </a:spcAft>
              <a:defRPr/>
            </a:pPr>
            <a:r>
              <a:rPr lang="en-US" sz="2000" b="1" kern="0">
                <a:solidFill>
                  <a:srgbClr val="F8F8F8"/>
                </a:solidFill>
                <a:latin typeface="Times New Roman" panose="02020603050405020304" pitchFamily="18" charset="0"/>
                <a:cs typeface="Times New Roman" panose="02020603050405020304" pitchFamily="18" charset="0"/>
              </a:rPr>
              <a:t>CÁCH MẠNG CÔNG NGHIỆP 2.0 (cuối XIX đến đầu XX)</a:t>
            </a:r>
          </a:p>
        </p:txBody>
      </p:sp>
      <p:sp>
        <p:nvSpPr>
          <p:cNvPr id="6" name="Rectangle 23"/>
          <p:cNvSpPr txBox="1">
            <a:spLocks noChangeArrowheads="1"/>
          </p:cNvSpPr>
          <p:nvPr/>
        </p:nvSpPr>
        <p:spPr bwMode="black">
          <a:xfrm>
            <a:off x="4381168" y="2234057"/>
            <a:ext cx="4147502" cy="24720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v"/>
            </a:pPr>
            <a:r>
              <a:rPr lang="en-US" altLang="en-US" sz="2200" b="1">
                <a:solidFill>
                  <a:srgbClr val="FF0000"/>
                </a:solidFill>
              </a:rPr>
              <a:t>TIỀN ĐỀ: </a:t>
            </a:r>
            <a:r>
              <a:rPr lang="en-US" altLang="en-US" sz="2200" b="1">
                <a:solidFill>
                  <a:srgbClr val="002060"/>
                </a:solidFill>
              </a:rPr>
              <a:t>kinh tế hàng hóa phát triển vượt bậc</a:t>
            </a:r>
            <a:endParaRPr lang="en-US" altLang="en-US" sz="2200" b="1">
              <a:solidFill>
                <a:srgbClr val="002060"/>
              </a:solidFill>
              <a:sym typeface="Wingdings" panose="05000000000000000000" pitchFamily="2" charset="2"/>
            </a:endParaRPr>
          </a:p>
          <a:p>
            <a:pPr algn="just">
              <a:buFont typeface="Wingdings" panose="05000000000000000000" pitchFamily="2" charset="2"/>
              <a:buChar char="v"/>
            </a:pPr>
            <a:r>
              <a:rPr lang="en-US" altLang="en-US" sz="2200" b="1">
                <a:solidFill>
                  <a:srgbClr val="FF0000"/>
                </a:solidFill>
                <a:sym typeface="Wingdings" panose="05000000000000000000" pitchFamily="2" charset="2"/>
              </a:rPr>
              <a:t>NỘI DUNG: </a:t>
            </a:r>
            <a:r>
              <a:rPr lang="en-US" altLang="en-US" sz="2200" b="1">
                <a:solidFill>
                  <a:srgbClr val="002060"/>
                </a:solidFill>
                <a:sym typeface="Wingdings" panose="05000000000000000000" pitchFamily="2" charset="2"/>
              </a:rPr>
              <a:t>cơ khí  điện cơ khí và tự động hóa cục bộ</a:t>
            </a:r>
          </a:p>
          <a:p>
            <a:pPr algn="just">
              <a:buFont typeface="Wingdings" panose="05000000000000000000" pitchFamily="2" charset="2"/>
              <a:buChar char="v"/>
            </a:pPr>
            <a:r>
              <a:rPr lang="en-US" altLang="en-US" sz="2200" b="1">
                <a:solidFill>
                  <a:srgbClr val="FF0000"/>
                </a:solidFill>
                <a:sym typeface="Wingdings" panose="05000000000000000000" pitchFamily="2" charset="2"/>
              </a:rPr>
              <a:t>TÁC ĐỘNG: </a:t>
            </a:r>
            <a:r>
              <a:rPr lang="en-US" altLang="en-US" sz="2200" b="1">
                <a:solidFill>
                  <a:srgbClr val="002060"/>
                </a:solidFill>
                <a:sym typeface="Wingdings" panose="05000000000000000000" pitchFamily="2" charset="2"/>
              </a:rPr>
              <a:t>khoa học trở thành LLSX trực tiếp; đẩy nhanh quá trình xã hội hóa sản xuất; CNTB độc quyền; văn minh trí tuệ; thuộc địa, chiến tranh, Nhà nước</a:t>
            </a:r>
            <a:endParaRPr lang="en-US" altLang="en-US" sz="2200">
              <a:solidFill>
                <a:srgbClr val="002060"/>
              </a:solidFill>
              <a:sym typeface="Wingdings" panose="05000000000000000000" pitchFamily="2" charset="2"/>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103" y="2355715"/>
            <a:ext cx="3364992" cy="3771562"/>
          </a:xfrm>
          <a:prstGeom prst="rect">
            <a:avLst/>
          </a:prstGeom>
        </p:spPr>
      </p:pic>
      <p:sp>
        <p:nvSpPr>
          <p:cNvPr id="9" name="Rectangle 2"/>
          <p:cNvSpPr>
            <a:spLocks noGrp="1" noChangeArrowheads="1"/>
          </p:cNvSpPr>
          <p:nvPr>
            <p:ph type="title"/>
          </p:nvPr>
        </p:nvSpPr>
        <p:spPr>
          <a:xfrm>
            <a:off x="614994" y="283199"/>
            <a:ext cx="7886700" cy="1054947"/>
          </a:xfrm>
        </p:spPr>
        <p:txBody>
          <a:bodyPr>
            <a:no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Khái</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quát</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về</a:t>
            </a:r>
            <a:r>
              <a:rPr lang="en-US" altLang="en-US" sz="3200" b="1" dirty="0">
                <a:solidFill>
                  <a:srgbClr val="002060"/>
                </a:solidFill>
                <a:latin typeface="Arial" panose="020B0604020202020204" pitchFamily="34" charset="0"/>
                <a:cs typeface="Arial" panose="020B0604020202020204" pitchFamily="34" charset="0"/>
              </a:rPr>
              <a:t> CM </a:t>
            </a:r>
            <a:r>
              <a:rPr lang="en-US" altLang="en-US" sz="3200" b="1" dirty="0" err="1">
                <a:solidFill>
                  <a:srgbClr val="002060"/>
                </a:solidFill>
                <a:latin typeface="Arial" panose="020B0604020202020204" pitchFamily="34" charset="0"/>
                <a:cs typeface="Arial" panose="020B0604020202020204" pitchFamily="34" charset="0"/>
              </a:rPr>
              <a:t>Công</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nghiệp</a:t>
            </a:r>
            <a:endParaRPr lang="en-US" altLang="en-US" sz="3200" b="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194602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8"/>
          <p:cNvSpPr>
            <a:spLocks noChangeArrowheads="1"/>
          </p:cNvSpPr>
          <p:nvPr/>
        </p:nvSpPr>
        <p:spPr bwMode="gray">
          <a:xfrm>
            <a:off x="1332031" y="1556269"/>
            <a:ext cx="5987265" cy="422275"/>
          </a:xfrm>
          <a:prstGeom prst="rect">
            <a:avLst/>
          </a:prstGeom>
          <a:gradFill rotWithShape="1">
            <a:gsLst>
              <a:gs pos="0">
                <a:srgbClr val="93A719">
                  <a:alpha val="80000"/>
                </a:srgbClr>
              </a:gs>
              <a:gs pos="50000">
                <a:srgbClr val="93A719">
                  <a:gamma/>
                  <a:shade val="89020"/>
                  <a:invGamma/>
                </a:srgbClr>
              </a:gs>
              <a:gs pos="100000">
                <a:srgbClr val="93A719">
                  <a:alpha val="80000"/>
                </a:srgbClr>
              </a:gs>
            </a:gsLst>
            <a:lin ang="0" scaled="1"/>
          </a:gradFill>
          <a:ln>
            <a:noFill/>
          </a:ln>
          <a:effectLst/>
        </p:spPr>
        <p:txBody>
          <a:bodyPr wrap="none" anchor="ctr"/>
          <a:lstStyle/>
          <a:p>
            <a:pPr algn="ctr" eaLnBrk="1" fontAlgn="auto" hangingPunct="1">
              <a:spcBef>
                <a:spcPts val="0"/>
              </a:spcBef>
              <a:spcAft>
                <a:spcPts val="0"/>
              </a:spcAft>
              <a:defRPr/>
            </a:pPr>
            <a:r>
              <a:rPr lang="en-US" sz="2000" b="1" kern="0">
                <a:solidFill>
                  <a:srgbClr val="F8F8F8"/>
                </a:solidFill>
                <a:latin typeface="Times New Roman" panose="02020603050405020304" pitchFamily="18" charset="0"/>
                <a:cs typeface="Times New Roman" panose="02020603050405020304" pitchFamily="18" charset="0"/>
              </a:rPr>
              <a:t>CÁCH MẠNG CÔNG NGHIỆP 3.0 (1969 – cuối XX)</a:t>
            </a:r>
          </a:p>
        </p:txBody>
      </p:sp>
      <p:sp>
        <p:nvSpPr>
          <p:cNvPr id="6" name="Rectangle 23"/>
          <p:cNvSpPr txBox="1">
            <a:spLocks noChangeArrowheads="1"/>
          </p:cNvSpPr>
          <p:nvPr/>
        </p:nvSpPr>
        <p:spPr bwMode="black">
          <a:xfrm>
            <a:off x="4632961" y="2406333"/>
            <a:ext cx="4147502" cy="24720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v"/>
            </a:pPr>
            <a:r>
              <a:rPr lang="en-US" altLang="en-US" sz="2200" b="1">
                <a:solidFill>
                  <a:srgbClr val="FF0000"/>
                </a:solidFill>
              </a:rPr>
              <a:t>TIỀN ĐỀ: </a:t>
            </a:r>
            <a:r>
              <a:rPr lang="en-US" altLang="en-US" sz="2200" b="1">
                <a:solidFill>
                  <a:srgbClr val="002060"/>
                </a:solidFill>
              </a:rPr>
              <a:t>cạnh tranh khốc liệt</a:t>
            </a:r>
            <a:endParaRPr lang="en-US" altLang="en-US" sz="2200" b="1">
              <a:solidFill>
                <a:srgbClr val="002060"/>
              </a:solidFill>
              <a:sym typeface="Wingdings" panose="05000000000000000000" pitchFamily="2" charset="2"/>
            </a:endParaRPr>
          </a:p>
          <a:p>
            <a:pPr algn="just">
              <a:buFont typeface="Wingdings" panose="05000000000000000000" pitchFamily="2" charset="2"/>
              <a:buChar char="v"/>
            </a:pPr>
            <a:r>
              <a:rPr lang="en-US" altLang="en-US" sz="2200" b="1">
                <a:solidFill>
                  <a:srgbClr val="FF0000"/>
                </a:solidFill>
                <a:sym typeface="Wingdings" panose="05000000000000000000" pitchFamily="2" charset="2"/>
              </a:rPr>
              <a:t>NỘI DUNG: </a:t>
            </a:r>
            <a:r>
              <a:rPr lang="en-US" altLang="en-US" sz="2200" b="1">
                <a:solidFill>
                  <a:srgbClr val="002060"/>
                </a:solidFill>
                <a:sym typeface="Wingdings" panose="05000000000000000000" pitchFamily="2" charset="2"/>
              </a:rPr>
              <a:t>chuyển nền kinh tế công nghiệp  nền kinh tế tri thức; tư bản hữu hình  tư bản vô hình</a:t>
            </a:r>
          </a:p>
          <a:p>
            <a:pPr algn="just">
              <a:buFont typeface="Wingdings" panose="05000000000000000000" pitchFamily="2" charset="2"/>
              <a:buChar char="v"/>
            </a:pPr>
            <a:r>
              <a:rPr lang="en-US" altLang="en-US" sz="2200" b="1">
                <a:solidFill>
                  <a:srgbClr val="FF0000"/>
                </a:solidFill>
                <a:sym typeface="Wingdings" panose="05000000000000000000" pitchFamily="2" charset="2"/>
              </a:rPr>
              <a:t>TÁC ĐỘNG: </a:t>
            </a:r>
            <a:r>
              <a:rPr lang="en-US" altLang="en-US" sz="2200" b="1">
                <a:solidFill>
                  <a:srgbClr val="002060"/>
                </a:solidFill>
                <a:sym typeface="Wingdings" panose="05000000000000000000" pitchFamily="2" charset="2"/>
              </a:rPr>
              <a:t>thay đổi diện mạo đời sống; thay đổi phương thức QLNN; tầng lớp trung lưu; toàn cầu hóa</a:t>
            </a:r>
            <a:endParaRPr lang="en-US" altLang="en-US" sz="2200">
              <a:solidFill>
                <a:srgbClr val="002060"/>
              </a:solidFill>
              <a:sym typeface="Wingdings" panose="05000000000000000000" pitchFamily="2" charset="2"/>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896" y="2421974"/>
            <a:ext cx="3364992" cy="3759369"/>
          </a:xfrm>
          <a:prstGeom prst="rect">
            <a:avLst/>
          </a:prstGeom>
        </p:spPr>
      </p:pic>
      <p:sp>
        <p:nvSpPr>
          <p:cNvPr id="9" name="Rectangle 2"/>
          <p:cNvSpPr>
            <a:spLocks noGrp="1" noChangeArrowheads="1"/>
          </p:cNvSpPr>
          <p:nvPr>
            <p:ph type="title"/>
          </p:nvPr>
        </p:nvSpPr>
        <p:spPr>
          <a:xfrm>
            <a:off x="614994" y="283199"/>
            <a:ext cx="7886700" cy="1054947"/>
          </a:xfrm>
        </p:spPr>
        <p:txBody>
          <a:bodyPr>
            <a:no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Khái</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quát</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về</a:t>
            </a:r>
            <a:r>
              <a:rPr lang="en-US" altLang="en-US" sz="3200" b="1" dirty="0">
                <a:solidFill>
                  <a:srgbClr val="002060"/>
                </a:solidFill>
                <a:latin typeface="Arial" panose="020B0604020202020204" pitchFamily="34" charset="0"/>
                <a:cs typeface="Arial" panose="020B0604020202020204" pitchFamily="34" charset="0"/>
              </a:rPr>
              <a:t> CM </a:t>
            </a:r>
            <a:r>
              <a:rPr lang="en-US" altLang="en-US" sz="3200" b="1" dirty="0" err="1">
                <a:solidFill>
                  <a:srgbClr val="002060"/>
                </a:solidFill>
                <a:latin typeface="Arial" panose="020B0604020202020204" pitchFamily="34" charset="0"/>
                <a:cs typeface="Arial" panose="020B0604020202020204" pitchFamily="34" charset="0"/>
              </a:rPr>
              <a:t>Công</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nghiệp</a:t>
            </a:r>
            <a:endParaRPr lang="en-US" altLang="en-US" sz="3200" b="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303407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8"/>
          <p:cNvSpPr>
            <a:spLocks noChangeArrowheads="1"/>
          </p:cNvSpPr>
          <p:nvPr/>
        </p:nvSpPr>
        <p:spPr bwMode="gray">
          <a:xfrm>
            <a:off x="1332031" y="1556269"/>
            <a:ext cx="6055543" cy="422275"/>
          </a:xfrm>
          <a:prstGeom prst="rect">
            <a:avLst/>
          </a:prstGeom>
          <a:gradFill rotWithShape="1">
            <a:gsLst>
              <a:gs pos="0">
                <a:srgbClr val="93A719">
                  <a:alpha val="80000"/>
                </a:srgbClr>
              </a:gs>
              <a:gs pos="50000">
                <a:srgbClr val="93A719">
                  <a:gamma/>
                  <a:shade val="89020"/>
                  <a:invGamma/>
                </a:srgbClr>
              </a:gs>
              <a:gs pos="100000">
                <a:srgbClr val="93A719">
                  <a:alpha val="80000"/>
                </a:srgbClr>
              </a:gs>
            </a:gsLst>
            <a:lin ang="0" scaled="1"/>
          </a:gradFill>
          <a:ln>
            <a:noFill/>
          </a:ln>
          <a:effectLst/>
        </p:spPr>
        <p:txBody>
          <a:bodyPr wrap="none" anchor="ctr"/>
          <a:lstStyle/>
          <a:p>
            <a:pPr algn="ctr" eaLnBrk="1" fontAlgn="auto" hangingPunct="1">
              <a:spcBef>
                <a:spcPts val="0"/>
              </a:spcBef>
              <a:spcAft>
                <a:spcPts val="0"/>
              </a:spcAft>
              <a:defRPr/>
            </a:pPr>
            <a:r>
              <a:rPr lang="en-US" sz="2000" b="1" kern="0" dirty="0">
                <a:solidFill>
                  <a:srgbClr val="F8F8F8"/>
                </a:solidFill>
                <a:latin typeface="Times New Roman" panose="02020603050405020304" pitchFamily="18" charset="0"/>
                <a:cs typeface="Times New Roman" panose="02020603050405020304" pitchFamily="18" charset="0"/>
              </a:rPr>
              <a:t>CÁCH MẠNG CÔNG NGHIỆP 4.0 (</a:t>
            </a:r>
            <a:r>
              <a:rPr lang="en-US" sz="2000" b="1" kern="0" dirty="0" err="1">
                <a:solidFill>
                  <a:srgbClr val="F8F8F8"/>
                </a:solidFill>
                <a:latin typeface="Times New Roman" panose="02020603050405020304" pitchFamily="18" charset="0"/>
                <a:cs typeface="Times New Roman" panose="02020603050405020304" pitchFamily="18" charset="0"/>
              </a:rPr>
              <a:t>bắt</a:t>
            </a:r>
            <a:r>
              <a:rPr lang="en-US" sz="2000" b="1" kern="0" dirty="0">
                <a:solidFill>
                  <a:srgbClr val="F8F8F8"/>
                </a:solidFill>
                <a:latin typeface="Times New Roman" panose="02020603050405020304" pitchFamily="18" charset="0"/>
                <a:cs typeface="Times New Roman" panose="02020603050405020304" pitchFamily="18" charset="0"/>
              </a:rPr>
              <a:t> </a:t>
            </a:r>
            <a:r>
              <a:rPr lang="en-US" sz="2000" b="1" kern="0" dirty="0" err="1">
                <a:solidFill>
                  <a:srgbClr val="F8F8F8"/>
                </a:solidFill>
                <a:latin typeface="Times New Roman" panose="02020603050405020304" pitchFamily="18" charset="0"/>
                <a:cs typeface="Times New Roman" panose="02020603050405020304" pitchFamily="18" charset="0"/>
              </a:rPr>
              <a:t>đầu</a:t>
            </a:r>
            <a:r>
              <a:rPr lang="en-US" sz="2000" b="1" kern="0" dirty="0">
                <a:solidFill>
                  <a:srgbClr val="F8F8F8"/>
                </a:solidFill>
                <a:latin typeface="Times New Roman" panose="02020603050405020304" pitchFamily="18" charset="0"/>
                <a:cs typeface="Times New Roman" panose="02020603050405020304" pitchFamily="18" charset="0"/>
              </a:rPr>
              <a:t> </a:t>
            </a:r>
            <a:r>
              <a:rPr lang="en-US" sz="2000" b="1" kern="0" dirty="0" err="1">
                <a:solidFill>
                  <a:srgbClr val="F8F8F8"/>
                </a:solidFill>
                <a:latin typeface="Times New Roman" panose="02020603050405020304" pitchFamily="18" charset="0"/>
                <a:cs typeface="Times New Roman" panose="02020603050405020304" pitchFamily="18" charset="0"/>
              </a:rPr>
              <a:t>từ</a:t>
            </a:r>
            <a:r>
              <a:rPr lang="en-US" sz="2000" b="1" kern="0" dirty="0">
                <a:solidFill>
                  <a:srgbClr val="F8F8F8"/>
                </a:solidFill>
                <a:latin typeface="Times New Roman" panose="02020603050405020304" pitchFamily="18" charset="0"/>
                <a:cs typeface="Times New Roman" panose="02020603050405020304" pitchFamily="18" charset="0"/>
              </a:rPr>
              <a:t> 2012)</a:t>
            </a:r>
          </a:p>
        </p:txBody>
      </p:sp>
      <p:sp>
        <p:nvSpPr>
          <p:cNvPr id="6" name="Rectangle 23"/>
          <p:cNvSpPr txBox="1">
            <a:spLocks noChangeArrowheads="1"/>
          </p:cNvSpPr>
          <p:nvPr/>
        </p:nvSpPr>
        <p:spPr bwMode="black">
          <a:xfrm>
            <a:off x="4420929" y="2525602"/>
            <a:ext cx="4147502" cy="24720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v"/>
            </a:pPr>
            <a:r>
              <a:rPr lang="en-US" altLang="en-US" sz="2200" b="1">
                <a:solidFill>
                  <a:srgbClr val="FF0000"/>
                </a:solidFill>
              </a:rPr>
              <a:t>TIỀN ĐỀ: </a:t>
            </a:r>
            <a:r>
              <a:rPr lang="en-US" altLang="en-US" sz="2200" b="1">
                <a:solidFill>
                  <a:srgbClr val="002060"/>
                </a:solidFill>
              </a:rPr>
              <a:t>yêu cầu nâng cao NSLĐ</a:t>
            </a:r>
            <a:endParaRPr lang="en-US" altLang="en-US" sz="2200" b="1">
              <a:solidFill>
                <a:srgbClr val="002060"/>
              </a:solidFill>
              <a:sym typeface="Wingdings" panose="05000000000000000000" pitchFamily="2" charset="2"/>
            </a:endParaRPr>
          </a:p>
          <a:p>
            <a:pPr algn="just">
              <a:buFont typeface="Wingdings" panose="05000000000000000000" pitchFamily="2" charset="2"/>
              <a:buChar char="v"/>
            </a:pPr>
            <a:r>
              <a:rPr lang="en-US" altLang="en-US" sz="2200" b="1">
                <a:solidFill>
                  <a:srgbClr val="FF0000"/>
                </a:solidFill>
                <a:sym typeface="Wingdings" panose="05000000000000000000" pitchFamily="2" charset="2"/>
              </a:rPr>
              <a:t>NỘI DUNG: </a:t>
            </a:r>
            <a:r>
              <a:rPr lang="en-US" altLang="en-US" sz="2200" b="1">
                <a:solidFill>
                  <a:srgbClr val="002060"/>
                </a:solidFill>
                <a:sym typeface="Wingdings" panose="05000000000000000000" pitchFamily="2" charset="2"/>
              </a:rPr>
              <a:t>chuyển đổi thế giới thực  thế giới ảo; Print3D, IoT; VR, AI, AR, BigData…</a:t>
            </a:r>
          </a:p>
          <a:p>
            <a:pPr algn="just">
              <a:buFont typeface="Wingdings" panose="05000000000000000000" pitchFamily="2" charset="2"/>
              <a:buChar char="v"/>
            </a:pPr>
            <a:r>
              <a:rPr lang="en-US" altLang="en-US" sz="2200" b="1">
                <a:solidFill>
                  <a:srgbClr val="FF0000"/>
                </a:solidFill>
                <a:sym typeface="Wingdings" panose="05000000000000000000" pitchFamily="2" charset="2"/>
              </a:rPr>
              <a:t>TÁC ĐỘNG: </a:t>
            </a:r>
            <a:r>
              <a:rPr lang="en-US" altLang="en-US" sz="2200" b="1">
                <a:solidFill>
                  <a:srgbClr val="002060"/>
                </a:solidFill>
                <a:sym typeface="Wingdings" panose="05000000000000000000" pitchFamily="2" charset="2"/>
              </a:rPr>
              <a:t>nhà máy thông minh; đời sống sinh hoạt và sản xuất thuận tiện và năng suất hơn; xã hội hóa sản xuất</a:t>
            </a:r>
            <a:endParaRPr lang="en-US" altLang="en-US" sz="2200">
              <a:solidFill>
                <a:srgbClr val="002060"/>
              </a:solidFill>
              <a:sym typeface="Wingdings" panose="05000000000000000000" pitchFamily="2" charset="2"/>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0864" y="2511552"/>
            <a:ext cx="3364992" cy="3377184"/>
          </a:xfrm>
          <a:prstGeom prst="rect">
            <a:avLst/>
          </a:prstGeom>
        </p:spPr>
      </p:pic>
      <p:sp>
        <p:nvSpPr>
          <p:cNvPr id="9" name="Rectangle 2"/>
          <p:cNvSpPr>
            <a:spLocks noGrp="1" noChangeArrowheads="1"/>
          </p:cNvSpPr>
          <p:nvPr>
            <p:ph type="title"/>
          </p:nvPr>
        </p:nvSpPr>
        <p:spPr>
          <a:xfrm>
            <a:off x="614994" y="283199"/>
            <a:ext cx="7886700" cy="1054947"/>
          </a:xfrm>
        </p:spPr>
        <p:txBody>
          <a:bodyPr>
            <a:no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Khái</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quát</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về</a:t>
            </a:r>
            <a:r>
              <a:rPr lang="en-US" altLang="en-US" sz="3200" b="1" dirty="0">
                <a:solidFill>
                  <a:srgbClr val="002060"/>
                </a:solidFill>
                <a:latin typeface="Arial" panose="020B0604020202020204" pitchFamily="34" charset="0"/>
                <a:cs typeface="Arial" panose="020B0604020202020204" pitchFamily="34" charset="0"/>
              </a:rPr>
              <a:t> CM </a:t>
            </a:r>
            <a:r>
              <a:rPr lang="en-US" altLang="en-US" sz="3200" b="1" dirty="0" err="1">
                <a:solidFill>
                  <a:srgbClr val="002060"/>
                </a:solidFill>
                <a:latin typeface="Arial" panose="020B0604020202020204" pitchFamily="34" charset="0"/>
                <a:cs typeface="Arial" panose="020B0604020202020204" pitchFamily="34" charset="0"/>
              </a:rPr>
              <a:t>Công</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nghiệp</a:t>
            </a:r>
            <a:endParaRPr lang="en-US" altLang="en-US" sz="3200" b="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0826331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03" name="AutoShape 3"/>
          <p:cNvSpPr>
            <a:spLocks noChangeArrowheads="1"/>
          </p:cNvSpPr>
          <p:nvPr/>
        </p:nvSpPr>
        <p:spPr bwMode="gray">
          <a:xfrm>
            <a:off x="809625" y="1922463"/>
            <a:ext cx="2743200" cy="4419600"/>
          </a:xfrm>
          <a:prstGeom prst="rightArrow">
            <a:avLst>
              <a:gd name="adj1" fmla="val 62787"/>
              <a:gd name="adj2" fmla="val 41259"/>
            </a:avLst>
          </a:prstGeom>
          <a:gradFill rotWithShape="1">
            <a:gsLst>
              <a:gs pos="0">
                <a:srgbClr val="333333"/>
              </a:gs>
              <a:gs pos="100000">
                <a:srgbClr val="333333">
                  <a:gamma/>
                  <a:shade val="80000"/>
                  <a:invGamma/>
                </a:srgbClr>
              </a:gs>
            </a:gsLst>
            <a:lin ang="5400000" scaled="1"/>
          </a:gradFill>
          <a:ln w="19050" cap="rnd" algn="ctr">
            <a:solidFill>
              <a:srgbClr val="B2B2B2"/>
            </a:solidFill>
            <a:prstDash val="sysDot"/>
            <a:miter lim="800000"/>
            <a:headEnd/>
            <a:tailEnd/>
          </a:ln>
          <a:effectLst/>
          <a:extLst>
            <a:ext uri="{AF507438-7753-43e0-B8FC-AC1667EBCBE1}">
              <a14:hiddenEffects xmlns:a14="http://schemas.microsoft.com/office/drawing/2010/main" xmlns="">
                <a:effectLst>
                  <a:outerShdw dist="35921" dir="2700000" algn="ctr" rotWithShape="0">
                    <a:srgbClr val="292929"/>
                  </a:outerShdw>
                </a:effectLst>
              </a14:hiddenEffects>
            </a:ext>
          </a:extLst>
        </p:spPr>
        <p:txBody>
          <a:bodyPr wrap="none" anchor="ctr"/>
          <a:lstStyle/>
          <a:p>
            <a:endParaRPr lang="en-US" altLang="en-US" b="1">
              <a:solidFill>
                <a:srgbClr val="002060"/>
              </a:solidFill>
              <a:latin typeface="Arial" panose="020B0604020202020204" pitchFamily="34" charset="0"/>
            </a:endParaRPr>
          </a:p>
        </p:txBody>
      </p:sp>
      <p:sp>
        <p:nvSpPr>
          <p:cNvPr id="1049605" name="AutoShape 5"/>
          <p:cNvSpPr>
            <a:spLocks noChangeArrowheads="1"/>
          </p:cNvSpPr>
          <p:nvPr/>
        </p:nvSpPr>
        <p:spPr bwMode="auto">
          <a:xfrm>
            <a:off x="3614738" y="1998663"/>
            <a:ext cx="5105400" cy="4191000"/>
          </a:xfrm>
          <a:prstGeom prst="roundRect">
            <a:avLst>
              <a:gd name="adj" fmla="val 3481"/>
            </a:avLst>
          </a:prstGeom>
          <a:noFill/>
          <a:ln w="19050" cap="rnd">
            <a:solidFill>
              <a:srgbClr val="C0C0C0"/>
            </a:solidFill>
            <a:prstDash val="sysDot"/>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b="1">
              <a:solidFill>
                <a:srgbClr val="002060"/>
              </a:solidFill>
            </a:endParaRPr>
          </a:p>
        </p:txBody>
      </p:sp>
      <p:sp>
        <p:nvSpPr>
          <p:cNvPr id="1049607" name="AutoShape 7"/>
          <p:cNvSpPr>
            <a:spLocks noChangeArrowheads="1"/>
          </p:cNvSpPr>
          <p:nvPr/>
        </p:nvSpPr>
        <p:spPr bwMode="gray">
          <a:xfrm>
            <a:off x="3762375" y="2151063"/>
            <a:ext cx="4876800" cy="1228725"/>
          </a:xfrm>
          <a:prstGeom prst="roundRect">
            <a:avLst>
              <a:gd name="adj" fmla="val 10889"/>
            </a:avLst>
          </a:prstGeom>
          <a:gradFill rotWithShape="1">
            <a:gsLst>
              <a:gs pos="0">
                <a:schemeClr val="accent1"/>
              </a:gs>
              <a:gs pos="100000">
                <a:schemeClr val="accent1">
                  <a:gamma/>
                  <a:tint val="21176"/>
                  <a:invGamma/>
                </a:schemeClr>
              </a:gs>
            </a:gsLst>
            <a:lin ang="0" scaled="1"/>
          </a:gradFill>
          <a:ln>
            <a:noFill/>
          </a:ln>
          <a:effectLst/>
          <a:extLst>
            <a:ext uri="{91240B29-F687-4f45-9708-019B960494DF}">
              <a14:hiddenLine xmlns:a14="http://schemas.microsoft.com/office/drawing/2010/main" xmlns="" w="38100">
                <a:solidFill>
                  <a:srgbClr val="FFFFFF"/>
                </a:solidFill>
                <a:round/>
                <a:headEnd/>
                <a:tailEnd/>
              </a14:hiddenLine>
            </a:ext>
            <a:ext uri="{AF507438-7753-43e0-B8FC-AC1667EBCBE1}">
              <a14:hiddenEffects xmlns:a14="http://schemas.microsoft.com/office/drawing/2010/main" xmlns="">
                <a:effectLst>
                  <a:outerShdw dist="135003" dir="2928844" algn="ctr" rotWithShape="0">
                    <a:srgbClr val="000000">
                      <a:alpha val="50000"/>
                    </a:srgbClr>
                  </a:outerShdw>
                </a:effectLst>
              </a14:hiddenEffects>
            </a:ext>
          </a:extLst>
        </p:spPr>
        <p:txBody>
          <a:bodyPr wrap="none" anchor="ctr"/>
          <a:lstStyle/>
          <a:p>
            <a:endParaRPr lang="en-US" b="1">
              <a:solidFill>
                <a:srgbClr val="002060"/>
              </a:solidFill>
            </a:endParaRPr>
          </a:p>
        </p:txBody>
      </p:sp>
      <p:sp>
        <p:nvSpPr>
          <p:cNvPr id="1049608" name="AutoShape 8"/>
          <p:cNvSpPr>
            <a:spLocks noChangeArrowheads="1"/>
          </p:cNvSpPr>
          <p:nvPr/>
        </p:nvSpPr>
        <p:spPr bwMode="gray">
          <a:xfrm>
            <a:off x="3771900" y="2608263"/>
            <a:ext cx="533400" cy="381000"/>
          </a:xfrm>
          <a:prstGeom prst="rightArrow">
            <a:avLst>
              <a:gd name="adj1" fmla="val 50000"/>
              <a:gd name="adj2" fmla="val 58333"/>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b="1">
              <a:solidFill>
                <a:srgbClr val="002060"/>
              </a:solidFill>
            </a:endParaRPr>
          </a:p>
        </p:txBody>
      </p:sp>
      <p:sp>
        <p:nvSpPr>
          <p:cNvPr id="1049610" name="AutoShape 10"/>
          <p:cNvSpPr>
            <a:spLocks noChangeArrowheads="1"/>
          </p:cNvSpPr>
          <p:nvPr/>
        </p:nvSpPr>
        <p:spPr bwMode="gray">
          <a:xfrm>
            <a:off x="3762375" y="3513138"/>
            <a:ext cx="4876800" cy="1228725"/>
          </a:xfrm>
          <a:prstGeom prst="roundRect">
            <a:avLst>
              <a:gd name="adj" fmla="val 10889"/>
            </a:avLst>
          </a:prstGeom>
          <a:gradFill rotWithShape="1">
            <a:gsLst>
              <a:gs pos="0">
                <a:schemeClr val="folHlink"/>
              </a:gs>
              <a:gs pos="100000">
                <a:schemeClr val="folHlink">
                  <a:gamma/>
                  <a:tint val="21176"/>
                  <a:invGamma/>
                </a:schemeClr>
              </a:gs>
            </a:gsLst>
            <a:lin ang="0" scaled="1"/>
          </a:gradFill>
          <a:ln>
            <a:noFill/>
          </a:ln>
          <a:effectLst/>
          <a:extLst>
            <a:ext uri="{91240B29-F687-4f45-9708-019B960494DF}">
              <a14:hiddenLine xmlns:a14="http://schemas.microsoft.com/office/drawing/2010/main" xmlns="" w="38100">
                <a:solidFill>
                  <a:srgbClr val="FFFFFF"/>
                </a:solidFill>
                <a:round/>
                <a:headEnd/>
                <a:tailEnd/>
              </a14:hiddenLine>
            </a:ext>
            <a:ext uri="{AF507438-7753-43e0-B8FC-AC1667EBCBE1}">
              <a14:hiddenEffects xmlns:a14="http://schemas.microsoft.com/office/drawing/2010/main" xmlns="">
                <a:effectLst>
                  <a:outerShdw dist="135003" dir="2928844" algn="ctr" rotWithShape="0">
                    <a:srgbClr val="000000">
                      <a:alpha val="50000"/>
                    </a:srgbClr>
                  </a:outerShdw>
                </a:effectLst>
              </a14:hiddenEffects>
            </a:ext>
          </a:extLst>
        </p:spPr>
        <p:txBody>
          <a:bodyPr wrap="none" anchor="ctr"/>
          <a:lstStyle/>
          <a:p>
            <a:endParaRPr lang="en-US" b="1">
              <a:solidFill>
                <a:srgbClr val="002060"/>
              </a:solidFill>
            </a:endParaRPr>
          </a:p>
        </p:txBody>
      </p:sp>
      <p:sp>
        <p:nvSpPr>
          <p:cNvPr id="1049611" name="AutoShape 11"/>
          <p:cNvSpPr>
            <a:spLocks noChangeArrowheads="1"/>
          </p:cNvSpPr>
          <p:nvPr/>
        </p:nvSpPr>
        <p:spPr bwMode="gray">
          <a:xfrm>
            <a:off x="3771900" y="3979863"/>
            <a:ext cx="533400" cy="381000"/>
          </a:xfrm>
          <a:prstGeom prst="rightArrow">
            <a:avLst>
              <a:gd name="adj1" fmla="val 50000"/>
              <a:gd name="adj2" fmla="val 58333"/>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b="1">
              <a:solidFill>
                <a:srgbClr val="002060"/>
              </a:solidFill>
            </a:endParaRPr>
          </a:p>
        </p:txBody>
      </p:sp>
      <p:sp>
        <p:nvSpPr>
          <p:cNvPr id="1049613" name="AutoShape 13"/>
          <p:cNvSpPr>
            <a:spLocks noChangeArrowheads="1"/>
          </p:cNvSpPr>
          <p:nvPr/>
        </p:nvSpPr>
        <p:spPr bwMode="gray">
          <a:xfrm>
            <a:off x="3762375" y="4818063"/>
            <a:ext cx="4876800" cy="1228725"/>
          </a:xfrm>
          <a:prstGeom prst="roundRect">
            <a:avLst>
              <a:gd name="adj" fmla="val 10889"/>
            </a:avLst>
          </a:prstGeom>
          <a:gradFill rotWithShape="1">
            <a:gsLst>
              <a:gs pos="0">
                <a:schemeClr val="tx1"/>
              </a:gs>
              <a:gs pos="100000">
                <a:schemeClr val="tx1">
                  <a:gamma/>
                  <a:tint val="21176"/>
                  <a:invGamma/>
                </a:schemeClr>
              </a:gs>
            </a:gsLst>
            <a:lin ang="0" scaled="1"/>
          </a:gradFill>
          <a:ln>
            <a:noFill/>
          </a:ln>
          <a:effectLst/>
          <a:extLst>
            <a:ext uri="{91240B29-F687-4f45-9708-019B960494DF}">
              <a14:hiddenLine xmlns:a14="http://schemas.microsoft.com/office/drawing/2010/main" xmlns="" w="38100">
                <a:solidFill>
                  <a:srgbClr val="FFFFFF"/>
                </a:solidFill>
                <a:round/>
                <a:headEnd/>
                <a:tailEnd/>
              </a14:hiddenLine>
            </a:ext>
            <a:ext uri="{AF507438-7753-43e0-B8FC-AC1667EBCBE1}">
              <a14:hiddenEffects xmlns:a14="http://schemas.microsoft.com/office/drawing/2010/main" xmlns="">
                <a:effectLst>
                  <a:outerShdw dist="135003" dir="2928844" algn="ctr" rotWithShape="0">
                    <a:srgbClr val="000000">
                      <a:alpha val="50000"/>
                    </a:srgbClr>
                  </a:outerShdw>
                </a:effectLst>
              </a14:hiddenEffects>
            </a:ext>
          </a:extLst>
        </p:spPr>
        <p:txBody>
          <a:bodyPr wrap="none" anchor="ctr"/>
          <a:lstStyle/>
          <a:p>
            <a:endParaRPr lang="en-US" b="1">
              <a:solidFill>
                <a:srgbClr val="002060"/>
              </a:solidFill>
            </a:endParaRPr>
          </a:p>
        </p:txBody>
      </p:sp>
      <p:sp>
        <p:nvSpPr>
          <p:cNvPr id="1049614" name="AutoShape 14"/>
          <p:cNvSpPr>
            <a:spLocks noChangeArrowheads="1"/>
          </p:cNvSpPr>
          <p:nvPr/>
        </p:nvSpPr>
        <p:spPr bwMode="gray">
          <a:xfrm>
            <a:off x="3771900" y="5275263"/>
            <a:ext cx="533400" cy="381000"/>
          </a:xfrm>
          <a:prstGeom prst="rightArrow">
            <a:avLst>
              <a:gd name="adj1" fmla="val 50000"/>
              <a:gd name="adj2" fmla="val 58333"/>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b="1">
              <a:solidFill>
                <a:srgbClr val="002060"/>
              </a:solidFill>
            </a:endParaRPr>
          </a:p>
        </p:txBody>
      </p:sp>
      <p:sp>
        <p:nvSpPr>
          <p:cNvPr id="1049615" name="Text Box 15"/>
          <p:cNvSpPr txBox="1">
            <a:spLocks noChangeArrowheads="1"/>
          </p:cNvSpPr>
          <p:nvPr/>
        </p:nvSpPr>
        <p:spPr bwMode="gray">
          <a:xfrm>
            <a:off x="4376738" y="4952951"/>
            <a:ext cx="4145470" cy="1015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just" eaLnBrk="0" hangingPunct="0"/>
            <a:r>
              <a:rPr lang="en-US" altLang="en-US" sz="2000" b="1">
                <a:solidFill>
                  <a:srgbClr val="FFFFFF"/>
                </a:solidFill>
                <a:latin typeface="Arial" panose="020B0604020202020204" pitchFamily="34" charset="0"/>
              </a:rPr>
              <a:t>THÚC ĐẨY QUÁ TRÌNH ĐỔI MỚI PHƯƠNG THỨC QUẢN TRỊ PHÁT TRIỂN</a:t>
            </a:r>
          </a:p>
        </p:txBody>
      </p:sp>
      <p:sp>
        <p:nvSpPr>
          <p:cNvPr id="1049616" name="Text Box 16"/>
          <p:cNvSpPr txBox="1">
            <a:spLocks noChangeArrowheads="1"/>
          </p:cNvSpPr>
          <p:nvPr/>
        </p:nvSpPr>
        <p:spPr bwMode="gray">
          <a:xfrm>
            <a:off x="4376738" y="3805990"/>
            <a:ext cx="4032250"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l" eaLnBrk="0" hangingPunct="0"/>
            <a:r>
              <a:rPr lang="en-US" altLang="en-US" sz="2000" b="1">
                <a:solidFill>
                  <a:srgbClr val="002060"/>
                </a:solidFill>
                <a:latin typeface="Arial" panose="020B0604020202020204" pitchFamily="34" charset="0"/>
              </a:rPr>
              <a:t>THÚC ĐẨY QUÁ TRÌNH HOÀN THIỆN QUAN HỆ SẢN XUẤT</a:t>
            </a:r>
          </a:p>
        </p:txBody>
      </p:sp>
      <p:sp>
        <p:nvSpPr>
          <p:cNvPr id="1049617" name="Text Box 17"/>
          <p:cNvSpPr txBox="1">
            <a:spLocks noChangeArrowheads="1"/>
          </p:cNvSpPr>
          <p:nvPr/>
        </p:nvSpPr>
        <p:spPr bwMode="gray">
          <a:xfrm>
            <a:off x="4376738" y="2443915"/>
            <a:ext cx="4032250"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l" eaLnBrk="0" hangingPunct="0"/>
            <a:r>
              <a:rPr lang="en-US" altLang="en-US" sz="2000" b="1">
                <a:solidFill>
                  <a:srgbClr val="FF0000"/>
                </a:solidFill>
                <a:latin typeface="Arial" panose="020B0604020202020204" pitchFamily="34" charset="0"/>
              </a:rPr>
              <a:t>THÚC ĐẨY SỰ PHÁT TRIỂN CỦA LỰC LƯỢNG SẢN XUẤT</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625" y="2767583"/>
            <a:ext cx="2018919" cy="2731009"/>
          </a:xfrm>
          <a:prstGeom prst="ellipse">
            <a:avLst/>
          </a:prstGeom>
          <a:ln>
            <a:noFill/>
          </a:ln>
          <a:effectLst>
            <a:softEdge rad="112500"/>
          </a:effectLst>
        </p:spPr>
      </p:pic>
      <p:sp>
        <p:nvSpPr>
          <p:cNvPr id="16" name="Rectangle 48"/>
          <p:cNvSpPr>
            <a:spLocks noChangeArrowheads="1"/>
          </p:cNvSpPr>
          <p:nvPr/>
        </p:nvSpPr>
        <p:spPr bwMode="gray">
          <a:xfrm>
            <a:off x="1332031" y="1423749"/>
            <a:ext cx="5563947" cy="422275"/>
          </a:xfrm>
          <a:prstGeom prst="rect">
            <a:avLst/>
          </a:prstGeom>
          <a:gradFill rotWithShape="1">
            <a:gsLst>
              <a:gs pos="0">
                <a:srgbClr val="93A719">
                  <a:alpha val="80000"/>
                </a:srgbClr>
              </a:gs>
              <a:gs pos="50000">
                <a:srgbClr val="93A719">
                  <a:gamma/>
                  <a:shade val="89020"/>
                  <a:invGamma/>
                </a:srgbClr>
              </a:gs>
              <a:gs pos="100000">
                <a:srgbClr val="93A719">
                  <a:alpha val="80000"/>
                </a:srgbClr>
              </a:gs>
            </a:gsLst>
            <a:lin ang="0" scaled="1"/>
          </a:gradFill>
          <a:ln>
            <a:noFill/>
          </a:ln>
          <a:effectLst/>
        </p:spPr>
        <p:txBody>
          <a:bodyPr wrap="none" anchor="ctr"/>
          <a:lstStyle/>
          <a:p>
            <a:pPr algn="ctr" eaLnBrk="1" fontAlgn="auto" hangingPunct="1">
              <a:spcBef>
                <a:spcPts val="0"/>
              </a:spcBef>
              <a:spcAft>
                <a:spcPts val="0"/>
              </a:spcAft>
              <a:defRPr/>
            </a:pPr>
            <a:r>
              <a:rPr lang="en-US" sz="2000" b="1" kern="0">
                <a:solidFill>
                  <a:srgbClr val="F8F8F8"/>
                </a:solidFill>
                <a:latin typeface="Times New Roman" panose="02020603050405020304" pitchFamily="18" charset="0"/>
                <a:cs typeface="Times New Roman" panose="02020603050405020304" pitchFamily="18" charset="0"/>
              </a:rPr>
              <a:t>VAI TRÒ CỦA CÁCH MẠNG CÔNG NGHIỆP</a:t>
            </a:r>
          </a:p>
        </p:txBody>
      </p:sp>
      <p:sp>
        <p:nvSpPr>
          <p:cNvPr id="18" name="Rectangle 2"/>
          <p:cNvSpPr>
            <a:spLocks noGrp="1" noChangeArrowheads="1"/>
          </p:cNvSpPr>
          <p:nvPr>
            <p:ph type="title"/>
          </p:nvPr>
        </p:nvSpPr>
        <p:spPr>
          <a:xfrm>
            <a:off x="614994" y="283199"/>
            <a:ext cx="7886700" cy="1054947"/>
          </a:xfrm>
        </p:spPr>
        <p:txBody>
          <a:bodyPr>
            <a:no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Khái</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quát</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về</a:t>
            </a:r>
            <a:r>
              <a:rPr lang="en-US" altLang="en-US" sz="3200" b="1" dirty="0">
                <a:solidFill>
                  <a:srgbClr val="002060"/>
                </a:solidFill>
                <a:latin typeface="Arial" panose="020B0604020202020204" pitchFamily="34" charset="0"/>
                <a:cs typeface="Arial" panose="020B0604020202020204" pitchFamily="34" charset="0"/>
              </a:rPr>
              <a:t> CM </a:t>
            </a:r>
            <a:r>
              <a:rPr lang="en-US" altLang="en-US" sz="3200" b="1" dirty="0" err="1">
                <a:solidFill>
                  <a:srgbClr val="002060"/>
                </a:solidFill>
                <a:latin typeface="Arial" panose="020B0604020202020204" pitchFamily="34" charset="0"/>
                <a:cs typeface="Arial" panose="020B0604020202020204" pitchFamily="34" charset="0"/>
              </a:rPr>
              <a:t>Công</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nghiệp</a:t>
            </a:r>
            <a:endParaRPr lang="en-US" altLang="en-US" sz="3200" b="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0805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18" name="Rectangle 18"/>
          <p:cNvSpPr>
            <a:spLocks noGrp="1" noChangeArrowheads="1"/>
          </p:cNvSpPr>
          <p:nvPr>
            <p:ph type="title"/>
          </p:nvPr>
        </p:nvSpPr>
        <p:spPr>
          <a:xfrm>
            <a:off x="628650" y="365127"/>
            <a:ext cx="7886700" cy="1068602"/>
          </a:xfrm>
        </p:spPr>
        <p:txBody>
          <a:bodyPr>
            <a:normAutofit/>
          </a:bodyPr>
          <a:lstStyle/>
          <a:p>
            <a:pPr algn="ctr"/>
            <a:r>
              <a:rPr lang="vi-VN" altLang="en-US" sz="2400" b="1" i="1" dirty="0">
                <a:solidFill>
                  <a:srgbClr val="002060"/>
                </a:solidFill>
              </a:rPr>
              <a:t>THÚC ĐẨY SỰ PHÁT TRIỂN CỦA </a:t>
            </a:r>
            <a:br>
              <a:rPr lang="en-US" altLang="en-US" sz="2400" b="1" i="1" dirty="0">
                <a:solidFill>
                  <a:srgbClr val="002060"/>
                </a:solidFill>
              </a:rPr>
            </a:br>
            <a:r>
              <a:rPr lang="vi-VN" altLang="en-US" sz="2400" b="1" i="1" dirty="0">
                <a:solidFill>
                  <a:srgbClr val="002060"/>
                </a:solidFill>
              </a:rPr>
              <a:t>LỰC LƯỢNG SẢN XUẤT</a:t>
            </a:r>
          </a:p>
        </p:txBody>
      </p:sp>
      <p:sp>
        <p:nvSpPr>
          <p:cNvPr id="15" name="Rectangle 23"/>
          <p:cNvSpPr txBox="1">
            <a:spLocks noChangeArrowheads="1"/>
          </p:cNvSpPr>
          <p:nvPr/>
        </p:nvSpPr>
        <p:spPr bwMode="black">
          <a:xfrm>
            <a:off x="728871" y="1406419"/>
            <a:ext cx="7659756" cy="505218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a:buChar char="•"/>
            </a:pPr>
            <a:r>
              <a:rPr lang="en-US" altLang="en-US" sz="2800" dirty="0" err="1">
                <a:solidFill>
                  <a:srgbClr val="002060"/>
                </a:solidFill>
                <a:sym typeface="Wingdings" panose="05000000000000000000" pitchFamily="2" charset="2"/>
              </a:rPr>
              <a:t>Tư</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liệu</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lao</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động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thủ</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công</a:t>
            </a:r>
            <a:r>
              <a:rPr lang="en-US" altLang="en-US" sz="2800" dirty="0">
                <a:solidFill>
                  <a:srgbClr val="002060"/>
                </a:solidFill>
                <a:sym typeface="Wingdings" panose="05000000000000000000" pitchFamily="2" charset="2"/>
              </a:rPr>
              <a:t>  </a:t>
            </a:r>
            <a:r>
              <a:rPr lang="en-US" altLang="en-US" sz="2800" dirty="0" err="1">
                <a:solidFill>
                  <a:srgbClr val="002060"/>
                </a:solidFill>
                <a:sym typeface="Wingdings" panose="05000000000000000000" pitchFamily="2" charset="2"/>
              </a:rPr>
              <a:t>máy</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móc</a:t>
            </a:r>
            <a:r>
              <a:rPr lang="en-US" altLang="en-US" sz="2800" dirty="0">
                <a:solidFill>
                  <a:srgbClr val="002060"/>
                </a:solidFill>
                <a:sym typeface="Wingdings" panose="05000000000000000000" pitchFamily="2" charset="2"/>
              </a:rPr>
              <a:t>  </a:t>
            </a:r>
            <a:r>
              <a:rPr lang="en-US" altLang="en-US" sz="2800" dirty="0" err="1">
                <a:solidFill>
                  <a:srgbClr val="002060"/>
                </a:solidFill>
                <a:sym typeface="Wingdings" panose="05000000000000000000" pitchFamily="2" charset="2"/>
              </a:rPr>
              <a:t>máy</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tính</a:t>
            </a:r>
            <a:r>
              <a:rPr lang="en-US" altLang="en-US" sz="2800" dirty="0">
                <a:solidFill>
                  <a:srgbClr val="002060"/>
                </a:solidFill>
                <a:sym typeface="Wingdings" panose="05000000000000000000" pitchFamily="2" charset="2"/>
              </a:rPr>
              <a:t>  </a:t>
            </a:r>
            <a:r>
              <a:rPr lang="en-US" altLang="en-US" sz="2800" dirty="0" err="1">
                <a:solidFill>
                  <a:srgbClr val="002060"/>
                </a:solidFill>
                <a:sym typeface="Wingdings" panose="05000000000000000000" pitchFamily="2" charset="2"/>
              </a:rPr>
              <a:t>tự</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động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hóa</a:t>
            </a:r>
            <a:endParaRPr lang="en-US" altLang="en-US" sz="2800" dirty="0">
              <a:solidFill>
                <a:srgbClr val="002060"/>
              </a:solidFill>
              <a:sym typeface="Wingdings" panose="05000000000000000000" pitchFamily="2" charset="2"/>
            </a:endParaRPr>
          </a:p>
          <a:p>
            <a:pPr algn="just">
              <a:buFont typeface="Arial"/>
              <a:buChar char="•"/>
            </a:pPr>
            <a:r>
              <a:rPr lang="en-US" altLang="en-US" sz="2800" dirty="0" err="1">
                <a:solidFill>
                  <a:srgbClr val="002060"/>
                </a:solidFill>
                <a:sym typeface="Wingdings" panose="05000000000000000000" pitchFamily="2" charset="2"/>
              </a:rPr>
              <a:t>Phát</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triển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nguồn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nhân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lực</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năng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suất</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lao</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động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gia</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tăng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của</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cải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vật</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chất</a:t>
            </a:r>
            <a:endParaRPr lang="en-US" altLang="en-US" sz="2800" dirty="0">
              <a:solidFill>
                <a:srgbClr val="002060"/>
              </a:solidFill>
              <a:sym typeface="Wingdings" panose="05000000000000000000" pitchFamily="2" charset="2"/>
            </a:endParaRPr>
          </a:p>
          <a:p>
            <a:pPr algn="just">
              <a:buFont typeface="Arial"/>
              <a:buChar char="•"/>
            </a:pPr>
            <a:r>
              <a:rPr lang="en-US" altLang="en-US" sz="2800" dirty="0" err="1">
                <a:solidFill>
                  <a:srgbClr val="002060"/>
                </a:solidFill>
                <a:sym typeface="Wingdings" panose="05000000000000000000" pitchFamily="2" charset="2"/>
              </a:rPr>
              <a:t>Đối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tượng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lao</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động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mở</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rộng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không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ngừng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không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còn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phụ</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thuộc</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vào</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tự</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nhiên</a:t>
            </a:r>
            <a:endParaRPr lang="en-US" altLang="en-US" sz="2800" dirty="0">
              <a:solidFill>
                <a:srgbClr val="002060"/>
              </a:solidFill>
              <a:sym typeface="Wingdings" panose="05000000000000000000" pitchFamily="2" charset="2"/>
            </a:endParaRPr>
          </a:p>
          <a:p>
            <a:pPr algn="just">
              <a:buFont typeface="Arial"/>
              <a:buChar char="•"/>
            </a:pPr>
            <a:r>
              <a:rPr lang="en-US" altLang="en-US" sz="2800" dirty="0" err="1">
                <a:solidFill>
                  <a:srgbClr val="002060"/>
                </a:solidFill>
                <a:sym typeface="Wingdings" panose="05000000000000000000" pitchFamily="2" charset="2"/>
              </a:rPr>
              <a:t>Thúc</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đẩy</a:t>
            </a:r>
            <a:r>
              <a:rPr lang="en-US" altLang="en-US" sz="2800" dirty="0">
                <a:solidFill>
                  <a:srgbClr val="002060"/>
                </a:solidFill>
                <a:sym typeface="Wingdings" panose="05000000000000000000" pitchFamily="2" charset="2"/>
              </a:rPr>
              <a:t> tri </a:t>
            </a:r>
            <a:r>
              <a:rPr lang="en-US" altLang="en-US" sz="2800" dirty="0" err="1">
                <a:solidFill>
                  <a:srgbClr val="002060"/>
                </a:solidFill>
                <a:sym typeface="Wingdings" panose="05000000000000000000" pitchFamily="2" charset="2"/>
              </a:rPr>
              <a:t>thức</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kinh</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nghiệm</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kiến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thức</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phát</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triển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tạo</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thuận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lợi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cho</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các</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nước</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đi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sau</a:t>
            </a:r>
            <a:endParaRPr lang="en-US" altLang="en-US" sz="2800" dirty="0">
              <a:solidFill>
                <a:srgbClr val="002060"/>
              </a:solidFill>
              <a:sym typeface="Wingdings" panose="05000000000000000000" pitchFamily="2" charset="2"/>
            </a:endParaRPr>
          </a:p>
          <a:p>
            <a:pPr algn="just">
              <a:buFont typeface="Arial"/>
              <a:buChar char="•"/>
            </a:pPr>
            <a:r>
              <a:rPr lang="en-US" altLang="en-US" sz="2800" dirty="0" err="1">
                <a:solidFill>
                  <a:srgbClr val="002060"/>
                </a:solidFill>
                <a:sym typeface="Wingdings" panose="05000000000000000000" pitchFamily="2" charset="2"/>
              </a:rPr>
              <a:t>Người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dân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tiếp</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cận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được</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với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nhiều</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sản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phẩm</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và</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dịch</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vụ</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mới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có</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chất</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lượng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cao</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với</a:t>
            </a:r>
            <a:r>
              <a:rPr lang="en-US" altLang="en-US" sz="2800" dirty="0">
                <a:solidFill>
                  <a:srgbClr val="002060"/>
                </a:solidFill>
                <a:sym typeface="Wingdings" panose="05000000000000000000" pitchFamily="2" charset="2"/>
              </a:rPr>
              <a:t> chi </a:t>
            </a:r>
            <a:r>
              <a:rPr lang="en-US" altLang="en-US" sz="2800" dirty="0" err="1">
                <a:solidFill>
                  <a:srgbClr val="002060"/>
                </a:solidFill>
                <a:sym typeface="Wingdings" panose="05000000000000000000" pitchFamily="2" charset="2"/>
              </a:rPr>
              <a:t>phí</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thấp</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hơn</a:t>
            </a:r>
            <a:endParaRPr lang="en-US" altLang="en-US" sz="2800" dirty="0">
              <a:solidFill>
                <a:srgbClr val="FF0000"/>
              </a:solidFill>
              <a:sym typeface="Wingdings" panose="05000000000000000000" pitchFamily="2" charset="2"/>
            </a:endParaRPr>
          </a:p>
          <a:p>
            <a:pPr marL="0" indent="0" algn="just">
              <a:buNone/>
            </a:pPr>
            <a:endParaRPr lang="en-US" altLang="en-US" sz="2800" dirty="0">
              <a:solidFill>
                <a:srgbClr val="FF0000"/>
              </a:solidFill>
              <a:sym typeface="Wingdings" panose="05000000000000000000" pitchFamily="2" charset="2"/>
            </a:endParaRPr>
          </a:p>
        </p:txBody>
      </p:sp>
    </p:spTree>
    <p:extLst>
      <p:ext uri="{BB962C8B-B14F-4D97-AF65-F5344CB8AC3E}">
        <p14:creationId xmlns:p14="http://schemas.microsoft.com/office/powerpoint/2010/main" val="2870550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18" name="Rectangle 18"/>
          <p:cNvSpPr>
            <a:spLocks noGrp="1" noChangeArrowheads="1"/>
          </p:cNvSpPr>
          <p:nvPr>
            <p:ph type="title"/>
          </p:nvPr>
        </p:nvSpPr>
        <p:spPr/>
        <p:txBody>
          <a:bodyPr>
            <a:normAutofit/>
          </a:bodyPr>
          <a:lstStyle/>
          <a:p>
            <a:pPr algn="ctr"/>
            <a:r>
              <a:rPr lang="vi-VN" altLang="en-US" sz="2400" b="1" i="1" dirty="0">
                <a:solidFill>
                  <a:srgbClr val="002060"/>
                </a:solidFill>
              </a:rPr>
              <a:t>THÚC ĐẨY QUÁ TRÌNH HOÀN THIỆN </a:t>
            </a:r>
            <a:br>
              <a:rPr lang="vi-VN" altLang="en-US" sz="2400" b="1" i="1" dirty="0">
                <a:solidFill>
                  <a:srgbClr val="002060"/>
                </a:solidFill>
              </a:rPr>
            </a:br>
            <a:r>
              <a:rPr lang="vi-VN" altLang="en-US" sz="2400" b="1" i="1" dirty="0">
                <a:solidFill>
                  <a:srgbClr val="002060"/>
                </a:solidFill>
              </a:rPr>
              <a:t>QUAN HỆ SẢN XUẤT</a:t>
            </a:r>
          </a:p>
        </p:txBody>
      </p:sp>
      <p:sp>
        <p:nvSpPr>
          <p:cNvPr id="15" name="Rectangle 23"/>
          <p:cNvSpPr txBox="1">
            <a:spLocks noChangeArrowheads="1"/>
          </p:cNvSpPr>
          <p:nvPr/>
        </p:nvSpPr>
        <p:spPr bwMode="black">
          <a:xfrm>
            <a:off x="728871" y="1736039"/>
            <a:ext cx="7659756" cy="43538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a:buChar char="•"/>
            </a:pPr>
            <a:r>
              <a:rPr lang="en-US" altLang="en-US" sz="2800" dirty="0" err="1">
                <a:solidFill>
                  <a:srgbClr val="002060"/>
                </a:solidFill>
                <a:sym typeface="Wingdings" panose="05000000000000000000" pitchFamily="2" charset="2"/>
              </a:rPr>
              <a:t>Biến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đổi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về</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sở</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hữu</a:t>
            </a:r>
            <a:r>
              <a:rPr lang="en-US" altLang="en-US" sz="2800" dirty="0">
                <a:solidFill>
                  <a:srgbClr val="002060"/>
                </a:solidFill>
                <a:sym typeface="Wingdings" panose="05000000000000000000" pitchFamily="2" charset="2"/>
              </a:rPr>
              <a:t> TLSX: SX </a:t>
            </a:r>
            <a:r>
              <a:rPr lang="en-US" altLang="en-US" sz="2800" dirty="0" err="1">
                <a:solidFill>
                  <a:srgbClr val="002060"/>
                </a:solidFill>
                <a:sym typeface="Wingdings" panose="05000000000000000000" pitchFamily="2" charset="2"/>
              </a:rPr>
              <a:t>lớn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tích</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tụ</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và</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tập</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trung</a:t>
            </a:r>
            <a:r>
              <a:rPr lang="en-US" altLang="en-US" sz="2800" dirty="0">
                <a:solidFill>
                  <a:srgbClr val="002060"/>
                </a:solidFill>
                <a:sym typeface="Wingdings" panose="05000000000000000000" pitchFamily="2" charset="2"/>
              </a:rPr>
              <a:t>  </a:t>
            </a:r>
            <a:r>
              <a:rPr lang="en-US" altLang="en-US" sz="2800" dirty="0" err="1">
                <a:solidFill>
                  <a:srgbClr val="002060"/>
                </a:solidFill>
                <a:sym typeface="Wingdings" panose="05000000000000000000" pitchFamily="2" charset="2"/>
              </a:rPr>
              <a:t>liên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kết</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sở</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hữu</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công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ty</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cổ</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phần</a:t>
            </a:r>
            <a:r>
              <a:rPr lang="en-US" altLang="en-US" sz="2800" dirty="0">
                <a:solidFill>
                  <a:srgbClr val="002060"/>
                </a:solidFill>
                <a:sym typeface="Wingdings" panose="05000000000000000000" pitchFamily="2" charset="2"/>
              </a:rPr>
              <a:t>  </a:t>
            </a:r>
            <a:r>
              <a:rPr lang="en-US" altLang="en-US" sz="2800" dirty="0" err="1">
                <a:solidFill>
                  <a:srgbClr val="002060"/>
                </a:solidFill>
                <a:sym typeface="Wingdings" panose="05000000000000000000" pitchFamily="2" charset="2"/>
              </a:rPr>
              <a:t>đa</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dạng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hóa</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về</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sở</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hữu</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xã</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hội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hóa</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sản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xuất</a:t>
            </a:r>
            <a:endParaRPr lang="en-US" altLang="en-US" sz="2800" dirty="0">
              <a:solidFill>
                <a:srgbClr val="002060"/>
              </a:solidFill>
              <a:sym typeface="Wingdings" panose="05000000000000000000" pitchFamily="2" charset="2"/>
            </a:endParaRPr>
          </a:p>
          <a:p>
            <a:pPr algn="just">
              <a:buFont typeface="Arial"/>
              <a:buChar char="•"/>
            </a:pPr>
            <a:r>
              <a:rPr lang="en-US" altLang="en-US" sz="2800" dirty="0" err="1">
                <a:solidFill>
                  <a:srgbClr val="002060"/>
                </a:solidFill>
                <a:sym typeface="Wingdings" panose="05000000000000000000" pitchFamily="2" charset="2"/>
              </a:rPr>
              <a:t>Hoàn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thiện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thể</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chế</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kinh</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tế</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thị</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trường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hội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nhập</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quốc</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tế</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toàn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cầu</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hóa</a:t>
            </a:r>
            <a:endParaRPr lang="en-US" altLang="en-US" sz="2800" dirty="0">
              <a:solidFill>
                <a:srgbClr val="002060"/>
              </a:solidFill>
              <a:sym typeface="Wingdings" panose="05000000000000000000" pitchFamily="2" charset="2"/>
            </a:endParaRPr>
          </a:p>
          <a:p>
            <a:pPr algn="just">
              <a:buFont typeface="Arial"/>
              <a:buChar char="•"/>
            </a:pPr>
            <a:r>
              <a:rPr lang="en-US" altLang="en-US" sz="2800" dirty="0" err="1">
                <a:solidFill>
                  <a:srgbClr val="002060"/>
                </a:solidFill>
                <a:sym typeface="Wingdings" panose="05000000000000000000" pitchFamily="2" charset="2"/>
              </a:rPr>
              <a:t>Cải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tiến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phương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thức</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tổ</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chức</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quản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lý</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kinh</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doanh</a:t>
            </a:r>
            <a:endParaRPr lang="en-US" altLang="en-US" sz="2800" dirty="0">
              <a:solidFill>
                <a:srgbClr val="002060"/>
              </a:solidFill>
              <a:sym typeface="Wingdings" panose="05000000000000000000" pitchFamily="2" charset="2"/>
            </a:endParaRPr>
          </a:p>
          <a:p>
            <a:pPr algn="just">
              <a:buFont typeface="Arial"/>
              <a:buChar char="•"/>
            </a:pPr>
            <a:r>
              <a:rPr lang="en-US" altLang="en-US" sz="2800" dirty="0" err="1">
                <a:solidFill>
                  <a:srgbClr val="002060"/>
                </a:solidFill>
                <a:sym typeface="Wingdings" panose="05000000000000000000" pitchFamily="2" charset="2"/>
              </a:rPr>
              <a:t>Phân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phối</a:t>
            </a:r>
            <a:r>
              <a:rPr lang="en-US" altLang="en-US" sz="2800" dirty="0">
                <a:solidFill>
                  <a:srgbClr val="002060"/>
                </a:solidFill>
                <a:sym typeface="Wingdings" panose="05000000000000000000" pitchFamily="2" charset="2"/>
              </a:rPr>
              <a:t>: NSLĐ </a:t>
            </a:r>
            <a:r>
              <a:rPr lang="en-US" altLang="en-US" sz="2800" dirty="0" err="1">
                <a:solidFill>
                  <a:srgbClr val="002060"/>
                </a:solidFill>
                <a:sym typeface="Wingdings" panose="05000000000000000000" pitchFamily="2" charset="2"/>
              </a:rPr>
              <a:t>tăng</a:t>
            </a:r>
            <a:r>
              <a:rPr lang="en-US" altLang="en-US" sz="2800" dirty="0">
                <a:solidFill>
                  <a:srgbClr val="002060"/>
                </a:solidFill>
                <a:sym typeface="Wingdings" panose="05000000000000000000" pitchFamily="2" charset="2"/>
              </a:rPr>
              <a:t>, chi </a:t>
            </a:r>
            <a:r>
              <a:rPr lang="en-US" altLang="en-US" sz="2800" dirty="0" err="1">
                <a:solidFill>
                  <a:srgbClr val="002060"/>
                </a:solidFill>
                <a:sym typeface="Wingdings" panose="05000000000000000000" pitchFamily="2" charset="2"/>
              </a:rPr>
              <a:t>phí</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sản</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xuất</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giảm</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thu</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nhập</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tăng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đời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sống</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cải</a:t>
            </a:r>
            <a:r>
              <a:rPr lang="en-US" altLang="en-US" sz="2800" dirty="0">
                <a:solidFill>
                  <a:srgbClr val="002060"/>
                </a:solidFill>
                <a:sym typeface="Wingdings" panose="05000000000000000000" pitchFamily="2" charset="2"/>
              </a:rPr>
              <a:t> </a:t>
            </a:r>
            <a:r>
              <a:rPr lang="en-US" altLang="en-US" sz="2800" dirty="0" err="1">
                <a:solidFill>
                  <a:srgbClr val="002060"/>
                </a:solidFill>
                <a:sym typeface="Wingdings" panose="05000000000000000000" pitchFamily="2" charset="2"/>
              </a:rPr>
              <a:t>thiện</a:t>
            </a:r>
            <a:endParaRPr lang="en-US" altLang="en-US" sz="2800" dirty="0">
              <a:solidFill>
                <a:srgbClr val="002060"/>
              </a:solidFill>
              <a:sym typeface="Wingdings" panose="05000000000000000000" pitchFamily="2" charset="2"/>
            </a:endParaRPr>
          </a:p>
        </p:txBody>
      </p:sp>
    </p:spTree>
    <p:extLst>
      <p:ext uri="{BB962C8B-B14F-4D97-AF65-F5344CB8AC3E}">
        <p14:creationId xmlns:p14="http://schemas.microsoft.com/office/powerpoint/2010/main" val="3484305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18" name="Rectangle 18"/>
          <p:cNvSpPr>
            <a:spLocks noGrp="1" noChangeArrowheads="1"/>
          </p:cNvSpPr>
          <p:nvPr>
            <p:ph type="title"/>
          </p:nvPr>
        </p:nvSpPr>
        <p:spPr>
          <a:xfrm>
            <a:off x="628650" y="351471"/>
            <a:ext cx="7886700" cy="1325563"/>
          </a:xfrm>
        </p:spPr>
        <p:txBody>
          <a:bodyPr>
            <a:normAutofit/>
          </a:bodyPr>
          <a:lstStyle/>
          <a:p>
            <a:pPr algn="ctr"/>
            <a:r>
              <a:rPr lang="vi-VN" altLang="en-US" sz="2400" b="1" i="1" dirty="0">
                <a:solidFill>
                  <a:srgbClr val="002060"/>
                </a:solidFill>
              </a:rPr>
              <a:t>THÚC ĐẨY QUÁ TRÌNH ĐỔI MỚI </a:t>
            </a:r>
            <a:br>
              <a:rPr lang="vi-VN" altLang="en-US" sz="2400" b="1" i="1" dirty="0">
                <a:solidFill>
                  <a:srgbClr val="002060"/>
                </a:solidFill>
              </a:rPr>
            </a:br>
            <a:r>
              <a:rPr lang="vi-VN" altLang="en-US" sz="2400" b="1" i="1" dirty="0">
                <a:solidFill>
                  <a:srgbClr val="002060"/>
                </a:solidFill>
              </a:rPr>
              <a:t>PHƯƠNG THỨC QUẢN TRỊ PHÁT TRIỂN</a:t>
            </a:r>
          </a:p>
        </p:txBody>
      </p:sp>
      <p:sp>
        <p:nvSpPr>
          <p:cNvPr id="15" name="Rectangle 23"/>
          <p:cNvSpPr txBox="1">
            <a:spLocks noChangeArrowheads="1"/>
          </p:cNvSpPr>
          <p:nvPr/>
        </p:nvSpPr>
        <p:spPr bwMode="black">
          <a:xfrm>
            <a:off x="728871" y="1736040"/>
            <a:ext cx="7659756" cy="304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a:buChar char="•"/>
            </a:pPr>
            <a:r>
              <a:rPr lang="en-US" altLang="en-US" sz="2400" dirty="0" err="1">
                <a:solidFill>
                  <a:srgbClr val="002060"/>
                </a:solidFill>
                <a:sym typeface="Wingdings" panose="05000000000000000000" pitchFamily="2" charset="2"/>
              </a:rPr>
              <a:t>Thể</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giới</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phẳng</a:t>
            </a:r>
            <a:r>
              <a:rPr lang="en-US" altLang="en-US" sz="2400" dirty="0">
                <a:solidFill>
                  <a:srgbClr val="002060"/>
                </a:solidFill>
                <a:sym typeface="Wingdings" panose="05000000000000000000" pitchFamily="2" charset="2"/>
              </a:rPr>
              <a:t>  </a:t>
            </a:r>
            <a:r>
              <a:rPr lang="en-US" altLang="en-US" sz="2400" dirty="0" err="1">
                <a:solidFill>
                  <a:srgbClr val="002060"/>
                </a:solidFill>
                <a:sym typeface="Wingdings" panose="05000000000000000000" pitchFamily="2" charset="2"/>
              </a:rPr>
              <a:t>kinh</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tế</a:t>
            </a:r>
            <a:r>
              <a:rPr lang="en-US" altLang="en-US" sz="2400" dirty="0">
                <a:solidFill>
                  <a:srgbClr val="002060"/>
                </a:solidFill>
                <a:sym typeface="Wingdings" panose="05000000000000000000" pitchFamily="2" charset="2"/>
              </a:rPr>
              <a:t> tri </a:t>
            </a:r>
            <a:r>
              <a:rPr lang="en-US" altLang="en-US" sz="2400" dirty="0" err="1">
                <a:solidFill>
                  <a:srgbClr val="002060"/>
                </a:solidFill>
                <a:sym typeface="Wingdings" panose="05000000000000000000" pitchFamily="2" charset="2"/>
              </a:rPr>
              <a:t>thức</a:t>
            </a:r>
            <a:endParaRPr lang="en-US" altLang="en-US" sz="2400" dirty="0">
              <a:solidFill>
                <a:srgbClr val="002060"/>
              </a:solidFill>
              <a:sym typeface="Wingdings" panose="05000000000000000000" pitchFamily="2" charset="2"/>
            </a:endParaRPr>
          </a:p>
          <a:p>
            <a:pPr algn="just">
              <a:buFont typeface="Arial"/>
              <a:buChar char="•"/>
            </a:pPr>
            <a:r>
              <a:rPr lang="en-US" altLang="en-US" sz="2400" dirty="0" err="1">
                <a:solidFill>
                  <a:srgbClr val="002060"/>
                </a:solidFill>
                <a:sym typeface="Wingdings" panose="05000000000000000000" pitchFamily="2" charset="2"/>
              </a:rPr>
              <a:t>Vai</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trò</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của</a:t>
            </a:r>
            <a:r>
              <a:rPr lang="en-US" altLang="en-US" sz="2400" dirty="0">
                <a:solidFill>
                  <a:srgbClr val="002060"/>
                </a:solidFill>
                <a:sym typeface="Wingdings" panose="05000000000000000000" pitchFamily="2" charset="2"/>
              </a:rPr>
              <a:t> TNC </a:t>
            </a:r>
            <a:r>
              <a:rPr lang="en-US" altLang="en-US" sz="2400" dirty="0" err="1">
                <a:solidFill>
                  <a:srgbClr val="002060"/>
                </a:solidFill>
                <a:sym typeface="Wingdings" panose="05000000000000000000" pitchFamily="2" charset="2"/>
              </a:rPr>
              <a:t>ngày</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càng</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cao</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sự</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xuất</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hiện</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của</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các</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tổ</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chức</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kinh</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tế</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khu</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vực</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và</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quốc</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tế</a:t>
            </a:r>
            <a:endParaRPr lang="en-US" altLang="en-US" sz="2400" dirty="0">
              <a:solidFill>
                <a:srgbClr val="002060"/>
              </a:solidFill>
              <a:sym typeface="Wingdings" panose="05000000000000000000" pitchFamily="2" charset="2"/>
            </a:endParaRPr>
          </a:p>
          <a:p>
            <a:pPr algn="just">
              <a:buFont typeface="Arial"/>
              <a:buChar char="•"/>
            </a:pPr>
            <a:r>
              <a:rPr lang="en-US" altLang="en-US" sz="2400" dirty="0" err="1">
                <a:solidFill>
                  <a:srgbClr val="002060"/>
                </a:solidFill>
                <a:sym typeface="Wingdings" panose="05000000000000000000" pitchFamily="2" charset="2"/>
              </a:rPr>
              <a:t>Chính</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phủ</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điện</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tử</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đô</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thị</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thông</a:t>
            </a:r>
            <a:r>
              <a:rPr lang="en-US" altLang="en-US" sz="2400" dirty="0">
                <a:solidFill>
                  <a:srgbClr val="002060"/>
                </a:solidFill>
                <a:sym typeface="Wingdings" panose="05000000000000000000" pitchFamily="2" charset="2"/>
              </a:rPr>
              <a:t> minh, </a:t>
            </a:r>
            <a:r>
              <a:rPr lang="en-US" altLang="en-US" sz="2400" dirty="0" err="1">
                <a:solidFill>
                  <a:srgbClr val="002060"/>
                </a:solidFill>
                <a:sym typeface="Wingdings" panose="05000000000000000000" pitchFamily="2" charset="2"/>
              </a:rPr>
              <a:t>chính</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quyền</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thông</a:t>
            </a:r>
            <a:r>
              <a:rPr lang="en-US" altLang="en-US" sz="2400" dirty="0">
                <a:solidFill>
                  <a:srgbClr val="002060"/>
                </a:solidFill>
                <a:sym typeface="Wingdings" panose="05000000000000000000" pitchFamily="2" charset="2"/>
              </a:rPr>
              <a:t> minh  </a:t>
            </a:r>
            <a:r>
              <a:rPr lang="en-US" altLang="en-US" sz="2400" dirty="0" err="1">
                <a:solidFill>
                  <a:srgbClr val="002060"/>
                </a:solidFill>
                <a:sym typeface="Wingdings" panose="05000000000000000000" pitchFamily="2" charset="2"/>
              </a:rPr>
              <a:t>quản</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trị</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và</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điều</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hành</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dựa</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trên</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hạ</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tầng</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số</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và</a:t>
            </a:r>
            <a:r>
              <a:rPr lang="en-US" altLang="en-US" sz="2400" dirty="0">
                <a:solidFill>
                  <a:srgbClr val="002060"/>
                </a:solidFill>
                <a:sym typeface="Wingdings" panose="05000000000000000000" pitchFamily="2" charset="2"/>
              </a:rPr>
              <a:t> internet  </a:t>
            </a:r>
            <a:r>
              <a:rPr lang="en-US" altLang="en-US" sz="2400" dirty="0" err="1">
                <a:solidFill>
                  <a:srgbClr val="002060"/>
                </a:solidFill>
                <a:sym typeface="Wingdings" panose="05000000000000000000" pitchFamily="2" charset="2"/>
              </a:rPr>
              <a:t>dân</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chủ</a:t>
            </a:r>
            <a:r>
              <a:rPr lang="en-US" altLang="en-US" sz="2400" dirty="0">
                <a:solidFill>
                  <a:srgbClr val="002060"/>
                </a:solidFill>
                <a:sym typeface="Wingdings" panose="05000000000000000000" pitchFamily="2" charset="2"/>
              </a:rPr>
              <a:t>, minh </a:t>
            </a:r>
            <a:r>
              <a:rPr lang="en-US" altLang="en-US" sz="2400" dirty="0" err="1">
                <a:solidFill>
                  <a:srgbClr val="002060"/>
                </a:solidFill>
                <a:sym typeface="Wingdings" panose="05000000000000000000" pitchFamily="2" charset="2"/>
              </a:rPr>
              <a:t>bạch</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hiệu</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quả</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hơn</a:t>
            </a:r>
            <a:endParaRPr lang="en-US" altLang="en-US" sz="2400" dirty="0">
              <a:solidFill>
                <a:srgbClr val="002060"/>
              </a:solidFill>
              <a:sym typeface="Wingdings" panose="05000000000000000000" pitchFamily="2" charset="2"/>
            </a:endParaRPr>
          </a:p>
          <a:p>
            <a:pPr algn="just">
              <a:buFont typeface="Arial"/>
              <a:buChar char="•"/>
            </a:pPr>
            <a:r>
              <a:rPr lang="en-US" altLang="en-US" sz="2400" dirty="0" err="1">
                <a:solidFill>
                  <a:srgbClr val="002060"/>
                </a:solidFill>
                <a:sym typeface="Wingdings" panose="05000000000000000000" pitchFamily="2" charset="2"/>
              </a:rPr>
              <a:t>Thay</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đổi</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cách</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thức</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thiết</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kế</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tiếp</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thị</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và</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cung</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ứng</a:t>
            </a:r>
            <a:r>
              <a:rPr lang="en-US" altLang="en-US" sz="2400" dirty="0">
                <a:solidFill>
                  <a:srgbClr val="002060"/>
                </a:solidFill>
                <a:sym typeface="Wingdings" panose="05000000000000000000" pitchFamily="2" charset="2"/>
              </a:rPr>
              <a:t> HHDV, </a:t>
            </a:r>
            <a:r>
              <a:rPr lang="en-US" altLang="en-US" sz="2400" dirty="0" err="1">
                <a:solidFill>
                  <a:srgbClr val="002060"/>
                </a:solidFill>
                <a:sym typeface="Wingdings" panose="05000000000000000000" pitchFamily="2" charset="2"/>
              </a:rPr>
              <a:t>bắt</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nhịp</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với</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không</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gian</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số</a:t>
            </a:r>
            <a:r>
              <a:rPr lang="en-US" altLang="en-US" sz="2400" dirty="0">
                <a:solidFill>
                  <a:srgbClr val="002060"/>
                </a:solidFill>
                <a:sym typeface="Wingdings" panose="05000000000000000000" pitchFamily="2" charset="2"/>
              </a:rPr>
              <a:t>  </a:t>
            </a:r>
            <a:r>
              <a:rPr lang="en-US" altLang="en-US" sz="2400" dirty="0" err="1">
                <a:solidFill>
                  <a:srgbClr val="002060"/>
                </a:solidFill>
                <a:sym typeface="Wingdings" panose="05000000000000000000" pitchFamily="2" charset="2"/>
              </a:rPr>
              <a:t>nguồn</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lực</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chủ</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yếu</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là</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công</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nghệ</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trí</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tuệ</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đổi</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mới</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sáng</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tạo</a:t>
            </a:r>
            <a:r>
              <a:rPr lang="en-US" altLang="en-US" sz="2400" dirty="0">
                <a:solidFill>
                  <a:srgbClr val="002060"/>
                </a:solidFill>
                <a:sym typeface="Wingdings" panose="05000000000000000000" pitchFamily="2" charset="2"/>
              </a:rPr>
              <a:t>  </a:t>
            </a:r>
            <a:r>
              <a:rPr lang="en-US" altLang="en-US" sz="2400" dirty="0" err="1">
                <a:solidFill>
                  <a:srgbClr val="002060"/>
                </a:solidFill>
                <a:sym typeface="Wingdings" panose="05000000000000000000" pitchFamily="2" charset="2"/>
              </a:rPr>
              <a:t>dựa</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trên</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phần</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mềm</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và</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quy</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trình</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quản</a:t>
            </a:r>
            <a:r>
              <a:rPr lang="en-US" altLang="en-US" sz="2400" dirty="0">
                <a:solidFill>
                  <a:srgbClr val="002060"/>
                </a:solidFill>
                <a:sym typeface="Wingdings" panose="05000000000000000000" pitchFamily="2" charset="2"/>
              </a:rPr>
              <a:t> </a:t>
            </a:r>
            <a:r>
              <a:rPr lang="en-US" altLang="en-US" sz="2400" dirty="0" err="1">
                <a:solidFill>
                  <a:srgbClr val="002060"/>
                </a:solidFill>
                <a:sym typeface="Wingdings" panose="05000000000000000000" pitchFamily="2" charset="2"/>
              </a:rPr>
              <a:t>lý</a:t>
            </a:r>
            <a:endParaRPr lang="en-US" altLang="en-US" sz="2400" dirty="0">
              <a:solidFill>
                <a:srgbClr val="002060"/>
              </a:solidFill>
              <a:sym typeface="Wingdings" panose="05000000000000000000" pitchFamily="2" charset="2"/>
            </a:endParaRPr>
          </a:p>
          <a:p>
            <a:pPr algn="just">
              <a:buFont typeface="Arial"/>
              <a:buChar char="•"/>
            </a:pPr>
            <a:r>
              <a:rPr lang="en-US" altLang="en-US" sz="2400" dirty="0" err="1">
                <a:solidFill>
                  <a:srgbClr val="FF0000"/>
                </a:solidFill>
                <a:sym typeface="Wingdings" panose="05000000000000000000" pitchFamily="2" charset="2"/>
              </a:rPr>
              <a:t>Thách</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thức</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lớn</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nhất</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cho</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các</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quốc</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gia</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là</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sự</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chênh</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lệch</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về</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tính</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chất</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và</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trình</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độ</a:t>
            </a:r>
            <a:r>
              <a:rPr lang="en-US" altLang="en-US" sz="2400" dirty="0">
                <a:solidFill>
                  <a:srgbClr val="FF0000"/>
                </a:solidFill>
                <a:sym typeface="Wingdings" panose="05000000000000000000" pitchFamily="2" charset="2"/>
              </a:rPr>
              <a:t> </a:t>
            </a:r>
            <a:r>
              <a:rPr lang="en-US" altLang="en-US" sz="2400" dirty="0" err="1">
                <a:solidFill>
                  <a:srgbClr val="FF0000"/>
                </a:solidFill>
                <a:sym typeface="Wingdings" panose="05000000000000000000" pitchFamily="2" charset="2"/>
              </a:rPr>
              <a:t>của</a:t>
            </a:r>
            <a:r>
              <a:rPr lang="en-US" altLang="en-US" sz="2400" dirty="0">
                <a:solidFill>
                  <a:srgbClr val="FF0000"/>
                </a:solidFill>
                <a:sym typeface="Wingdings" panose="05000000000000000000" pitchFamily="2" charset="2"/>
              </a:rPr>
              <a:t> LỰC LƯỢNG SẢN XUẤT</a:t>
            </a:r>
          </a:p>
        </p:txBody>
      </p:sp>
    </p:spTree>
    <p:extLst>
      <p:ext uri="{BB962C8B-B14F-4D97-AF65-F5344CB8AC3E}">
        <p14:creationId xmlns:p14="http://schemas.microsoft.com/office/powerpoint/2010/main" val="3606059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3"/>
          <p:cNvSpPr txBox="1">
            <a:spLocks noChangeArrowheads="1"/>
          </p:cNvSpPr>
          <p:nvPr/>
        </p:nvSpPr>
        <p:spPr bwMode="black">
          <a:xfrm>
            <a:off x="967409" y="1372641"/>
            <a:ext cx="7216705" cy="50040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buFont typeface="Wingdings" panose="05000000000000000000" pitchFamily="2" charset="2"/>
              <a:buChar char="§"/>
            </a:pPr>
            <a:r>
              <a:rPr lang="en-US" sz="2400" i="1" dirty="0">
                <a:solidFill>
                  <a:srgbClr val="FF0000"/>
                </a:solidFill>
                <a:latin typeface="Arial" panose="020B0604020202020204" pitchFamily="34" charset="0"/>
                <a:cs typeface="Arial" panose="020B0604020202020204" pitchFamily="34" charset="0"/>
              </a:rPr>
              <a:t>Theo LHQ,</a:t>
            </a:r>
            <a:r>
              <a:rPr lang="en-US" sz="2400" dirty="0">
                <a:solidFill>
                  <a:srgbClr val="002060"/>
                </a:solidFill>
                <a:latin typeface="Arial" panose="020B0604020202020204" pitchFamily="34" charset="0"/>
                <a:cs typeface="Arial" panose="020B0604020202020204" pitchFamily="34" charset="0"/>
              </a:rPr>
              <a:t> </a:t>
            </a:r>
            <a:r>
              <a:rPr lang="vi-VN" sz="2400" dirty="0">
                <a:solidFill>
                  <a:srgbClr val="002060"/>
                </a:solidFill>
              </a:rPr>
              <a:t>CNH là 1 quá trình phát triển kinh tế trong đó 1 bộ phận nguồn lực quốc gia ngày càng lớn được huy động để xây dựng cơ cấu kinh tế nhiều ngành với công nghệ hiện đại nhằm tạo ra TLSX, hàng tiêu dùng có khả năng đảm bảo nhịp độ tăng trưởng cao trong toàn bộ nền kinh tế và bảo đảm tiến bộ xã hội</a:t>
            </a:r>
            <a:endParaRPr lang="en-US" altLang="en-US" sz="2400" dirty="0">
              <a:solidFill>
                <a:srgbClr val="002060"/>
              </a:solidFill>
              <a:latin typeface="Arial" panose="020B0604020202020204" pitchFamily="34" charset="0"/>
              <a:cs typeface="Arial" panose="020B0604020202020204" pitchFamily="34" charset="0"/>
            </a:endParaRPr>
          </a:p>
          <a:p>
            <a:pPr algn="just">
              <a:lnSpc>
                <a:spcPct val="110000"/>
              </a:lnSpc>
              <a:buFont typeface="Wingdings" panose="05000000000000000000" pitchFamily="2" charset="2"/>
              <a:buChar char="§"/>
            </a:pPr>
            <a:r>
              <a:rPr lang="en-US" altLang="en-US" sz="2400" i="1" dirty="0" err="1">
                <a:solidFill>
                  <a:srgbClr val="FF0000"/>
                </a:solidFill>
                <a:latin typeface="Arial" panose="020B0604020202020204" pitchFamily="34" charset="0"/>
                <a:cs typeface="Arial" panose="020B0604020202020204" pitchFamily="34" charset="0"/>
              </a:rPr>
              <a:t>Ở</a:t>
            </a:r>
            <a:r>
              <a:rPr lang="en-US" altLang="en-US" sz="2400" i="1" dirty="0">
                <a:solidFill>
                  <a:srgbClr val="FF0000"/>
                </a:solidFill>
                <a:latin typeface="Arial" panose="020B0604020202020204" pitchFamily="34" charset="0"/>
                <a:cs typeface="Arial" panose="020B0604020202020204" pitchFamily="34" charset="0"/>
              </a:rPr>
              <a:t> VN,</a:t>
            </a:r>
            <a:r>
              <a:rPr lang="en-US" altLang="en-US" sz="2400" dirty="0">
                <a:solidFill>
                  <a:srgbClr val="002060"/>
                </a:solidFill>
                <a:latin typeface="Arial" panose="020B0604020202020204" pitchFamily="34" charset="0"/>
                <a:cs typeface="Arial" panose="020B0604020202020204" pitchFamily="34" charset="0"/>
              </a:rPr>
              <a:t> CNH </a:t>
            </a:r>
            <a:r>
              <a:rPr lang="en-US" altLang="en-US" sz="2400" dirty="0" err="1">
                <a:solidFill>
                  <a:srgbClr val="002060"/>
                </a:solidFill>
                <a:latin typeface="Arial" panose="020B0604020202020204" pitchFamily="34" charset="0"/>
                <a:cs typeface="Arial" panose="020B0604020202020204" pitchFamily="34" charset="0"/>
              </a:rPr>
              <a:t>là</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quá</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trình</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chuyển</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đổi</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nền</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sản</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xuất</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xã</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hội</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từ</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dựa</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trên</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lao</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động</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thủ</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công</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là</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chính</a:t>
            </a:r>
            <a:r>
              <a:rPr lang="en-US" altLang="en-US" sz="2400" dirty="0">
                <a:solidFill>
                  <a:srgbClr val="002060"/>
                </a:solidFill>
                <a:latin typeface="Arial" panose="020B0604020202020204" pitchFamily="34" charset="0"/>
                <a:cs typeface="Arial" panose="020B0604020202020204" pitchFamily="34" charset="0"/>
              </a:rPr>
              <a:t> sang </a:t>
            </a:r>
            <a:r>
              <a:rPr lang="en-US" altLang="en-US" sz="2400" dirty="0" err="1">
                <a:solidFill>
                  <a:srgbClr val="002060"/>
                </a:solidFill>
                <a:latin typeface="Arial" panose="020B0604020202020204" pitchFamily="34" charset="0"/>
                <a:cs typeface="Arial" panose="020B0604020202020204" pitchFamily="34" charset="0"/>
              </a:rPr>
              <a:t>nền</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sản</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xuất</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xã</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hội</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dựa</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chủ</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yếu</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trên</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lao</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động</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bằng</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máy</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err="1">
                <a:solidFill>
                  <a:srgbClr val="FF0000"/>
                </a:solidFill>
                <a:latin typeface="Arial" panose="020B0604020202020204" pitchFamily="34" charset="0"/>
                <a:cs typeface="Arial" panose="020B0604020202020204" pitchFamily="34" charset="0"/>
              </a:rPr>
              <a:t>móc</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nhằm</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tạo</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ra</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năng</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suất</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lao</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động</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xã</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hội</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cao</a:t>
            </a:r>
            <a:r>
              <a:rPr lang="en-US" altLang="en-US" sz="2400" dirty="0">
                <a:solidFill>
                  <a:srgbClr val="002060"/>
                </a:solidFill>
                <a:latin typeface="Arial" panose="020B0604020202020204" pitchFamily="34" charset="0"/>
                <a:cs typeface="Arial" panose="020B0604020202020204" pitchFamily="34" charset="0"/>
              </a:rPr>
              <a:t>.</a:t>
            </a:r>
          </a:p>
        </p:txBody>
      </p:sp>
      <p:sp>
        <p:nvSpPr>
          <p:cNvPr id="9" name="Rectangle 2"/>
          <p:cNvSpPr>
            <a:spLocks noGrp="1" noChangeArrowheads="1"/>
          </p:cNvSpPr>
          <p:nvPr>
            <p:ph type="title"/>
          </p:nvPr>
        </p:nvSpPr>
        <p:spPr>
          <a:xfrm>
            <a:off x="628650" y="296855"/>
            <a:ext cx="7886700" cy="1109566"/>
          </a:xfrm>
        </p:spPr>
        <p:txBody>
          <a:bodyPr>
            <a:norm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Khái</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quát</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về</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Công</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nghiệp</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hóa</a:t>
            </a:r>
            <a:endParaRPr lang="en-US" altLang="en-US" sz="3200" b="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167233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3"/>
          <p:cNvSpPr txBox="1">
            <a:spLocks noChangeArrowheads="1"/>
          </p:cNvSpPr>
          <p:nvPr/>
        </p:nvSpPr>
        <p:spPr bwMode="black">
          <a:xfrm>
            <a:off x="4426627" y="1960569"/>
            <a:ext cx="4244554" cy="3869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40000"/>
              </a:lnSpc>
              <a:buFont typeface="Wingdings" charset="2"/>
              <a:buChar char="§"/>
            </a:pPr>
            <a:r>
              <a:rPr lang="pt-BR" sz="2800" dirty="0" err="1">
                <a:solidFill>
                  <a:srgbClr val="002060"/>
                </a:solidFill>
                <a:latin typeface="Arial" panose="020B0604020202020204" pitchFamily="34" charset="0"/>
                <a:cs typeface="Arial" panose="020B0604020202020204" pitchFamily="34" charset="0"/>
              </a:rPr>
              <a:t>Mô</a:t>
            </a:r>
            <a:r>
              <a:rPr lang="pt-BR" sz="2800" dirty="0">
                <a:solidFill>
                  <a:srgbClr val="002060"/>
                </a:solidFill>
                <a:latin typeface="Arial" panose="020B0604020202020204" pitchFamily="34" charset="0"/>
                <a:cs typeface="Arial" panose="020B0604020202020204" pitchFamily="34" charset="0"/>
              </a:rPr>
              <a:t> </a:t>
            </a:r>
            <a:r>
              <a:rPr lang="pt-BR" sz="2800" dirty="0" err="1">
                <a:solidFill>
                  <a:srgbClr val="002060"/>
                </a:solidFill>
                <a:latin typeface="Arial" panose="020B0604020202020204" pitchFamily="34" charset="0"/>
                <a:cs typeface="Arial" panose="020B0604020202020204" pitchFamily="34" charset="0"/>
              </a:rPr>
              <a:t>hình</a:t>
            </a:r>
            <a:r>
              <a:rPr lang="pt-BR" sz="2800" dirty="0">
                <a:solidFill>
                  <a:srgbClr val="002060"/>
                </a:solidFill>
                <a:latin typeface="Arial" panose="020B0604020202020204" pitchFamily="34" charset="0"/>
                <a:cs typeface="Arial" panose="020B0604020202020204" pitchFamily="34" charset="0"/>
              </a:rPr>
              <a:t> CNH </a:t>
            </a:r>
            <a:r>
              <a:rPr lang="pt-BR" sz="2800" dirty="0" err="1">
                <a:solidFill>
                  <a:srgbClr val="002060"/>
                </a:solidFill>
                <a:latin typeface="Arial" panose="020B0604020202020204" pitchFamily="34" charset="0"/>
                <a:cs typeface="Arial" panose="020B0604020202020204" pitchFamily="34" charset="0"/>
              </a:rPr>
              <a:t>cổ</a:t>
            </a:r>
            <a:r>
              <a:rPr lang="pt-BR" sz="2800" dirty="0">
                <a:solidFill>
                  <a:srgbClr val="002060"/>
                </a:solidFill>
                <a:latin typeface="Arial" panose="020B0604020202020204" pitchFamily="34" charset="0"/>
                <a:cs typeface="Arial" panose="020B0604020202020204" pitchFamily="34" charset="0"/>
              </a:rPr>
              <a:t> </a:t>
            </a:r>
            <a:r>
              <a:rPr lang="pt-BR" sz="2800" dirty="0" err="1">
                <a:solidFill>
                  <a:srgbClr val="002060"/>
                </a:solidFill>
                <a:latin typeface="Arial" panose="020B0604020202020204" pitchFamily="34" charset="0"/>
                <a:cs typeface="Arial" panose="020B0604020202020204" pitchFamily="34" charset="0"/>
              </a:rPr>
              <a:t>điển</a:t>
            </a:r>
            <a:endParaRPr lang="pt-BR" sz="2800" dirty="0">
              <a:solidFill>
                <a:srgbClr val="002060"/>
              </a:solidFill>
              <a:latin typeface="Arial" panose="020B0604020202020204" pitchFamily="34" charset="0"/>
              <a:cs typeface="Arial" panose="020B0604020202020204" pitchFamily="34" charset="0"/>
            </a:endParaRPr>
          </a:p>
          <a:p>
            <a:pPr algn="just">
              <a:lnSpc>
                <a:spcPct val="140000"/>
              </a:lnSpc>
              <a:buFont typeface="Wingdings" charset="2"/>
              <a:buChar char="§"/>
            </a:pPr>
            <a:r>
              <a:rPr lang="pt-BR"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Mô</a:t>
            </a:r>
            <a:r>
              <a:rPr lang="pt-BR"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pt-BR"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hình</a:t>
            </a:r>
            <a:r>
              <a:rPr lang="pt-BR"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CNH </a:t>
            </a:r>
            <a:r>
              <a:rPr lang="pt-BR"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kiểu</a:t>
            </a:r>
            <a:r>
              <a:rPr lang="pt-BR"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pt-BR"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Liên</a:t>
            </a:r>
            <a:r>
              <a:rPr lang="pt-BR"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Xô (</a:t>
            </a:r>
            <a:r>
              <a:rPr lang="pt-BR"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cũ</a:t>
            </a:r>
            <a:r>
              <a:rPr lang="pt-BR"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a:t>
            </a:r>
          </a:p>
          <a:p>
            <a:pPr algn="just">
              <a:lnSpc>
                <a:spcPct val="140000"/>
              </a:lnSpc>
              <a:buFont typeface="Wingdings" charset="2"/>
              <a:buChar char="§"/>
            </a:pPr>
            <a:r>
              <a:rPr lang="vi-VN" altLang="en-US" sz="2800" dirty="0">
                <a:solidFill>
                  <a:srgbClr val="002060"/>
                </a:solidFill>
                <a:sym typeface="Wingdings" panose="05000000000000000000" pitchFamily="2" charset="2"/>
              </a:rPr>
              <a:t>Mô hình </a:t>
            </a:r>
            <a:r>
              <a:rPr lang="en-US" altLang="en-US" sz="2800" dirty="0">
                <a:solidFill>
                  <a:srgbClr val="002060"/>
                </a:solidFill>
                <a:sym typeface="Wingdings" panose="05000000000000000000" pitchFamily="2" charset="2"/>
              </a:rPr>
              <a:t>CNH </a:t>
            </a:r>
            <a:r>
              <a:rPr lang="vi-VN" altLang="en-US" sz="2800" dirty="0">
                <a:solidFill>
                  <a:srgbClr val="002060"/>
                </a:solidFill>
                <a:sym typeface="Wingdings" panose="05000000000000000000" pitchFamily="2" charset="2"/>
              </a:rPr>
              <a:t>của Nhật Bản và các nước công nghiệp mới (NICs)</a:t>
            </a:r>
            <a:endParaRPr lang="en-US" altLang="en-US" sz="2800" dirty="0">
              <a:solidFill>
                <a:srgbClr val="002060"/>
              </a:solidFill>
              <a:sym typeface="Wingdings" panose="05000000000000000000" pitchFamily="2" charset="2"/>
            </a:endParaRPr>
          </a:p>
        </p:txBody>
      </p:sp>
      <p:sp>
        <p:nvSpPr>
          <p:cNvPr id="9" name="Rectangle 2"/>
          <p:cNvSpPr>
            <a:spLocks noGrp="1" noChangeArrowheads="1"/>
          </p:cNvSpPr>
          <p:nvPr>
            <p:ph type="title"/>
          </p:nvPr>
        </p:nvSpPr>
        <p:spPr>
          <a:xfrm>
            <a:off x="628650" y="365126"/>
            <a:ext cx="7886700" cy="1136875"/>
          </a:xfrm>
        </p:spPr>
        <p:txBody>
          <a:bodyPr>
            <a:norm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Các</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mô</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hình</a:t>
            </a:r>
            <a:r>
              <a:rPr lang="en-US" altLang="en-US" sz="3200" b="1" dirty="0">
                <a:solidFill>
                  <a:srgbClr val="002060"/>
                </a:solidFill>
                <a:latin typeface="Arial" panose="020B0604020202020204" pitchFamily="34" charset="0"/>
                <a:cs typeface="Arial" panose="020B0604020202020204" pitchFamily="34" charset="0"/>
              </a:rPr>
              <a:t> CNH </a:t>
            </a:r>
            <a:r>
              <a:rPr lang="en-US" altLang="en-US" sz="3200" b="1" dirty="0" err="1">
                <a:solidFill>
                  <a:srgbClr val="002060"/>
                </a:solidFill>
                <a:latin typeface="Arial" panose="020B0604020202020204" pitchFamily="34" charset="0"/>
                <a:cs typeface="Arial" panose="020B0604020202020204" pitchFamily="34" charset="0"/>
              </a:rPr>
              <a:t>tiêu</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biểu</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trên</a:t>
            </a:r>
            <a:r>
              <a:rPr lang="en-US" altLang="en-US" sz="3200" b="1" dirty="0">
                <a:solidFill>
                  <a:srgbClr val="002060"/>
                </a:solidFill>
                <a:latin typeface="Arial" panose="020B0604020202020204" pitchFamily="34" charset="0"/>
                <a:cs typeface="Arial" panose="020B0604020202020204" pitchFamily="34" charset="0"/>
              </a:rPr>
              <a:t> TG</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887" y="1964013"/>
            <a:ext cx="3392558" cy="3857625"/>
          </a:xfrm>
          <a:prstGeom prst="rect">
            <a:avLst/>
          </a:prstGeom>
        </p:spPr>
      </p:pic>
    </p:spTree>
    <p:extLst>
      <p:ext uri="{BB962C8B-B14F-4D97-AF65-F5344CB8AC3E}">
        <p14:creationId xmlns:p14="http://schemas.microsoft.com/office/powerpoint/2010/main" val="268176161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3"/>
          <p:cNvSpPr txBox="1">
            <a:spLocks noChangeArrowheads="1"/>
          </p:cNvSpPr>
          <p:nvPr/>
        </p:nvSpPr>
        <p:spPr bwMode="black">
          <a:xfrm>
            <a:off x="518905" y="1174292"/>
            <a:ext cx="8206897" cy="3558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buFont typeface="Wingdings" panose="05000000000000000000" pitchFamily="2" charset="2"/>
              <a:buChar char="v"/>
            </a:pPr>
            <a:r>
              <a:rPr lang="vi-VN" altLang="en-US" sz="2400" dirty="0">
                <a:solidFill>
                  <a:srgbClr val="002060"/>
                </a:solidFill>
              </a:rPr>
              <a:t>Nước Anh với cuộc cách mạng công nghiệp lần thứ nhất, nổ ra vào giữa thế kỷ XVIII</a:t>
            </a:r>
            <a:endParaRPr lang="en-US" altLang="en-US" sz="2400" dirty="0">
              <a:solidFill>
                <a:srgbClr val="002060"/>
              </a:solidFill>
            </a:endParaRPr>
          </a:p>
          <a:p>
            <a:pPr algn="just">
              <a:lnSpc>
                <a:spcPct val="110000"/>
              </a:lnSpc>
              <a:buFont typeface="Wingdings" panose="05000000000000000000" pitchFamily="2" charset="2"/>
              <a:buChar char="v"/>
            </a:pPr>
            <a:r>
              <a:rPr lang="pt-BR" sz="2400" dirty="0" err="1">
                <a:solidFill>
                  <a:srgbClr val="002060"/>
                </a:solidFill>
                <a:latin typeface="Arial" panose="020B0604020202020204" pitchFamily="34" charset="0"/>
                <a:cs typeface="Arial" panose="020B0604020202020204" pitchFamily="34" charset="0"/>
              </a:rPr>
              <a:t>Bắt</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đầu</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từ</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ngành</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công</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nghiệp</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nhẹ</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dệt</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là</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những</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ngành</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đòi</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hỏi</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vốn</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ít</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thu</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lợi</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nhuận</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nhanh</a:t>
            </a:r>
            <a:endParaRPr lang="pt-BR" sz="2400" dirty="0">
              <a:solidFill>
                <a:srgbClr val="002060"/>
              </a:solidFill>
              <a:latin typeface="Arial" panose="020B0604020202020204" pitchFamily="34" charset="0"/>
              <a:cs typeface="Arial" panose="020B0604020202020204" pitchFamily="34" charset="0"/>
            </a:endParaRPr>
          </a:p>
          <a:p>
            <a:pPr algn="just">
              <a:lnSpc>
                <a:spcPct val="110000"/>
              </a:lnSpc>
              <a:buFont typeface="Wingdings" panose="05000000000000000000" pitchFamily="2" charset="2"/>
              <a:buChar char="v"/>
            </a:pPr>
            <a:r>
              <a:rPr lang="pt-BR" sz="2400" dirty="0" err="1">
                <a:solidFill>
                  <a:srgbClr val="002060"/>
                </a:solidFill>
                <a:latin typeface="Arial" panose="020B0604020202020204" pitchFamily="34" charset="0"/>
                <a:cs typeface="Arial" panose="020B0604020202020204" pitchFamily="34" charset="0"/>
              </a:rPr>
              <a:t>Nguồn</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vốn</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chủ</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yếu</a:t>
            </a:r>
            <a:r>
              <a:rPr lang="pt-BR" sz="2400" dirty="0">
                <a:solidFill>
                  <a:srgbClr val="002060"/>
                </a:solidFill>
                <a:latin typeface="Arial" panose="020B0604020202020204" pitchFamily="34" charset="0"/>
                <a:cs typeface="Arial" panose="020B0604020202020204" pitchFamily="34" charset="0"/>
              </a:rPr>
              <a:t> do </a:t>
            </a:r>
            <a:r>
              <a:rPr lang="pt-BR" sz="2400" dirty="0" err="1">
                <a:solidFill>
                  <a:srgbClr val="002060"/>
                </a:solidFill>
                <a:latin typeface="Arial" panose="020B0604020202020204" pitchFamily="34" charset="0"/>
                <a:cs typeface="Arial" panose="020B0604020202020204" pitchFamily="34" charset="0"/>
              </a:rPr>
              <a:t>khai</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thác</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lao</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động</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làm</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thuê</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làm</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phá</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sản</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những</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người</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sản</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xuất</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nhỏ</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trong</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nông</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nghiệp</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đồng</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thời</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gắn</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liền</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với</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việc</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xâm</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chiếm</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và</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cướp</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bóc</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thuộc</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địa</a:t>
            </a:r>
            <a:endParaRPr lang="pt-BR" sz="2400" dirty="0">
              <a:solidFill>
                <a:srgbClr val="002060"/>
              </a:solidFill>
              <a:latin typeface="Arial" panose="020B0604020202020204" pitchFamily="34" charset="0"/>
              <a:cs typeface="Arial" panose="020B0604020202020204" pitchFamily="34" charset="0"/>
            </a:endParaRPr>
          </a:p>
          <a:p>
            <a:pPr algn="just">
              <a:lnSpc>
                <a:spcPct val="110000"/>
              </a:lnSpc>
              <a:buFont typeface="Wingdings" panose="05000000000000000000" pitchFamily="2" charset="2"/>
              <a:buChar char="v"/>
            </a:pPr>
            <a:r>
              <a:rPr lang="pt-BR" sz="2400" dirty="0" err="1">
                <a:solidFill>
                  <a:srgbClr val="002060"/>
                </a:solidFill>
                <a:latin typeface="Arial" panose="020B0604020202020204" pitchFamily="34" charset="0"/>
                <a:cs typeface="Arial" panose="020B0604020202020204" pitchFamily="34" charset="0"/>
              </a:rPr>
              <a:t>Kéo</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dài</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từ</a:t>
            </a:r>
            <a:r>
              <a:rPr lang="pt-BR" sz="2400" dirty="0">
                <a:solidFill>
                  <a:srgbClr val="002060"/>
                </a:solidFill>
                <a:latin typeface="Arial" panose="020B0604020202020204" pitchFamily="34" charset="0"/>
                <a:cs typeface="Arial" panose="020B0604020202020204" pitchFamily="34" charset="0"/>
              </a:rPr>
              <a:t> 60 – 80 </a:t>
            </a:r>
            <a:r>
              <a:rPr lang="pt-BR" sz="2400" dirty="0" err="1">
                <a:solidFill>
                  <a:srgbClr val="002060"/>
                </a:solidFill>
                <a:latin typeface="Arial" panose="020B0604020202020204" pitchFamily="34" charset="0"/>
                <a:cs typeface="Arial" panose="020B0604020202020204" pitchFamily="34" charset="0"/>
              </a:rPr>
              <a:t>năm</a:t>
            </a:r>
            <a:endParaRPr lang="pt-BR" sz="2400" dirty="0">
              <a:solidFill>
                <a:srgbClr val="002060"/>
              </a:solidFill>
              <a:latin typeface="Arial" panose="020B0604020202020204" pitchFamily="34" charset="0"/>
              <a:cs typeface="Arial" panose="020B0604020202020204" pitchFamily="34" charset="0"/>
            </a:endParaRPr>
          </a:p>
          <a:p>
            <a:pPr algn="just">
              <a:lnSpc>
                <a:spcPct val="110000"/>
              </a:lnSpc>
              <a:buFont typeface="Wingdings" panose="05000000000000000000" pitchFamily="2" charset="2"/>
              <a:buChar char="à"/>
            </a:pPr>
            <a:r>
              <a:rPr lang="pt-BR" altLang="en-US" sz="2400" dirty="0">
                <a:solidFill>
                  <a:srgbClr val="FF0000"/>
                </a:solidFill>
                <a:latin typeface="Arial" panose="020B0604020202020204" pitchFamily="34" charset="0"/>
                <a:cs typeface="Arial" panose="020B0604020202020204" pitchFamily="34" charset="0"/>
                <a:sym typeface="Wingdings" panose="05000000000000000000" pitchFamily="2" charset="2"/>
              </a:rPr>
              <a:t>TƯ BẢN &gt;&lt; LAO ĐỘNG</a:t>
            </a:r>
          </a:p>
          <a:p>
            <a:pPr algn="just">
              <a:lnSpc>
                <a:spcPct val="110000"/>
              </a:lnSpc>
              <a:buFont typeface="Wingdings" panose="05000000000000000000" pitchFamily="2" charset="2"/>
              <a:buChar char="à"/>
            </a:pPr>
            <a:r>
              <a:rPr lang="pt-BR" altLang="en-US" sz="2400" dirty="0" err="1">
                <a:solidFill>
                  <a:srgbClr val="FF0000"/>
                </a:solidFill>
                <a:latin typeface="Arial" panose="020B0604020202020204" pitchFamily="34" charset="0"/>
                <a:cs typeface="Arial" panose="020B0604020202020204" pitchFamily="34" charset="0"/>
                <a:sym typeface="Wingdings" panose="05000000000000000000" pitchFamily="2" charset="2"/>
              </a:rPr>
              <a:t>Các</a:t>
            </a:r>
            <a:r>
              <a:rPr lang="pt-BR" altLang="en-US" sz="2400" dirty="0">
                <a:solidFill>
                  <a:srgbClr val="FF0000"/>
                </a:solidFill>
                <a:latin typeface="Arial" panose="020B0604020202020204" pitchFamily="34" charset="0"/>
                <a:cs typeface="Arial" panose="020B0604020202020204" pitchFamily="34" charset="0"/>
                <a:sym typeface="Wingdings" panose="05000000000000000000" pitchFamily="2" charset="2"/>
              </a:rPr>
              <a:t> </a:t>
            </a:r>
            <a:r>
              <a:rPr lang="pt-BR" altLang="en-US" sz="2400" dirty="0" err="1">
                <a:solidFill>
                  <a:srgbClr val="FF0000"/>
                </a:solidFill>
                <a:latin typeface="Arial" panose="020B0604020202020204" pitchFamily="34" charset="0"/>
                <a:cs typeface="Arial" panose="020B0604020202020204" pitchFamily="34" charset="0"/>
                <a:sym typeface="Wingdings" panose="05000000000000000000" pitchFamily="2" charset="2"/>
              </a:rPr>
              <a:t>nước</a:t>
            </a:r>
            <a:r>
              <a:rPr lang="pt-BR" altLang="en-US" sz="2400" dirty="0">
                <a:solidFill>
                  <a:srgbClr val="FF0000"/>
                </a:solidFill>
                <a:latin typeface="Arial" panose="020B0604020202020204" pitchFamily="34" charset="0"/>
                <a:cs typeface="Arial" panose="020B0604020202020204" pitchFamily="34" charset="0"/>
                <a:sym typeface="Wingdings" panose="05000000000000000000" pitchFamily="2" charset="2"/>
              </a:rPr>
              <a:t> TƯ BẢN </a:t>
            </a:r>
            <a:r>
              <a:rPr lang="pt-BR" altLang="en-US" sz="2400" dirty="0" err="1">
                <a:solidFill>
                  <a:srgbClr val="FF0000"/>
                </a:solidFill>
                <a:latin typeface="Arial" panose="020B0604020202020204" pitchFamily="34" charset="0"/>
                <a:cs typeface="Arial" panose="020B0604020202020204" pitchFamily="34" charset="0"/>
                <a:sym typeface="Wingdings" panose="05000000000000000000" pitchFamily="2" charset="2"/>
              </a:rPr>
              <a:t>với</a:t>
            </a:r>
            <a:r>
              <a:rPr lang="pt-BR" altLang="en-US" sz="2400" dirty="0">
                <a:solidFill>
                  <a:srgbClr val="FF0000"/>
                </a:solidFill>
                <a:latin typeface="Arial" panose="020B0604020202020204" pitchFamily="34" charset="0"/>
                <a:cs typeface="Arial" panose="020B0604020202020204" pitchFamily="34" charset="0"/>
                <a:sym typeface="Wingdings" panose="05000000000000000000" pitchFamily="2" charset="2"/>
              </a:rPr>
              <a:t> </a:t>
            </a:r>
            <a:r>
              <a:rPr lang="pt-BR" altLang="en-US" sz="2400" dirty="0" err="1">
                <a:solidFill>
                  <a:srgbClr val="FF0000"/>
                </a:solidFill>
                <a:latin typeface="Arial" panose="020B0604020202020204" pitchFamily="34" charset="0"/>
                <a:cs typeface="Arial" panose="020B0604020202020204" pitchFamily="34" charset="0"/>
                <a:sym typeface="Wingdings" panose="05000000000000000000" pitchFamily="2" charset="2"/>
              </a:rPr>
              <a:t>nhau</a:t>
            </a:r>
            <a:endParaRPr lang="pt-BR" altLang="en-US" sz="2400" dirty="0">
              <a:solidFill>
                <a:srgbClr val="FF0000"/>
              </a:solidFill>
              <a:latin typeface="Arial" panose="020B0604020202020204" pitchFamily="34" charset="0"/>
              <a:cs typeface="Arial" panose="020B0604020202020204" pitchFamily="34" charset="0"/>
              <a:sym typeface="Wingdings" panose="05000000000000000000" pitchFamily="2" charset="2"/>
            </a:endParaRPr>
          </a:p>
          <a:p>
            <a:pPr algn="just">
              <a:lnSpc>
                <a:spcPct val="110000"/>
              </a:lnSpc>
              <a:buFont typeface="Wingdings" panose="05000000000000000000" pitchFamily="2" charset="2"/>
              <a:buChar char="à"/>
            </a:pPr>
            <a:r>
              <a:rPr lang="pt-BR" altLang="en-US" sz="2400" dirty="0">
                <a:solidFill>
                  <a:srgbClr val="FF0000"/>
                </a:solidFill>
                <a:latin typeface="Arial" panose="020B0604020202020204" pitchFamily="34" charset="0"/>
                <a:cs typeface="Arial" panose="020B0604020202020204" pitchFamily="34" charset="0"/>
                <a:sym typeface="Wingdings" panose="05000000000000000000" pitchFamily="2" charset="2"/>
              </a:rPr>
              <a:t>MẪU QUỐC &gt;&lt; THUỘC ĐỊA</a:t>
            </a:r>
          </a:p>
        </p:txBody>
      </p:sp>
      <p:sp>
        <p:nvSpPr>
          <p:cNvPr id="9" name="Rectangle 2"/>
          <p:cNvSpPr>
            <a:spLocks noGrp="1" noChangeArrowheads="1"/>
          </p:cNvSpPr>
          <p:nvPr>
            <p:ph type="title"/>
          </p:nvPr>
        </p:nvSpPr>
        <p:spPr>
          <a:xfrm>
            <a:off x="628650" y="119344"/>
            <a:ext cx="7886700" cy="1325563"/>
          </a:xfrm>
        </p:spPr>
        <p:txBody>
          <a:bodyPr>
            <a:norm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Mô</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hình</a:t>
            </a:r>
            <a:r>
              <a:rPr lang="en-US" altLang="en-US" sz="3200" b="1" dirty="0">
                <a:solidFill>
                  <a:srgbClr val="002060"/>
                </a:solidFill>
                <a:latin typeface="Arial" panose="020B0604020202020204" pitchFamily="34" charset="0"/>
                <a:cs typeface="Arial" panose="020B0604020202020204" pitchFamily="34" charset="0"/>
              </a:rPr>
              <a:t> CNH </a:t>
            </a:r>
            <a:r>
              <a:rPr lang="en-US" altLang="en-US" sz="3200" b="1" dirty="0" err="1">
                <a:solidFill>
                  <a:srgbClr val="002060"/>
                </a:solidFill>
                <a:latin typeface="Arial" panose="020B0604020202020204" pitchFamily="34" charset="0"/>
                <a:cs typeface="Arial" panose="020B0604020202020204" pitchFamily="34" charset="0"/>
              </a:rPr>
              <a:t>cổ</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điển</a:t>
            </a:r>
            <a:endParaRPr lang="en-US" altLang="en-US" sz="3200" b="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115776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3"/>
          <p:cNvSpPr txBox="1">
            <a:spLocks noChangeArrowheads="1"/>
          </p:cNvSpPr>
          <p:nvPr/>
        </p:nvSpPr>
        <p:spPr bwMode="black">
          <a:xfrm>
            <a:off x="600839" y="1051401"/>
            <a:ext cx="7974756" cy="54754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v"/>
            </a:pPr>
            <a:r>
              <a:rPr lang="vi-VN" altLang="en-US" sz="2400" dirty="0">
                <a:solidFill>
                  <a:srgbClr val="002060"/>
                </a:solidFill>
              </a:rPr>
              <a:t>Từ đầu những năm 1930 ở Liên Xô (cũ)</a:t>
            </a:r>
            <a:r>
              <a:rPr lang="en-US" altLang="en-US" sz="2400" dirty="0">
                <a:solidFill>
                  <a:srgbClr val="002060"/>
                </a:solidFill>
              </a:rPr>
              <a:t>, </a:t>
            </a:r>
            <a:r>
              <a:rPr lang="vi-VN" altLang="en-US" sz="2400" dirty="0">
                <a:solidFill>
                  <a:srgbClr val="002060"/>
                </a:solidFill>
              </a:rPr>
              <a:t>các nước XHCN ở Đông Âu (cũ) sau năm 1945 và một số nước đang phát triển đi theo con đường XHCN</a:t>
            </a:r>
            <a:r>
              <a:rPr lang="en-US" altLang="en-US" sz="2400" dirty="0">
                <a:solidFill>
                  <a:srgbClr val="002060"/>
                </a:solidFill>
              </a:rPr>
              <a:t> (</a:t>
            </a:r>
            <a:r>
              <a:rPr lang="vi-VN" altLang="en-US" sz="2400" dirty="0">
                <a:solidFill>
                  <a:srgbClr val="002060"/>
                </a:solidFill>
              </a:rPr>
              <a:t>Việt Nam</a:t>
            </a:r>
            <a:r>
              <a:rPr lang="en-US" altLang="en-US" sz="2400" dirty="0">
                <a:solidFill>
                  <a:srgbClr val="002060"/>
                </a:solidFill>
              </a:rPr>
              <a:t>)</a:t>
            </a:r>
            <a:r>
              <a:rPr lang="vi-VN" altLang="en-US" sz="2400" dirty="0">
                <a:solidFill>
                  <a:srgbClr val="002060"/>
                </a:solidFill>
              </a:rPr>
              <a:t> vào những năm 1960</a:t>
            </a:r>
            <a:endParaRPr lang="en-US" altLang="en-US" sz="2400" dirty="0">
              <a:solidFill>
                <a:srgbClr val="002060"/>
              </a:solidFill>
            </a:endParaRPr>
          </a:p>
          <a:p>
            <a:pPr algn="just">
              <a:buFont typeface="Wingdings" panose="05000000000000000000" pitchFamily="2" charset="2"/>
              <a:buChar char="v"/>
            </a:pPr>
            <a:r>
              <a:rPr lang="vi-VN" altLang="en-US" sz="2400" dirty="0">
                <a:solidFill>
                  <a:srgbClr val="002060"/>
                </a:solidFill>
                <a:cs typeface="Arial" panose="020B0604020202020204" pitchFamily="34" charset="0"/>
                <a:sym typeface="Wingdings" panose="05000000000000000000" pitchFamily="2" charset="2"/>
              </a:rPr>
              <a:t>Ưu tiên phát triển công nghiệp nặng</a:t>
            </a:r>
            <a:r>
              <a:rPr lang="en-US" altLang="en-US" sz="2400" dirty="0">
                <a:solidFill>
                  <a:srgbClr val="002060"/>
                </a:solidFill>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với</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sự</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cấp</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vốn</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của</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Nhà</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nước</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và</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cơ</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chế</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kế</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hoạch</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tập</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trung</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mệnh</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lệnh</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 </a:t>
            </a:r>
            <a:r>
              <a:rPr lang="vi-VN" altLang="en-US" sz="2400" dirty="0">
                <a:solidFill>
                  <a:srgbClr val="002060"/>
                </a:solidFill>
                <a:cs typeface="Arial" panose="020B0604020202020204" pitchFamily="34" charset="0"/>
                <a:sym typeface="Wingdings" panose="05000000000000000000" pitchFamily="2" charset="2"/>
              </a:rPr>
              <a:t>trong một thời gian ngắn các nước theo mô hình Liên Xô (cũ) đã xây dựng được hệ thống cơ sở vật chất - kỹ thuật to lớn</a:t>
            </a:r>
            <a:endParaRPr lang="en-US" altLang="en-US" sz="2400" dirty="0">
              <a:solidFill>
                <a:srgbClr val="002060"/>
              </a:solidFill>
              <a:cs typeface="Arial" panose="020B0604020202020204" pitchFamily="34" charset="0"/>
              <a:sym typeface="Wingdings" panose="05000000000000000000" pitchFamily="2" charset="2"/>
            </a:endParaRPr>
          </a:p>
          <a:p>
            <a:pPr algn="just">
              <a:buFont typeface="Wingdings" panose="05000000000000000000" pitchFamily="2" charset="2"/>
              <a:buChar char="v"/>
            </a:pPr>
            <a:r>
              <a:rPr lang="vi-VN" altLang="en-US" sz="2400" dirty="0">
                <a:solidFill>
                  <a:srgbClr val="FF0000"/>
                </a:solidFill>
                <a:cs typeface="Arial" panose="020B0604020202020204" pitchFamily="34" charset="0"/>
                <a:sym typeface="Wingdings" panose="05000000000000000000" pitchFamily="2" charset="2"/>
              </a:rPr>
              <a:t>Hệ thống cơ sở vật chất - kỹ thuật to lớn ở trình độ cơ khí hoá, đã không thích ứng được, làm kìm hãm việc ứng dụng những tiến bộ kỹ thuật mới, đồng thời với cơ chế kế hoạch hoá tập trung mệnh lệnh được duy trì quá lâu</a:t>
            </a:r>
            <a:r>
              <a:rPr lang="en-US" altLang="en-US" sz="2400" dirty="0">
                <a:solidFill>
                  <a:srgbClr val="FF0000"/>
                </a:solidFill>
                <a:cs typeface="Arial" panose="020B0604020202020204" pitchFamily="34" charset="0"/>
                <a:sym typeface="Wingdings" panose="05000000000000000000" pitchFamily="2" charset="2"/>
              </a:rPr>
              <a:t>  </a:t>
            </a:r>
            <a:r>
              <a:rPr lang="en-US" altLang="en-US" sz="2400" dirty="0" err="1">
                <a:solidFill>
                  <a:srgbClr val="FF0000"/>
                </a:solidFill>
                <a:latin typeface="Arial" panose="020B0604020202020204" pitchFamily="34" charset="0"/>
                <a:cs typeface="Arial" panose="020B0604020202020204" pitchFamily="34" charset="0"/>
                <a:sym typeface="Wingdings" panose="05000000000000000000" pitchFamily="2" charset="2"/>
              </a:rPr>
              <a:t>thất</a:t>
            </a:r>
            <a:r>
              <a:rPr lang="en-US" altLang="en-US" sz="2400" dirty="0">
                <a:solidFill>
                  <a:srgbClr val="FF000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FF0000"/>
                </a:solidFill>
                <a:latin typeface="Arial" panose="020B0604020202020204" pitchFamily="34" charset="0"/>
                <a:cs typeface="Arial" panose="020B0604020202020204" pitchFamily="34" charset="0"/>
                <a:sym typeface="Wingdings" panose="05000000000000000000" pitchFamily="2" charset="2"/>
              </a:rPr>
              <a:t>bại</a:t>
            </a:r>
            <a:endParaRPr lang="pt-BR" altLang="en-US" sz="2400" dirty="0">
              <a:solidFill>
                <a:srgbClr val="FF0000"/>
              </a:solidFill>
              <a:latin typeface="Arial" panose="020B0604020202020204" pitchFamily="34" charset="0"/>
              <a:cs typeface="Arial" panose="020B0604020202020204" pitchFamily="34" charset="0"/>
              <a:sym typeface="Wingdings" panose="05000000000000000000" pitchFamily="2" charset="2"/>
            </a:endParaRPr>
          </a:p>
        </p:txBody>
      </p:sp>
      <p:sp>
        <p:nvSpPr>
          <p:cNvPr id="9" name="Rectangle 2"/>
          <p:cNvSpPr>
            <a:spLocks noGrp="1" noChangeArrowheads="1"/>
          </p:cNvSpPr>
          <p:nvPr>
            <p:ph type="title"/>
          </p:nvPr>
        </p:nvSpPr>
        <p:spPr>
          <a:xfrm>
            <a:off x="642305" y="119344"/>
            <a:ext cx="7886700" cy="1082257"/>
          </a:xfrm>
        </p:spPr>
        <p:txBody>
          <a:bodyPr>
            <a:no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Mô</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hình</a:t>
            </a:r>
            <a:r>
              <a:rPr lang="en-US" altLang="en-US" sz="3200" b="1" dirty="0">
                <a:solidFill>
                  <a:srgbClr val="002060"/>
                </a:solidFill>
                <a:latin typeface="Arial" panose="020B0604020202020204" pitchFamily="34" charset="0"/>
                <a:cs typeface="Arial" panose="020B0604020202020204" pitchFamily="34" charset="0"/>
              </a:rPr>
              <a:t> CNH </a:t>
            </a:r>
            <a:r>
              <a:rPr lang="en-US" altLang="en-US" sz="3200" b="1" dirty="0" err="1">
                <a:solidFill>
                  <a:srgbClr val="002060"/>
                </a:solidFill>
                <a:latin typeface="Arial" panose="020B0604020202020204" pitchFamily="34" charset="0"/>
                <a:cs typeface="Arial" panose="020B0604020202020204" pitchFamily="34" charset="0"/>
              </a:rPr>
              <a:t>kiểu</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Liên</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Xô</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cũ</a:t>
            </a:r>
            <a:r>
              <a:rPr lang="en-US" altLang="en-US" sz="3200" b="1" dirty="0">
                <a:solidFill>
                  <a:srgbClr val="00206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29084754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3"/>
          <p:cNvSpPr txBox="1">
            <a:spLocks noChangeArrowheads="1"/>
          </p:cNvSpPr>
          <p:nvPr/>
        </p:nvSpPr>
        <p:spPr bwMode="black">
          <a:xfrm>
            <a:off x="669116" y="1536464"/>
            <a:ext cx="7974756" cy="466270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buFont typeface="Wingdings" panose="05000000000000000000" pitchFamily="2" charset="2"/>
              <a:buChar char="v"/>
            </a:pPr>
            <a:r>
              <a:rPr lang="vi-VN" altLang="en-US" sz="2400" dirty="0">
                <a:solidFill>
                  <a:srgbClr val="002060"/>
                </a:solidFill>
              </a:rPr>
              <a:t>Nhật Bản và các nước công nghiệp hoá mới (NICs) như Hàn Quốc, Singapo</a:t>
            </a:r>
            <a:r>
              <a:rPr lang="en-US" altLang="en-US" sz="2400" dirty="0">
                <a:solidFill>
                  <a:srgbClr val="002060"/>
                </a:solidFill>
                <a:latin typeface="Arial" panose="020B0604020202020204" pitchFamily="34" charset="0"/>
                <a:cs typeface="Arial" panose="020B0604020202020204" pitchFamily="34" charset="0"/>
              </a:rPr>
              <a:t>re</a:t>
            </a:r>
          </a:p>
          <a:p>
            <a:pPr algn="just">
              <a:lnSpc>
                <a:spcPct val="110000"/>
              </a:lnSpc>
              <a:buFont typeface="Wingdings" panose="05000000000000000000" pitchFamily="2" charset="2"/>
              <a:buChar char="v"/>
            </a:pPr>
            <a:r>
              <a:rPr lang="vi-VN" altLang="en-US" sz="2400" dirty="0">
                <a:solidFill>
                  <a:srgbClr val="002060"/>
                </a:solidFill>
                <a:cs typeface="Arial" panose="020B0604020202020204" pitchFamily="34" charset="0"/>
                <a:sym typeface="Wingdings" panose="05000000000000000000" pitchFamily="2" charset="2"/>
              </a:rPr>
              <a:t>Chiến lược công nghiệp hoá rút ngắn, đẩy mạnh xuất khẩu, phát triển sản xuất trong nước thay thế hàng nhập khẩu, thông qua việc tận dụng lợi thế về khoa học, công nghệ của các nước đi trước, cùng với việc phát huy nguồn lực và lợi thế trong nước, thu hút nguồn lực từ bên ngoài</a:t>
            </a:r>
            <a:endParaRPr lang="en-US" altLang="en-US" sz="2400" dirty="0">
              <a:solidFill>
                <a:srgbClr val="002060"/>
              </a:solidFill>
              <a:cs typeface="Arial" panose="020B0604020202020204" pitchFamily="34" charset="0"/>
              <a:sym typeface="Wingdings" panose="05000000000000000000" pitchFamily="2" charset="2"/>
            </a:endParaRPr>
          </a:p>
          <a:p>
            <a:pPr algn="just">
              <a:lnSpc>
                <a:spcPct val="110000"/>
              </a:lnSpc>
              <a:buFont typeface="Wingdings" panose="05000000000000000000" pitchFamily="2" charset="2"/>
              <a:buChar char="v"/>
            </a:pP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Nhà</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nước</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kiến</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tạo</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phát</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triển</a:t>
            </a:r>
            <a:endPar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endParaRPr>
          </a:p>
          <a:p>
            <a:pPr algn="just">
              <a:lnSpc>
                <a:spcPct val="110000"/>
              </a:lnSpc>
              <a:buFont typeface="Wingdings" panose="05000000000000000000" pitchFamily="2" charset="2"/>
              <a:buChar char="v"/>
            </a:pPr>
            <a:r>
              <a:rPr lang="pt-BR"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Thời</a:t>
            </a:r>
            <a:r>
              <a:rPr lang="pt-BR"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pt-BR"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gian</a:t>
            </a:r>
            <a:r>
              <a:rPr lang="pt-BR"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pt-BR"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ngắn</a:t>
            </a:r>
            <a:r>
              <a:rPr lang="pt-BR"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pt-BR"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trung</a:t>
            </a:r>
            <a:r>
              <a:rPr lang="pt-BR"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pt-BR"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bình</a:t>
            </a:r>
            <a:r>
              <a:rPr lang="pt-BR"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pt-BR"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khoảng</a:t>
            </a:r>
            <a:r>
              <a:rPr lang="pt-BR"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20 – 30 </a:t>
            </a:r>
            <a:r>
              <a:rPr lang="pt-BR"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năm</a:t>
            </a:r>
            <a:endParaRPr lang="pt-BR"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endParaRPr>
          </a:p>
          <a:p>
            <a:pPr algn="just">
              <a:lnSpc>
                <a:spcPct val="110000"/>
              </a:lnSpc>
              <a:buFont typeface="Wingdings" panose="05000000000000000000" pitchFamily="2" charset="2"/>
              <a:buChar char="v"/>
            </a:pP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Hình</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mẫu</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cho</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Việt</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Nam</a:t>
            </a:r>
            <a:endParaRPr lang="pt-BR"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endParaRPr>
          </a:p>
        </p:txBody>
      </p:sp>
      <p:sp>
        <p:nvSpPr>
          <p:cNvPr id="9" name="Rectangle 2"/>
          <p:cNvSpPr>
            <a:spLocks noGrp="1" noChangeArrowheads="1"/>
          </p:cNvSpPr>
          <p:nvPr>
            <p:ph type="title"/>
          </p:nvPr>
        </p:nvSpPr>
        <p:spPr>
          <a:xfrm>
            <a:off x="628650" y="201271"/>
            <a:ext cx="7886700" cy="1325563"/>
          </a:xfrm>
        </p:spPr>
        <p:txBody>
          <a:bodyPr>
            <a:no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Mô</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hình</a:t>
            </a:r>
            <a:r>
              <a:rPr lang="en-US" altLang="en-US" sz="3200" b="1" dirty="0">
                <a:solidFill>
                  <a:srgbClr val="002060"/>
                </a:solidFill>
                <a:latin typeface="Arial" panose="020B0604020202020204" pitchFamily="34" charset="0"/>
                <a:cs typeface="Arial" panose="020B0604020202020204" pitchFamily="34" charset="0"/>
              </a:rPr>
              <a:t> CNH </a:t>
            </a:r>
            <a:r>
              <a:rPr lang="en-US" altLang="en-US" sz="3200" b="1" dirty="0" err="1">
                <a:solidFill>
                  <a:srgbClr val="002060"/>
                </a:solidFill>
                <a:latin typeface="Arial" panose="020B0604020202020204" pitchFamily="34" charset="0"/>
                <a:cs typeface="Arial" panose="020B0604020202020204" pitchFamily="34" charset="0"/>
              </a:rPr>
              <a:t>kiểu</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Nhật</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Bản</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và</a:t>
            </a:r>
            <a:r>
              <a:rPr lang="en-US" altLang="en-US" sz="3200" b="1" dirty="0">
                <a:solidFill>
                  <a:srgbClr val="002060"/>
                </a:solidFill>
                <a:latin typeface="Arial" panose="020B0604020202020204" pitchFamily="34" charset="0"/>
                <a:cs typeface="Arial" panose="020B0604020202020204" pitchFamily="34" charset="0"/>
              </a:rPr>
              <a:t> </a:t>
            </a:r>
            <a:br>
              <a:rPr lang="en-US" altLang="en-US" sz="3200" b="1" dirty="0">
                <a:solidFill>
                  <a:srgbClr val="002060"/>
                </a:solidFill>
                <a:latin typeface="Arial" panose="020B0604020202020204" pitchFamily="34" charset="0"/>
                <a:cs typeface="Arial" panose="020B0604020202020204" pitchFamily="34" charset="0"/>
              </a:rPr>
            </a:br>
            <a:r>
              <a:rPr lang="en-US" altLang="en-US" sz="3200" b="1" dirty="0" err="1">
                <a:solidFill>
                  <a:srgbClr val="002060"/>
                </a:solidFill>
                <a:latin typeface="Arial" panose="020B0604020202020204" pitchFamily="34" charset="0"/>
                <a:cs typeface="Arial" panose="020B0604020202020204" pitchFamily="34" charset="0"/>
              </a:rPr>
              <a:t>các</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nước</a:t>
            </a:r>
            <a:r>
              <a:rPr lang="en-US" altLang="en-US" sz="3200" b="1" dirty="0">
                <a:solidFill>
                  <a:srgbClr val="002060"/>
                </a:solidFill>
                <a:latin typeface="Arial" panose="020B0604020202020204" pitchFamily="34" charset="0"/>
                <a:cs typeface="Arial" panose="020B0604020202020204" pitchFamily="34" charset="0"/>
              </a:rPr>
              <a:t> NICS</a:t>
            </a:r>
          </a:p>
        </p:txBody>
      </p:sp>
    </p:spTree>
    <p:extLst>
      <p:ext uri="{BB962C8B-B14F-4D97-AF65-F5344CB8AC3E}">
        <p14:creationId xmlns:p14="http://schemas.microsoft.com/office/powerpoint/2010/main" val="378205351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3"/>
          <p:cNvSpPr txBox="1">
            <a:spLocks noChangeArrowheads="1"/>
          </p:cNvSpPr>
          <p:nvPr/>
        </p:nvSpPr>
        <p:spPr bwMode="black">
          <a:xfrm>
            <a:off x="518906" y="1420074"/>
            <a:ext cx="8070344" cy="497025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buFont typeface="Wingdings" panose="05000000000000000000" pitchFamily="2" charset="2"/>
              <a:buChar char="v"/>
            </a:pPr>
            <a:r>
              <a:rPr lang="vi-VN" altLang="en-US" sz="2200" dirty="0">
                <a:solidFill>
                  <a:srgbClr val="002060"/>
                </a:solidFill>
              </a:rPr>
              <a:t>Thông qua đầu tư </a:t>
            </a:r>
            <a:r>
              <a:rPr lang="vi-VN" altLang="en-US" sz="2200" dirty="0">
                <a:solidFill>
                  <a:srgbClr val="FF0000"/>
                </a:solidFill>
              </a:rPr>
              <a:t>nghiên cứu, chế tạo và hoàn thiện dần dần</a:t>
            </a:r>
            <a:r>
              <a:rPr lang="vi-VN" altLang="en-US" sz="2200" dirty="0">
                <a:solidFill>
                  <a:srgbClr val="002060"/>
                </a:solidFill>
              </a:rPr>
              <a:t> </a:t>
            </a:r>
            <a:r>
              <a:rPr lang="en-US" altLang="en-US" sz="2200" dirty="0">
                <a:solidFill>
                  <a:srgbClr val="002060"/>
                </a:solidFill>
                <a:sym typeface="Wingdings" panose="05000000000000000000" pitchFamily="2" charset="2"/>
              </a:rPr>
              <a:t> </a:t>
            </a:r>
            <a:r>
              <a:rPr lang="vi-VN" altLang="en-US" sz="2200" dirty="0">
                <a:solidFill>
                  <a:srgbClr val="002060"/>
                </a:solidFill>
              </a:rPr>
              <a:t>thời gian dài, và tổn thất nhiều trong quá trình thử nghiệm.</a:t>
            </a:r>
          </a:p>
          <a:p>
            <a:pPr algn="just">
              <a:lnSpc>
                <a:spcPct val="110000"/>
              </a:lnSpc>
              <a:buFont typeface="Wingdings" panose="05000000000000000000" pitchFamily="2" charset="2"/>
              <a:buChar char="v"/>
            </a:pPr>
            <a:r>
              <a:rPr lang="vi-VN" altLang="en-US" sz="2200" dirty="0">
                <a:solidFill>
                  <a:srgbClr val="002060"/>
                </a:solidFill>
              </a:rPr>
              <a:t>Tiếp nhận </a:t>
            </a:r>
            <a:r>
              <a:rPr lang="vi-VN" altLang="en-US" sz="2200" dirty="0">
                <a:solidFill>
                  <a:srgbClr val="FF0000"/>
                </a:solidFill>
              </a:rPr>
              <a:t>chuyển giao công nghệ hiện đại từ nước phát triển</a:t>
            </a:r>
            <a:r>
              <a:rPr lang="vi-VN" altLang="en-US" sz="2200" dirty="0">
                <a:solidFill>
                  <a:srgbClr val="002060"/>
                </a:solidFill>
              </a:rPr>
              <a:t> hơn, con đường này một mặt đòi hỏi phải có nhiều vốn và ngoại tệ, mặt khác luôn luôn chịu sự phụ thuộc vào nước ngoài.</a:t>
            </a:r>
          </a:p>
          <a:p>
            <a:pPr algn="just">
              <a:lnSpc>
                <a:spcPct val="110000"/>
              </a:lnSpc>
              <a:buFont typeface="Wingdings" panose="05000000000000000000" pitchFamily="2" charset="2"/>
              <a:buChar char="v"/>
            </a:pPr>
            <a:r>
              <a:rPr lang="vi-VN" altLang="en-US" sz="2200" dirty="0">
                <a:solidFill>
                  <a:srgbClr val="002060"/>
                </a:solidFill>
              </a:rPr>
              <a:t>Xây dựng chiến lược phát triển khoa học, công nghệ nhiều tầng, kết hợp cả công nghệ truyền thống và công nghệ hiện đại. </a:t>
            </a:r>
            <a:r>
              <a:rPr lang="vi-VN" altLang="en-US" sz="2200" dirty="0">
                <a:solidFill>
                  <a:srgbClr val="FF0000"/>
                </a:solidFill>
              </a:rPr>
              <a:t>Kết hợp vừa nghiên cứu chế tạo vừa tiếp nhận chuyển giao công nghệ </a:t>
            </a:r>
            <a:r>
              <a:rPr lang="vi-VN" altLang="en-US" sz="2200" dirty="0">
                <a:solidFill>
                  <a:srgbClr val="002060"/>
                </a:solidFill>
              </a:rPr>
              <a:t>từ các nước phát triển hơn, con đường vừa cơ bản, lâu dài và vững chắc vừa đảm bảo đi tắt và bám đuổi theo các nước phát triển hơn.</a:t>
            </a:r>
          </a:p>
        </p:txBody>
      </p:sp>
      <p:sp>
        <p:nvSpPr>
          <p:cNvPr id="9" name="Rectangle 2"/>
          <p:cNvSpPr>
            <a:spLocks noGrp="1" noChangeArrowheads="1"/>
          </p:cNvSpPr>
          <p:nvPr>
            <p:ph type="title"/>
          </p:nvPr>
        </p:nvSpPr>
        <p:spPr>
          <a:xfrm>
            <a:off x="628650" y="132998"/>
            <a:ext cx="7886700" cy="1325563"/>
          </a:xfrm>
        </p:spPr>
        <p:txBody>
          <a:bodyPr>
            <a:no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Các</a:t>
            </a:r>
            <a:r>
              <a:rPr lang="en-US" altLang="en-US" sz="3200" b="1" dirty="0">
                <a:solidFill>
                  <a:srgbClr val="002060"/>
                </a:solidFill>
                <a:latin typeface="Arial" panose="020B0604020202020204" pitchFamily="34" charset="0"/>
                <a:cs typeface="Arial" panose="020B0604020202020204" pitchFamily="34" charset="0"/>
              </a:rPr>
              <a:t> con </a:t>
            </a:r>
            <a:r>
              <a:rPr lang="en-US" altLang="en-US" sz="3200" b="1" dirty="0" err="1">
                <a:solidFill>
                  <a:srgbClr val="002060"/>
                </a:solidFill>
                <a:latin typeface="Arial" panose="020B0604020202020204" pitchFamily="34" charset="0"/>
                <a:cs typeface="Arial" panose="020B0604020202020204" pitchFamily="34" charset="0"/>
              </a:rPr>
              <a:t>đường</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tiếp</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thu</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và</a:t>
            </a:r>
            <a:r>
              <a:rPr lang="en-US" altLang="en-US" sz="3200" b="1" dirty="0">
                <a:solidFill>
                  <a:srgbClr val="002060"/>
                </a:solidFill>
                <a:latin typeface="Arial" panose="020B0604020202020204" pitchFamily="34" charset="0"/>
                <a:cs typeface="Arial" panose="020B0604020202020204" pitchFamily="34" charset="0"/>
              </a:rPr>
              <a:t> </a:t>
            </a:r>
            <a:br>
              <a:rPr lang="en-US" altLang="en-US" sz="3200" b="1" dirty="0">
                <a:solidFill>
                  <a:srgbClr val="002060"/>
                </a:solidFill>
                <a:latin typeface="Arial" panose="020B0604020202020204" pitchFamily="34" charset="0"/>
                <a:cs typeface="Arial" panose="020B0604020202020204" pitchFamily="34" charset="0"/>
              </a:rPr>
            </a:br>
            <a:r>
              <a:rPr lang="en-US" altLang="en-US" sz="3200" b="1" dirty="0" err="1">
                <a:solidFill>
                  <a:srgbClr val="002060"/>
                </a:solidFill>
                <a:latin typeface="Arial" panose="020B0604020202020204" pitchFamily="34" charset="0"/>
                <a:cs typeface="Arial" panose="020B0604020202020204" pitchFamily="34" charset="0"/>
              </a:rPr>
              <a:t>phát</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triển</a:t>
            </a:r>
            <a:r>
              <a:rPr lang="en-US" altLang="en-US" sz="3200" b="1" dirty="0">
                <a:solidFill>
                  <a:srgbClr val="002060"/>
                </a:solidFill>
                <a:latin typeface="Arial" panose="020B0604020202020204" pitchFamily="34" charset="0"/>
                <a:cs typeface="Arial" panose="020B0604020202020204" pitchFamily="34" charset="0"/>
              </a:rPr>
              <a:t> KHCN</a:t>
            </a:r>
          </a:p>
        </p:txBody>
      </p:sp>
    </p:spTree>
    <p:extLst>
      <p:ext uri="{BB962C8B-B14F-4D97-AF65-F5344CB8AC3E}">
        <p14:creationId xmlns:p14="http://schemas.microsoft.com/office/powerpoint/2010/main" val="13797019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562" name="Rectangle 2"/>
          <p:cNvSpPr>
            <a:spLocks noGrp="1" noChangeArrowheads="1"/>
          </p:cNvSpPr>
          <p:nvPr>
            <p:ph type="title"/>
          </p:nvPr>
        </p:nvSpPr>
        <p:spPr/>
        <p:txBody>
          <a:bodyPr>
            <a:normAutofit/>
          </a:bodyPr>
          <a:lstStyle/>
          <a:p>
            <a:pPr algn="ctr"/>
            <a:r>
              <a:rPr lang="en-US" altLang="en-US" sz="2800" b="1" dirty="0">
                <a:solidFill>
                  <a:srgbClr val="002060"/>
                </a:solidFill>
                <a:latin typeface="Arial" panose="020B0604020202020204" pitchFamily="34" charset="0"/>
                <a:cs typeface="Arial" panose="020B0604020202020204" pitchFamily="34" charset="0"/>
              </a:rPr>
              <a:t>6.1. CÔNG NGHIỆP HOÁ, HIỆN ĐẠI HOÁ </a:t>
            </a:r>
            <a:br>
              <a:rPr lang="en-US" altLang="en-US" sz="2800" b="1" dirty="0">
                <a:solidFill>
                  <a:srgbClr val="002060"/>
                </a:solidFill>
                <a:latin typeface="Arial" panose="020B0604020202020204" pitchFamily="34" charset="0"/>
                <a:cs typeface="Arial" panose="020B0604020202020204" pitchFamily="34" charset="0"/>
              </a:rPr>
            </a:br>
            <a:r>
              <a:rPr lang="en-US" altLang="en-US" sz="2800" b="1" dirty="0" err="1">
                <a:solidFill>
                  <a:srgbClr val="002060"/>
                </a:solidFill>
                <a:latin typeface="Arial" panose="020B0604020202020204" pitchFamily="34" charset="0"/>
                <a:cs typeface="Arial" panose="020B0604020202020204" pitchFamily="34" charset="0"/>
              </a:rPr>
              <a:t>Ở</a:t>
            </a:r>
            <a:r>
              <a:rPr lang="en-US" altLang="en-US" sz="2800" b="1" dirty="0">
                <a:solidFill>
                  <a:srgbClr val="002060"/>
                </a:solidFill>
                <a:latin typeface="Arial" panose="020B0604020202020204" pitchFamily="34" charset="0"/>
                <a:cs typeface="Arial" panose="020B0604020202020204" pitchFamily="34" charset="0"/>
              </a:rPr>
              <a:t> VIỆT NAM</a:t>
            </a:r>
          </a:p>
        </p:txBody>
      </p:sp>
      <p:sp>
        <p:nvSpPr>
          <p:cNvPr id="1090565" name="AutoShape 5"/>
          <p:cNvSpPr>
            <a:spLocks noChangeArrowheads="1"/>
          </p:cNvSpPr>
          <p:nvPr/>
        </p:nvSpPr>
        <p:spPr bwMode="gray">
          <a:xfrm>
            <a:off x="3590924" y="1868559"/>
            <a:ext cx="5121224" cy="1067169"/>
          </a:xfrm>
          <a:prstGeom prst="roundRect">
            <a:avLst>
              <a:gd name="adj" fmla="val 50000"/>
            </a:avLst>
          </a:prstGeom>
          <a:noFill/>
          <a:ln w="19050" cap="rnd">
            <a:solidFill>
              <a:schemeClr val="tx1"/>
            </a:solidFill>
            <a:prstDash val="sysDot"/>
            <a:round/>
            <a:headEnd/>
            <a:tailEnd/>
          </a:ln>
          <a:effectLst>
            <a:outerShdw dist="40161" dir="4293903" algn="ctr" rotWithShape="0">
              <a:srgbClr val="1C1C1C">
                <a:alpha val="50000"/>
              </a:srgbClr>
            </a:outerShdw>
          </a:effectLst>
          <a:extLst>
            <a:ext uri="{909E8E84-426E-40dd-AFC4-6F175D3DCCD1}">
              <a14:hiddenFill xmlns:a14="http://schemas.microsoft.com/office/drawing/2010/main" xmlns="">
                <a:solidFill>
                  <a:schemeClr val="bg1"/>
                </a:solidFill>
              </a14:hiddenFill>
            </a:ext>
          </a:extLst>
        </p:spPr>
        <p:txBody>
          <a:bodyPr wrap="none" anchor="ctr"/>
          <a:lstStyle/>
          <a:p>
            <a:endParaRPr lang="en-US">
              <a:solidFill>
                <a:srgbClr val="002060"/>
              </a:solidFill>
            </a:endParaRPr>
          </a:p>
        </p:txBody>
      </p:sp>
      <p:sp>
        <p:nvSpPr>
          <p:cNvPr id="1090566" name="Rectangle 6"/>
          <p:cNvSpPr>
            <a:spLocks noChangeArrowheads="1"/>
          </p:cNvSpPr>
          <p:nvPr/>
        </p:nvSpPr>
        <p:spPr bwMode="black">
          <a:xfrm>
            <a:off x="3705986" y="2048357"/>
            <a:ext cx="4793399" cy="64633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eaLnBrk="0" hangingPunct="0"/>
            <a:r>
              <a:rPr lang="en-US" altLang="en-US" b="1" dirty="0">
                <a:solidFill>
                  <a:srgbClr val="002060"/>
                </a:solidFill>
                <a:latin typeface="Arial" panose="020B0604020202020204" pitchFamily="34" charset="0"/>
              </a:rPr>
              <a:t>KHÁI QUÁT CÁCH MẠNG CÔNG NGHIỆP</a:t>
            </a:r>
          </a:p>
          <a:p>
            <a:pPr eaLnBrk="0" hangingPunct="0"/>
            <a:r>
              <a:rPr lang="en-US" altLang="en-US" b="1" dirty="0">
                <a:solidFill>
                  <a:srgbClr val="002060"/>
                </a:solidFill>
                <a:latin typeface="Arial" panose="020B0604020202020204" pitchFamily="34" charset="0"/>
              </a:rPr>
              <a:t>VÀ CÔNG NGHIỆP HOÁ HÓA</a:t>
            </a:r>
          </a:p>
        </p:txBody>
      </p:sp>
      <p:sp>
        <p:nvSpPr>
          <p:cNvPr id="1090567" name="Oval 7"/>
          <p:cNvSpPr>
            <a:spLocks noChangeArrowheads="1"/>
          </p:cNvSpPr>
          <p:nvPr/>
        </p:nvSpPr>
        <p:spPr bwMode="gray">
          <a:xfrm>
            <a:off x="3505200" y="2238375"/>
            <a:ext cx="228600" cy="228600"/>
          </a:xfrm>
          <a:prstGeom prst="ellipse">
            <a:avLst/>
          </a:prstGeom>
          <a:gradFill rotWithShape="1">
            <a:gsLst>
              <a:gs pos="0">
                <a:schemeClr val="accent1"/>
              </a:gs>
              <a:gs pos="100000">
                <a:schemeClr val="accent1">
                  <a:gamma/>
                  <a:shade val="66667"/>
                  <a:invGamma/>
                </a:schemeClr>
              </a:gs>
            </a:gsLst>
            <a:path path="shape">
              <a:fillToRect l="50000" t="50000" r="50000" b="50000"/>
            </a:path>
          </a:gradFill>
          <a:ln w="19050">
            <a:solidFill>
              <a:schemeClr val="tx1"/>
            </a:solidFill>
            <a:round/>
            <a:headEnd/>
            <a:tailEnd/>
          </a:ln>
          <a:effectLst>
            <a:outerShdw dist="12700" dir="10800000" algn="ctr" rotWithShape="0">
              <a:srgbClr val="1C1C1C">
                <a:alpha val="50000"/>
              </a:srgbClr>
            </a:outerShdw>
          </a:effectLst>
        </p:spPr>
        <p:txBody>
          <a:bodyPr wrap="none" anchor="ctr"/>
          <a:lstStyle/>
          <a:p>
            <a:endParaRPr lang="en-US">
              <a:solidFill>
                <a:srgbClr val="002060"/>
              </a:solidFill>
            </a:endParaRPr>
          </a:p>
        </p:txBody>
      </p:sp>
      <p:sp>
        <p:nvSpPr>
          <p:cNvPr id="1090581" name="AutoShape 21"/>
          <p:cNvSpPr>
            <a:spLocks noChangeArrowheads="1"/>
          </p:cNvSpPr>
          <p:nvPr/>
        </p:nvSpPr>
        <p:spPr bwMode="gray">
          <a:xfrm>
            <a:off x="3590923" y="4594883"/>
            <a:ext cx="5326055" cy="1153683"/>
          </a:xfrm>
          <a:prstGeom prst="roundRect">
            <a:avLst>
              <a:gd name="adj" fmla="val 50000"/>
            </a:avLst>
          </a:prstGeom>
          <a:noFill/>
          <a:ln w="19050" cap="rnd">
            <a:solidFill>
              <a:schemeClr val="tx1"/>
            </a:solidFill>
            <a:prstDash val="sysDot"/>
            <a:round/>
            <a:headEnd/>
            <a:tailEnd/>
          </a:ln>
          <a:effectLst>
            <a:outerShdw dist="40161" dir="4293903" algn="ctr" rotWithShape="0">
              <a:srgbClr val="1C1C1C">
                <a:alpha val="50000"/>
              </a:srgbClr>
            </a:outerShdw>
          </a:effectLst>
          <a:extLst>
            <a:ext uri="{909E8E84-426E-40dd-AFC4-6F175D3DCCD1}">
              <a14:hiddenFill xmlns:a14="http://schemas.microsoft.com/office/drawing/2010/main" xmlns="">
                <a:solidFill>
                  <a:schemeClr val="bg1"/>
                </a:solidFill>
              </a14:hiddenFill>
            </a:ext>
          </a:extLst>
        </p:spPr>
        <p:txBody>
          <a:bodyPr wrap="none" anchor="ctr"/>
          <a:lstStyle/>
          <a:p>
            <a:endParaRPr lang="en-US">
              <a:solidFill>
                <a:srgbClr val="002060"/>
              </a:solidFill>
            </a:endParaRPr>
          </a:p>
        </p:txBody>
      </p:sp>
      <p:sp>
        <p:nvSpPr>
          <p:cNvPr id="1090582" name="Rectangle 22"/>
          <p:cNvSpPr>
            <a:spLocks noChangeArrowheads="1"/>
          </p:cNvSpPr>
          <p:nvPr/>
        </p:nvSpPr>
        <p:spPr bwMode="black">
          <a:xfrm>
            <a:off x="3805449" y="4873421"/>
            <a:ext cx="4844257" cy="64633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eaLnBrk="0" hangingPunct="0"/>
            <a:r>
              <a:rPr lang="en-US" altLang="en-US" b="1" dirty="0">
                <a:solidFill>
                  <a:srgbClr val="002060"/>
                </a:solidFill>
                <a:latin typeface="Arial" panose="020B0604020202020204" pitchFamily="34" charset="0"/>
              </a:rPr>
              <a:t>CNH, HĐH </a:t>
            </a:r>
            <a:r>
              <a:rPr lang="en-US" altLang="en-US" b="1" dirty="0" err="1">
                <a:solidFill>
                  <a:srgbClr val="002060"/>
                </a:solidFill>
                <a:latin typeface="Arial" panose="020B0604020202020204" pitchFamily="34" charset="0"/>
              </a:rPr>
              <a:t>Ở</a:t>
            </a:r>
            <a:r>
              <a:rPr lang="en-US" altLang="en-US" b="1" dirty="0">
                <a:solidFill>
                  <a:srgbClr val="002060"/>
                </a:solidFill>
                <a:latin typeface="Arial" panose="020B0604020202020204" pitchFamily="34" charset="0"/>
              </a:rPr>
              <a:t> VIỆT NAM TRONG BỐI CẢNH</a:t>
            </a:r>
          </a:p>
          <a:p>
            <a:pPr eaLnBrk="0" hangingPunct="0"/>
            <a:r>
              <a:rPr lang="en-US" altLang="en-US" b="1" dirty="0">
                <a:solidFill>
                  <a:srgbClr val="002060"/>
                </a:solidFill>
                <a:latin typeface="Arial" panose="020B0604020202020204" pitchFamily="34" charset="0"/>
              </a:rPr>
              <a:t>CÁCH MẠNG CÔNG NGHIỆP LẦN THỨ 4</a:t>
            </a:r>
          </a:p>
        </p:txBody>
      </p:sp>
      <p:sp>
        <p:nvSpPr>
          <p:cNvPr id="1090583" name="Oval 23"/>
          <p:cNvSpPr>
            <a:spLocks noChangeArrowheads="1"/>
          </p:cNvSpPr>
          <p:nvPr/>
        </p:nvSpPr>
        <p:spPr bwMode="gray">
          <a:xfrm>
            <a:off x="3505200" y="5053013"/>
            <a:ext cx="228600" cy="228600"/>
          </a:xfrm>
          <a:prstGeom prst="ellipse">
            <a:avLst/>
          </a:prstGeom>
          <a:gradFill rotWithShape="1">
            <a:gsLst>
              <a:gs pos="0">
                <a:schemeClr val="tx1"/>
              </a:gs>
              <a:gs pos="100000">
                <a:schemeClr val="tx1">
                  <a:gamma/>
                  <a:shade val="66667"/>
                  <a:invGamma/>
                </a:schemeClr>
              </a:gs>
            </a:gsLst>
            <a:path path="shape">
              <a:fillToRect l="50000" t="50000" r="50000" b="50000"/>
            </a:path>
          </a:gradFill>
          <a:ln w="19050">
            <a:solidFill>
              <a:schemeClr val="tx1"/>
            </a:solidFill>
            <a:round/>
            <a:headEnd/>
            <a:tailEnd/>
          </a:ln>
          <a:effectLst>
            <a:outerShdw dist="12700" dir="10800000" algn="ctr" rotWithShape="0">
              <a:srgbClr val="1C1C1C">
                <a:alpha val="50000"/>
              </a:srgbClr>
            </a:outerShdw>
          </a:effectLst>
        </p:spPr>
        <p:txBody>
          <a:bodyPr wrap="none" anchor="ctr"/>
          <a:lstStyle/>
          <a:p>
            <a:endParaRPr lang="en-US">
              <a:solidFill>
                <a:srgbClr val="002060"/>
              </a:solidFill>
            </a:endParaRPr>
          </a:p>
        </p:txBody>
      </p:sp>
      <p:sp>
        <p:nvSpPr>
          <p:cNvPr id="1090585" name="Line 25"/>
          <p:cNvSpPr>
            <a:spLocks noChangeShapeType="1"/>
          </p:cNvSpPr>
          <p:nvPr/>
        </p:nvSpPr>
        <p:spPr bwMode="gray">
          <a:xfrm flipV="1">
            <a:off x="2514600" y="2362200"/>
            <a:ext cx="381000" cy="38100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090586" name="Line 26"/>
          <p:cNvSpPr>
            <a:spLocks noChangeShapeType="1"/>
          </p:cNvSpPr>
          <p:nvPr/>
        </p:nvSpPr>
        <p:spPr bwMode="gray">
          <a:xfrm>
            <a:off x="2438400" y="4876800"/>
            <a:ext cx="457200" cy="30480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grpSp>
        <p:nvGrpSpPr>
          <p:cNvPr id="1090587" name="Group 27"/>
          <p:cNvGrpSpPr>
            <a:grpSpLocks/>
          </p:cNvGrpSpPr>
          <p:nvPr/>
        </p:nvGrpSpPr>
        <p:grpSpPr bwMode="auto">
          <a:xfrm>
            <a:off x="2895600" y="2362200"/>
            <a:ext cx="609600" cy="2819400"/>
            <a:chOff x="1824" y="1488"/>
            <a:chExt cx="240" cy="1776"/>
          </a:xfrm>
        </p:grpSpPr>
        <p:sp>
          <p:nvSpPr>
            <p:cNvPr id="1090588" name="Line 28"/>
            <p:cNvSpPr>
              <a:spLocks noChangeShapeType="1"/>
            </p:cNvSpPr>
            <p:nvPr/>
          </p:nvSpPr>
          <p:spPr bwMode="gray">
            <a:xfrm>
              <a:off x="1824" y="1488"/>
              <a:ext cx="240" cy="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090589" name="Line 29"/>
            <p:cNvSpPr>
              <a:spLocks noChangeShapeType="1"/>
            </p:cNvSpPr>
            <p:nvPr/>
          </p:nvSpPr>
          <p:spPr bwMode="gray">
            <a:xfrm>
              <a:off x="1824" y="3264"/>
              <a:ext cx="240" cy="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grpSp>
      <p:pic>
        <p:nvPicPr>
          <p:cNvPr id="1090593" name="Picture 3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2150" y="2743200"/>
            <a:ext cx="2159000" cy="2133599"/>
          </a:xfrm>
          <a:prstGeom prst="rect">
            <a:avLst/>
          </a:prstGeom>
          <a:ln>
            <a:noFill/>
          </a:ln>
          <a:effectLst>
            <a:softEdge rad="112500"/>
          </a:effectLst>
          <a:extLst>
            <a:ext uri="{909E8E84-426E-40dd-AFC4-6F175D3DCCD1}">
              <a14:hiddenFill xmlns:a14="http://schemas.microsoft.com/office/drawing/2010/main" xmlns="">
                <a:solidFill>
                  <a:srgbClr val="FFFFFF"/>
                </a:solidFill>
              </a14:hiddenFill>
            </a:ext>
          </a:extLst>
        </p:spPr>
      </p:pic>
      <p:sp>
        <p:nvSpPr>
          <p:cNvPr id="15" name="AutoShape 21"/>
          <p:cNvSpPr>
            <a:spLocks noChangeArrowheads="1"/>
          </p:cNvSpPr>
          <p:nvPr/>
        </p:nvSpPr>
        <p:spPr bwMode="gray">
          <a:xfrm>
            <a:off x="3538492" y="3177009"/>
            <a:ext cx="5326055" cy="1153683"/>
          </a:xfrm>
          <a:prstGeom prst="roundRect">
            <a:avLst>
              <a:gd name="adj" fmla="val 50000"/>
            </a:avLst>
          </a:prstGeom>
          <a:noFill/>
          <a:ln w="19050" cap="rnd">
            <a:solidFill>
              <a:schemeClr val="tx1"/>
            </a:solidFill>
            <a:prstDash val="sysDot"/>
            <a:round/>
            <a:headEnd/>
            <a:tailEnd/>
          </a:ln>
          <a:effectLst>
            <a:outerShdw dist="40161" dir="4293903" algn="ctr" rotWithShape="0">
              <a:srgbClr val="1C1C1C">
                <a:alpha val="50000"/>
              </a:srgbClr>
            </a:outerShdw>
          </a:effectLst>
          <a:extLst>
            <a:ext uri="{909E8E84-426E-40dd-AFC4-6F175D3DCCD1}">
              <a14:hiddenFill xmlns:a14="http://schemas.microsoft.com/office/drawing/2010/main" xmlns="">
                <a:solidFill>
                  <a:schemeClr val="bg1"/>
                </a:solidFill>
              </a14:hiddenFill>
            </a:ext>
          </a:extLst>
        </p:spPr>
        <p:txBody>
          <a:bodyPr wrap="none" anchor="ctr"/>
          <a:lstStyle/>
          <a:p>
            <a:endParaRPr lang="en-US">
              <a:solidFill>
                <a:srgbClr val="002060"/>
              </a:solidFill>
            </a:endParaRPr>
          </a:p>
        </p:txBody>
      </p:sp>
      <p:sp>
        <p:nvSpPr>
          <p:cNvPr id="16" name="Oval 7"/>
          <p:cNvSpPr>
            <a:spLocks noChangeArrowheads="1"/>
          </p:cNvSpPr>
          <p:nvPr/>
        </p:nvSpPr>
        <p:spPr bwMode="gray">
          <a:xfrm>
            <a:off x="3425459" y="3660649"/>
            <a:ext cx="228600" cy="228600"/>
          </a:xfrm>
          <a:prstGeom prst="ellipse">
            <a:avLst/>
          </a:prstGeom>
          <a:gradFill rotWithShape="1">
            <a:gsLst>
              <a:gs pos="0">
                <a:schemeClr val="accent1"/>
              </a:gs>
              <a:gs pos="100000">
                <a:schemeClr val="accent1">
                  <a:gamma/>
                  <a:shade val="66667"/>
                  <a:invGamma/>
                </a:schemeClr>
              </a:gs>
            </a:gsLst>
            <a:path path="shape">
              <a:fillToRect l="50000" t="50000" r="50000" b="50000"/>
            </a:path>
          </a:gradFill>
          <a:ln w="19050">
            <a:solidFill>
              <a:schemeClr val="tx1"/>
            </a:solidFill>
            <a:round/>
            <a:headEnd/>
            <a:tailEnd/>
          </a:ln>
          <a:effectLst>
            <a:outerShdw dist="12700" dir="10800000" algn="ctr" rotWithShape="0">
              <a:srgbClr val="1C1C1C">
                <a:alpha val="50000"/>
              </a:srgbClr>
            </a:outerShdw>
          </a:effectLst>
        </p:spPr>
        <p:txBody>
          <a:bodyPr wrap="none" anchor="ctr"/>
          <a:lstStyle/>
          <a:p>
            <a:endParaRPr lang="en-US">
              <a:solidFill>
                <a:srgbClr val="002060"/>
              </a:solidFill>
            </a:endParaRPr>
          </a:p>
        </p:txBody>
      </p:sp>
      <p:sp>
        <p:nvSpPr>
          <p:cNvPr id="18" name="Line 28"/>
          <p:cNvSpPr>
            <a:spLocks noChangeShapeType="1"/>
          </p:cNvSpPr>
          <p:nvPr/>
        </p:nvSpPr>
        <p:spPr bwMode="gray">
          <a:xfrm>
            <a:off x="2788548" y="3770819"/>
            <a:ext cx="609600" cy="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9" name="Rectangle 22"/>
          <p:cNvSpPr>
            <a:spLocks noChangeArrowheads="1"/>
          </p:cNvSpPr>
          <p:nvPr/>
        </p:nvSpPr>
        <p:spPr bwMode="black">
          <a:xfrm>
            <a:off x="3681232" y="3346312"/>
            <a:ext cx="5015127" cy="923330"/>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eaLnBrk="0" hangingPunct="0"/>
            <a:r>
              <a:rPr lang="en-US" altLang="en-US" b="1" dirty="0">
                <a:solidFill>
                  <a:srgbClr val="002060"/>
                </a:solidFill>
                <a:latin typeface="Arial" panose="020B0604020202020204" pitchFamily="34" charset="0"/>
              </a:rPr>
              <a:t>TÍNH TẤT YẾU KHÁCH QUAN VÀ NỘI DUNG </a:t>
            </a:r>
          </a:p>
          <a:p>
            <a:pPr eaLnBrk="0" hangingPunct="0"/>
            <a:r>
              <a:rPr lang="en-US" altLang="en-US" b="1" dirty="0">
                <a:solidFill>
                  <a:srgbClr val="002060"/>
                </a:solidFill>
                <a:latin typeface="Arial" panose="020B0604020202020204" pitchFamily="34" charset="0"/>
              </a:rPr>
              <a:t>CỦA CÔNG NGHIỆP HOÁ, HIỆN ĐẠI HOÁ</a:t>
            </a:r>
          </a:p>
          <a:p>
            <a:pPr eaLnBrk="0" hangingPunct="0"/>
            <a:r>
              <a:rPr lang="en-US" altLang="en-US" b="1" dirty="0" err="1">
                <a:solidFill>
                  <a:srgbClr val="002060"/>
                </a:solidFill>
                <a:latin typeface="Arial" panose="020B0604020202020204" pitchFamily="34" charset="0"/>
              </a:rPr>
              <a:t>Ở</a:t>
            </a:r>
            <a:r>
              <a:rPr lang="en-US" altLang="en-US" b="1" dirty="0">
                <a:solidFill>
                  <a:srgbClr val="002060"/>
                </a:solidFill>
                <a:latin typeface="Arial" panose="020B0604020202020204" pitchFamily="34" charset="0"/>
              </a:rPr>
              <a:t> VIỆT NAM</a:t>
            </a:r>
          </a:p>
        </p:txBody>
      </p:sp>
    </p:spTree>
    <p:extLst>
      <p:ext uri="{BB962C8B-B14F-4D97-AF65-F5344CB8AC3E}">
        <p14:creationId xmlns:p14="http://schemas.microsoft.com/office/powerpoint/2010/main" val="4013382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mph" presetSubtype="0" fill="hold" grpId="0" nodeType="clickEffect">
                                  <p:stCondLst>
                                    <p:cond delay="0"/>
                                  </p:stCondLst>
                                  <p:childTnLst>
                                    <p:animClr clrSpc="hsl" dir="cw">
                                      <p:cBhvr override="childStyle">
                                        <p:cTn id="6" dur="500" fill="hold"/>
                                        <p:tgtEl>
                                          <p:spTgt spid="15"/>
                                        </p:tgtEl>
                                        <p:attrNameLst>
                                          <p:attrName>style.color</p:attrName>
                                        </p:attrNameLst>
                                      </p:cBhvr>
                                      <p:by>
                                        <p:hsl h="10842353" s="0" l="0"/>
                                      </p:by>
                                    </p:animClr>
                                    <p:animClr clrSpc="hsl" dir="cw">
                                      <p:cBhvr>
                                        <p:cTn id="7" dur="500" fill="hold"/>
                                        <p:tgtEl>
                                          <p:spTgt spid="15"/>
                                        </p:tgtEl>
                                        <p:attrNameLst>
                                          <p:attrName>fillcolor</p:attrName>
                                        </p:attrNameLst>
                                      </p:cBhvr>
                                      <p:by>
                                        <p:hsl h="10842353" s="0" l="0"/>
                                      </p:by>
                                    </p:animClr>
                                    <p:animClr clrSpc="hsl" dir="cw">
                                      <p:cBhvr>
                                        <p:cTn id="8" dur="500" fill="hold"/>
                                        <p:tgtEl>
                                          <p:spTgt spid="15"/>
                                        </p:tgtEl>
                                        <p:attrNameLst>
                                          <p:attrName>stroke.color</p:attrName>
                                        </p:attrNameLst>
                                      </p:cBhvr>
                                      <p:by>
                                        <p:hsl h="10842353" s="0" l="0"/>
                                      </p:by>
                                    </p:animClr>
                                    <p:set>
                                      <p:cBhvr>
                                        <p:cTn id="9" dur="500" fill="hold"/>
                                        <p:tgtEl>
                                          <p:spTgt spid="15"/>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3"/>
          <p:cNvSpPr txBox="1">
            <a:spLocks noChangeArrowheads="1"/>
          </p:cNvSpPr>
          <p:nvPr/>
        </p:nvSpPr>
        <p:spPr bwMode="black">
          <a:xfrm>
            <a:off x="821635" y="1743698"/>
            <a:ext cx="7494999" cy="33069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
            </a:pPr>
            <a:r>
              <a:rPr lang="en-US" altLang="en-US" sz="2400">
                <a:solidFill>
                  <a:srgbClr val="002060"/>
                </a:solidFill>
                <a:latin typeface="Arial" panose="020B0604020202020204" pitchFamily="34" charset="0"/>
                <a:cs typeface="Arial" panose="020B0604020202020204" pitchFamily="34" charset="0"/>
              </a:rPr>
              <a:t>CNH </a:t>
            </a:r>
            <a:r>
              <a:rPr lang="vi-VN" altLang="en-US" sz="2400">
                <a:solidFill>
                  <a:srgbClr val="002060"/>
                </a:solidFill>
              </a:rPr>
              <a:t>là quy luật phổ biến của sự phát triển </a:t>
            </a:r>
            <a:r>
              <a:rPr lang="en-US" altLang="en-US" sz="2400">
                <a:solidFill>
                  <a:srgbClr val="002060"/>
                </a:solidFill>
                <a:latin typeface="Arial" panose="020B0604020202020204" pitchFamily="34" charset="0"/>
                <a:cs typeface="Arial" panose="020B0604020202020204" pitchFamily="34" charset="0"/>
              </a:rPr>
              <a:t>LLSX</a:t>
            </a:r>
            <a:r>
              <a:rPr lang="en-US" altLang="en-US" sz="2400">
                <a:solidFill>
                  <a:srgbClr val="002060"/>
                </a:solidFill>
              </a:rPr>
              <a:t> </a:t>
            </a:r>
            <a:r>
              <a:rPr lang="vi-VN" altLang="en-US" sz="2400">
                <a:solidFill>
                  <a:srgbClr val="002060"/>
                </a:solidFill>
              </a:rPr>
              <a:t>xã hội mà mọi quốc gia đều trải qua</a:t>
            </a:r>
            <a:endParaRPr lang="en-US" altLang="en-US" sz="2400">
              <a:solidFill>
                <a:srgbClr val="002060"/>
              </a:solidFill>
            </a:endParaRPr>
          </a:p>
          <a:p>
            <a:pPr algn="just">
              <a:buFont typeface="Wingdings" panose="05000000000000000000" pitchFamily="2" charset="2"/>
              <a:buChar char="§"/>
            </a:pPr>
            <a:r>
              <a:rPr lang="vi-VN" altLang="en-US" sz="2400">
                <a:solidFill>
                  <a:srgbClr val="002060"/>
                </a:solidFill>
              </a:rPr>
              <a:t>Xây dựng cơ sở vật chất - kỹ thuật cho chủ nghĩa xã hội phải thực hiện từ đầu thông qua </a:t>
            </a:r>
            <a:r>
              <a:rPr lang="en-US" altLang="en-US" sz="2400">
                <a:solidFill>
                  <a:srgbClr val="002060"/>
                </a:solidFill>
                <a:latin typeface="Arial" panose="020B0604020202020204" pitchFamily="34" charset="0"/>
                <a:cs typeface="Arial" panose="020B0604020202020204" pitchFamily="34" charset="0"/>
              </a:rPr>
              <a:t>CNH, HĐH</a:t>
            </a:r>
          </a:p>
          <a:p>
            <a:pPr algn="just">
              <a:buFont typeface="Wingdings" panose="05000000000000000000" pitchFamily="2" charset="2"/>
              <a:buChar char="§"/>
            </a:pPr>
            <a:r>
              <a:rPr lang="vi-VN" altLang="en-US" sz="2400">
                <a:solidFill>
                  <a:srgbClr val="002060"/>
                </a:solidFill>
              </a:rPr>
              <a:t>Quá trình thực hiện </a:t>
            </a:r>
            <a:r>
              <a:rPr lang="en-US" altLang="en-US" sz="2400">
                <a:solidFill>
                  <a:srgbClr val="002060"/>
                </a:solidFill>
                <a:latin typeface="Arial" panose="020B0604020202020204" pitchFamily="34" charset="0"/>
                <a:cs typeface="Arial" panose="020B0604020202020204" pitchFamily="34" charset="0"/>
              </a:rPr>
              <a:t>CNH, HĐH</a:t>
            </a:r>
            <a:r>
              <a:rPr lang="en-US" altLang="en-US" sz="2400">
                <a:solidFill>
                  <a:srgbClr val="002060"/>
                </a:solidFill>
              </a:rPr>
              <a:t> </a:t>
            </a:r>
            <a:r>
              <a:rPr lang="vi-VN" altLang="en-US" sz="2400">
                <a:solidFill>
                  <a:srgbClr val="002060"/>
                </a:solidFill>
              </a:rPr>
              <a:t>làm cho khối liên minh công nhân, nông dân và trí thức ngày càng được tăng cường, củng cố, đồng thời nâng cao vai trò lãnh đạo của giai cấp công nhân.</a:t>
            </a:r>
          </a:p>
          <a:p>
            <a:pPr algn="just">
              <a:buFont typeface="Wingdings" panose="05000000000000000000" pitchFamily="2" charset="2"/>
              <a:buChar char="§"/>
            </a:pPr>
            <a:r>
              <a:rPr lang="en-US" altLang="en-US" sz="2400">
                <a:solidFill>
                  <a:srgbClr val="002060"/>
                </a:solidFill>
                <a:latin typeface="Arial" panose="020B0604020202020204" pitchFamily="34" charset="0"/>
                <a:cs typeface="Arial" panose="020B0604020202020204" pitchFamily="34" charset="0"/>
              </a:rPr>
              <a:t>CNH, HĐH</a:t>
            </a:r>
            <a:r>
              <a:rPr lang="vi-VN" altLang="en-US" sz="2400">
                <a:solidFill>
                  <a:srgbClr val="002060"/>
                </a:solidFill>
              </a:rPr>
              <a:t> được thực hiện cũng sẽ tăng cường tiềm lực cho an ninh, quốc phòng, xây dựng nền văn hoá mới và con người mới xã hội chủ nghĩa.</a:t>
            </a:r>
          </a:p>
        </p:txBody>
      </p:sp>
      <p:sp>
        <p:nvSpPr>
          <p:cNvPr id="9" name="Rectangle 2"/>
          <p:cNvSpPr>
            <a:spLocks noGrp="1" noChangeArrowheads="1"/>
          </p:cNvSpPr>
          <p:nvPr>
            <p:ph type="title"/>
          </p:nvPr>
        </p:nvSpPr>
        <p:spPr>
          <a:xfrm>
            <a:off x="628650" y="365126"/>
            <a:ext cx="7886700" cy="1325563"/>
          </a:xfrm>
        </p:spPr>
        <p:txBody>
          <a:bodyPr>
            <a:no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Tính</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tất</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yếu</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khách</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quan</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của</a:t>
            </a:r>
            <a:r>
              <a:rPr lang="en-US" altLang="en-US" sz="3200" b="1" dirty="0">
                <a:solidFill>
                  <a:srgbClr val="002060"/>
                </a:solidFill>
                <a:latin typeface="Arial" panose="020B0604020202020204" pitchFamily="34" charset="0"/>
                <a:cs typeface="Arial" panose="020B0604020202020204" pitchFamily="34" charset="0"/>
              </a:rPr>
              <a:t> CNH, HĐH </a:t>
            </a:r>
            <a:r>
              <a:rPr lang="en-US" altLang="en-US" sz="3200" b="1" dirty="0" err="1">
                <a:solidFill>
                  <a:srgbClr val="002060"/>
                </a:solidFill>
                <a:latin typeface="Arial" panose="020B0604020202020204" pitchFamily="34" charset="0"/>
                <a:cs typeface="Arial" panose="020B0604020202020204" pitchFamily="34" charset="0"/>
              </a:rPr>
              <a:t>ở</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Việt</a:t>
            </a:r>
            <a:r>
              <a:rPr lang="en-US" altLang="en-US" sz="3200" b="1" dirty="0">
                <a:solidFill>
                  <a:srgbClr val="002060"/>
                </a:solidFill>
                <a:latin typeface="Arial" panose="020B0604020202020204" pitchFamily="34" charset="0"/>
                <a:cs typeface="Arial" panose="020B0604020202020204" pitchFamily="34" charset="0"/>
              </a:rPr>
              <a:t> Nam</a:t>
            </a:r>
          </a:p>
        </p:txBody>
      </p:sp>
    </p:spTree>
    <p:extLst>
      <p:ext uri="{BB962C8B-B14F-4D97-AF65-F5344CB8AC3E}">
        <p14:creationId xmlns:p14="http://schemas.microsoft.com/office/powerpoint/2010/main" val="15153319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3"/>
          <p:cNvSpPr txBox="1">
            <a:spLocks noChangeArrowheads="1"/>
          </p:cNvSpPr>
          <p:nvPr/>
        </p:nvSpPr>
        <p:spPr bwMode="black">
          <a:xfrm>
            <a:off x="821635" y="1982239"/>
            <a:ext cx="7494999" cy="33069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
            </a:pPr>
            <a:r>
              <a:rPr lang="vi-VN" altLang="en-US" sz="2400">
                <a:solidFill>
                  <a:srgbClr val="002060"/>
                </a:solidFill>
              </a:rPr>
              <a:t>Công nghiệp hoá, hiện đại hoá theo định hướng xã hội chủ nghĩa, thực hiện mục tiêu "dân giàu, nước mạnh, dân chủ, công bằng, văn minh".</a:t>
            </a:r>
          </a:p>
          <a:p>
            <a:pPr algn="just">
              <a:buFont typeface="Wingdings" panose="05000000000000000000" pitchFamily="2" charset="2"/>
              <a:buChar char="§"/>
            </a:pPr>
            <a:r>
              <a:rPr lang="vi-VN" altLang="en-US" sz="2400">
                <a:solidFill>
                  <a:srgbClr val="002060"/>
                </a:solidFill>
              </a:rPr>
              <a:t>Công nghiệp hoá, hiện đại hoá gắn với phát triển kinh tế tri thức.</a:t>
            </a:r>
          </a:p>
          <a:p>
            <a:pPr algn="just">
              <a:buFont typeface="Wingdings" panose="05000000000000000000" pitchFamily="2" charset="2"/>
              <a:buChar char="§"/>
            </a:pPr>
            <a:r>
              <a:rPr lang="vi-VN" altLang="en-US" sz="2400">
                <a:solidFill>
                  <a:srgbClr val="002060"/>
                </a:solidFill>
              </a:rPr>
              <a:t>Công nghiệp hoá, hiện đại hoá trong điều kiện kinh tế thị trường định hướng xã hội chủ nghĩa.</a:t>
            </a:r>
          </a:p>
          <a:p>
            <a:pPr algn="just">
              <a:buFont typeface="Wingdings" panose="05000000000000000000" pitchFamily="2" charset="2"/>
              <a:buChar char="§"/>
            </a:pPr>
            <a:r>
              <a:rPr lang="vi-VN" altLang="en-US" sz="2400">
                <a:solidFill>
                  <a:srgbClr val="002060"/>
                </a:solidFill>
              </a:rPr>
              <a:t>Công nghiệp hoá, hiện đại hoá trong bối cảnh toàn cầu hoá kinh tế và Việt Nam đang tích cực, chủ động hội nhập kinh tế quốc tế.</a:t>
            </a:r>
          </a:p>
        </p:txBody>
      </p:sp>
      <p:sp>
        <p:nvSpPr>
          <p:cNvPr id="9" name="Rectangle 2"/>
          <p:cNvSpPr>
            <a:spLocks noGrp="1" noChangeArrowheads="1"/>
          </p:cNvSpPr>
          <p:nvPr>
            <p:ph type="title"/>
          </p:nvPr>
        </p:nvSpPr>
        <p:spPr>
          <a:xfrm>
            <a:off x="628650" y="365126"/>
            <a:ext cx="7886700" cy="1325563"/>
          </a:xfrm>
        </p:spPr>
        <p:txBody>
          <a:bodyPr>
            <a:norm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Đặc</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điểm</a:t>
            </a:r>
            <a:r>
              <a:rPr lang="en-US" altLang="en-US" sz="3200" b="1" dirty="0">
                <a:solidFill>
                  <a:srgbClr val="002060"/>
                </a:solidFill>
                <a:latin typeface="Arial" panose="020B0604020202020204" pitchFamily="34" charset="0"/>
                <a:cs typeface="Arial" panose="020B0604020202020204" pitchFamily="34" charset="0"/>
              </a:rPr>
              <a:t> CNH, HĐH </a:t>
            </a:r>
            <a:br>
              <a:rPr lang="en-US" altLang="en-US" sz="3200" b="1" dirty="0">
                <a:solidFill>
                  <a:srgbClr val="002060"/>
                </a:solidFill>
                <a:latin typeface="Arial" panose="020B0604020202020204" pitchFamily="34" charset="0"/>
                <a:cs typeface="Arial" panose="020B0604020202020204" pitchFamily="34" charset="0"/>
              </a:rPr>
            </a:br>
            <a:r>
              <a:rPr lang="en-US" altLang="en-US" sz="3200" b="1" dirty="0" err="1">
                <a:solidFill>
                  <a:srgbClr val="002060"/>
                </a:solidFill>
                <a:latin typeface="Arial" panose="020B0604020202020204" pitchFamily="34" charset="0"/>
                <a:cs typeface="Arial" panose="020B0604020202020204" pitchFamily="34" charset="0"/>
              </a:rPr>
              <a:t>ở</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Việt</a:t>
            </a:r>
            <a:r>
              <a:rPr lang="en-US" altLang="en-US" sz="3200" b="1" dirty="0">
                <a:solidFill>
                  <a:srgbClr val="002060"/>
                </a:solidFill>
                <a:latin typeface="Arial" panose="020B0604020202020204" pitchFamily="34" charset="0"/>
                <a:cs typeface="Arial" panose="020B0604020202020204" pitchFamily="34" charset="0"/>
              </a:rPr>
              <a:t> Nam</a:t>
            </a:r>
          </a:p>
        </p:txBody>
      </p:sp>
    </p:spTree>
    <p:extLst>
      <p:ext uri="{BB962C8B-B14F-4D97-AF65-F5344CB8AC3E}">
        <p14:creationId xmlns:p14="http://schemas.microsoft.com/office/powerpoint/2010/main" val="216980220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3"/>
          <p:cNvSpPr txBox="1">
            <a:spLocks noChangeArrowheads="1"/>
          </p:cNvSpPr>
          <p:nvPr/>
        </p:nvSpPr>
        <p:spPr bwMode="black">
          <a:xfrm>
            <a:off x="835290" y="1362174"/>
            <a:ext cx="7494999" cy="461851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buFont typeface="Wingdings" panose="05000000000000000000" pitchFamily="2" charset="2"/>
              <a:buChar char="§"/>
            </a:pPr>
            <a:r>
              <a:rPr lang="vi-VN" altLang="en-US" sz="2200" dirty="0">
                <a:solidFill>
                  <a:srgbClr val="002060"/>
                </a:solidFill>
              </a:rPr>
              <a:t>Tạo lập những điều kiện để chuyển đổi từ nền sản xuất - xã hội lạc hậu sang nền sản xuất - xã hội tiến bộ.</a:t>
            </a:r>
            <a:endParaRPr lang="en-US" altLang="en-US" sz="2200" dirty="0">
              <a:solidFill>
                <a:srgbClr val="002060"/>
              </a:solidFill>
            </a:endParaRPr>
          </a:p>
          <a:p>
            <a:pPr algn="just">
              <a:lnSpc>
                <a:spcPct val="110000"/>
              </a:lnSpc>
              <a:buFont typeface="Wingdings" panose="05000000000000000000" pitchFamily="2" charset="2"/>
              <a:buChar char="§"/>
            </a:pPr>
            <a:r>
              <a:rPr lang="vi-VN" altLang="en-US" sz="2200" dirty="0">
                <a:solidFill>
                  <a:srgbClr val="002060"/>
                </a:solidFill>
              </a:rPr>
              <a:t>Thực hiện các nhiệm vụ để chuyển đổi nền sản xuất - xã hội lạc hậu sang nền sản xuất - xã hội hiện đại.</a:t>
            </a:r>
            <a:endParaRPr lang="en-US" altLang="en-US" sz="2200" dirty="0">
              <a:solidFill>
                <a:srgbClr val="002060"/>
              </a:solidFill>
            </a:endParaRPr>
          </a:p>
          <a:p>
            <a:pPr marL="806450" algn="just">
              <a:lnSpc>
                <a:spcPct val="110000"/>
              </a:lnSpc>
              <a:buFont typeface="Wingdings" panose="05000000000000000000" pitchFamily="2" charset="2"/>
              <a:buChar char="ü"/>
            </a:pPr>
            <a:r>
              <a:rPr lang="vi-VN" altLang="en-US" sz="2200" dirty="0">
                <a:solidFill>
                  <a:srgbClr val="002060"/>
                </a:solidFill>
              </a:rPr>
              <a:t>Đẩy mạnh ứng dụng những thành tựu khoa học, công nghệ mới, hiện đại</a:t>
            </a:r>
            <a:r>
              <a:rPr lang="en-US" altLang="en-US" sz="2200" dirty="0">
                <a:solidFill>
                  <a:srgbClr val="002060"/>
                </a:solidFill>
              </a:rPr>
              <a:t> </a:t>
            </a:r>
            <a:r>
              <a:rPr lang="en-US" altLang="en-US" sz="2200" dirty="0">
                <a:solidFill>
                  <a:srgbClr val="002060"/>
                </a:solidFill>
                <a:sym typeface="Wingdings" panose="05000000000000000000" pitchFamily="2" charset="2"/>
              </a:rPr>
              <a:t> </a:t>
            </a:r>
            <a:r>
              <a:rPr lang="en-US" altLang="en-US" sz="2200" dirty="0" err="1">
                <a:solidFill>
                  <a:srgbClr val="002060"/>
                </a:solidFill>
                <a:latin typeface="Arial" panose="020B0604020202020204" pitchFamily="34" charset="0"/>
                <a:cs typeface="Arial" panose="020B0604020202020204" pitchFamily="34" charset="0"/>
                <a:sym typeface="Wingdings" panose="05000000000000000000" pitchFamily="2" charset="2"/>
              </a:rPr>
              <a:t>kinh</a:t>
            </a:r>
            <a:r>
              <a:rPr lang="en-US" altLang="en-US" sz="22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200" dirty="0" err="1">
                <a:solidFill>
                  <a:srgbClr val="002060"/>
                </a:solidFill>
                <a:latin typeface="Arial" panose="020B0604020202020204" pitchFamily="34" charset="0"/>
                <a:cs typeface="Arial" panose="020B0604020202020204" pitchFamily="34" charset="0"/>
                <a:sym typeface="Wingdings" panose="05000000000000000000" pitchFamily="2" charset="2"/>
              </a:rPr>
              <a:t>tế</a:t>
            </a:r>
            <a:r>
              <a:rPr lang="en-US" altLang="en-US" sz="2200" dirty="0">
                <a:solidFill>
                  <a:srgbClr val="002060"/>
                </a:solidFill>
                <a:latin typeface="Arial" panose="020B0604020202020204" pitchFamily="34" charset="0"/>
                <a:cs typeface="Arial" panose="020B0604020202020204" pitchFamily="34" charset="0"/>
                <a:sym typeface="Wingdings" panose="05000000000000000000" pitchFamily="2" charset="2"/>
              </a:rPr>
              <a:t> tri </a:t>
            </a:r>
            <a:r>
              <a:rPr lang="en-US" altLang="en-US" sz="2200" dirty="0" err="1">
                <a:solidFill>
                  <a:srgbClr val="002060"/>
                </a:solidFill>
                <a:latin typeface="Arial" panose="020B0604020202020204" pitchFamily="34" charset="0"/>
                <a:cs typeface="Arial" panose="020B0604020202020204" pitchFamily="34" charset="0"/>
                <a:sym typeface="Wingdings" panose="05000000000000000000" pitchFamily="2" charset="2"/>
              </a:rPr>
              <a:t>thức</a:t>
            </a:r>
            <a:endParaRPr lang="en-US" altLang="en-US" sz="2200" dirty="0">
              <a:solidFill>
                <a:srgbClr val="002060"/>
              </a:solidFill>
              <a:latin typeface="Arial" panose="020B0604020202020204" pitchFamily="34" charset="0"/>
              <a:cs typeface="Arial" panose="020B0604020202020204" pitchFamily="34" charset="0"/>
            </a:endParaRPr>
          </a:p>
          <a:p>
            <a:pPr marL="806450" algn="just">
              <a:lnSpc>
                <a:spcPct val="110000"/>
              </a:lnSpc>
              <a:buFont typeface="Wingdings" panose="05000000000000000000" pitchFamily="2" charset="2"/>
              <a:buChar char="ü"/>
            </a:pPr>
            <a:r>
              <a:rPr lang="vi-VN" altLang="en-US" sz="2200" dirty="0">
                <a:solidFill>
                  <a:srgbClr val="002060"/>
                </a:solidFill>
              </a:rPr>
              <a:t>Chuyển đổi cơ cấu kinh tế theo hướng hiện đại, hợp lý và hiệu quả</a:t>
            </a:r>
            <a:endParaRPr lang="en-US" altLang="en-US" sz="2200" dirty="0">
              <a:solidFill>
                <a:srgbClr val="002060"/>
              </a:solidFill>
            </a:endParaRPr>
          </a:p>
          <a:p>
            <a:pPr marL="806450" algn="just">
              <a:lnSpc>
                <a:spcPct val="110000"/>
              </a:lnSpc>
              <a:buFont typeface="Wingdings" panose="05000000000000000000" pitchFamily="2" charset="2"/>
              <a:buChar char="ü"/>
            </a:pPr>
            <a:r>
              <a:rPr lang="vi-VN" altLang="en-US" sz="2200" dirty="0">
                <a:solidFill>
                  <a:srgbClr val="002060"/>
                </a:solidFill>
              </a:rPr>
              <a:t>Từng bước hoàn thiện quan hệ sản xuất phù hợp với trình độ phát triển của lực lượng sản xuất</a:t>
            </a:r>
            <a:endParaRPr lang="en-US" altLang="en-US" sz="2200" dirty="0">
              <a:solidFill>
                <a:srgbClr val="002060"/>
              </a:solidFill>
            </a:endParaRPr>
          </a:p>
          <a:p>
            <a:pPr marL="806450" algn="just">
              <a:lnSpc>
                <a:spcPct val="110000"/>
              </a:lnSpc>
              <a:buFont typeface="Wingdings" panose="05000000000000000000" pitchFamily="2" charset="2"/>
              <a:buChar char="ü"/>
            </a:pPr>
            <a:r>
              <a:rPr lang="vi-VN" altLang="en-US" sz="2200" dirty="0">
                <a:solidFill>
                  <a:srgbClr val="002060"/>
                </a:solidFill>
              </a:rPr>
              <a:t>Sẵn sàng thích ứng với tác động của bối cảnh cách mạng công nghiệp lần thứ tư (4.0)</a:t>
            </a:r>
          </a:p>
        </p:txBody>
      </p:sp>
      <p:sp>
        <p:nvSpPr>
          <p:cNvPr id="9" name="Rectangle 2"/>
          <p:cNvSpPr>
            <a:spLocks noGrp="1" noChangeArrowheads="1"/>
          </p:cNvSpPr>
          <p:nvPr>
            <p:ph type="title"/>
          </p:nvPr>
        </p:nvSpPr>
        <p:spPr>
          <a:xfrm>
            <a:off x="628650" y="365126"/>
            <a:ext cx="7886700" cy="1027639"/>
          </a:xfrm>
        </p:spPr>
        <p:txBody>
          <a:bodyPr>
            <a:norm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Nội</a:t>
            </a:r>
            <a:r>
              <a:rPr lang="en-US" altLang="en-US" sz="3200" b="1" dirty="0">
                <a:solidFill>
                  <a:srgbClr val="002060"/>
                </a:solidFill>
                <a:latin typeface="Arial" panose="020B0604020202020204" pitchFamily="34" charset="0"/>
                <a:cs typeface="Arial" panose="020B0604020202020204" pitchFamily="34" charset="0"/>
              </a:rPr>
              <a:t> dung CNH, HĐH </a:t>
            </a:r>
            <a:r>
              <a:rPr lang="en-US" altLang="en-US" sz="3200" b="1" dirty="0" err="1">
                <a:solidFill>
                  <a:srgbClr val="002060"/>
                </a:solidFill>
                <a:latin typeface="Arial" panose="020B0604020202020204" pitchFamily="34" charset="0"/>
                <a:cs typeface="Arial" panose="020B0604020202020204" pitchFamily="34" charset="0"/>
              </a:rPr>
              <a:t>ở</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Việt</a:t>
            </a:r>
            <a:r>
              <a:rPr lang="en-US" altLang="en-US" sz="3200" b="1" dirty="0">
                <a:solidFill>
                  <a:srgbClr val="002060"/>
                </a:solidFill>
                <a:latin typeface="Arial" panose="020B0604020202020204" pitchFamily="34" charset="0"/>
                <a:cs typeface="Arial" panose="020B0604020202020204" pitchFamily="34" charset="0"/>
              </a:rPr>
              <a:t> Nam</a:t>
            </a:r>
          </a:p>
        </p:txBody>
      </p:sp>
    </p:spTree>
    <p:extLst>
      <p:ext uri="{BB962C8B-B14F-4D97-AF65-F5344CB8AC3E}">
        <p14:creationId xmlns:p14="http://schemas.microsoft.com/office/powerpoint/2010/main" val="283933057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35E809-76F4-4A22-8D6F-96F56FD4A0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4778"/>
            <a:ext cx="9144000" cy="6351373"/>
          </a:xfrm>
          <a:prstGeom prst="rect">
            <a:avLst/>
          </a:prstGeom>
        </p:spPr>
      </p:pic>
    </p:spTree>
    <p:extLst>
      <p:ext uri="{BB962C8B-B14F-4D97-AF65-F5344CB8AC3E}">
        <p14:creationId xmlns:p14="http://schemas.microsoft.com/office/powerpoint/2010/main" val="41939681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35E809-76F4-4A22-8D6F-96F56FD4A07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4779" y="234778"/>
            <a:ext cx="8798011" cy="6351373"/>
          </a:xfrm>
          <a:prstGeom prst="rect">
            <a:avLst/>
          </a:prstGeom>
        </p:spPr>
      </p:pic>
    </p:spTree>
    <p:extLst>
      <p:ext uri="{BB962C8B-B14F-4D97-AF65-F5344CB8AC3E}">
        <p14:creationId xmlns:p14="http://schemas.microsoft.com/office/powerpoint/2010/main" val="1361079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35E809-76F4-4A22-8D6F-96F56FD4A07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0440" y="234778"/>
            <a:ext cx="8783121" cy="6351373"/>
          </a:xfrm>
          <a:prstGeom prst="rect">
            <a:avLst/>
          </a:prstGeom>
        </p:spPr>
      </p:pic>
    </p:spTree>
    <p:extLst>
      <p:ext uri="{BB962C8B-B14F-4D97-AF65-F5344CB8AC3E}">
        <p14:creationId xmlns:p14="http://schemas.microsoft.com/office/powerpoint/2010/main" val="2125878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562" name="Rectangle 2"/>
          <p:cNvSpPr>
            <a:spLocks noGrp="1" noChangeArrowheads="1"/>
          </p:cNvSpPr>
          <p:nvPr>
            <p:ph type="title"/>
          </p:nvPr>
        </p:nvSpPr>
        <p:spPr/>
        <p:txBody>
          <a:bodyPr>
            <a:normAutofit/>
          </a:bodyPr>
          <a:lstStyle/>
          <a:p>
            <a:pPr algn="ctr"/>
            <a:r>
              <a:rPr lang="en-US" altLang="en-US" sz="2800" b="1" dirty="0">
                <a:solidFill>
                  <a:srgbClr val="002060"/>
                </a:solidFill>
                <a:latin typeface="Arial" panose="020B0604020202020204" pitchFamily="34" charset="0"/>
                <a:cs typeface="Arial" panose="020B0604020202020204" pitchFamily="34" charset="0"/>
              </a:rPr>
              <a:t>6.1. CÔNG NGHIỆP HOÁ, HIỆN ĐẠI HOÁ </a:t>
            </a:r>
            <a:br>
              <a:rPr lang="en-US" altLang="en-US" sz="2800" b="1" dirty="0">
                <a:solidFill>
                  <a:srgbClr val="002060"/>
                </a:solidFill>
                <a:latin typeface="Arial" panose="020B0604020202020204" pitchFamily="34" charset="0"/>
                <a:cs typeface="Arial" panose="020B0604020202020204" pitchFamily="34" charset="0"/>
              </a:rPr>
            </a:br>
            <a:r>
              <a:rPr lang="en-US" altLang="en-US" sz="2800" b="1" dirty="0" err="1">
                <a:solidFill>
                  <a:srgbClr val="002060"/>
                </a:solidFill>
                <a:latin typeface="Arial" panose="020B0604020202020204" pitchFamily="34" charset="0"/>
                <a:cs typeface="Arial" panose="020B0604020202020204" pitchFamily="34" charset="0"/>
              </a:rPr>
              <a:t>Ở</a:t>
            </a:r>
            <a:r>
              <a:rPr lang="en-US" altLang="en-US" sz="2800" b="1" dirty="0">
                <a:solidFill>
                  <a:srgbClr val="002060"/>
                </a:solidFill>
                <a:latin typeface="Arial" panose="020B0604020202020204" pitchFamily="34" charset="0"/>
                <a:cs typeface="Arial" panose="020B0604020202020204" pitchFamily="34" charset="0"/>
              </a:rPr>
              <a:t> VIỆT NAM</a:t>
            </a:r>
          </a:p>
        </p:txBody>
      </p:sp>
      <p:sp>
        <p:nvSpPr>
          <p:cNvPr id="1090565" name="AutoShape 5"/>
          <p:cNvSpPr>
            <a:spLocks noChangeArrowheads="1"/>
          </p:cNvSpPr>
          <p:nvPr/>
        </p:nvSpPr>
        <p:spPr bwMode="gray">
          <a:xfrm>
            <a:off x="3590924" y="1868559"/>
            <a:ext cx="5121224" cy="1067169"/>
          </a:xfrm>
          <a:prstGeom prst="roundRect">
            <a:avLst>
              <a:gd name="adj" fmla="val 50000"/>
            </a:avLst>
          </a:prstGeom>
          <a:noFill/>
          <a:ln w="19050" cap="rnd">
            <a:solidFill>
              <a:schemeClr val="tx1"/>
            </a:solidFill>
            <a:prstDash val="sysDot"/>
            <a:round/>
            <a:headEnd/>
            <a:tailEnd/>
          </a:ln>
          <a:effectLst>
            <a:outerShdw dist="40161" dir="4293903" algn="ctr" rotWithShape="0">
              <a:srgbClr val="1C1C1C">
                <a:alpha val="50000"/>
              </a:srgbClr>
            </a:outerShdw>
          </a:effectLst>
          <a:extLst>
            <a:ext uri="{909E8E84-426E-40dd-AFC4-6F175D3DCCD1}">
              <a14:hiddenFill xmlns:a14="http://schemas.microsoft.com/office/drawing/2010/main" xmlns="">
                <a:solidFill>
                  <a:schemeClr val="bg1"/>
                </a:solidFill>
              </a14:hiddenFill>
            </a:ext>
          </a:extLst>
        </p:spPr>
        <p:txBody>
          <a:bodyPr wrap="none" anchor="ctr"/>
          <a:lstStyle/>
          <a:p>
            <a:endParaRPr lang="en-US">
              <a:solidFill>
                <a:srgbClr val="002060"/>
              </a:solidFill>
            </a:endParaRPr>
          </a:p>
        </p:txBody>
      </p:sp>
      <p:sp>
        <p:nvSpPr>
          <p:cNvPr id="1090566" name="Rectangle 6"/>
          <p:cNvSpPr>
            <a:spLocks noChangeArrowheads="1"/>
          </p:cNvSpPr>
          <p:nvPr/>
        </p:nvSpPr>
        <p:spPr bwMode="black">
          <a:xfrm>
            <a:off x="3705986" y="2048357"/>
            <a:ext cx="4793399" cy="64633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eaLnBrk="0" hangingPunct="0"/>
            <a:r>
              <a:rPr lang="en-US" altLang="en-US" b="1" dirty="0">
                <a:solidFill>
                  <a:srgbClr val="002060"/>
                </a:solidFill>
                <a:latin typeface="Arial" panose="020B0604020202020204" pitchFamily="34" charset="0"/>
              </a:rPr>
              <a:t>KHÁI QUÁT CÁCH MẠNG CÔNG NGHIỆP</a:t>
            </a:r>
          </a:p>
          <a:p>
            <a:pPr eaLnBrk="0" hangingPunct="0"/>
            <a:r>
              <a:rPr lang="en-US" altLang="en-US" b="1" dirty="0">
                <a:solidFill>
                  <a:srgbClr val="002060"/>
                </a:solidFill>
                <a:latin typeface="Arial" panose="020B0604020202020204" pitchFamily="34" charset="0"/>
              </a:rPr>
              <a:t>VÀ CÔNG NGHIỆP HOÁ HÓA</a:t>
            </a:r>
          </a:p>
        </p:txBody>
      </p:sp>
      <p:sp>
        <p:nvSpPr>
          <p:cNvPr id="1090567" name="Oval 7"/>
          <p:cNvSpPr>
            <a:spLocks noChangeArrowheads="1"/>
          </p:cNvSpPr>
          <p:nvPr/>
        </p:nvSpPr>
        <p:spPr bwMode="gray">
          <a:xfrm>
            <a:off x="3505200" y="2238375"/>
            <a:ext cx="228600" cy="228600"/>
          </a:xfrm>
          <a:prstGeom prst="ellipse">
            <a:avLst/>
          </a:prstGeom>
          <a:gradFill rotWithShape="1">
            <a:gsLst>
              <a:gs pos="0">
                <a:schemeClr val="accent1"/>
              </a:gs>
              <a:gs pos="100000">
                <a:schemeClr val="accent1">
                  <a:gamma/>
                  <a:shade val="66667"/>
                  <a:invGamma/>
                </a:schemeClr>
              </a:gs>
            </a:gsLst>
            <a:path path="shape">
              <a:fillToRect l="50000" t="50000" r="50000" b="50000"/>
            </a:path>
          </a:gradFill>
          <a:ln w="19050">
            <a:solidFill>
              <a:schemeClr val="tx1"/>
            </a:solidFill>
            <a:round/>
            <a:headEnd/>
            <a:tailEnd/>
          </a:ln>
          <a:effectLst>
            <a:outerShdw dist="12700" dir="10800000" algn="ctr" rotWithShape="0">
              <a:srgbClr val="1C1C1C">
                <a:alpha val="50000"/>
              </a:srgbClr>
            </a:outerShdw>
          </a:effectLst>
        </p:spPr>
        <p:txBody>
          <a:bodyPr wrap="none" anchor="ctr"/>
          <a:lstStyle/>
          <a:p>
            <a:endParaRPr lang="en-US">
              <a:solidFill>
                <a:srgbClr val="002060"/>
              </a:solidFill>
            </a:endParaRPr>
          </a:p>
        </p:txBody>
      </p:sp>
      <p:sp>
        <p:nvSpPr>
          <p:cNvPr id="1090581" name="AutoShape 21"/>
          <p:cNvSpPr>
            <a:spLocks noChangeArrowheads="1"/>
          </p:cNvSpPr>
          <p:nvPr/>
        </p:nvSpPr>
        <p:spPr bwMode="gray">
          <a:xfrm>
            <a:off x="3590923" y="4594883"/>
            <a:ext cx="5326055" cy="1153683"/>
          </a:xfrm>
          <a:prstGeom prst="roundRect">
            <a:avLst>
              <a:gd name="adj" fmla="val 50000"/>
            </a:avLst>
          </a:prstGeom>
          <a:noFill/>
          <a:ln w="19050" cap="rnd">
            <a:solidFill>
              <a:schemeClr val="tx1"/>
            </a:solidFill>
            <a:prstDash val="sysDot"/>
            <a:round/>
            <a:headEnd/>
            <a:tailEnd/>
          </a:ln>
          <a:effectLst>
            <a:outerShdw dist="40161" dir="4293903" algn="ctr" rotWithShape="0">
              <a:srgbClr val="1C1C1C">
                <a:alpha val="50000"/>
              </a:srgbClr>
            </a:outerShdw>
          </a:effectLst>
          <a:extLst>
            <a:ext uri="{909E8E84-426E-40dd-AFC4-6F175D3DCCD1}">
              <a14:hiddenFill xmlns:a14="http://schemas.microsoft.com/office/drawing/2010/main" xmlns="">
                <a:solidFill>
                  <a:schemeClr val="bg1"/>
                </a:solidFill>
              </a14:hiddenFill>
            </a:ext>
          </a:extLst>
        </p:spPr>
        <p:txBody>
          <a:bodyPr wrap="none" anchor="ctr"/>
          <a:lstStyle/>
          <a:p>
            <a:endParaRPr lang="en-US">
              <a:solidFill>
                <a:srgbClr val="002060"/>
              </a:solidFill>
            </a:endParaRPr>
          </a:p>
        </p:txBody>
      </p:sp>
      <p:sp>
        <p:nvSpPr>
          <p:cNvPr id="1090582" name="Rectangle 22"/>
          <p:cNvSpPr>
            <a:spLocks noChangeArrowheads="1"/>
          </p:cNvSpPr>
          <p:nvPr/>
        </p:nvSpPr>
        <p:spPr bwMode="black">
          <a:xfrm>
            <a:off x="3805449" y="4873421"/>
            <a:ext cx="4844257" cy="64633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eaLnBrk="0" hangingPunct="0"/>
            <a:r>
              <a:rPr lang="en-US" altLang="en-US" b="1" dirty="0">
                <a:solidFill>
                  <a:srgbClr val="002060"/>
                </a:solidFill>
                <a:latin typeface="Arial" panose="020B0604020202020204" pitchFamily="34" charset="0"/>
              </a:rPr>
              <a:t>CNH, HĐH </a:t>
            </a:r>
            <a:r>
              <a:rPr lang="en-US" altLang="en-US" b="1" dirty="0" err="1">
                <a:solidFill>
                  <a:srgbClr val="002060"/>
                </a:solidFill>
                <a:latin typeface="Arial" panose="020B0604020202020204" pitchFamily="34" charset="0"/>
              </a:rPr>
              <a:t>Ở</a:t>
            </a:r>
            <a:r>
              <a:rPr lang="en-US" altLang="en-US" b="1" dirty="0">
                <a:solidFill>
                  <a:srgbClr val="002060"/>
                </a:solidFill>
                <a:latin typeface="Arial" panose="020B0604020202020204" pitchFamily="34" charset="0"/>
              </a:rPr>
              <a:t> VIỆT NAM TRONG BỐI CẢNH</a:t>
            </a:r>
          </a:p>
          <a:p>
            <a:pPr eaLnBrk="0" hangingPunct="0"/>
            <a:r>
              <a:rPr lang="en-US" altLang="en-US" b="1" dirty="0">
                <a:solidFill>
                  <a:srgbClr val="002060"/>
                </a:solidFill>
                <a:latin typeface="Arial" panose="020B0604020202020204" pitchFamily="34" charset="0"/>
              </a:rPr>
              <a:t>CÁCH MẠNG CÔNG NGHIỆP LẦN THỨ 4</a:t>
            </a:r>
          </a:p>
        </p:txBody>
      </p:sp>
      <p:sp>
        <p:nvSpPr>
          <p:cNvPr id="1090583" name="Oval 23"/>
          <p:cNvSpPr>
            <a:spLocks noChangeArrowheads="1"/>
          </p:cNvSpPr>
          <p:nvPr/>
        </p:nvSpPr>
        <p:spPr bwMode="gray">
          <a:xfrm>
            <a:off x="3505200" y="5053013"/>
            <a:ext cx="228600" cy="228600"/>
          </a:xfrm>
          <a:prstGeom prst="ellipse">
            <a:avLst/>
          </a:prstGeom>
          <a:gradFill rotWithShape="1">
            <a:gsLst>
              <a:gs pos="0">
                <a:schemeClr val="tx1"/>
              </a:gs>
              <a:gs pos="100000">
                <a:schemeClr val="tx1">
                  <a:gamma/>
                  <a:shade val="66667"/>
                  <a:invGamma/>
                </a:schemeClr>
              </a:gs>
            </a:gsLst>
            <a:path path="shape">
              <a:fillToRect l="50000" t="50000" r="50000" b="50000"/>
            </a:path>
          </a:gradFill>
          <a:ln w="19050">
            <a:solidFill>
              <a:schemeClr val="tx1"/>
            </a:solidFill>
            <a:round/>
            <a:headEnd/>
            <a:tailEnd/>
          </a:ln>
          <a:effectLst>
            <a:outerShdw dist="12700" dir="10800000" algn="ctr" rotWithShape="0">
              <a:srgbClr val="1C1C1C">
                <a:alpha val="50000"/>
              </a:srgbClr>
            </a:outerShdw>
          </a:effectLst>
        </p:spPr>
        <p:txBody>
          <a:bodyPr wrap="none" anchor="ctr"/>
          <a:lstStyle/>
          <a:p>
            <a:endParaRPr lang="en-US">
              <a:solidFill>
                <a:srgbClr val="002060"/>
              </a:solidFill>
            </a:endParaRPr>
          </a:p>
        </p:txBody>
      </p:sp>
      <p:sp>
        <p:nvSpPr>
          <p:cNvPr id="1090585" name="Line 25"/>
          <p:cNvSpPr>
            <a:spLocks noChangeShapeType="1"/>
          </p:cNvSpPr>
          <p:nvPr/>
        </p:nvSpPr>
        <p:spPr bwMode="gray">
          <a:xfrm flipV="1">
            <a:off x="2514600" y="2362200"/>
            <a:ext cx="381000" cy="38100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090586" name="Line 26"/>
          <p:cNvSpPr>
            <a:spLocks noChangeShapeType="1"/>
          </p:cNvSpPr>
          <p:nvPr/>
        </p:nvSpPr>
        <p:spPr bwMode="gray">
          <a:xfrm>
            <a:off x="2438400" y="4876800"/>
            <a:ext cx="457200" cy="30480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grpSp>
        <p:nvGrpSpPr>
          <p:cNvPr id="1090587" name="Group 27"/>
          <p:cNvGrpSpPr>
            <a:grpSpLocks/>
          </p:cNvGrpSpPr>
          <p:nvPr/>
        </p:nvGrpSpPr>
        <p:grpSpPr bwMode="auto">
          <a:xfrm>
            <a:off x="2895600" y="2362200"/>
            <a:ext cx="609600" cy="2819400"/>
            <a:chOff x="1824" y="1488"/>
            <a:chExt cx="240" cy="1776"/>
          </a:xfrm>
        </p:grpSpPr>
        <p:sp>
          <p:nvSpPr>
            <p:cNvPr id="1090588" name="Line 28"/>
            <p:cNvSpPr>
              <a:spLocks noChangeShapeType="1"/>
            </p:cNvSpPr>
            <p:nvPr/>
          </p:nvSpPr>
          <p:spPr bwMode="gray">
            <a:xfrm>
              <a:off x="1824" y="1488"/>
              <a:ext cx="240" cy="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090589" name="Line 29"/>
            <p:cNvSpPr>
              <a:spLocks noChangeShapeType="1"/>
            </p:cNvSpPr>
            <p:nvPr/>
          </p:nvSpPr>
          <p:spPr bwMode="gray">
            <a:xfrm>
              <a:off x="1824" y="3264"/>
              <a:ext cx="240" cy="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grpSp>
      <p:pic>
        <p:nvPicPr>
          <p:cNvPr id="1090593" name="Picture 3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2150" y="2743200"/>
            <a:ext cx="2159000" cy="2133599"/>
          </a:xfrm>
          <a:prstGeom prst="rect">
            <a:avLst/>
          </a:prstGeom>
          <a:ln>
            <a:noFill/>
          </a:ln>
          <a:effectLst>
            <a:softEdge rad="112500"/>
          </a:effectLst>
          <a:extLst>
            <a:ext uri="{909E8E84-426E-40dd-AFC4-6F175D3DCCD1}">
              <a14:hiddenFill xmlns:a14="http://schemas.microsoft.com/office/drawing/2010/main" xmlns="">
                <a:solidFill>
                  <a:srgbClr val="FFFFFF"/>
                </a:solidFill>
              </a14:hiddenFill>
            </a:ext>
          </a:extLst>
        </p:spPr>
      </p:pic>
      <p:sp>
        <p:nvSpPr>
          <p:cNvPr id="15" name="AutoShape 21"/>
          <p:cNvSpPr>
            <a:spLocks noChangeArrowheads="1"/>
          </p:cNvSpPr>
          <p:nvPr/>
        </p:nvSpPr>
        <p:spPr bwMode="gray">
          <a:xfrm>
            <a:off x="3538492" y="3272591"/>
            <a:ext cx="5326055" cy="1153683"/>
          </a:xfrm>
          <a:prstGeom prst="roundRect">
            <a:avLst>
              <a:gd name="adj" fmla="val 50000"/>
            </a:avLst>
          </a:prstGeom>
          <a:noFill/>
          <a:ln w="19050" cap="rnd">
            <a:solidFill>
              <a:schemeClr val="tx1"/>
            </a:solidFill>
            <a:prstDash val="sysDot"/>
            <a:round/>
            <a:headEnd/>
            <a:tailEnd/>
          </a:ln>
          <a:effectLst>
            <a:outerShdw dist="40161" dir="4293903" algn="ctr" rotWithShape="0">
              <a:srgbClr val="1C1C1C">
                <a:alpha val="50000"/>
              </a:srgbClr>
            </a:outerShdw>
          </a:effectLst>
          <a:extLst>
            <a:ext uri="{909E8E84-426E-40dd-AFC4-6F175D3DCCD1}">
              <a14:hiddenFill xmlns:a14="http://schemas.microsoft.com/office/drawing/2010/main" xmlns="">
                <a:solidFill>
                  <a:schemeClr val="bg1"/>
                </a:solidFill>
              </a14:hiddenFill>
            </a:ext>
          </a:extLst>
        </p:spPr>
        <p:txBody>
          <a:bodyPr wrap="none" anchor="ctr"/>
          <a:lstStyle/>
          <a:p>
            <a:endParaRPr lang="en-US">
              <a:solidFill>
                <a:srgbClr val="002060"/>
              </a:solidFill>
            </a:endParaRPr>
          </a:p>
        </p:txBody>
      </p:sp>
      <p:sp>
        <p:nvSpPr>
          <p:cNvPr id="16" name="Oval 7"/>
          <p:cNvSpPr>
            <a:spLocks noChangeArrowheads="1"/>
          </p:cNvSpPr>
          <p:nvPr/>
        </p:nvSpPr>
        <p:spPr bwMode="gray">
          <a:xfrm>
            <a:off x="3411803" y="3783540"/>
            <a:ext cx="228600" cy="228600"/>
          </a:xfrm>
          <a:prstGeom prst="ellipse">
            <a:avLst/>
          </a:prstGeom>
          <a:gradFill rotWithShape="1">
            <a:gsLst>
              <a:gs pos="0">
                <a:schemeClr val="accent1"/>
              </a:gs>
              <a:gs pos="100000">
                <a:schemeClr val="accent1">
                  <a:gamma/>
                  <a:shade val="66667"/>
                  <a:invGamma/>
                </a:schemeClr>
              </a:gs>
            </a:gsLst>
            <a:path path="shape">
              <a:fillToRect l="50000" t="50000" r="50000" b="50000"/>
            </a:path>
          </a:gradFill>
          <a:ln w="19050">
            <a:solidFill>
              <a:schemeClr val="tx1"/>
            </a:solidFill>
            <a:round/>
            <a:headEnd/>
            <a:tailEnd/>
          </a:ln>
          <a:effectLst>
            <a:outerShdw dist="12700" dir="10800000" algn="ctr" rotWithShape="0">
              <a:srgbClr val="1C1C1C">
                <a:alpha val="50000"/>
              </a:srgbClr>
            </a:outerShdw>
          </a:effectLst>
        </p:spPr>
        <p:txBody>
          <a:bodyPr wrap="none" anchor="ctr"/>
          <a:lstStyle/>
          <a:p>
            <a:endParaRPr lang="en-US">
              <a:solidFill>
                <a:srgbClr val="002060"/>
              </a:solidFill>
            </a:endParaRPr>
          </a:p>
        </p:txBody>
      </p:sp>
      <p:sp>
        <p:nvSpPr>
          <p:cNvPr id="18" name="Line 28"/>
          <p:cNvSpPr>
            <a:spLocks noChangeShapeType="1"/>
          </p:cNvSpPr>
          <p:nvPr/>
        </p:nvSpPr>
        <p:spPr bwMode="gray">
          <a:xfrm>
            <a:off x="2774892" y="3921019"/>
            <a:ext cx="609600" cy="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9" name="Rectangle 22"/>
          <p:cNvSpPr>
            <a:spLocks noChangeArrowheads="1"/>
          </p:cNvSpPr>
          <p:nvPr/>
        </p:nvSpPr>
        <p:spPr bwMode="black">
          <a:xfrm>
            <a:off x="3681232" y="3414584"/>
            <a:ext cx="5015127" cy="923330"/>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eaLnBrk="0" hangingPunct="0"/>
            <a:r>
              <a:rPr lang="en-US" altLang="en-US" b="1" dirty="0">
                <a:solidFill>
                  <a:srgbClr val="002060"/>
                </a:solidFill>
                <a:latin typeface="Arial" panose="020B0604020202020204" pitchFamily="34" charset="0"/>
              </a:rPr>
              <a:t>TÍNH TẤT YẾU KHÁCH QUAN VÀ NỘI DUNG </a:t>
            </a:r>
          </a:p>
          <a:p>
            <a:pPr eaLnBrk="0" hangingPunct="0"/>
            <a:r>
              <a:rPr lang="en-US" altLang="en-US" b="1" dirty="0">
                <a:solidFill>
                  <a:srgbClr val="002060"/>
                </a:solidFill>
                <a:latin typeface="Arial" panose="020B0604020202020204" pitchFamily="34" charset="0"/>
              </a:rPr>
              <a:t>CỦA CÔNG NGHIỆP HOÁ, HIỆN ĐẠI HOÁ</a:t>
            </a:r>
          </a:p>
          <a:p>
            <a:pPr eaLnBrk="0" hangingPunct="0"/>
            <a:r>
              <a:rPr lang="en-US" altLang="en-US" b="1" dirty="0" err="1">
                <a:solidFill>
                  <a:srgbClr val="002060"/>
                </a:solidFill>
                <a:latin typeface="Arial" panose="020B0604020202020204" pitchFamily="34" charset="0"/>
              </a:rPr>
              <a:t>Ở</a:t>
            </a:r>
            <a:r>
              <a:rPr lang="en-US" altLang="en-US" b="1" dirty="0">
                <a:solidFill>
                  <a:srgbClr val="002060"/>
                </a:solidFill>
                <a:latin typeface="Arial" panose="020B0604020202020204" pitchFamily="34" charset="0"/>
              </a:rPr>
              <a:t> VIỆT NAM</a:t>
            </a:r>
          </a:p>
        </p:txBody>
      </p:sp>
    </p:spTree>
    <p:extLst>
      <p:ext uri="{BB962C8B-B14F-4D97-AF65-F5344CB8AC3E}">
        <p14:creationId xmlns:p14="http://schemas.microsoft.com/office/powerpoint/2010/main" val="74498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mph" presetSubtype="0" fill="hold" grpId="0" nodeType="clickEffect">
                                  <p:stCondLst>
                                    <p:cond delay="0"/>
                                  </p:stCondLst>
                                  <p:childTnLst>
                                    <p:animClr clrSpc="hsl" dir="cw">
                                      <p:cBhvr override="childStyle">
                                        <p:cTn id="6" dur="500" fill="hold"/>
                                        <p:tgtEl>
                                          <p:spTgt spid="1090581"/>
                                        </p:tgtEl>
                                        <p:attrNameLst>
                                          <p:attrName>style.color</p:attrName>
                                        </p:attrNameLst>
                                      </p:cBhvr>
                                      <p:by>
                                        <p:hsl h="10842353" s="0" l="0"/>
                                      </p:by>
                                    </p:animClr>
                                    <p:animClr clrSpc="hsl" dir="cw">
                                      <p:cBhvr>
                                        <p:cTn id="7" dur="500" fill="hold"/>
                                        <p:tgtEl>
                                          <p:spTgt spid="1090581"/>
                                        </p:tgtEl>
                                        <p:attrNameLst>
                                          <p:attrName>fillcolor</p:attrName>
                                        </p:attrNameLst>
                                      </p:cBhvr>
                                      <p:by>
                                        <p:hsl h="10842353" s="0" l="0"/>
                                      </p:by>
                                    </p:animClr>
                                    <p:animClr clrSpc="hsl" dir="cw">
                                      <p:cBhvr>
                                        <p:cTn id="8" dur="500" fill="hold"/>
                                        <p:tgtEl>
                                          <p:spTgt spid="1090581"/>
                                        </p:tgtEl>
                                        <p:attrNameLst>
                                          <p:attrName>stroke.color</p:attrName>
                                        </p:attrNameLst>
                                      </p:cBhvr>
                                      <p:by>
                                        <p:hsl h="10842353" s="0" l="0"/>
                                      </p:by>
                                    </p:animClr>
                                    <p:set>
                                      <p:cBhvr>
                                        <p:cTn id="9" dur="500" fill="hold"/>
                                        <p:tgtEl>
                                          <p:spTgt spid="109058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058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18" name="Rectangle 18"/>
          <p:cNvSpPr>
            <a:spLocks noGrp="1" noChangeArrowheads="1"/>
          </p:cNvSpPr>
          <p:nvPr>
            <p:ph type="title"/>
          </p:nvPr>
        </p:nvSpPr>
        <p:spPr>
          <a:xfrm>
            <a:off x="628650" y="283200"/>
            <a:ext cx="7886700" cy="1177838"/>
          </a:xfrm>
        </p:spPr>
        <p:txBody>
          <a:bodyPr>
            <a:normAutofit/>
          </a:bodyPr>
          <a:lstStyle/>
          <a:p>
            <a:pPr algn="ctr">
              <a:lnSpc>
                <a:spcPct val="100000"/>
              </a:lnSpc>
            </a:pPr>
            <a:r>
              <a:rPr lang="en-US" altLang="en-US" sz="2800" b="1" dirty="0" err="1">
                <a:solidFill>
                  <a:srgbClr val="002060"/>
                </a:solidFill>
                <a:latin typeface="Arial" panose="020B0604020202020204" pitchFamily="34" charset="0"/>
                <a:cs typeface="Arial" panose="020B0604020202020204" pitchFamily="34" charset="0"/>
              </a:rPr>
              <a:t>Phương</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thức</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thích</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ứng</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của</a:t>
            </a:r>
            <a:r>
              <a:rPr lang="en-US" altLang="en-US" sz="2800" b="1" dirty="0">
                <a:solidFill>
                  <a:srgbClr val="002060"/>
                </a:solidFill>
                <a:latin typeface="Arial" panose="020B0604020202020204" pitchFamily="34" charset="0"/>
                <a:cs typeface="Arial" panose="020B0604020202020204" pitchFamily="34" charset="0"/>
              </a:rPr>
              <a:t> VN </a:t>
            </a:r>
            <a:r>
              <a:rPr lang="en-US" altLang="en-US" sz="2800" b="1" dirty="0" err="1">
                <a:solidFill>
                  <a:srgbClr val="002060"/>
                </a:solidFill>
                <a:latin typeface="Arial" panose="020B0604020202020204" pitchFamily="34" charset="0"/>
                <a:cs typeface="Arial" panose="020B0604020202020204" pitchFamily="34" charset="0"/>
              </a:rPr>
              <a:t>đối</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với</a:t>
            </a:r>
            <a:r>
              <a:rPr lang="en-US" altLang="en-US" sz="2800" b="1" dirty="0">
                <a:solidFill>
                  <a:srgbClr val="002060"/>
                </a:solidFill>
                <a:latin typeface="Arial" panose="020B0604020202020204" pitchFamily="34" charset="0"/>
                <a:cs typeface="Arial" panose="020B0604020202020204" pitchFamily="34" charset="0"/>
              </a:rPr>
              <a:t> </a:t>
            </a:r>
            <a:br>
              <a:rPr lang="en-US" altLang="en-US" sz="2800" b="1" dirty="0">
                <a:solidFill>
                  <a:srgbClr val="002060"/>
                </a:solidFill>
                <a:latin typeface="Arial" panose="020B0604020202020204" pitchFamily="34" charset="0"/>
                <a:cs typeface="Arial" panose="020B0604020202020204" pitchFamily="34" charset="0"/>
              </a:rPr>
            </a:br>
            <a:r>
              <a:rPr lang="en-US" altLang="en-US" sz="2800" b="1" dirty="0">
                <a:solidFill>
                  <a:srgbClr val="002060"/>
                </a:solidFill>
                <a:latin typeface="Arial" panose="020B0604020202020204" pitchFamily="34" charset="0"/>
                <a:cs typeface="Arial" panose="020B0604020202020204" pitchFamily="34" charset="0"/>
              </a:rPr>
              <a:t>CÁCH MẠNG CÔNG NGHIỆP 4.0</a:t>
            </a:r>
          </a:p>
        </p:txBody>
      </p:sp>
      <p:sp>
        <p:nvSpPr>
          <p:cNvPr id="15" name="Rectangle 23"/>
          <p:cNvSpPr txBox="1">
            <a:spLocks noChangeArrowheads="1"/>
          </p:cNvSpPr>
          <p:nvPr/>
        </p:nvSpPr>
        <p:spPr bwMode="black">
          <a:xfrm>
            <a:off x="2812240" y="1983431"/>
            <a:ext cx="5981840" cy="38060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buFont typeface="Wingdings" charset="2"/>
              <a:buChar char="§"/>
            </a:pPr>
            <a:r>
              <a:rPr lang="en-US" altLang="en-US" sz="2400" dirty="0" err="1">
                <a:solidFill>
                  <a:srgbClr val="002060"/>
                </a:solidFill>
                <a:latin typeface="Arial" panose="020B0604020202020204" pitchFamily="34" charset="0"/>
                <a:cs typeface="Arial" panose="020B0604020202020204" pitchFamily="34" charset="0"/>
              </a:rPr>
              <a:t>Hoàn</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thiện</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thể</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chế</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xây</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dựng</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nền</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kinh</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tế</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dựa</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trên</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nền</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tảng</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sáng</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tạo</a:t>
            </a:r>
            <a:r>
              <a:rPr lang="en-US" altLang="en-US" sz="2400" dirty="0">
                <a:solidFill>
                  <a:srgbClr val="002060"/>
                </a:solidFill>
                <a:latin typeface="Arial" panose="020B0604020202020204" pitchFamily="34" charset="0"/>
                <a:cs typeface="Arial" panose="020B0604020202020204" pitchFamily="34" charset="0"/>
              </a:rPr>
              <a:t>.</a:t>
            </a:r>
          </a:p>
          <a:p>
            <a:pPr algn="just">
              <a:lnSpc>
                <a:spcPct val="120000"/>
              </a:lnSpc>
              <a:buFont typeface="Wingdings" charset="2"/>
              <a:buChar char="§"/>
            </a:pPr>
            <a:r>
              <a:rPr lang="vi-VN"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Nắm bắt và đẩy mạnh việc ứng dụng những thành tựu của cuộc cách mạng công nghiệp lần thứ tư (4.0).</a:t>
            </a:r>
            <a:endPar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endParaRPr>
          </a:p>
          <a:p>
            <a:pPr algn="just">
              <a:lnSpc>
                <a:spcPct val="120000"/>
              </a:lnSpc>
              <a:buFont typeface="Wingdings" charset="2"/>
              <a:buChar char="§"/>
            </a:pPr>
            <a:r>
              <a:rPr lang="vi-VN" altLang="en-US" sz="2400" dirty="0">
                <a:solidFill>
                  <a:srgbClr val="002060"/>
                </a:solidFill>
                <a:cs typeface="Arial" panose="020B0604020202020204" pitchFamily="34" charset="0"/>
                <a:sym typeface="Wingdings" panose="05000000000000000000" pitchFamily="2" charset="2"/>
              </a:rPr>
              <a:t>Chuẩn bị các điều kiện cần thiết để ứng phó với những tác động tiêu cực của cách mạng công nghiệp lần thứ tư (4.0)</a:t>
            </a:r>
            <a:endPar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endParaRPr>
          </a:p>
        </p:txBody>
      </p:sp>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2571" y="2915842"/>
            <a:ext cx="1865376" cy="1926336"/>
          </a:xfrm>
          <a:prstGeom prst="rect">
            <a:avLst/>
          </a:prstGeom>
        </p:spPr>
      </p:pic>
    </p:spTree>
    <p:extLst>
      <p:ext uri="{BB962C8B-B14F-4D97-AF65-F5344CB8AC3E}">
        <p14:creationId xmlns:p14="http://schemas.microsoft.com/office/powerpoint/2010/main" val="37866245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562" name="Rectangle 2"/>
          <p:cNvSpPr>
            <a:spLocks noGrp="1" noChangeArrowheads="1"/>
          </p:cNvSpPr>
          <p:nvPr>
            <p:ph type="title"/>
          </p:nvPr>
        </p:nvSpPr>
        <p:spPr/>
        <p:txBody>
          <a:bodyPr>
            <a:normAutofit/>
          </a:bodyPr>
          <a:lstStyle/>
          <a:p>
            <a:pPr algn="ctr"/>
            <a:r>
              <a:rPr lang="en-US" altLang="en-US" sz="4500" b="1">
                <a:solidFill>
                  <a:srgbClr val="002060"/>
                </a:solidFill>
                <a:latin typeface="Arial" panose="020B0604020202020204" pitchFamily="34" charset="0"/>
                <a:cs typeface="Arial" panose="020B0604020202020204" pitchFamily="34" charset="0"/>
              </a:rPr>
              <a:t>Nội dung Chương 6</a:t>
            </a:r>
          </a:p>
        </p:txBody>
      </p:sp>
      <p:sp>
        <p:nvSpPr>
          <p:cNvPr id="1090565" name="AutoShape 5"/>
          <p:cNvSpPr>
            <a:spLocks noChangeArrowheads="1"/>
          </p:cNvSpPr>
          <p:nvPr/>
        </p:nvSpPr>
        <p:spPr bwMode="gray">
          <a:xfrm>
            <a:off x="3590924" y="1868560"/>
            <a:ext cx="4924426" cy="927652"/>
          </a:xfrm>
          <a:prstGeom prst="roundRect">
            <a:avLst>
              <a:gd name="adj" fmla="val 50000"/>
            </a:avLst>
          </a:prstGeom>
          <a:noFill/>
          <a:ln w="19050" cap="rnd">
            <a:solidFill>
              <a:schemeClr val="tx1"/>
            </a:solidFill>
            <a:prstDash val="sysDot"/>
            <a:round/>
            <a:headEnd/>
            <a:tailEnd/>
          </a:ln>
          <a:effectLst>
            <a:outerShdw dist="40161" dir="4293903" algn="ctr" rotWithShape="0">
              <a:srgbClr val="1C1C1C">
                <a:alpha val="50000"/>
              </a:srgbClr>
            </a:outerShdw>
          </a:effectLst>
          <a:extLst>
            <a:ext uri="{909E8E84-426E-40dd-AFC4-6F175D3DCCD1}">
              <a14:hiddenFill xmlns:a14="http://schemas.microsoft.com/office/drawing/2010/main" xmlns="">
                <a:solidFill>
                  <a:schemeClr val="bg1"/>
                </a:solidFill>
              </a14:hiddenFill>
            </a:ext>
          </a:extLst>
        </p:spPr>
        <p:txBody>
          <a:bodyPr wrap="none" anchor="ctr"/>
          <a:lstStyle/>
          <a:p>
            <a:endParaRPr lang="en-US">
              <a:solidFill>
                <a:srgbClr val="002060"/>
              </a:solidFill>
            </a:endParaRPr>
          </a:p>
        </p:txBody>
      </p:sp>
      <p:sp>
        <p:nvSpPr>
          <p:cNvPr id="1090566" name="Rectangle 6"/>
          <p:cNvSpPr>
            <a:spLocks noChangeArrowheads="1"/>
          </p:cNvSpPr>
          <p:nvPr/>
        </p:nvSpPr>
        <p:spPr bwMode="black">
          <a:xfrm>
            <a:off x="3819525" y="2048357"/>
            <a:ext cx="4566315" cy="64633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eaLnBrk="0" hangingPunct="0"/>
            <a:r>
              <a:rPr lang="en-US" altLang="en-US" b="1">
                <a:solidFill>
                  <a:srgbClr val="002060"/>
                </a:solidFill>
                <a:latin typeface="Arial" panose="020B0604020202020204" pitchFamily="34" charset="0"/>
              </a:rPr>
              <a:t>6.1. CÔNG NGHIỆP HÓA, HIỆN ĐẠI HÓA</a:t>
            </a:r>
          </a:p>
          <a:p>
            <a:pPr eaLnBrk="0" hangingPunct="0"/>
            <a:r>
              <a:rPr lang="en-US" altLang="en-US" b="1">
                <a:solidFill>
                  <a:srgbClr val="002060"/>
                </a:solidFill>
                <a:latin typeface="Arial" panose="020B0604020202020204" pitchFamily="34" charset="0"/>
              </a:rPr>
              <a:t> Ở VIỆT NAM</a:t>
            </a:r>
          </a:p>
        </p:txBody>
      </p:sp>
      <p:sp>
        <p:nvSpPr>
          <p:cNvPr id="1090567" name="Oval 7"/>
          <p:cNvSpPr>
            <a:spLocks noChangeArrowheads="1"/>
          </p:cNvSpPr>
          <p:nvPr/>
        </p:nvSpPr>
        <p:spPr bwMode="gray">
          <a:xfrm>
            <a:off x="3505200" y="2238375"/>
            <a:ext cx="228600" cy="228600"/>
          </a:xfrm>
          <a:prstGeom prst="ellipse">
            <a:avLst/>
          </a:prstGeom>
          <a:gradFill rotWithShape="1">
            <a:gsLst>
              <a:gs pos="0">
                <a:schemeClr val="accent1"/>
              </a:gs>
              <a:gs pos="100000">
                <a:schemeClr val="accent1">
                  <a:gamma/>
                  <a:shade val="66667"/>
                  <a:invGamma/>
                </a:schemeClr>
              </a:gs>
            </a:gsLst>
            <a:path path="shape">
              <a:fillToRect l="50000" t="50000" r="50000" b="50000"/>
            </a:path>
          </a:gradFill>
          <a:ln w="19050">
            <a:solidFill>
              <a:schemeClr val="tx1"/>
            </a:solidFill>
            <a:round/>
            <a:headEnd/>
            <a:tailEnd/>
          </a:ln>
          <a:effectLst>
            <a:outerShdw dist="12700" dir="10800000" algn="ctr" rotWithShape="0">
              <a:srgbClr val="1C1C1C">
                <a:alpha val="50000"/>
              </a:srgbClr>
            </a:outerShdw>
          </a:effectLst>
        </p:spPr>
        <p:txBody>
          <a:bodyPr wrap="none" anchor="ctr"/>
          <a:lstStyle/>
          <a:p>
            <a:endParaRPr lang="en-US">
              <a:solidFill>
                <a:srgbClr val="002060"/>
              </a:solidFill>
            </a:endParaRPr>
          </a:p>
        </p:txBody>
      </p:sp>
      <p:sp>
        <p:nvSpPr>
          <p:cNvPr id="1090581" name="AutoShape 21"/>
          <p:cNvSpPr>
            <a:spLocks noChangeArrowheads="1"/>
          </p:cNvSpPr>
          <p:nvPr/>
        </p:nvSpPr>
        <p:spPr bwMode="gray">
          <a:xfrm>
            <a:off x="3590924" y="4717775"/>
            <a:ext cx="4924425" cy="914400"/>
          </a:xfrm>
          <a:prstGeom prst="roundRect">
            <a:avLst>
              <a:gd name="adj" fmla="val 50000"/>
            </a:avLst>
          </a:prstGeom>
          <a:noFill/>
          <a:ln w="19050" cap="rnd">
            <a:solidFill>
              <a:schemeClr val="tx1"/>
            </a:solidFill>
            <a:prstDash val="sysDot"/>
            <a:round/>
            <a:headEnd/>
            <a:tailEnd/>
          </a:ln>
          <a:effectLst>
            <a:outerShdw dist="40161" dir="4293903" algn="ctr" rotWithShape="0">
              <a:srgbClr val="1C1C1C">
                <a:alpha val="50000"/>
              </a:srgbClr>
            </a:outerShdw>
          </a:effectLst>
          <a:extLst>
            <a:ext uri="{909E8E84-426E-40dd-AFC4-6F175D3DCCD1}">
              <a14:hiddenFill xmlns:a14="http://schemas.microsoft.com/office/drawing/2010/main" xmlns="">
                <a:solidFill>
                  <a:schemeClr val="bg1"/>
                </a:solidFill>
              </a14:hiddenFill>
            </a:ext>
          </a:extLst>
        </p:spPr>
        <p:txBody>
          <a:bodyPr wrap="none" anchor="ctr"/>
          <a:lstStyle/>
          <a:p>
            <a:endParaRPr lang="en-US">
              <a:solidFill>
                <a:srgbClr val="002060"/>
              </a:solidFill>
            </a:endParaRPr>
          </a:p>
        </p:txBody>
      </p:sp>
      <p:sp>
        <p:nvSpPr>
          <p:cNvPr id="1090582" name="Rectangle 22"/>
          <p:cNvSpPr>
            <a:spLocks noChangeArrowheads="1"/>
          </p:cNvSpPr>
          <p:nvPr/>
        </p:nvSpPr>
        <p:spPr bwMode="black">
          <a:xfrm>
            <a:off x="4114800" y="4887075"/>
            <a:ext cx="3925113" cy="64633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eaLnBrk="0" hangingPunct="0"/>
            <a:r>
              <a:rPr lang="en-US" altLang="en-US" b="1">
                <a:solidFill>
                  <a:srgbClr val="002060"/>
                </a:solidFill>
                <a:latin typeface="Arial" panose="020B0604020202020204" pitchFamily="34" charset="0"/>
              </a:rPr>
              <a:t>6.2. HỘI NHẬP KINH TẾ QUỐC TẾ </a:t>
            </a:r>
          </a:p>
          <a:p>
            <a:pPr eaLnBrk="0" hangingPunct="0"/>
            <a:r>
              <a:rPr lang="en-US" altLang="en-US" b="1">
                <a:solidFill>
                  <a:srgbClr val="002060"/>
                </a:solidFill>
                <a:latin typeface="Arial" panose="020B0604020202020204" pitchFamily="34" charset="0"/>
              </a:rPr>
              <a:t>CỦA VIỆT NAM</a:t>
            </a:r>
          </a:p>
        </p:txBody>
      </p:sp>
      <p:sp>
        <p:nvSpPr>
          <p:cNvPr id="1090583" name="Oval 23"/>
          <p:cNvSpPr>
            <a:spLocks noChangeArrowheads="1"/>
          </p:cNvSpPr>
          <p:nvPr/>
        </p:nvSpPr>
        <p:spPr bwMode="gray">
          <a:xfrm>
            <a:off x="3505200" y="5053013"/>
            <a:ext cx="228600" cy="228600"/>
          </a:xfrm>
          <a:prstGeom prst="ellipse">
            <a:avLst/>
          </a:prstGeom>
          <a:gradFill rotWithShape="1">
            <a:gsLst>
              <a:gs pos="0">
                <a:schemeClr val="tx1"/>
              </a:gs>
              <a:gs pos="100000">
                <a:schemeClr val="tx1">
                  <a:gamma/>
                  <a:shade val="66667"/>
                  <a:invGamma/>
                </a:schemeClr>
              </a:gs>
            </a:gsLst>
            <a:path path="shape">
              <a:fillToRect l="50000" t="50000" r="50000" b="50000"/>
            </a:path>
          </a:gradFill>
          <a:ln w="19050">
            <a:solidFill>
              <a:schemeClr val="tx1"/>
            </a:solidFill>
            <a:round/>
            <a:headEnd/>
            <a:tailEnd/>
          </a:ln>
          <a:effectLst>
            <a:outerShdw dist="12700" dir="10800000" algn="ctr" rotWithShape="0">
              <a:srgbClr val="1C1C1C">
                <a:alpha val="50000"/>
              </a:srgbClr>
            </a:outerShdw>
          </a:effectLst>
        </p:spPr>
        <p:txBody>
          <a:bodyPr wrap="none" anchor="ctr"/>
          <a:lstStyle/>
          <a:p>
            <a:endParaRPr lang="en-US">
              <a:solidFill>
                <a:srgbClr val="002060"/>
              </a:solidFill>
            </a:endParaRPr>
          </a:p>
        </p:txBody>
      </p:sp>
      <p:sp>
        <p:nvSpPr>
          <p:cNvPr id="1090585" name="Line 25"/>
          <p:cNvSpPr>
            <a:spLocks noChangeShapeType="1"/>
          </p:cNvSpPr>
          <p:nvPr/>
        </p:nvSpPr>
        <p:spPr bwMode="gray">
          <a:xfrm flipV="1">
            <a:off x="2514600" y="2362200"/>
            <a:ext cx="381000" cy="38100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090586" name="Line 26"/>
          <p:cNvSpPr>
            <a:spLocks noChangeShapeType="1"/>
          </p:cNvSpPr>
          <p:nvPr/>
        </p:nvSpPr>
        <p:spPr bwMode="gray">
          <a:xfrm>
            <a:off x="2438400" y="4876800"/>
            <a:ext cx="457200" cy="30480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grpSp>
        <p:nvGrpSpPr>
          <p:cNvPr id="1090587" name="Group 27"/>
          <p:cNvGrpSpPr>
            <a:grpSpLocks/>
          </p:cNvGrpSpPr>
          <p:nvPr/>
        </p:nvGrpSpPr>
        <p:grpSpPr bwMode="auto">
          <a:xfrm>
            <a:off x="2895600" y="2362200"/>
            <a:ext cx="609600" cy="2819400"/>
            <a:chOff x="1824" y="1488"/>
            <a:chExt cx="240" cy="1776"/>
          </a:xfrm>
        </p:grpSpPr>
        <p:sp>
          <p:nvSpPr>
            <p:cNvPr id="1090588" name="Line 28"/>
            <p:cNvSpPr>
              <a:spLocks noChangeShapeType="1"/>
            </p:cNvSpPr>
            <p:nvPr/>
          </p:nvSpPr>
          <p:spPr bwMode="gray">
            <a:xfrm>
              <a:off x="1824" y="1488"/>
              <a:ext cx="240" cy="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090589" name="Line 29"/>
            <p:cNvSpPr>
              <a:spLocks noChangeShapeType="1"/>
            </p:cNvSpPr>
            <p:nvPr/>
          </p:nvSpPr>
          <p:spPr bwMode="gray">
            <a:xfrm>
              <a:off x="1824" y="3264"/>
              <a:ext cx="240" cy="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grpSp>
      <p:pic>
        <p:nvPicPr>
          <p:cNvPr id="1090593" name="Picture 3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2150" y="2743200"/>
            <a:ext cx="2159000" cy="2133599"/>
          </a:xfrm>
          <a:prstGeom prst="rect">
            <a:avLst/>
          </a:prstGeom>
          <a:ln>
            <a:noFill/>
          </a:ln>
          <a:effectLst>
            <a:softEdge rad="112500"/>
          </a:effectLst>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586869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562" name="Rectangle 2"/>
          <p:cNvSpPr>
            <a:spLocks noGrp="1" noChangeArrowheads="1"/>
          </p:cNvSpPr>
          <p:nvPr>
            <p:ph type="title"/>
          </p:nvPr>
        </p:nvSpPr>
        <p:spPr/>
        <p:txBody>
          <a:bodyPr>
            <a:normAutofit/>
          </a:bodyPr>
          <a:lstStyle/>
          <a:p>
            <a:pPr algn="ctr"/>
            <a:r>
              <a:rPr lang="en-US" altLang="en-US" sz="2800" b="1" dirty="0">
                <a:solidFill>
                  <a:srgbClr val="002060"/>
                </a:solidFill>
                <a:latin typeface="Arial" panose="020B0604020202020204" pitchFamily="34" charset="0"/>
                <a:cs typeface="Arial" panose="020B0604020202020204" pitchFamily="34" charset="0"/>
              </a:rPr>
              <a:t>6.2. HỘI NHẬP KINH TẾ QUỐC TẾ </a:t>
            </a:r>
            <a:br>
              <a:rPr lang="en-US" altLang="en-US" sz="2800" b="1" dirty="0">
                <a:solidFill>
                  <a:srgbClr val="002060"/>
                </a:solidFill>
                <a:latin typeface="Arial" panose="020B0604020202020204" pitchFamily="34" charset="0"/>
                <a:cs typeface="Arial" panose="020B0604020202020204" pitchFamily="34" charset="0"/>
              </a:rPr>
            </a:br>
            <a:r>
              <a:rPr lang="en-US" altLang="en-US" sz="2800" b="1" dirty="0">
                <a:solidFill>
                  <a:srgbClr val="002060"/>
                </a:solidFill>
                <a:latin typeface="Arial" panose="020B0604020202020204" pitchFamily="34" charset="0"/>
                <a:cs typeface="Arial" panose="020B0604020202020204" pitchFamily="34" charset="0"/>
              </a:rPr>
              <a:t>CỦA VIỆT NAM</a:t>
            </a:r>
          </a:p>
        </p:txBody>
      </p:sp>
      <p:sp>
        <p:nvSpPr>
          <p:cNvPr id="1090565" name="AutoShape 5"/>
          <p:cNvSpPr>
            <a:spLocks noChangeArrowheads="1"/>
          </p:cNvSpPr>
          <p:nvPr/>
        </p:nvSpPr>
        <p:spPr bwMode="gray">
          <a:xfrm>
            <a:off x="3590924" y="1868559"/>
            <a:ext cx="5121224" cy="1067169"/>
          </a:xfrm>
          <a:prstGeom prst="roundRect">
            <a:avLst>
              <a:gd name="adj" fmla="val 50000"/>
            </a:avLst>
          </a:prstGeom>
          <a:noFill/>
          <a:ln w="19050" cap="rnd">
            <a:solidFill>
              <a:schemeClr val="tx1"/>
            </a:solidFill>
            <a:prstDash val="sysDot"/>
            <a:round/>
            <a:headEnd/>
            <a:tailEnd/>
          </a:ln>
          <a:effectLst>
            <a:outerShdw dist="40161" dir="4293903" algn="ctr" rotWithShape="0">
              <a:srgbClr val="1C1C1C">
                <a:alpha val="50000"/>
              </a:srgbClr>
            </a:outerShdw>
          </a:effectLst>
          <a:extLst>
            <a:ext uri="{909E8E84-426E-40dd-AFC4-6F175D3DCCD1}">
              <a14:hiddenFill xmlns:a14="http://schemas.microsoft.com/office/drawing/2010/main" xmlns="">
                <a:solidFill>
                  <a:schemeClr val="bg1"/>
                </a:solidFill>
              </a14:hiddenFill>
            </a:ext>
          </a:extLst>
        </p:spPr>
        <p:txBody>
          <a:bodyPr wrap="none" anchor="ctr"/>
          <a:lstStyle/>
          <a:p>
            <a:endParaRPr lang="en-US">
              <a:solidFill>
                <a:srgbClr val="002060"/>
              </a:solidFill>
            </a:endParaRPr>
          </a:p>
        </p:txBody>
      </p:sp>
      <p:sp>
        <p:nvSpPr>
          <p:cNvPr id="1090566" name="Rectangle 6"/>
          <p:cNvSpPr>
            <a:spLocks noChangeArrowheads="1"/>
          </p:cNvSpPr>
          <p:nvPr/>
        </p:nvSpPr>
        <p:spPr bwMode="black">
          <a:xfrm>
            <a:off x="4011821" y="2048357"/>
            <a:ext cx="4181741" cy="747897"/>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eaLnBrk="0" hangingPunct="0">
              <a:lnSpc>
                <a:spcPct val="120000"/>
              </a:lnSpc>
            </a:pPr>
            <a:r>
              <a:rPr lang="en-US" altLang="en-US" b="1" dirty="0">
                <a:solidFill>
                  <a:srgbClr val="002060"/>
                </a:solidFill>
                <a:latin typeface="Arial" panose="020B0604020202020204" pitchFamily="34" charset="0"/>
              </a:rPr>
              <a:t>KHÁI NIỆM VÀ NỘI DUNG HỘI NHẬP</a:t>
            </a:r>
          </a:p>
          <a:p>
            <a:pPr eaLnBrk="0" hangingPunct="0">
              <a:lnSpc>
                <a:spcPct val="120000"/>
              </a:lnSpc>
            </a:pPr>
            <a:r>
              <a:rPr lang="en-US" altLang="en-US" b="1" dirty="0">
                <a:solidFill>
                  <a:srgbClr val="002060"/>
                </a:solidFill>
                <a:latin typeface="Arial" panose="020B0604020202020204" pitchFamily="34" charset="0"/>
              </a:rPr>
              <a:t>KINH TẾ QUỐC TẾ</a:t>
            </a:r>
          </a:p>
        </p:txBody>
      </p:sp>
      <p:sp>
        <p:nvSpPr>
          <p:cNvPr id="1090567" name="Oval 7"/>
          <p:cNvSpPr>
            <a:spLocks noChangeArrowheads="1"/>
          </p:cNvSpPr>
          <p:nvPr/>
        </p:nvSpPr>
        <p:spPr bwMode="gray">
          <a:xfrm>
            <a:off x="3505200" y="2238375"/>
            <a:ext cx="228600" cy="228600"/>
          </a:xfrm>
          <a:prstGeom prst="ellipse">
            <a:avLst/>
          </a:prstGeom>
          <a:gradFill rotWithShape="1">
            <a:gsLst>
              <a:gs pos="0">
                <a:schemeClr val="accent1"/>
              </a:gs>
              <a:gs pos="100000">
                <a:schemeClr val="accent1">
                  <a:gamma/>
                  <a:shade val="66667"/>
                  <a:invGamma/>
                </a:schemeClr>
              </a:gs>
            </a:gsLst>
            <a:path path="shape">
              <a:fillToRect l="50000" t="50000" r="50000" b="50000"/>
            </a:path>
          </a:gradFill>
          <a:ln w="19050">
            <a:solidFill>
              <a:schemeClr val="tx1"/>
            </a:solidFill>
            <a:round/>
            <a:headEnd/>
            <a:tailEnd/>
          </a:ln>
          <a:effectLst>
            <a:outerShdw dist="12700" dir="10800000" algn="ctr" rotWithShape="0">
              <a:srgbClr val="1C1C1C">
                <a:alpha val="50000"/>
              </a:srgbClr>
            </a:outerShdw>
          </a:effectLst>
        </p:spPr>
        <p:txBody>
          <a:bodyPr wrap="none" anchor="ctr"/>
          <a:lstStyle/>
          <a:p>
            <a:endParaRPr lang="en-US">
              <a:solidFill>
                <a:srgbClr val="002060"/>
              </a:solidFill>
            </a:endParaRPr>
          </a:p>
        </p:txBody>
      </p:sp>
      <p:sp>
        <p:nvSpPr>
          <p:cNvPr id="1090581" name="AutoShape 21"/>
          <p:cNvSpPr>
            <a:spLocks noChangeArrowheads="1"/>
          </p:cNvSpPr>
          <p:nvPr/>
        </p:nvSpPr>
        <p:spPr bwMode="gray">
          <a:xfrm>
            <a:off x="3590923" y="4594883"/>
            <a:ext cx="5326055" cy="1153683"/>
          </a:xfrm>
          <a:prstGeom prst="roundRect">
            <a:avLst>
              <a:gd name="adj" fmla="val 50000"/>
            </a:avLst>
          </a:prstGeom>
          <a:noFill/>
          <a:ln w="19050" cap="rnd">
            <a:solidFill>
              <a:schemeClr val="tx1"/>
            </a:solidFill>
            <a:prstDash val="sysDot"/>
            <a:round/>
            <a:headEnd/>
            <a:tailEnd/>
          </a:ln>
          <a:effectLst>
            <a:outerShdw dist="40161" dir="4293903" algn="ctr" rotWithShape="0">
              <a:srgbClr val="1C1C1C">
                <a:alpha val="50000"/>
              </a:srgbClr>
            </a:outerShdw>
          </a:effectLst>
          <a:extLst>
            <a:ext uri="{909E8E84-426E-40dd-AFC4-6F175D3DCCD1}">
              <a14:hiddenFill xmlns:a14="http://schemas.microsoft.com/office/drawing/2010/main" xmlns="">
                <a:solidFill>
                  <a:schemeClr val="bg1"/>
                </a:solidFill>
              </a14:hiddenFill>
            </a:ext>
          </a:extLst>
        </p:spPr>
        <p:txBody>
          <a:bodyPr wrap="none" anchor="ctr"/>
          <a:lstStyle/>
          <a:p>
            <a:endParaRPr lang="en-US">
              <a:solidFill>
                <a:srgbClr val="002060"/>
              </a:solidFill>
            </a:endParaRPr>
          </a:p>
        </p:txBody>
      </p:sp>
      <p:sp>
        <p:nvSpPr>
          <p:cNvPr id="1090582" name="Rectangle 22"/>
          <p:cNvSpPr>
            <a:spLocks noChangeArrowheads="1"/>
          </p:cNvSpPr>
          <p:nvPr/>
        </p:nvSpPr>
        <p:spPr bwMode="black">
          <a:xfrm>
            <a:off x="3865398" y="4750531"/>
            <a:ext cx="4724370" cy="923330"/>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eaLnBrk="0" hangingPunct="0"/>
            <a:r>
              <a:rPr lang="en-US" altLang="en-US" b="1" dirty="0">
                <a:solidFill>
                  <a:srgbClr val="002060"/>
                </a:solidFill>
                <a:latin typeface="Arial" panose="020B0604020202020204" pitchFamily="34" charset="0"/>
              </a:rPr>
              <a:t>PHƯƠNG HƯỚNG NÂNG CAO HIỆU QUẢ </a:t>
            </a:r>
          </a:p>
          <a:p>
            <a:pPr eaLnBrk="0" hangingPunct="0"/>
            <a:r>
              <a:rPr lang="en-US" altLang="en-US" b="1" dirty="0">
                <a:solidFill>
                  <a:srgbClr val="002060"/>
                </a:solidFill>
                <a:latin typeface="Arial" panose="020B0604020202020204" pitchFamily="34" charset="0"/>
              </a:rPr>
              <a:t>HỘI NHẬP KTQT TRONG PHÁT TRIỂN</a:t>
            </a:r>
          </a:p>
          <a:p>
            <a:pPr eaLnBrk="0" hangingPunct="0"/>
            <a:r>
              <a:rPr lang="en-US" altLang="en-US" b="1" dirty="0">
                <a:solidFill>
                  <a:srgbClr val="002060"/>
                </a:solidFill>
                <a:latin typeface="Arial" panose="020B0604020202020204" pitchFamily="34" charset="0"/>
              </a:rPr>
              <a:t>CỦA VIỆT NAM</a:t>
            </a:r>
          </a:p>
        </p:txBody>
      </p:sp>
      <p:sp>
        <p:nvSpPr>
          <p:cNvPr id="1090583" name="Oval 23"/>
          <p:cNvSpPr>
            <a:spLocks noChangeArrowheads="1"/>
          </p:cNvSpPr>
          <p:nvPr/>
        </p:nvSpPr>
        <p:spPr bwMode="gray">
          <a:xfrm>
            <a:off x="3505200" y="5053013"/>
            <a:ext cx="228600" cy="228600"/>
          </a:xfrm>
          <a:prstGeom prst="ellipse">
            <a:avLst/>
          </a:prstGeom>
          <a:gradFill rotWithShape="1">
            <a:gsLst>
              <a:gs pos="0">
                <a:schemeClr val="tx1"/>
              </a:gs>
              <a:gs pos="100000">
                <a:schemeClr val="tx1">
                  <a:gamma/>
                  <a:shade val="66667"/>
                  <a:invGamma/>
                </a:schemeClr>
              </a:gs>
            </a:gsLst>
            <a:path path="shape">
              <a:fillToRect l="50000" t="50000" r="50000" b="50000"/>
            </a:path>
          </a:gradFill>
          <a:ln w="19050">
            <a:solidFill>
              <a:schemeClr val="tx1"/>
            </a:solidFill>
            <a:round/>
            <a:headEnd/>
            <a:tailEnd/>
          </a:ln>
          <a:effectLst>
            <a:outerShdw dist="12700" dir="10800000" algn="ctr" rotWithShape="0">
              <a:srgbClr val="1C1C1C">
                <a:alpha val="50000"/>
              </a:srgbClr>
            </a:outerShdw>
          </a:effectLst>
        </p:spPr>
        <p:txBody>
          <a:bodyPr wrap="none" anchor="ctr"/>
          <a:lstStyle/>
          <a:p>
            <a:endParaRPr lang="en-US">
              <a:solidFill>
                <a:srgbClr val="002060"/>
              </a:solidFill>
            </a:endParaRPr>
          </a:p>
        </p:txBody>
      </p:sp>
      <p:sp>
        <p:nvSpPr>
          <p:cNvPr id="1090585" name="Line 25"/>
          <p:cNvSpPr>
            <a:spLocks noChangeShapeType="1"/>
          </p:cNvSpPr>
          <p:nvPr/>
        </p:nvSpPr>
        <p:spPr bwMode="gray">
          <a:xfrm flipV="1">
            <a:off x="2514600" y="2362200"/>
            <a:ext cx="381000" cy="38100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090586" name="Line 26"/>
          <p:cNvSpPr>
            <a:spLocks noChangeShapeType="1"/>
          </p:cNvSpPr>
          <p:nvPr/>
        </p:nvSpPr>
        <p:spPr bwMode="gray">
          <a:xfrm>
            <a:off x="2438400" y="4876800"/>
            <a:ext cx="457200" cy="30480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grpSp>
        <p:nvGrpSpPr>
          <p:cNvPr id="1090587" name="Group 27"/>
          <p:cNvGrpSpPr>
            <a:grpSpLocks/>
          </p:cNvGrpSpPr>
          <p:nvPr/>
        </p:nvGrpSpPr>
        <p:grpSpPr bwMode="auto">
          <a:xfrm>
            <a:off x="2895600" y="2362200"/>
            <a:ext cx="609600" cy="2819400"/>
            <a:chOff x="1824" y="1488"/>
            <a:chExt cx="240" cy="1776"/>
          </a:xfrm>
        </p:grpSpPr>
        <p:sp>
          <p:nvSpPr>
            <p:cNvPr id="1090588" name="Line 28"/>
            <p:cNvSpPr>
              <a:spLocks noChangeShapeType="1"/>
            </p:cNvSpPr>
            <p:nvPr/>
          </p:nvSpPr>
          <p:spPr bwMode="gray">
            <a:xfrm>
              <a:off x="1824" y="1488"/>
              <a:ext cx="240" cy="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090589" name="Line 29"/>
            <p:cNvSpPr>
              <a:spLocks noChangeShapeType="1"/>
            </p:cNvSpPr>
            <p:nvPr/>
          </p:nvSpPr>
          <p:spPr bwMode="gray">
            <a:xfrm>
              <a:off x="1824" y="3264"/>
              <a:ext cx="240" cy="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grpSp>
      <p:pic>
        <p:nvPicPr>
          <p:cNvPr id="1090593" name="Picture 3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2150" y="2743200"/>
            <a:ext cx="2159000" cy="2133599"/>
          </a:xfrm>
          <a:prstGeom prst="rect">
            <a:avLst/>
          </a:prstGeom>
          <a:ln>
            <a:noFill/>
          </a:ln>
          <a:effectLst>
            <a:softEdge rad="112500"/>
          </a:effectLst>
          <a:extLst>
            <a:ext uri="{909E8E84-426E-40dd-AFC4-6F175D3DCCD1}">
              <a14:hiddenFill xmlns:a14="http://schemas.microsoft.com/office/drawing/2010/main" xmlns="">
                <a:solidFill>
                  <a:srgbClr val="FFFFFF"/>
                </a:solidFill>
              </a14:hiddenFill>
            </a:ext>
          </a:extLst>
        </p:spPr>
      </p:pic>
      <p:sp>
        <p:nvSpPr>
          <p:cNvPr id="15" name="AutoShape 21"/>
          <p:cNvSpPr>
            <a:spLocks noChangeArrowheads="1"/>
          </p:cNvSpPr>
          <p:nvPr/>
        </p:nvSpPr>
        <p:spPr bwMode="gray">
          <a:xfrm>
            <a:off x="3538492" y="3272591"/>
            <a:ext cx="5326055" cy="1153683"/>
          </a:xfrm>
          <a:prstGeom prst="roundRect">
            <a:avLst>
              <a:gd name="adj" fmla="val 50000"/>
            </a:avLst>
          </a:prstGeom>
          <a:noFill/>
          <a:ln w="19050" cap="rnd">
            <a:solidFill>
              <a:schemeClr val="tx1"/>
            </a:solidFill>
            <a:prstDash val="sysDot"/>
            <a:round/>
            <a:headEnd/>
            <a:tailEnd/>
          </a:ln>
          <a:effectLst>
            <a:outerShdw dist="40161" dir="4293903" algn="ctr" rotWithShape="0">
              <a:srgbClr val="1C1C1C">
                <a:alpha val="50000"/>
              </a:srgbClr>
            </a:outerShdw>
          </a:effectLst>
          <a:extLst>
            <a:ext uri="{909E8E84-426E-40dd-AFC4-6F175D3DCCD1}">
              <a14:hiddenFill xmlns:a14="http://schemas.microsoft.com/office/drawing/2010/main" xmlns="">
                <a:solidFill>
                  <a:schemeClr val="bg1"/>
                </a:solidFill>
              </a14:hiddenFill>
            </a:ext>
          </a:extLst>
        </p:spPr>
        <p:txBody>
          <a:bodyPr wrap="none" anchor="ctr"/>
          <a:lstStyle/>
          <a:p>
            <a:endParaRPr lang="en-US">
              <a:solidFill>
                <a:srgbClr val="002060"/>
              </a:solidFill>
            </a:endParaRPr>
          </a:p>
        </p:txBody>
      </p:sp>
      <p:sp>
        <p:nvSpPr>
          <p:cNvPr id="16" name="Oval 7"/>
          <p:cNvSpPr>
            <a:spLocks noChangeArrowheads="1"/>
          </p:cNvSpPr>
          <p:nvPr/>
        </p:nvSpPr>
        <p:spPr bwMode="gray">
          <a:xfrm>
            <a:off x="3425459" y="3783540"/>
            <a:ext cx="228600" cy="228600"/>
          </a:xfrm>
          <a:prstGeom prst="ellipse">
            <a:avLst/>
          </a:prstGeom>
          <a:gradFill rotWithShape="1">
            <a:gsLst>
              <a:gs pos="0">
                <a:schemeClr val="accent1"/>
              </a:gs>
              <a:gs pos="100000">
                <a:schemeClr val="accent1">
                  <a:gamma/>
                  <a:shade val="66667"/>
                  <a:invGamma/>
                </a:schemeClr>
              </a:gs>
            </a:gsLst>
            <a:path path="shape">
              <a:fillToRect l="50000" t="50000" r="50000" b="50000"/>
            </a:path>
          </a:gradFill>
          <a:ln w="19050">
            <a:solidFill>
              <a:schemeClr val="tx1"/>
            </a:solidFill>
            <a:round/>
            <a:headEnd/>
            <a:tailEnd/>
          </a:ln>
          <a:effectLst>
            <a:outerShdw dist="12700" dir="10800000" algn="ctr" rotWithShape="0">
              <a:srgbClr val="1C1C1C">
                <a:alpha val="50000"/>
              </a:srgbClr>
            </a:outerShdw>
          </a:effectLst>
        </p:spPr>
        <p:txBody>
          <a:bodyPr wrap="none" anchor="ctr"/>
          <a:lstStyle/>
          <a:p>
            <a:endParaRPr lang="en-US">
              <a:solidFill>
                <a:srgbClr val="002060"/>
              </a:solidFill>
            </a:endParaRPr>
          </a:p>
        </p:txBody>
      </p:sp>
      <p:sp>
        <p:nvSpPr>
          <p:cNvPr id="18" name="Line 28"/>
          <p:cNvSpPr>
            <a:spLocks noChangeShapeType="1"/>
          </p:cNvSpPr>
          <p:nvPr/>
        </p:nvSpPr>
        <p:spPr bwMode="gray">
          <a:xfrm>
            <a:off x="2774892" y="3921019"/>
            <a:ext cx="609600" cy="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9" name="Rectangle 22"/>
          <p:cNvSpPr>
            <a:spLocks noChangeArrowheads="1"/>
          </p:cNvSpPr>
          <p:nvPr/>
        </p:nvSpPr>
        <p:spPr bwMode="black">
          <a:xfrm>
            <a:off x="3714269" y="3469203"/>
            <a:ext cx="4970567" cy="747897"/>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eaLnBrk="0" hangingPunct="0">
              <a:lnSpc>
                <a:spcPct val="120000"/>
              </a:lnSpc>
            </a:pPr>
            <a:r>
              <a:rPr lang="en-US" altLang="en-US" b="1" dirty="0">
                <a:solidFill>
                  <a:srgbClr val="002060"/>
                </a:solidFill>
                <a:latin typeface="Arial" panose="020B0604020202020204" pitchFamily="34" charset="0"/>
              </a:rPr>
              <a:t>TÁC ĐỘNG CỦA HỘI NHẬP KTQT ĐẾN </a:t>
            </a:r>
          </a:p>
          <a:p>
            <a:pPr eaLnBrk="0" hangingPunct="0">
              <a:lnSpc>
                <a:spcPct val="120000"/>
              </a:lnSpc>
            </a:pPr>
            <a:r>
              <a:rPr lang="en-US" altLang="en-US" b="1" dirty="0">
                <a:solidFill>
                  <a:srgbClr val="002060"/>
                </a:solidFill>
                <a:latin typeface="Arial" panose="020B0604020202020204" pitchFamily="34" charset="0"/>
              </a:rPr>
              <a:t>PHÁT TRIỂN CỦA VIỆT NAM</a:t>
            </a:r>
          </a:p>
        </p:txBody>
      </p:sp>
    </p:spTree>
    <p:extLst>
      <p:ext uri="{BB962C8B-B14F-4D97-AF65-F5344CB8AC3E}">
        <p14:creationId xmlns:p14="http://schemas.microsoft.com/office/powerpoint/2010/main" val="3184462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1090565"/>
                                        </p:tgtEl>
                                        <p:attrNameLst>
                                          <p:attrName>fillcolor</p:attrName>
                                        </p:attrNameLst>
                                      </p:cBhvr>
                                      <p:to>
                                        <a:schemeClr val="accent2"/>
                                      </p:to>
                                    </p:animClr>
                                    <p:set>
                                      <p:cBhvr>
                                        <p:cTn id="7" dur="2000" fill="hold"/>
                                        <p:tgtEl>
                                          <p:spTgt spid="1090565"/>
                                        </p:tgtEl>
                                        <p:attrNameLst>
                                          <p:attrName>fill.type</p:attrName>
                                        </p:attrNameLst>
                                      </p:cBhvr>
                                      <p:to>
                                        <p:strVal val="solid"/>
                                      </p:to>
                                    </p:set>
                                    <p:set>
                                      <p:cBhvr>
                                        <p:cTn id="8" dur="2000" fill="hold"/>
                                        <p:tgtEl>
                                          <p:spTgt spid="1090565"/>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mph" presetSubtype="2" fill="hold" nodeType="clickEffect">
                                  <p:stCondLst>
                                    <p:cond delay="0"/>
                                  </p:stCondLst>
                                  <p:childTnLst>
                                    <p:animClr clrSpc="rgb" dir="cw">
                                      <p:cBhvr>
                                        <p:cTn id="12" dur="2000" fill="hold"/>
                                        <p:tgtEl>
                                          <p:spTgt spid="1090565"/>
                                        </p:tgtEl>
                                        <p:attrNameLst>
                                          <p:attrName>fillcolor</p:attrName>
                                        </p:attrNameLst>
                                      </p:cBhvr>
                                      <p:to>
                                        <a:schemeClr val="accent2"/>
                                      </p:to>
                                    </p:animClr>
                                    <p:set>
                                      <p:cBhvr>
                                        <p:cTn id="13" dur="2000" fill="hold"/>
                                        <p:tgtEl>
                                          <p:spTgt spid="1090565"/>
                                        </p:tgtEl>
                                        <p:attrNameLst>
                                          <p:attrName>fill.type</p:attrName>
                                        </p:attrNameLst>
                                      </p:cBhvr>
                                      <p:to>
                                        <p:strVal val="solid"/>
                                      </p:to>
                                    </p:set>
                                    <p:set>
                                      <p:cBhvr>
                                        <p:cTn id="14" dur="2000" fill="hold"/>
                                        <p:tgtEl>
                                          <p:spTgt spid="109056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730" name="Rectangle 2"/>
          <p:cNvSpPr>
            <a:spLocks noGrp="1" noChangeArrowheads="1"/>
          </p:cNvSpPr>
          <p:nvPr>
            <p:ph type="title"/>
          </p:nvPr>
        </p:nvSpPr>
        <p:spPr/>
        <p:txBody>
          <a:bodyPr>
            <a:norm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Khái</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niệm</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hội</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nhập</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kinh</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tế</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quốc</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tế</a:t>
            </a:r>
            <a:endParaRPr lang="en-US" altLang="en-US" sz="3200" b="1" dirty="0">
              <a:solidFill>
                <a:srgbClr val="002060"/>
              </a:solidFill>
              <a:latin typeface="Arial" panose="020B0604020202020204" pitchFamily="34" charset="0"/>
              <a:cs typeface="Arial" panose="020B0604020202020204" pitchFamily="34" charset="0"/>
            </a:endParaRPr>
          </a:p>
        </p:txBody>
      </p:sp>
      <p:sp>
        <p:nvSpPr>
          <p:cNvPr id="969751" name="Rectangle 23"/>
          <p:cNvSpPr>
            <a:spLocks noGrp="1" noChangeArrowheads="1"/>
          </p:cNvSpPr>
          <p:nvPr>
            <p:ph idx="1"/>
          </p:nvPr>
        </p:nvSpPr>
        <p:spPr>
          <a:xfrm>
            <a:off x="1065121" y="1931430"/>
            <a:ext cx="7032533" cy="3202683"/>
          </a:xfrm>
        </p:spPr>
        <p:txBody>
          <a:bodyPr>
            <a:noAutofit/>
          </a:bodyPr>
          <a:lstStyle/>
          <a:p>
            <a:pPr marL="0" indent="0" algn="just">
              <a:lnSpc>
                <a:spcPct val="140000"/>
              </a:lnSpc>
              <a:buNone/>
            </a:pP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Hội</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nhập</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kinh</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tế</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quốc</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tế</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của</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một</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quốc</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gia</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là</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quá</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trình</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quốc</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gia</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đó</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thực</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hiện</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gắn</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kết</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nền</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kinh</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tế</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của</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mình</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với</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nền</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kinh</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tế</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thế</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giới</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dựa</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trên</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sự</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chia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sẻ</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lợi</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ích</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đồng</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thời</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tuân</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thủ</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các</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chuẩn</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mực</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quốc</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tế</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chung</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a:t>
            </a:r>
          </a:p>
        </p:txBody>
      </p:sp>
    </p:spTree>
    <p:extLst>
      <p:ext uri="{BB962C8B-B14F-4D97-AF65-F5344CB8AC3E}">
        <p14:creationId xmlns:p14="http://schemas.microsoft.com/office/powerpoint/2010/main" val="89223664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330" name="Rectangle 2"/>
          <p:cNvSpPr>
            <a:spLocks noGrp="1" noChangeArrowheads="1"/>
          </p:cNvSpPr>
          <p:nvPr>
            <p:ph type="title"/>
          </p:nvPr>
        </p:nvSpPr>
        <p:spPr/>
        <p:txBody>
          <a:bodyPr>
            <a:normAutofit/>
          </a:bodyPr>
          <a:lstStyle/>
          <a:p>
            <a:pPr algn="ctr"/>
            <a:r>
              <a:rPr lang="en-US" altLang="en-US" sz="2800" b="1" dirty="0" err="1">
                <a:solidFill>
                  <a:srgbClr val="002060"/>
                </a:solidFill>
                <a:latin typeface="Arial" panose="020B0604020202020204" pitchFamily="34" charset="0"/>
                <a:cs typeface="Arial" panose="020B0604020202020204" pitchFamily="34" charset="0"/>
              </a:rPr>
              <a:t>Tính</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tất</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yếu</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khách</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quan</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của</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hội</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nhập</a:t>
            </a:r>
            <a:r>
              <a:rPr lang="en-US" altLang="en-US" sz="2800" b="1" dirty="0">
                <a:solidFill>
                  <a:srgbClr val="002060"/>
                </a:solidFill>
                <a:latin typeface="Arial" panose="020B0604020202020204" pitchFamily="34" charset="0"/>
                <a:cs typeface="Arial" panose="020B0604020202020204" pitchFamily="34" charset="0"/>
              </a:rPr>
              <a:t> KTQT</a:t>
            </a:r>
          </a:p>
        </p:txBody>
      </p:sp>
      <p:sp>
        <p:nvSpPr>
          <p:cNvPr id="19" name="Rectangle 23"/>
          <p:cNvSpPr>
            <a:spLocks noGrp="1" noChangeArrowheads="1"/>
          </p:cNvSpPr>
          <p:nvPr>
            <p:ph idx="1"/>
          </p:nvPr>
        </p:nvSpPr>
        <p:spPr>
          <a:xfrm>
            <a:off x="818356" y="1792496"/>
            <a:ext cx="7507288" cy="3669326"/>
          </a:xfrm>
        </p:spPr>
        <p:txBody>
          <a:bodyPr>
            <a:noAutofit/>
          </a:bodyPr>
          <a:lstStyle/>
          <a:p>
            <a:pPr algn="just">
              <a:lnSpc>
                <a:spcPct val="140000"/>
              </a:lnSpc>
              <a:buFont typeface="Wingdings" panose="05000000000000000000" pitchFamily="2" charset="2"/>
              <a:buChar char="§"/>
            </a:pP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Do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xu</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thế</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khách</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quan</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trong</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bối</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cảnh</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toàn</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cầu</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hóa</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kinh</a:t>
            </a:r>
            <a:r>
              <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800" dirty="0" err="1">
                <a:solidFill>
                  <a:srgbClr val="002060"/>
                </a:solidFill>
                <a:latin typeface="Arial" panose="020B0604020202020204" pitchFamily="34" charset="0"/>
                <a:cs typeface="Arial" panose="020B0604020202020204" pitchFamily="34" charset="0"/>
                <a:sym typeface="Wingdings" panose="05000000000000000000" pitchFamily="2" charset="2"/>
              </a:rPr>
              <a:t>tế</a:t>
            </a:r>
            <a:endPar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endParaRPr>
          </a:p>
          <a:p>
            <a:pPr algn="just">
              <a:lnSpc>
                <a:spcPct val="140000"/>
              </a:lnSpc>
              <a:buFont typeface="Wingdings" panose="05000000000000000000" pitchFamily="2" charset="2"/>
              <a:buChar char="§"/>
            </a:pPr>
            <a:r>
              <a:rPr lang="vi-VN" altLang="en-US" sz="2800" dirty="0">
                <a:solidFill>
                  <a:srgbClr val="002060"/>
                </a:solidFill>
                <a:cs typeface="Arial" panose="020B0604020202020204" pitchFamily="34" charset="0"/>
                <a:sym typeface="Wingdings" panose="05000000000000000000" pitchFamily="2" charset="2"/>
              </a:rPr>
              <a:t> Phương thức phát triển phổ biến của các nước, nhất là các nước đang và kém phát triển trong điều kiện hiện nay</a:t>
            </a:r>
            <a:endParaRPr lang="en-US" altLang="en-US" sz="2800" dirty="0">
              <a:solidFill>
                <a:srgbClr val="002060"/>
              </a:solidFill>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1912595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330" name="Rectangle 2"/>
          <p:cNvSpPr>
            <a:spLocks noGrp="1" noChangeArrowheads="1"/>
          </p:cNvSpPr>
          <p:nvPr>
            <p:ph type="title"/>
          </p:nvPr>
        </p:nvSpPr>
        <p:spPr>
          <a:xfrm>
            <a:off x="778859" y="351472"/>
            <a:ext cx="8056187" cy="1325563"/>
          </a:xfrm>
        </p:spPr>
        <p:txBody>
          <a:bodyPr>
            <a:normAutofit/>
          </a:bodyPr>
          <a:lstStyle/>
          <a:p>
            <a:pPr algn="just"/>
            <a:r>
              <a:rPr lang="en-US" altLang="en-US" sz="2600" b="1" i="1" dirty="0" err="1">
                <a:solidFill>
                  <a:srgbClr val="002060"/>
                </a:solidFill>
                <a:latin typeface="Arial" panose="020B0604020202020204" pitchFamily="34" charset="0"/>
                <a:cs typeface="Arial" panose="020B0604020202020204" pitchFamily="34" charset="0"/>
              </a:rPr>
              <a:t>Xu</a:t>
            </a:r>
            <a:r>
              <a:rPr lang="en-US" altLang="en-US" sz="2600" b="1" i="1" dirty="0">
                <a:solidFill>
                  <a:srgbClr val="002060"/>
                </a:solidFill>
                <a:latin typeface="Arial" panose="020B0604020202020204" pitchFamily="34" charset="0"/>
                <a:cs typeface="Arial" panose="020B0604020202020204" pitchFamily="34" charset="0"/>
              </a:rPr>
              <a:t> </a:t>
            </a:r>
            <a:r>
              <a:rPr lang="en-US" altLang="en-US" sz="2600" b="1" i="1" dirty="0" err="1">
                <a:solidFill>
                  <a:srgbClr val="002060"/>
                </a:solidFill>
                <a:latin typeface="Arial" panose="020B0604020202020204" pitchFamily="34" charset="0"/>
                <a:cs typeface="Arial" panose="020B0604020202020204" pitchFamily="34" charset="0"/>
              </a:rPr>
              <a:t>thế</a:t>
            </a:r>
            <a:r>
              <a:rPr lang="en-US" altLang="en-US" sz="2600" b="1" i="1" dirty="0">
                <a:solidFill>
                  <a:srgbClr val="002060"/>
                </a:solidFill>
                <a:latin typeface="Arial" panose="020B0604020202020204" pitchFamily="34" charset="0"/>
                <a:cs typeface="Arial" panose="020B0604020202020204" pitchFamily="34" charset="0"/>
              </a:rPr>
              <a:t> </a:t>
            </a:r>
            <a:r>
              <a:rPr lang="en-US" altLang="en-US" sz="2600" b="1" i="1" dirty="0" err="1">
                <a:solidFill>
                  <a:srgbClr val="002060"/>
                </a:solidFill>
                <a:latin typeface="Arial" panose="020B0604020202020204" pitchFamily="34" charset="0"/>
                <a:cs typeface="Arial" panose="020B0604020202020204" pitchFamily="34" charset="0"/>
              </a:rPr>
              <a:t>khách</a:t>
            </a:r>
            <a:r>
              <a:rPr lang="en-US" altLang="en-US" sz="2600" b="1" i="1" dirty="0">
                <a:solidFill>
                  <a:srgbClr val="002060"/>
                </a:solidFill>
                <a:latin typeface="Arial" panose="020B0604020202020204" pitchFamily="34" charset="0"/>
                <a:cs typeface="Arial" panose="020B0604020202020204" pitchFamily="34" charset="0"/>
              </a:rPr>
              <a:t> </a:t>
            </a:r>
            <a:r>
              <a:rPr lang="en-US" altLang="en-US" sz="2600" b="1" i="1" dirty="0" err="1">
                <a:solidFill>
                  <a:srgbClr val="002060"/>
                </a:solidFill>
                <a:latin typeface="Arial" panose="020B0604020202020204" pitchFamily="34" charset="0"/>
                <a:cs typeface="Arial" panose="020B0604020202020204" pitchFamily="34" charset="0"/>
              </a:rPr>
              <a:t>quan</a:t>
            </a:r>
            <a:r>
              <a:rPr lang="en-US" altLang="en-US" sz="2600" b="1" i="1" dirty="0">
                <a:solidFill>
                  <a:srgbClr val="002060"/>
                </a:solidFill>
                <a:latin typeface="Arial" panose="020B0604020202020204" pitchFamily="34" charset="0"/>
                <a:cs typeface="Arial" panose="020B0604020202020204" pitchFamily="34" charset="0"/>
              </a:rPr>
              <a:t> </a:t>
            </a:r>
            <a:r>
              <a:rPr lang="en-US" altLang="en-US" sz="2600" b="1" i="1" dirty="0" err="1">
                <a:solidFill>
                  <a:srgbClr val="002060"/>
                </a:solidFill>
                <a:latin typeface="Arial" panose="020B0604020202020204" pitchFamily="34" charset="0"/>
                <a:cs typeface="Arial" panose="020B0604020202020204" pitchFamily="34" charset="0"/>
              </a:rPr>
              <a:t>trong</a:t>
            </a:r>
            <a:r>
              <a:rPr lang="en-US" altLang="en-US" sz="2600" b="1" i="1" dirty="0">
                <a:solidFill>
                  <a:srgbClr val="002060"/>
                </a:solidFill>
                <a:latin typeface="Arial" panose="020B0604020202020204" pitchFamily="34" charset="0"/>
                <a:cs typeface="Arial" panose="020B0604020202020204" pitchFamily="34" charset="0"/>
              </a:rPr>
              <a:t> </a:t>
            </a:r>
            <a:r>
              <a:rPr lang="en-US" altLang="en-US" sz="2600" b="1" i="1" dirty="0" err="1">
                <a:solidFill>
                  <a:srgbClr val="002060"/>
                </a:solidFill>
                <a:latin typeface="Arial" panose="020B0604020202020204" pitchFamily="34" charset="0"/>
                <a:cs typeface="Arial" panose="020B0604020202020204" pitchFamily="34" charset="0"/>
              </a:rPr>
              <a:t>bối</a:t>
            </a:r>
            <a:r>
              <a:rPr lang="en-US" altLang="en-US" sz="2600" b="1" i="1" dirty="0">
                <a:solidFill>
                  <a:srgbClr val="002060"/>
                </a:solidFill>
                <a:latin typeface="Arial" panose="020B0604020202020204" pitchFamily="34" charset="0"/>
                <a:cs typeface="Arial" panose="020B0604020202020204" pitchFamily="34" charset="0"/>
              </a:rPr>
              <a:t> </a:t>
            </a:r>
            <a:r>
              <a:rPr lang="en-US" altLang="en-US" sz="2600" b="1" i="1" dirty="0" err="1">
                <a:solidFill>
                  <a:srgbClr val="002060"/>
                </a:solidFill>
                <a:latin typeface="Arial" panose="020B0604020202020204" pitchFamily="34" charset="0"/>
                <a:cs typeface="Arial" panose="020B0604020202020204" pitchFamily="34" charset="0"/>
              </a:rPr>
              <a:t>cảnh</a:t>
            </a:r>
            <a:r>
              <a:rPr lang="en-US" altLang="en-US" sz="2600" b="1" i="1" dirty="0">
                <a:solidFill>
                  <a:srgbClr val="002060"/>
                </a:solidFill>
                <a:latin typeface="Arial" panose="020B0604020202020204" pitchFamily="34" charset="0"/>
                <a:cs typeface="Arial" panose="020B0604020202020204" pitchFamily="34" charset="0"/>
              </a:rPr>
              <a:t> </a:t>
            </a:r>
            <a:r>
              <a:rPr lang="en-US" altLang="en-US" sz="2600" b="1" i="1" dirty="0" err="1">
                <a:solidFill>
                  <a:srgbClr val="002060"/>
                </a:solidFill>
                <a:latin typeface="Arial" panose="020B0604020202020204" pitchFamily="34" charset="0"/>
                <a:cs typeface="Arial" panose="020B0604020202020204" pitchFamily="34" charset="0"/>
              </a:rPr>
              <a:t>toàn</a:t>
            </a:r>
            <a:r>
              <a:rPr lang="en-US" altLang="en-US" sz="2600" b="1" i="1" dirty="0">
                <a:solidFill>
                  <a:srgbClr val="002060"/>
                </a:solidFill>
                <a:latin typeface="Arial" panose="020B0604020202020204" pitchFamily="34" charset="0"/>
                <a:cs typeface="Arial" panose="020B0604020202020204" pitchFamily="34" charset="0"/>
              </a:rPr>
              <a:t> </a:t>
            </a:r>
            <a:r>
              <a:rPr lang="en-US" altLang="en-US" sz="2600" b="1" i="1" dirty="0" err="1">
                <a:solidFill>
                  <a:srgbClr val="002060"/>
                </a:solidFill>
                <a:latin typeface="Arial" panose="020B0604020202020204" pitchFamily="34" charset="0"/>
                <a:cs typeface="Arial" panose="020B0604020202020204" pitchFamily="34" charset="0"/>
              </a:rPr>
              <a:t>cầu</a:t>
            </a:r>
            <a:r>
              <a:rPr lang="en-US" altLang="en-US" sz="2600" b="1" i="1" dirty="0">
                <a:solidFill>
                  <a:srgbClr val="002060"/>
                </a:solidFill>
                <a:latin typeface="Arial" panose="020B0604020202020204" pitchFamily="34" charset="0"/>
                <a:cs typeface="Arial" panose="020B0604020202020204" pitchFamily="34" charset="0"/>
              </a:rPr>
              <a:t> </a:t>
            </a:r>
            <a:r>
              <a:rPr lang="en-US" altLang="en-US" sz="2600" b="1" i="1" dirty="0" err="1">
                <a:solidFill>
                  <a:srgbClr val="002060"/>
                </a:solidFill>
                <a:latin typeface="Arial" panose="020B0604020202020204" pitchFamily="34" charset="0"/>
                <a:cs typeface="Arial" panose="020B0604020202020204" pitchFamily="34" charset="0"/>
              </a:rPr>
              <a:t>hóa</a:t>
            </a:r>
            <a:endParaRPr lang="en-US" altLang="en-US" sz="2600" b="1" i="1" dirty="0">
              <a:solidFill>
                <a:srgbClr val="002060"/>
              </a:solidFill>
              <a:latin typeface="Arial" panose="020B0604020202020204" pitchFamily="34" charset="0"/>
              <a:cs typeface="Arial" panose="020B0604020202020204" pitchFamily="34" charset="0"/>
            </a:endParaRPr>
          </a:p>
        </p:txBody>
      </p:sp>
      <p:sp>
        <p:nvSpPr>
          <p:cNvPr id="19" name="Rectangle 23"/>
          <p:cNvSpPr>
            <a:spLocks noGrp="1" noChangeArrowheads="1"/>
          </p:cNvSpPr>
          <p:nvPr>
            <p:ph idx="1"/>
          </p:nvPr>
        </p:nvSpPr>
        <p:spPr>
          <a:xfrm>
            <a:off x="818356" y="1792495"/>
            <a:ext cx="7507288" cy="4133581"/>
          </a:xfrm>
        </p:spPr>
        <p:txBody>
          <a:bodyPr>
            <a:noAutofit/>
          </a:bodyPr>
          <a:lstStyle/>
          <a:p>
            <a:pPr algn="just">
              <a:lnSpc>
                <a:spcPct val="120000"/>
              </a:lnSpc>
              <a:buFont typeface="Wingdings" panose="05000000000000000000" pitchFamily="2" charset="2"/>
              <a:buChar char="§"/>
            </a:pPr>
            <a:r>
              <a:rPr lang="vi-VN" altLang="en-US" sz="2600" dirty="0">
                <a:solidFill>
                  <a:srgbClr val="002060"/>
                </a:solidFill>
                <a:cs typeface="Arial" panose="020B0604020202020204" pitchFamily="34" charset="0"/>
                <a:sym typeface="Wingdings" panose="05000000000000000000" pitchFamily="2" charset="2"/>
              </a:rPr>
              <a:t>Hệ thống phân công lao động quốc tế </a:t>
            </a:r>
            <a:r>
              <a:rPr lang="en-US" altLang="en-US" sz="2600" dirty="0">
                <a:solidFill>
                  <a:srgbClr val="002060"/>
                </a:solidFill>
                <a:cs typeface="Arial" panose="020B0604020202020204" pitchFamily="34" charset="0"/>
                <a:sym typeface="Wingdings" panose="05000000000000000000" pitchFamily="2" charset="2"/>
              </a:rPr>
              <a:t> </a:t>
            </a:r>
            <a:r>
              <a:rPr lang="vi-VN" altLang="en-US" sz="2600" dirty="0">
                <a:solidFill>
                  <a:srgbClr val="002060"/>
                </a:solidFill>
                <a:cs typeface="Arial" panose="020B0604020202020204" pitchFamily="34" charset="0"/>
                <a:sym typeface="Wingdings" panose="05000000000000000000" pitchFamily="2" charset="2"/>
              </a:rPr>
              <a:t>nền kinh tế của các nước trở thành một bộ phận hữu cơ và không thể tách rời nền kinh tế toàn cầu</a:t>
            </a:r>
            <a:endParaRPr lang="en-US" altLang="en-US" sz="2600" dirty="0">
              <a:solidFill>
                <a:srgbClr val="002060"/>
              </a:solidFill>
              <a:cs typeface="Arial" panose="020B0604020202020204" pitchFamily="34" charset="0"/>
              <a:sym typeface="Wingdings" panose="05000000000000000000" pitchFamily="2" charset="2"/>
            </a:endParaRPr>
          </a:p>
          <a:p>
            <a:pPr algn="just">
              <a:lnSpc>
                <a:spcPct val="120000"/>
              </a:lnSpc>
              <a:buFont typeface="Wingdings" panose="05000000000000000000" pitchFamily="2" charset="2"/>
              <a:buChar char="§"/>
            </a:pPr>
            <a:r>
              <a:rPr lang="vi-VN" altLang="en-US" sz="2600" dirty="0">
                <a:solidFill>
                  <a:srgbClr val="002060"/>
                </a:solidFill>
                <a:cs typeface="Arial" panose="020B0604020202020204" pitchFamily="34" charset="0"/>
                <a:sym typeface="Wingdings" panose="05000000000000000000" pitchFamily="2" charset="2"/>
              </a:rPr>
              <a:t>Hội nhập kinh tế quốc tế tạo ra cơ hội để các quốc gia giải quyết những vấn đề toàn cầu</a:t>
            </a:r>
            <a:endParaRPr lang="en-US" altLang="en-US" sz="2600" dirty="0">
              <a:solidFill>
                <a:srgbClr val="002060"/>
              </a:solidFill>
              <a:cs typeface="Arial" panose="020B0604020202020204" pitchFamily="34" charset="0"/>
              <a:sym typeface="Wingdings" panose="05000000000000000000" pitchFamily="2" charset="2"/>
            </a:endParaRPr>
          </a:p>
          <a:p>
            <a:pPr algn="just">
              <a:lnSpc>
                <a:spcPct val="120000"/>
              </a:lnSpc>
              <a:buFont typeface="Wingdings" panose="05000000000000000000" pitchFamily="2" charset="2"/>
              <a:buChar char="§"/>
            </a:pPr>
            <a:r>
              <a:rPr lang="vi-VN" altLang="en-US" sz="2600" dirty="0">
                <a:solidFill>
                  <a:srgbClr val="002060"/>
                </a:solidFill>
                <a:cs typeface="Arial" panose="020B0604020202020204" pitchFamily="34" charset="0"/>
                <a:sym typeface="Wingdings" panose="05000000000000000000" pitchFamily="2" charset="2"/>
              </a:rPr>
              <a:t> Tận dụng được các thành tựu của cách mạng công nghiệp, biến nó thành động lực cho sự phát triển.</a:t>
            </a:r>
            <a:endParaRPr lang="en-US" altLang="en-US" sz="2600" dirty="0">
              <a:solidFill>
                <a:srgbClr val="002060"/>
              </a:solidFill>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4177771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330" name="Rectangle 2"/>
          <p:cNvSpPr>
            <a:spLocks noGrp="1" noChangeArrowheads="1"/>
          </p:cNvSpPr>
          <p:nvPr>
            <p:ph type="title"/>
          </p:nvPr>
        </p:nvSpPr>
        <p:spPr>
          <a:xfrm>
            <a:off x="628650" y="201272"/>
            <a:ext cx="7886700" cy="1325563"/>
          </a:xfrm>
        </p:spPr>
        <p:txBody>
          <a:bodyPr>
            <a:noAutofit/>
          </a:bodyPr>
          <a:lstStyle/>
          <a:p>
            <a:pPr algn="ctr"/>
            <a:r>
              <a:rPr lang="vi-VN" altLang="en-US" sz="2600" b="1" i="1" dirty="0">
                <a:solidFill>
                  <a:srgbClr val="002060"/>
                </a:solidFill>
                <a:latin typeface="+mn-lt"/>
                <a:cs typeface="Calibri" panose="020F0502020204030204" pitchFamily="34" charset="0"/>
              </a:rPr>
              <a:t>Phương thức phát triển của các nước đang và kém phát triể</a:t>
            </a:r>
            <a:r>
              <a:rPr lang="en-US" altLang="en-US" sz="2600" b="1" i="1" dirty="0">
                <a:solidFill>
                  <a:srgbClr val="002060"/>
                </a:solidFill>
                <a:latin typeface="Arial" panose="020B0604020202020204" pitchFamily="34" charset="0"/>
                <a:cs typeface="Arial" panose="020B0604020202020204" pitchFamily="34" charset="0"/>
              </a:rPr>
              <a:t>n </a:t>
            </a:r>
            <a:r>
              <a:rPr lang="en-US" altLang="en-US" sz="2600" b="1" i="1" dirty="0" err="1">
                <a:solidFill>
                  <a:srgbClr val="002060"/>
                </a:solidFill>
                <a:latin typeface="Arial" panose="020B0604020202020204" pitchFamily="34" charset="0"/>
                <a:cs typeface="Arial" panose="020B0604020202020204" pitchFamily="34" charset="0"/>
              </a:rPr>
              <a:t>hiện</a:t>
            </a:r>
            <a:r>
              <a:rPr lang="en-US" altLang="en-US" sz="2600" b="1" i="1" dirty="0">
                <a:solidFill>
                  <a:srgbClr val="002060"/>
                </a:solidFill>
                <a:latin typeface="Arial" panose="020B0604020202020204" pitchFamily="34" charset="0"/>
                <a:cs typeface="Arial" panose="020B0604020202020204" pitchFamily="34" charset="0"/>
              </a:rPr>
              <a:t> nay</a:t>
            </a:r>
            <a:endParaRPr lang="vi-VN" altLang="en-US" sz="2600" b="1" i="1" dirty="0">
              <a:solidFill>
                <a:srgbClr val="002060"/>
              </a:solidFill>
              <a:latin typeface="Arial" panose="020B0604020202020204" pitchFamily="34" charset="0"/>
              <a:cs typeface="Arial" panose="020B0604020202020204" pitchFamily="34" charset="0"/>
            </a:endParaRPr>
          </a:p>
        </p:txBody>
      </p:sp>
      <p:sp>
        <p:nvSpPr>
          <p:cNvPr id="19" name="Rectangle 23"/>
          <p:cNvSpPr>
            <a:spLocks noGrp="1" noChangeArrowheads="1"/>
          </p:cNvSpPr>
          <p:nvPr>
            <p:ph idx="1"/>
          </p:nvPr>
        </p:nvSpPr>
        <p:spPr>
          <a:xfrm>
            <a:off x="818356" y="1519404"/>
            <a:ext cx="7507288" cy="2472055"/>
          </a:xfrm>
        </p:spPr>
        <p:txBody>
          <a:bodyPr>
            <a:noAutofit/>
          </a:bodyPr>
          <a:lstStyle/>
          <a:p>
            <a:pPr algn="just">
              <a:lnSpc>
                <a:spcPct val="110000"/>
              </a:lnSpc>
              <a:buFont typeface="Wingdings" panose="05000000000000000000" pitchFamily="2" charset="2"/>
              <a:buChar char="§"/>
            </a:pPr>
            <a:r>
              <a:rPr lang="vi-VN" altLang="en-US" sz="2400" dirty="0">
                <a:solidFill>
                  <a:srgbClr val="002060"/>
                </a:solidFill>
                <a:cs typeface="Arial" panose="020B0604020202020204" pitchFamily="34" charset="0"/>
                <a:sym typeface="Wingdings" panose="05000000000000000000" pitchFamily="2" charset="2"/>
              </a:rPr>
              <a:t>cơ hội để tiếp cận và sử dụng được các nguồn lực bên ngoài như tài chính, khoa học công nghệ, kinh nghiệm</a:t>
            </a:r>
            <a:endParaRPr lang="en-US" altLang="en-US" sz="2400" dirty="0">
              <a:solidFill>
                <a:srgbClr val="002060"/>
              </a:solidFill>
              <a:cs typeface="Arial" panose="020B0604020202020204" pitchFamily="34" charset="0"/>
              <a:sym typeface="Wingdings" panose="05000000000000000000" pitchFamily="2" charset="2"/>
            </a:endParaRPr>
          </a:p>
          <a:p>
            <a:pPr algn="just">
              <a:lnSpc>
                <a:spcPct val="110000"/>
              </a:lnSpc>
              <a:buFont typeface="Wingdings" panose="05000000000000000000" pitchFamily="2" charset="2"/>
              <a:buChar char="§"/>
            </a:pPr>
            <a:r>
              <a:rPr lang="vi-VN" altLang="en-US" sz="2400" dirty="0">
                <a:solidFill>
                  <a:srgbClr val="002060"/>
                </a:solidFill>
                <a:cs typeface="Arial" panose="020B0604020202020204" pitchFamily="34" charset="0"/>
                <a:sym typeface="Wingdings" panose="05000000000000000000" pitchFamily="2" charset="2"/>
              </a:rPr>
              <a:t>tận dụng thời cơ phát triển rút ngắn, thu hẹp khoảng cách</a:t>
            </a:r>
            <a:r>
              <a:rPr lang="en-US" altLang="en-US" sz="2400" dirty="0">
                <a:solidFill>
                  <a:srgbClr val="002060"/>
                </a:solidFill>
                <a:cs typeface="Arial" panose="020B0604020202020204" pitchFamily="34" charset="0"/>
                <a:sym typeface="Wingdings" panose="05000000000000000000" pitchFamily="2" charset="2"/>
              </a:rPr>
              <a:t>, </a:t>
            </a:r>
            <a:r>
              <a:rPr lang="vi-VN" altLang="en-US" sz="2400" dirty="0">
                <a:solidFill>
                  <a:srgbClr val="002060"/>
                </a:solidFill>
                <a:cs typeface="Arial" panose="020B0604020202020204" pitchFamily="34" charset="0"/>
                <a:sym typeface="Wingdings" panose="05000000000000000000" pitchFamily="2" charset="2"/>
              </a:rPr>
              <a:t>khắc phục nguy cơ tụt hậu</a:t>
            </a:r>
            <a:endParaRPr lang="en-US" altLang="en-US" sz="2400" dirty="0">
              <a:solidFill>
                <a:srgbClr val="002060"/>
              </a:solidFill>
              <a:cs typeface="Arial" panose="020B0604020202020204" pitchFamily="34" charset="0"/>
              <a:sym typeface="Wingdings" panose="05000000000000000000" pitchFamily="2" charset="2"/>
            </a:endParaRPr>
          </a:p>
          <a:p>
            <a:pPr algn="just">
              <a:lnSpc>
                <a:spcPct val="110000"/>
              </a:lnSpc>
              <a:buFont typeface="Wingdings" panose="05000000000000000000" pitchFamily="2" charset="2"/>
              <a:buChar char="§"/>
            </a:pPr>
            <a:r>
              <a:rPr lang="vi-VN" altLang="en-US" sz="2400" dirty="0">
                <a:solidFill>
                  <a:srgbClr val="002060"/>
                </a:solidFill>
                <a:cs typeface="Arial" panose="020B0604020202020204" pitchFamily="34" charset="0"/>
                <a:sym typeface="Wingdings" panose="05000000000000000000" pitchFamily="2" charset="2"/>
              </a:rPr>
              <a:t>giúp mở cửa thị trường, thu hút vốn, thúc đẩy công nghiệp hoá, tăng tích luỹ; tạo ra nhiều cơ hội việc làm mới và nâng cao mức thu nhập </a:t>
            </a:r>
            <a:endParaRPr lang="en-US" altLang="en-US" sz="2400" dirty="0">
              <a:solidFill>
                <a:srgbClr val="002060"/>
              </a:solidFill>
              <a:cs typeface="Arial" panose="020B0604020202020204" pitchFamily="34" charset="0"/>
              <a:sym typeface="Wingdings" panose="05000000000000000000" pitchFamily="2" charset="2"/>
            </a:endParaRPr>
          </a:p>
          <a:p>
            <a:pPr algn="just">
              <a:lnSpc>
                <a:spcPct val="110000"/>
              </a:lnSpc>
              <a:buFont typeface="Wingdings" panose="05000000000000000000" pitchFamily="2" charset="2"/>
              <a:buChar char="§"/>
            </a:pPr>
            <a:r>
              <a:rPr lang="vi-VN" altLang="en-US" sz="2400" dirty="0">
                <a:solidFill>
                  <a:srgbClr val="FF0000"/>
                </a:solidFill>
                <a:cs typeface="Arial" panose="020B0604020202020204" pitchFamily="34" charset="0"/>
                <a:sym typeface="Wingdings" panose="05000000000000000000" pitchFamily="2" charset="2"/>
              </a:rPr>
              <a:t>gia tăng sự phụ thuộc do nợ nước ngoài, tình trạng bất bình đẳng trong trao đổi mậu dịch - thương mại giữa các nước đang phát triển và phát triển</a:t>
            </a:r>
            <a:endParaRPr lang="en-US" altLang="en-US" sz="2400" dirty="0">
              <a:solidFill>
                <a:srgbClr val="FF0000"/>
              </a:solidFill>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3855330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330" name="Rectangle 2"/>
          <p:cNvSpPr>
            <a:spLocks noGrp="1" noChangeArrowheads="1"/>
          </p:cNvSpPr>
          <p:nvPr>
            <p:ph type="title"/>
          </p:nvPr>
        </p:nvSpPr>
        <p:spPr>
          <a:xfrm>
            <a:off x="628650" y="365126"/>
            <a:ext cx="7886700" cy="1041293"/>
          </a:xfrm>
        </p:spPr>
        <p:txBody>
          <a:bodyPr>
            <a:no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Nội</a:t>
            </a:r>
            <a:r>
              <a:rPr lang="en-US" altLang="en-US" sz="3200" b="1" dirty="0">
                <a:solidFill>
                  <a:srgbClr val="002060"/>
                </a:solidFill>
                <a:latin typeface="Arial" panose="020B0604020202020204" pitchFamily="34" charset="0"/>
                <a:cs typeface="Arial" panose="020B0604020202020204" pitchFamily="34" charset="0"/>
              </a:rPr>
              <a:t> dung </a:t>
            </a:r>
            <a:r>
              <a:rPr lang="en-US" altLang="en-US" sz="3200" b="1" dirty="0" err="1">
                <a:solidFill>
                  <a:srgbClr val="002060"/>
                </a:solidFill>
                <a:latin typeface="Arial" panose="020B0604020202020204" pitchFamily="34" charset="0"/>
                <a:cs typeface="Arial" panose="020B0604020202020204" pitchFamily="34" charset="0"/>
              </a:rPr>
              <a:t>hội</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nhập</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kinh</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tế</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quốc</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tế</a:t>
            </a:r>
            <a:endParaRPr lang="vi-VN" altLang="en-US" sz="3200" b="1" dirty="0">
              <a:solidFill>
                <a:srgbClr val="002060"/>
              </a:solidFill>
              <a:latin typeface="Arial" panose="020B0604020202020204" pitchFamily="34" charset="0"/>
              <a:cs typeface="Arial" panose="020B0604020202020204" pitchFamily="34" charset="0"/>
            </a:endParaRPr>
          </a:p>
        </p:txBody>
      </p:sp>
      <p:sp>
        <p:nvSpPr>
          <p:cNvPr id="19" name="Rectangle 23"/>
          <p:cNvSpPr>
            <a:spLocks noGrp="1" noChangeArrowheads="1"/>
          </p:cNvSpPr>
          <p:nvPr>
            <p:ph idx="1"/>
          </p:nvPr>
        </p:nvSpPr>
        <p:spPr>
          <a:xfrm>
            <a:off x="818356" y="1447940"/>
            <a:ext cx="7507288" cy="4532755"/>
          </a:xfrm>
        </p:spPr>
        <p:txBody>
          <a:bodyPr>
            <a:noAutofit/>
          </a:bodyPr>
          <a:lstStyle/>
          <a:p>
            <a:pPr algn="just">
              <a:lnSpc>
                <a:spcPct val="120000"/>
              </a:lnSpc>
              <a:buFont typeface="Wingdings" panose="05000000000000000000" pitchFamily="2" charset="2"/>
              <a:buChar char="§"/>
            </a:pPr>
            <a:r>
              <a:rPr lang="vi-VN" altLang="en-US" sz="2400" dirty="0">
                <a:solidFill>
                  <a:srgbClr val="FF0000"/>
                </a:solidFill>
                <a:cs typeface="Arial" panose="020B0604020202020204" pitchFamily="34" charset="0"/>
                <a:sym typeface="Wingdings" panose="05000000000000000000" pitchFamily="2" charset="2"/>
              </a:rPr>
              <a:t> Chuẩn bị các điều kiện để thực hiện hội nhập hiệu thành công</a:t>
            </a:r>
            <a:endParaRPr lang="en-US" altLang="en-US" sz="2400" dirty="0">
              <a:solidFill>
                <a:srgbClr val="FF0000"/>
              </a:solidFill>
              <a:cs typeface="Arial" panose="020B0604020202020204" pitchFamily="34" charset="0"/>
              <a:sym typeface="Wingdings" panose="05000000000000000000" pitchFamily="2" charset="2"/>
            </a:endParaRPr>
          </a:p>
          <a:p>
            <a:pPr marL="806450" indent="-342900" algn="just">
              <a:lnSpc>
                <a:spcPct val="120000"/>
              </a:lnSpc>
              <a:buFont typeface="Wingdings" panose="05000000000000000000" pitchFamily="2" charset="2"/>
              <a:buChar char="ü"/>
            </a:pPr>
            <a:r>
              <a:rPr lang="vi-VN" altLang="en-US" sz="2400" dirty="0">
                <a:solidFill>
                  <a:srgbClr val="002060"/>
                </a:solidFill>
                <a:cs typeface="Arial" panose="020B0604020202020204" pitchFamily="34" charset="0"/>
                <a:sym typeface="Wingdings" panose="05000000000000000000" pitchFamily="2" charset="2"/>
              </a:rPr>
              <a:t>Các điều kiện sẵn sàng về tư duy, </a:t>
            </a:r>
            <a:endParaRPr lang="en-US" altLang="en-US" sz="2400" dirty="0">
              <a:solidFill>
                <a:srgbClr val="002060"/>
              </a:solidFill>
              <a:cs typeface="Arial" panose="020B0604020202020204" pitchFamily="34" charset="0"/>
              <a:sym typeface="Wingdings" panose="05000000000000000000" pitchFamily="2" charset="2"/>
            </a:endParaRPr>
          </a:p>
          <a:p>
            <a:pPr marL="806450" indent="-342900" algn="just">
              <a:lnSpc>
                <a:spcPct val="120000"/>
              </a:lnSpc>
              <a:buFont typeface="Wingdings" panose="05000000000000000000" pitchFamily="2" charset="2"/>
              <a:buChar char="ü"/>
            </a:pPr>
            <a:r>
              <a:rPr lang="vi-VN" altLang="en-US" sz="2400" dirty="0">
                <a:solidFill>
                  <a:srgbClr val="002060"/>
                </a:solidFill>
                <a:cs typeface="Arial" panose="020B0604020202020204" pitchFamily="34" charset="0"/>
                <a:sym typeface="Wingdings" panose="05000000000000000000" pitchFamily="2" charset="2"/>
              </a:rPr>
              <a:t>Sự tham gia của toàn xã hội, </a:t>
            </a:r>
            <a:endParaRPr lang="en-US" altLang="en-US" sz="2400" dirty="0">
              <a:solidFill>
                <a:srgbClr val="002060"/>
              </a:solidFill>
              <a:cs typeface="Arial" panose="020B0604020202020204" pitchFamily="34" charset="0"/>
              <a:sym typeface="Wingdings" panose="05000000000000000000" pitchFamily="2" charset="2"/>
            </a:endParaRPr>
          </a:p>
          <a:p>
            <a:pPr marL="806450" indent="-342900" algn="just">
              <a:lnSpc>
                <a:spcPct val="120000"/>
              </a:lnSpc>
              <a:buFont typeface="Wingdings" panose="05000000000000000000" pitchFamily="2" charset="2"/>
              <a:buChar char="ü"/>
            </a:pPr>
            <a:r>
              <a:rPr lang="vi-VN" altLang="en-US" sz="2400" dirty="0">
                <a:solidFill>
                  <a:srgbClr val="002060"/>
                </a:solidFill>
                <a:cs typeface="Arial" panose="020B0604020202020204" pitchFamily="34" charset="0"/>
                <a:sym typeface="Wingdings" panose="05000000000000000000" pitchFamily="2" charset="2"/>
              </a:rPr>
              <a:t>Sự hoàn thiện và hiệu lực của thể chế, </a:t>
            </a:r>
            <a:endParaRPr lang="en-US" altLang="en-US" sz="2400" dirty="0">
              <a:solidFill>
                <a:srgbClr val="002060"/>
              </a:solidFill>
              <a:cs typeface="Arial" panose="020B0604020202020204" pitchFamily="34" charset="0"/>
              <a:sym typeface="Wingdings" panose="05000000000000000000" pitchFamily="2" charset="2"/>
            </a:endParaRPr>
          </a:p>
          <a:p>
            <a:pPr marL="806450" indent="-342900" algn="just">
              <a:lnSpc>
                <a:spcPct val="120000"/>
              </a:lnSpc>
              <a:buFont typeface="Wingdings" panose="05000000000000000000" pitchFamily="2" charset="2"/>
              <a:buChar char="ü"/>
            </a:pPr>
            <a:r>
              <a:rPr lang="vi-VN" altLang="en-US" sz="2400" dirty="0">
                <a:solidFill>
                  <a:srgbClr val="002060"/>
                </a:solidFill>
                <a:cs typeface="Arial" panose="020B0604020202020204" pitchFamily="34" charset="0"/>
                <a:sym typeface="Wingdings" panose="05000000000000000000" pitchFamily="2" charset="2"/>
              </a:rPr>
              <a:t>Nguồn nhân lực</a:t>
            </a:r>
            <a:r>
              <a:rPr lang="en-US" altLang="en-US" sz="2400" dirty="0">
                <a:solidFill>
                  <a:srgbClr val="002060"/>
                </a:solidFill>
                <a:cs typeface="Arial" panose="020B0604020202020204" pitchFamily="34" charset="0"/>
                <a:sym typeface="Wingdings" panose="05000000000000000000" pitchFamily="2" charset="2"/>
              </a:rPr>
              <a:t>,</a:t>
            </a:r>
          </a:p>
          <a:p>
            <a:pPr marL="806450" indent="-342900" algn="just">
              <a:lnSpc>
                <a:spcPct val="120000"/>
              </a:lnSpc>
              <a:buFont typeface="Wingdings" panose="05000000000000000000" pitchFamily="2" charset="2"/>
              <a:buChar char="ü"/>
            </a:pPr>
            <a:r>
              <a:rPr lang="vi-VN" altLang="en-US" sz="2400" dirty="0">
                <a:solidFill>
                  <a:srgbClr val="002060"/>
                </a:solidFill>
                <a:cs typeface="Arial" panose="020B0604020202020204" pitchFamily="34" charset="0"/>
                <a:sym typeface="Wingdings" panose="05000000000000000000" pitchFamily="2" charset="2"/>
              </a:rPr>
              <a:t>Sự am hiểu môi trường quốc tế</a:t>
            </a:r>
            <a:r>
              <a:rPr lang="en-US" altLang="en-US" sz="2400" dirty="0">
                <a:solidFill>
                  <a:srgbClr val="002060"/>
                </a:solidFill>
                <a:cs typeface="Arial" panose="020B0604020202020204" pitchFamily="34" charset="0"/>
                <a:sym typeface="Wingdings" panose="05000000000000000000" pitchFamily="2" charset="2"/>
              </a:rPr>
              <a:t>,</a:t>
            </a:r>
            <a:r>
              <a:rPr lang="vi-VN" altLang="en-US" sz="2400" dirty="0">
                <a:solidFill>
                  <a:srgbClr val="002060"/>
                </a:solidFill>
                <a:cs typeface="Arial" panose="020B0604020202020204" pitchFamily="34" charset="0"/>
                <a:sym typeface="Wingdings" panose="05000000000000000000" pitchFamily="2" charset="2"/>
              </a:rPr>
              <a:t> </a:t>
            </a:r>
            <a:endParaRPr lang="en-US" altLang="en-US" sz="2400" dirty="0">
              <a:solidFill>
                <a:srgbClr val="002060"/>
              </a:solidFill>
              <a:cs typeface="Arial" panose="020B0604020202020204" pitchFamily="34" charset="0"/>
              <a:sym typeface="Wingdings" panose="05000000000000000000" pitchFamily="2" charset="2"/>
            </a:endParaRPr>
          </a:p>
          <a:p>
            <a:pPr marL="806450" indent="-342900" algn="just">
              <a:lnSpc>
                <a:spcPct val="120000"/>
              </a:lnSpc>
              <a:buFont typeface="Wingdings" panose="05000000000000000000" pitchFamily="2" charset="2"/>
              <a:buChar char="ü"/>
            </a:pPr>
            <a:r>
              <a:rPr lang="vi-VN" altLang="en-US" sz="2400" dirty="0">
                <a:solidFill>
                  <a:srgbClr val="002060"/>
                </a:solidFill>
                <a:cs typeface="Arial" panose="020B0604020202020204" pitchFamily="34" charset="0"/>
                <a:sym typeface="Wingdings" panose="05000000000000000000" pitchFamily="2" charset="2"/>
              </a:rPr>
              <a:t>Nền kinh tế có năng lực sản xuất thực…</a:t>
            </a:r>
            <a:endPar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13309815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330" name="Rectangle 2"/>
          <p:cNvSpPr>
            <a:spLocks noGrp="1" noChangeArrowheads="1"/>
          </p:cNvSpPr>
          <p:nvPr>
            <p:ph type="title"/>
          </p:nvPr>
        </p:nvSpPr>
        <p:spPr/>
        <p:txBody>
          <a:bodyPr>
            <a:no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Nội</a:t>
            </a:r>
            <a:r>
              <a:rPr lang="en-US" altLang="en-US" sz="3200" b="1" dirty="0">
                <a:solidFill>
                  <a:srgbClr val="002060"/>
                </a:solidFill>
                <a:latin typeface="Arial" panose="020B0604020202020204" pitchFamily="34" charset="0"/>
                <a:cs typeface="Arial" panose="020B0604020202020204" pitchFamily="34" charset="0"/>
              </a:rPr>
              <a:t> dung </a:t>
            </a:r>
            <a:r>
              <a:rPr lang="en-US" altLang="en-US" sz="3200" b="1" dirty="0" err="1">
                <a:solidFill>
                  <a:srgbClr val="002060"/>
                </a:solidFill>
                <a:latin typeface="Arial" panose="020B0604020202020204" pitchFamily="34" charset="0"/>
                <a:cs typeface="Arial" panose="020B0604020202020204" pitchFamily="34" charset="0"/>
              </a:rPr>
              <a:t>Hội</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nhập</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kinh</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tế</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quốc</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tế</a:t>
            </a:r>
            <a:endParaRPr lang="vi-VN" altLang="en-US" sz="3200" b="1" dirty="0">
              <a:solidFill>
                <a:srgbClr val="002060"/>
              </a:solidFill>
              <a:latin typeface="Arial" panose="020B0604020202020204" pitchFamily="34" charset="0"/>
              <a:cs typeface="Arial" panose="020B0604020202020204" pitchFamily="34" charset="0"/>
            </a:endParaRPr>
          </a:p>
        </p:txBody>
      </p:sp>
      <p:sp>
        <p:nvSpPr>
          <p:cNvPr id="19" name="Rectangle 23"/>
          <p:cNvSpPr>
            <a:spLocks noGrp="1" noChangeArrowheads="1"/>
          </p:cNvSpPr>
          <p:nvPr>
            <p:ph idx="1"/>
          </p:nvPr>
        </p:nvSpPr>
        <p:spPr>
          <a:xfrm>
            <a:off x="818356" y="1584486"/>
            <a:ext cx="7507288" cy="4368901"/>
          </a:xfrm>
        </p:spPr>
        <p:txBody>
          <a:bodyPr>
            <a:noAutofit/>
          </a:bodyPr>
          <a:lstStyle/>
          <a:p>
            <a:pPr algn="just">
              <a:lnSpc>
                <a:spcPct val="120000"/>
              </a:lnSpc>
              <a:buFont typeface="Wingdings" panose="05000000000000000000" pitchFamily="2" charset="2"/>
              <a:buChar char="§"/>
            </a:pPr>
            <a:r>
              <a:rPr lang="vi-VN" altLang="en-US" sz="2400" dirty="0">
                <a:solidFill>
                  <a:srgbClr val="FF0000"/>
                </a:solidFill>
                <a:cs typeface="Arial" panose="020B0604020202020204" pitchFamily="34" charset="0"/>
                <a:sym typeface="Wingdings" panose="05000000000000000000" pitchFamily="2" charset="2"/>
              </a:rPr>
              <a:t>Thực hiện đa dạng các hình thức, các mức độ hội nhập kinh tế quố</a:t>
            </a:r>
            <a:r>
              <a:rPr lang="en-US" altLang="en-US" sz="2400" dirty="0">
                <a:solidFill>
                  <a:srgbClr val="FF0000"/>
                </a:solidFill>
                <a:cs typeface="Arial" panose="020B0604020202020204" pitchFamily="34" charset="0"/>
                <a:sym typeface="Wingdings" panose="05000000000000000000" pitchFamily="2" charset="2"/>
              </a:rPr>
              <a:t>c</a:t>
            </a:r>
          </a:p>
          <a:p>
            <a:pPr marL="0" indent="0" algn="just">
              <a:lnSpc>
                <a:spcPct val="120000"/>
              </a:lnSpc>
              <a:buNone/>
            </a:pPr>
            <a:r>
              <a:rPr lang="en-US" altLang="en-US" sz="2400" dirty="0">
                <a:solidFill>
                  <a:srgbClr val="002060"/>
                </a:solidFill>
                <a:cs typeface="Arial" panose="020B0604020202020204" pitchFamily="34" charset="0"/>
                <a:sym typeface="Wingdings" panose="05000000000000000000" pitchFamily="2" charset="2"/>
              </a:rPr>
              <a:t>	</a:t>
            </a:r>
            <a:r>
              <a:rPr lang="en-US" altLang="en-US" sz="2400" b="1" dirty="0">
                <a:solidFill>
                  <a:srgbClr val="002060"/>
                </a:solidFill>
                <a:cs typeface="Arial" panose="020B0604020202020204" pitchFamily="34" charset="0"/>
                <a:sym typeface="Wingdings" panose="05000000000000000000" pitchFamily="2" charset="2"/>
              </a:rPr>
              <a:t>VỀ MỨC ĐỘ</a:t>
            </a:r>
          </a:p>
          <a:p>
            <a:pPr marL="806450" indent="-342900" algn="just">
              <a:lnSpc>
                <a:spcPct val="120000"/>
              </a:lnSpc>
              <a:buFont typeface="Wingdings" panose="05000000000000000000" pitchFamily="2" charset="2"/>
              <a:buChar char="ü"/>
            </a:pPr>
            <a:r>
              <a:rPr lang="vi-VN" altLang="en-US" sz="2400" dirty="0">
                <a:solidFill>
                  <a:srgbClr val="002060"/>
                </a:solidFill>
                <a:cs typeface="Arial" panose="020B0604020202020204" pitchFamily="34" charset="0"/>
                <a:sym typeface="Wingdings" panose="05000000000000000000" pitchFamily="2" charset="2"/>
              </a:rPr>
              <a:t>Thỏa thuận thương mại ưu đãi (PTA)</a:t>
            </a:r>
            <a:endParaRPr lang="en-US" altLang="en-US" sz="2400" dirty="0">
              <a:solidFill>
                <a:srgbClr val="002060"/>
              </a:solidFill>
              <a:cs typeface="Arial" panose="020B0604020202020204" pitchFamily="34" charset="0"/>
              <a:sym typeface="Wingdings" panose="05000000000000000000" pitchFamily="2" charset="2"/>
            </a:endParaRPr>
          </a:p>
          <a:p>
            <a:pPr marL="806450" indent="-342900" algn="just">
              <a:lnSpc>
                <a:spcPct val="120000"/>
              </a:lnSpc>
              <a:buFont typeface="Wingdings" panose="05000000000000000000" pitchFamily="2" charset="2"/>
              <a:buChar char="ü"/>
            </a:pPr>
            <a:r>
              <a:rPr lang="vi-VN" altLang="en-US" sz="2400" dirty="0">
                <a:solidFill>
                  <a:srgbClr val="002060"/>
                </a:solidFill>
                <a:cs typeface="Arial" panose="020B0604020202020204" pitchFamily="34" charset="0"/>
                <a:sym typeface="Wingdings" panose="05000000000000000000" pitchFamily="2" charset="2"/>
              </a:rPr>
              <a:t>Khu vực mậu dịch tự do (FTA)</a:t>
            </a:r>
            <a:endParaRPr lang="en-US" altLang="en-US" sz="2400" dirty="0">
              <a:solidFill>
                <a:srgbClr val="002060"/>
              </a:solidFill>
              <a:cs typeface="Arial" panose="020B0604020202020204" pitchFamily="34" charset="0"/>
              <a:sym typeface="Wingdings" panose="05000000000000000000" pitchFamily="2" charset="2"/>
            </a:endParaRPr>
          </a:p>
          <a:p>
            <a:pPr marL="806450" indent="-342900" algn="just">
              <a:lnSpc>
                <a:spcPct val="120000"/>
              </a:lnSpc>
              <a:buFont typeface="Wingdings" panose="05000000000000000000" pitchFamily="2" charset="2"/>
              <a:buChar char="ü"/>
            </a:pPr>
            <a:r>
              <a:rPr lang="vi-VN" altLang="en-US" sz="2400" dirty="0">
                <a:solidFill>
                  <a:srgbClr val="002060"/>
                </a:solidFill>
                <a:cs typeface="Arial" panose="020B0604020202020204" pitchFamily="34" charset="0"/>
                <a:sym typeface="Wingdings" panose="05000000000000000000" pitchFamily="2" charset="2"/>
              </a:rPr>
              <a:t>Liên minh thuế quan (CU)</a:t>
            </a:r>
            <a:endParaRPr lang="en-US" altLang="en-US" sz="2400" dirty="0">
              <a:solidFill>
                <a:srgbClr val="002060"/>
              </a:solidFill>
              <a:cs typeface="Arial" panose="020B0604020202020204" pitchFamily="34" charset="0"/>
              <a:sym typeface="Wingdings" panose="05000000000000000000" pitchFamily="2" charset="2"/>
            </a:endParaRPr>
          </a:p>
          <a:p>
            <a:pPr marL="806450" indent="-342900" algn="just">
              <a:lnSpc>
                <a:spcPct val="120000"/>
              </a:lnSpc>
              <a:buFont typeface="Wingdings" panose="05000000000000000000" pitchFamily="2" charset="2"/>
              <a:buChar char="ü"/>
            </a:pPr>
            <a:r>
              <a:rPr lang="vi-VN" altLang="en-US" sz="2400" dirty="0">
                <a:solidFill>
                  <a:srgbClr val="002060"/>
                </a:solidFill>
                <a:cs typeface="Arial" panose="020B0604020202020204" pitchFamily="34" charset="0"/>
                <a:sym typeface="Wingdings" panose="05000000000000000000" pitchFamily="2" charset="2"/>
              </a:rPr>
              <a:t>Thị trường chung (hay thị trường duy nhất)</a:t>
            </a:r>
            <a:endParaRPr lang="en-US" altLang="en-US" sz="2400" dirty="0">
              <a:solidFill>
                <a:srgbClr val="002060"/>
              </a:solidFill>
              <a:cs typeface="Arial" panose="020B0604020202020204" pitchFamily="34" charset="0"/>
              <a:sym typeface="Wingdings" panose="05000000000000000000" pitchFamily="2" charset="2"/>
            </a:endParaRPr>
          </a:p>
          <a:p>
            <a:pPr marL="806450" indent="-342900" algn="just">
              <a:lnSpc>
                <a:spcPct val="120000"/>
              </a:lnSpc>
              <a:buFont typeface="Wingdings" panose="05000000000000000000" pitchFamily="2" charset="2"/>
              <a:buChar char="ü"/>
            </a:pPr>
            <a:r>
              <a:rPr lang="vi-VN" altLang="en-US" sz="2400" dirty="0">
                <a:solidFill>
                  <a:srgbClr val="002060"/>
                </a:solidFill>
                <a:cs typeface="Arial" panose="020B0604020202020204" pitchFamily="34" charset="0"/>
                <a:sym typeface="Wingdings" panose="05000000000000000000" pitchFamily="2" charset="2"/>
              </a:rPr>
              <a:t>Liên minh kinh tế - tiền tệ…</a:t>
            </a:r>
            <a:endPar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505754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5202" name="Group 2"/>
          <p:cNvGrpSpPr>
            <a:grpSpLocks/>
          </p:cNvGrpSpPr>
          <p:nvPr/>
        </p:nvGrpSpPr>
        <p:grpSpPr bwMode="auto">
          <a:xfrm>
            <a:off x="981215" y="2363239"/>
            <a:ext cx="3124200" cy="2863850"/>
            <a:chOff x="1985" y="1474"/>
            <a:chExt cx="1784" cy="1635"/>
          </a:xfrm>
        </p:grpSpPr>
        <p:sp>
          <p:nvSpPr>
            <p:cNvPr id="1075203" name="Oval 3"/>
            <p:cNvSpPr>
              <a:spLocks noChangeArrowheads="1"/>
            </p:cNvSpPr>
            <p:nvPr/>
          </p:nvSpPr>
          <p:spPr bwMode="gray">
            <a:xfrm>
              <a:off x="1985" y="1515"/>
              <a:ext cx="1604" cy="1594"/>
            </a:xfrm>
            <a:prstGeom prst="ellipse">
              <a:avLst/>
            </a:prstGeom>
            <a:gradFill rotWithShape="1">
              <a:gsLst>
                <a:gs pos="0">
                  <a:srgbClr val="FFFFFF"/>
                </a:gs>
                <a:gs pos="16000">
                  <a:srgbClr val="1F1F1F"/>
                </a:gs>
                <a:gs pos="17999">
                  <a:srgbClr val="FFFFFF"/>
                </a:gs>
                <a:gs pos="42000">
                  <a:srgbClr val="636363"/>
                </a:gs>
                <a:gs pos="53000">
                  <a:srgbClr val="CFCFCF"/>
                </a:gs>
                <a:gs pos="66000">
                  <a:srgbClr val="CFCFCF"/>
                </a:gs>
                <a:gs pos="75999">
                  <a:srgbClr val="1F1F1F"/>
                </a:gs>
                <a:gs pos="78999">
                  <a:srgbClr val="FFFFFF"/>
                </a:gs>
                <a:gs pos="100000">
                  <a:srgbClr val="7F7F7F"/>
                </a:gs>
              </a:gsLst>
              <a:path path="shape">
                <a:fillToRect l="50000" t="50000" r="50000" b="50000"/>
              </a:path>
            </a:gradFill>
            <a:ln w="19050">
              <a:solidFill>
                <a:srgbClr val="DDDDDD"/>
              </a:solidFill>
              <a:round/>
              <a:headEnd/>
              <a:tailEnd/>
            </a:ln>
            <a:effectLst/>
            <a:extLst>
              <a:ext uri="{AF507438-7753-43e0-B8FC-AC1667EBCBE1}">
                <a14:hiddenEffects xmlns:a14="http://schemas.microsoft.com/office/drawing/2010/main" xmlns="">
                  <a:effectLst>
                    <a:outerShdw dist="107763" dir="2700000" algn="ctr" rotWithShape="0">
                      <a:schemeClr val="bg2">
                        <a:alpha val="50000"/>
                      </a:schemeClr>
                    </a:outerShdw>
                  </a:effectLst>
                </a14:hiddenEffects>
              </a:ext>
            </a:extLst>
          </p:spPr>
          <p:txBody>
            <a:bodyPr wrap="none" anchor="ctr"/>
            <a:lstStyle/>
            <a:p>
              <a:endParaRPr lang="en-US">
                <a:solidFill>
                  <a:srgbClr val="002060"/>
                </a:solidFill>
              </a:endParaRPr>
            </a:p>
          </p:txBody>
        </p:sp>
        <p:grpSp>
          <p:nvGrpSpPr>
            <p:cNvPr id="1075204" name="Group 4"/>
            <p:cNvGrpSpPr>
              <a:grpSpLocks/>
            </p:cNvGrpSpPr>
            <p:nvPr/>
          </p:nvGrpSpPr>
          <p:grpSpPr bwMode="auto">
            <a:xfrm>
              <a:off x="3211" y="1474"/>
              <a:ext cx="162" cy="160"/>
              <a:chOff x="2230" y="1584"/>
              <a:chExt cx="186" cy="185"/>
            </a:xfrm>
          </p:grpSpPr>
          <p:sp>
            <p:nvSpPr>
              <p:cNvPr id="1075205" name="Oval 5"/>
              <p:cNvSpPr>
                <a:spLocks noChangeArrowheads="1"/>
              </p:cNvSpPr>
              <p:nvPr/>
            </p:nvSpPr>
            <p:spPr bwMode="gray">
              <a:xfrm>
                <a:off x="2230" y="1584"/>
                <a:ext cx="186" cy="185"/>
              </a:xfrm>
              <a:prstGeom prst="ellipse">
                <a:avLst/>
              </a:prstGeom>
              <a:gradFill rotWithShape="0">
                <a:gsLst>
                  <a:gs pos="0">
                    <a:schemeClr val="accent1">
                      <a:gamma/>
                      <a:shade val="56078"/>
                      <a:invGamma/>
                    </a:schemeClr>
                  </a:gs>
                  <a:gs pos="50000">
                    <a:schemeClr val="accent1"/>
                  </a:gs>
                  <a:gs pos="100000">
                    <a:schemeClr val="accent1">
                      <a:gamma/>
                      <a:shade val="56078"/>
                      <a:invGamma/>
                    </a:schemeClr>
                  </a:gs>
                </a:gsLst>
                <a:lin ang="2700000" scaled="1"/>
              </a:gradFill>
              <a:ln w="28575">
                <a:solidFill>
                  <a:srgbClr val="EAEAEA"/>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nvGrpSpPr>
              <p:cNvPr id="1075206" name="Group 6"/>
              <p:cNvGrpSpPr>
                <a:grpSpLocks/>
              </p:cNvGrpSpPr>
              <p:nvPr/>
            </p:nvGrpSpPr>
            <p:grpSpPr bwMode="auto">
              <a:xfrm>
                <a:off x="2276" y="1601"/>
                <a:ext cx="139" cy="34"/>
                <a:chOff x="2532" y="1051"/>
                <a:chExt cx="893" cy="246"/>
              </a:xfrm>
            </p:grpSpPr>
            <p:grpSp>
              <p:nvGrpSpPr>
                <p:cNvPr id="1075207" name="Group 7"/>
                <p:cNvGrpSpPr>
                  <a:grpSpLocks/>
                </p:cNvGrpSpPr>
                <p:nvPr/>
              </p:nvGrpSpPr>
              <p:grpSpPr bwMode="auto">
                <a:xfrm>
                  <a:off x="2532" y="1051"/>
                  <a:ext cx="743" cy="185"/>
                  <a:chOff x="1565" y="2568"/>
                  <a:chExt cx="1118" cy="279"/>
                </a:xfrm>
              </p:grpSpPr>
              <p:sp>
                <p:nvSpPr>
                  <p:cNvPr id="1075208" name="AutoShape 8"/>
                  <p:cNvSpPr>
                    <a:spLocks noChangeArrowheads="1"/>
                  </p:cNvSpPr>
                  <p:nvPr/>
                </p:nvSpPr>
                <p:spPr bwMode="gray">
                  <a:xfrm rot="5263130">
                    <a:off x="1859" y="2274"/>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09" name="AutoShape 9"/>
                  <p:cNvSpPr>
                    <a:spLocks noChangeArrowheads="1"/>
                  </p:cNvSpPr>
                  <p:nvPr/>
                </p:nvSpPr>
                <p:spPr bwMode="gray">
                  <a:xfrm rot="6078281">
                    <a:off x="1995" y="2274"/>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10" name="AutoShape 10"/>
                  <p:cNvSpPr>
                    <a:spLocks noChangeArrowheads="1"/>
                  </p:cNvSpPr>
                  <p:nvPr/>
                </p:nvSpPr>
                <p:spPr bwMode="gray">
                  <a:xfrm rot="6373927">
                    <a:off x="2071" y="2296"/>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11" name="AutoShape 11"/>
                  <p:cNvSpPr>
                    <a:spLocks noChangeArrowheads="1"/>
                  </p:cNvSpPr>
                  <p:nvPr/>
                </p:nvSpPr>
                <p:spPr bwMode="gray">
                  <a:xfrm rot="6906312">
                    <a:off x="2161" y="2326"/>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grpSp>
              <p:nvGrpSpPr>
                <p:cNvPr id="1075212" name="Group 12"/>
                <p:cNvGrpSpPr>
                  <a:grpSpLocks/>
                </p:cNvGrpSpPr>
                <p:nvPr/>
              </p:nvGrpSpPr>
              <p:grpSpPr bwMode="auto">
                <a:xfrm rot="1353540">
                  <a:off x="2682" y="1111"/>
                  <a:ext cx="743" cy="186"/>
                  <a:chOff x="1565" y="2568"/>
                  <a:chExt cx="1118" cy="279"/>
                </a:xfrm>
              </p:grpSpPr>
              <p:sp>
                <p:nvSpPr>
                  <p:cNvPr id="1075213" name="AutoShape 13"/>
                  <p:cNvSpPr>
                    <a:spLocks noChangeArrowheads="1"/>
                  </p:cNvSpPr>
                  <p:nvPr/>
                </p:nvSpPr>
                <p:spPr bwMode="gray">
                  <a:xfrm rot="5263130">
                    <a:off x="1859" y="2274"/>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14" name="AutoShape 14"/>
                  <p:cNvSpPr>
                    <a:spLocks noChangeArrowheads="1"/>
                  </p:cNvSpPr>
                  <p:nvPr/>
                </p:nvSpPr>
                <p:spPr bwMode="gray">
                  <a:xfrm rot="6078281">
                    <a:off x="1995" y="2274"/>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15" name="AutoShape 15"/>
                  <p:cNvSpPr>
                    <a:spLocks noChangeArrowheads="1"/>
                  </p:cNvSpPr>
                  <p:nvPr/>
                </p:nvSpPr>
                <p:spPr bwMode="gray">
                  <a:xfrm rot="6373927">
                    <a:off x="2071" y="2296"/>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16" name="AutoShape 16"/>
                  <p:cNvSpPr>
                    <a:spLocks noChangeArrowheads="1"/>
                  </p:cNvSpPr>
                  <p:nvPr/>
                </p:nvSpPr>
                <p:spPr bwMode="gray">
                  <a:xfrm rot="6906312">
                    <a:off x="2161" y="2326"/>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grpSp>
          <p:grpSp>
            <p:nvGrpSpPr>
              <p:cNvPr id="1075217" name="Group 17"/>
              <p:cNvGrpSpPr>
                <a:grpSpLocks/>
              </p:cNvGrpSpPr>
              <p:nvPr/>
            </p:nvGrpSpPr>
            <p:grpSpPr bwMode="auto">
              <a:xfrm>
                <a:off x="2241" y="1720"/>
                <a:ext cx="107" cy="32"/>
                <a:chOff x="1773" y="1638"/>
                <a:chExt cx="329" cy="97"/>
              </a:xfrm>
            </p:grpSpPr>
            <p:sp>
              <p:nvSpPr>
                <p:cNvPr id="1075218" name="AutoShape 18"/>
                <p:cNvSpPr>
                  <a:spLocks noChangeArrowheads="1"/>
                </p:cNvSpPr>
                <p:nvPr/>
              </p:nvSpPr>
              <p:spPr bwMode="gray">
                <a:xfrm rot="7767867" flipH="1">
                  <a:off x="1872" y="1539"/>
                  <a:ext cx="50" cy="248"/>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19" name="AutoShape 19"/>
                <p:cNvSpPr>
                  <a:spLocks noChangeArrowheads="1"/>
                </p:cNvSpPr>
                <p:nvPr/>
              </p:nvSpPr>
              <p:spPr bwMode="gray">
                <a:xfrm rot="6952716" flipH="1">
                  <a:off x="1905" y="1563"/>
                  <a:ext cx="50" cy="249"/>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20" name="AutoShape 20"/>
                <p:cNvSpPr>
                  <a:spLocks noChangeArrowheads="1"/>
                </p:cNvSpPr>
                <p:nvPr/>
              </p:nvSpPr>
              <p:spPr bwMode="gray">
                <a:xfrm rot="6657070" flipH="1">
                  <a:off x="1926" y="1573"/>
                  <a:ext cx="50" cy="249"/>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21" name="AutoShape 21"/>
                <p:cNvSpPr>
                  <a:spLocks noChangeArrowheads="1"/>
                </p:cNvSpPr>
                <p:nvPr/>
              </p:nvSpPr>
              <p:spPr bwMode="gray">
                <a:xfrm rot="6124686" flipH="1">
                  <a:off x="1953" y="1586"/>
                  <a:ext cx="50" cy="248"/>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grpSp>
        <p:grpSp>
          <p:nvGrpSpPr>
            <p:cNvPr id="1075222" name="Group 22"/>
            <p:cNvGrpSpPr>
              <a:grpSpLocks/>
            </p:cNvGrpSpPr>
            <p:nvPr/>
          </p:nvGrpSpPr>
          <p:grpSpPr bwMode="auto">
            <a:xfrm>
              <a:off x="3517" y="1804"/>
              <a:ext cx="162" cy="160"/>
              <a:chOff x="2230" y="1584"/>
              <a:chExt cx="186" cy="185"/>
            </a:xfrm>
          </p:grpSpPr>
          <p:sp>
            <p:nvSpPr>
              <p:cNvPr id="1075223" name="Oval 23"/>
              <p:cNvSpPr>
                <a:spLocks noChangeArrowheads="1"/>
              </p:cNvSpPr>
              <p:nvPr/>
            </p:nvSpPr>
            <p:spPr bwMode="gray">
              <a:xfrm>
                <a:off x="2230" y="1584"/>
                <a:ext cx="186" cy="185"/>
              </a:xfrm>
              <a:prstGeom prst="ellipse">
                <a:avLst/>
              </a:prstGeom>
              <a:gradFill rotWithShape="0">
                <a:gsLst>
                  <a:gs pos="0">
                    <a:schemeClr val="accent1">
                      <a:gamma/>
                      <a:shade val="56078"/>
                      <a:invGamma/>
                    </a:schemeClr>
                  </a:gs>
                  <a:gs pos="50000">
                    <a:schemeClr val="accent1"/>
                  </a:gs>
                  <a:gs pos="100000">
                    <a:schemeClr val="accent1">
                      <a:gamma/>
                      <a:shade val="56078"/>
                      <a:invGamma/>
                    </a:schemeClr>
                  </a:gs>
                </a:gsLst>
                <a:lin ang="2700000" scaled="1"/>
              </a:gradFill>
              <a:ln w="28575">
                <a:solidFill>
                  <a:srgbClr val="EAEAEA"/>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nvGrpSpPr>
              <p:cNvPr id="1075224" name="Group 24"/>
              <p:cNvGrpSpPr>
                <a:grpSpLocks/>
              </p:cNvGrpSpPr>
              <p:nvPr/>
            </p:nvGrpSpPr>
            <p:grpSpPr bwMode="auto">
              <a:xfrm>
                <a:off x="2276" y="1601"/>
                <a:ext cx="139" cy="34"/>
                <a:chOff x="2532" y="1051"/>
                <a:chExt cx="893" cy="246"/>
              </a:xfrm>
            </p:grpSpPr>
            <p:grpSp>
              <p:nvGrpSpPr>
                <p:cNvPr id="1075225" name="Group 25"/>
                <p:cNvGrpSpPr>
                  <a:grpSpLocks/>
                </p:cNvGrpSpPr>
                <p:nvPr/>
              </p:nvGrpSpPr>
              <p:grpSpPr bwMode="auto">
                <a:xfrm>
                  <a:off x="2532" y="1051"/>
                  <a:ext cx="743" cy="185"/>
                  <a:chOff x="1565" y="2568"/>
                  <a:chExt cx="1118" cy="279"/>
                </a:xfrm>
              </p:grpSpPr>
              <p:sp>
                <p:nvSpPr>
                  <p:cNvPr id="1075226" name="AutoShape 26"/>
                  <p:cNvSpPr>
                    <a:spLocks noChangeArrowheads="1"/>
                  </p:cNvSpPr>
                  <p:nvPr/>
                </p:nvSpPr>
                <p:spPr bwMode="gray">
                  <a:xfrm rot="5263130">
                    <a:off x="1859" y="2274"/>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27" name="AutoShape 27"/>
                  <p:cNvSpPr>
                    <a:spLocks noChangeArrowheads="1"/>
                  </p:cNvSpPr>
                  <p:nvPr/>
                </p:nvSpPr>
                <p:spPr bwMode="gray">
                  <a:xfrm rot="6078281">
                    <a:off x="1995" y="2274"/>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28" name="AutoShape 28"/>
                  <p:cNvSpPr>
                    <a:spLocks noChangeArrowheads="1"/>
                  </p:cNvSpPr>
                  <p:nvPr/>
                </p:nvSpPr>
                <p:spPr bwMode="gray">
                  <a:xfrm rot="6373927">
                    <a:off x="2071" y="2296"/>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29" name="AutoShape 29"/>
                  <p:cNvSpPr>
                    <a:spLocks noChangeArrowheads="1"/>
                  </p:cNvSpPr>
                  <p:nvPr/>
                </p:nvSpPr>
                <p:spPr bwMode="gray">
                  <a:xfrm rot="6906312">
                    <a:off x="2161" y="2326"/>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grpSp>
              <p:nvGrpSpPr>
                <p:cNvPr id="1075230" name="Group 30"/>
                <p:cNvGrpSpPr>
                  <a:grpSpLocks/>
                </p:cNvGrpSpPr>
                <p:nvPr/>
              </p:nvGrpSpPr>
              <p:grpSpPr bwMode="auto">
                <a:xfrm rot="1353540">
                  <a:off x="2682" y="1111"/>
                  <a:ext cx="743" cy="186"/>
                  <a:chOff x="1565" y="2568"/>
                  <a:chExt cx="1118" cy="279"/>
                </a:xfrm>
              </p:grpSpPr>
              <p:sp>
                <p:nvSpPr>
                  <p:cNvPr id="1075231" name="AutoShape 31"/>
                  <p:cNvSpPr>
                    <a:spLocks noChangeArrowheads="1"/>
                  </p:cNvSpPr>
                  <p:nvPr/>
                </p:nvSpPr>
                <p:spPr bwMode="gray">
                  <a:xfrm rot="5263130">
                    <a:off x="1859" y="2274"/>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32" name="AutoShape 32"/>
                  <p:cNvSpPr>
                    <a:spLocks noChangeArrowheads="1"/>
                  </p:cNvSpPr>
                  <p:nvPr/>
                </p:nvSpPr>
                <p:spPr bwMode="gray">
                  <a:xfrm rot="6078281">
                    <a:off x="1995" y="2274"/>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33" name="AutoShape 33"/>
                  <p:cNvSpPr>
                    <a:spLocks noChangeArrowheads="1"/>
                  </p:cNvSpPr>
                  <p:nvPr/>
                </p:nvSpPr>
                <p:spPr bwMode="gray">
                  <a:xfrm rot="6373927">
                    <a:off x="2071" y="2296"/>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34" name="AutoShape 34"/>
                  <p:cNvSpPr>
                    <a:spLocks noChangeArrowheads="1"/>
                  </p:cNvSpPr>
                  <p:nvPr/>
                </p:nvSpPr>
                <p:spPr bwMode="gray">
                  <a:xfrm rot="6906312">
                    <a:off x="2161" y="2326"/>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grpSp>
          <p:grpSp>
            <p:nvGrpSpPr>
              <p:cNvPr id="1075235" name="Group 35"/>
              <p:cNvGrpSpPr>
                <a:grpSpLocks/>
              </p:cNvGrpSpPr>
              <p:nvPr/>
            </p:nvGrpSpPr>
            <p:grpSpPr bwMode="auto">
              <a:xfrm>
                <a:off x="2241" y="1720"/>
                <a:ext cx="107" cy="32"/>
                <a:chOff x="1773" y="1638"/>
                <a:chExt cx="329" cy="97"/>
              </a:xfrm>
            </p:grpSpPr>
            <p:sp>
              <p:nvSpPr>
                <p:cNvPr id="1075236" name="AutoShape 36"/>
                <p:cNvSpPr>
                  <a:spLocks noChangeArrowheads="1"/>
                </p:cNvSpPr>
                <p:nvPr/>
              </p:nvSpPr>
              <p:spPr bwMode="gray">
                <a:xfrm rot="7767867" flipH="1">
                  <a:off x="1872" y="1539"/>
                  <a:ext cx="50" cy="248"/>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37" name="AutoShape 37"/>
                <p:cNvSpPr>
                  <a:spLocks noChangeArrowheads="1"/>
                </p:cNvSpPr>
                <p:nvPr/>
              </p:nvSpPr>
              <p:spPr bwMode="gray">
                <a:xfrm rot="6952716" flipH="1">
                  <a:off x="1905" y="1563"/>
                  <a:ext cx="50" cy="249"/>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38" name="AutoShape 38"/>
                <p:cNvSpPr>
                  <a:spLocks noChangeArrowheads="1"/>
                </p:cNvSpPr>
                <p:nvPr/>
              </p:nvSpPr>
              <p:spPr bwMode="gray">
                <a:xfrm rot="6657070" flipH="1">
                  <a:off x="1926" y="1573"/>
                  <a:ext cx="50" cy="249"/>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39" name="AutoShape 39"/>
                <p:cNvSpPr>
                  <a:spLocks noChangeArrowheads="1"/>
                </p:cNvSpPr>
                <p:nvPr/>
              </p:nvSpPr>
              <p:spPr bwMode="gray">
                <a:xfrm rot="6124686" flipH="1">
                  <a:off x="1953" y="1586"/>
                  <a:ext cx="50" cy="248"/>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grpSp>
        <p:grpSp>
          <p:nvGrpSpPr>
            <p:cNvPr id="1075240" name="Group 40"/>
            <p:cNvGrpSpPr>
              <a:grpSpLocks/>
            </p:cNvGrpSpPr>
            <p:nvPr/>
          </p:nvGrpSpPr>
          <p:grpSpPr bwMode="auto">
            <a:xfrm>
              <a:off x="3607" y="2182"/>
              <a:ext cx="162" cy="160"/>
              <a:chOff x="2230" y="1584"/>
              <a:chExt cx="186" cy="185"/>
            </a:xfrm>
          </p:grpSpPr>
          <p:sp>
            <p:nvSpPr>
              <p:cNvPr id="1075241" name="Oval 41"/>
              <p:cNvSpPr>
                <a:spLocks noChangeArrowheads="1"/>
              </p:cNvSpPr>
              <p:nvPr/>
            </p:nvSpPr>
            <p:spPr bwMode="gray">
              <a:xfrm>
                <a:off x="2230" y="1584"/>
                <a:ext cx="186" cy="185"/>
              </a:xfrm>
              <a:prstGeom prst="ellipse">
                <a:avLst/>
              </a:prstGeom>
              <a:gradFill rotWithShape="0">
                <a:gsLst>
                  <a:gs pos="0">
                    <a:schemeClr val="accent1">
                      <a:gamma/>
                      <a:shade val="56078"/>
                      <a:invGamma/>
                    </a:schemeClr>
                  </a:gs>
                  <a:gs pos="50000">
                    <a:schemeClr val="accent1"/>
                  </a:gs>
                  <a:gs pos="100000">
                    <a:schemeClr val="accent1">
                      <a:gamma/>
                      <a:shade val="56078"/>
                      <a:invGamma/>
                    </a:schemeClr>
                  </a:gs>
                </a:gsLst>
                <a:lin ang="2700000" scaled="1"/>
              </a:gradFill>
              <a:ln w="28575">
                <a:solidFill>
                  <a:srgbClr val="EAEAEA"/>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nvGrpSpPr>
              <p:cNvPr id="1075242" name="Group 42"/>
              <p:cNvGrpSpPr>
                <a:grpSpLocks/>
              </p:cNvGrpSpPr>
              <p:nvPr/>
            </p:nvGrpSpPr>
            <p:grpSpPr bwMode="auto">
              <a:xfrm>
                <a:off x="2276" y="1601"/>
                <a:ext cx="139" cy="34"/>
                <a:chOff x="2532" y="1051"/>
                <a:chExt cx="893" cy="246"/>
              </a:xfrm>
            </p:grpSpPr>
            <p:grpSp>
              <p:nvGrpSpPr>
                <p:cNvPr id="1075243" name="Group 43"/>
                <p:cNvGrpSpPr>
                  <a:grpSpLocks/>
                </p:cNvGrpSpPr>
                <p:nvPr/>
              </p:nvGrpSpPr>
              <p:grpSpPr bwMode="auto">
                <a:xfrm>
                  <a:off x="2532" y="1051"/>
                  <a:ext cx="743" cy="185"/>
                  <a:chOff x="1565" y="2568"/>
                  <a:chExt cx="1118" cy="279"/>
                </a:xfrm>
              </p:grpSpPr>
              <p:sp>
                <p:nvSpPr>
                  <p:cNvPr id="1075244" name="AutoShape 44"/>
                  <p:cNvSpPr>
                    <a:spLocks noChangeArrowheads="1"/>
                  </p:cNvSpPr>
                  <p:nvPr/>
                </p:nvSpPr>
                <p:spPr bwMode="gray">
                  <a:xfrm rot="5263130">
                    <a:off x="1859" y="2274"/>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45" name="AutoShape 45"/>
                  <p:cNvSpPr>
                    <a:spLocks noChangeArrowheads="1"/>
                  </p:cNvSpPr>
                  <p:nvPr/>
                </p:nvSpPr>
                <p:spPr bwMode="gray">
                  <a:xfrm rot="6078281">
                    <a:off x="1995" y="2274"/>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46" name="AutoShape 46"/>
                  <p:cNvSpPr>
                    <a:spLocks noChangeArrowheads="1"/>
                  </p:cNvSpPr>
                  <p:nvPr/>
                </p:nvSpPr>
                <p:spPr bwMode="gray">
                  <a:xfrm rot="6373927">
                    <a:off x="2071" y="2296"/>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47" name="AutoShape 47"/>
                  <p:cNvSpPr>
                    <a:spLocks noChangeArrowheads="1"/>
                  </p:cNvSpPr>
                  <p:nvPr/>
                </p:nvSpPr>
                <p:spPr bwMode="gray">
                  <a:xfrm rot="6906312">
                    <a:off x="2161" y="2326"/>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grpSp>
              <p:nvGrpSpPr>
                <p:cNvPr id="1075248" name="Group 48"/>
                <p:cNvGrpSpPr>
                  <a:grpSpLocks/>
                </p:cNvGrpSpPr>
                <p:nvPr/>
              </p:nvGrpSpPr>
              <p:grpSpPr bwMode="auto">
                <a:xfrm rot="1353540">
                  <a:off x="2682" y="1111"/>
                  <a:ext cx="743" cy="186"/>
                  <a:chOff x="1565" y="2568"/>
                  <a:chExt cx="1118" cy="279"/>
                </a:xfrm>
              </p:grpSpPr>
              <p:sp>
                <p:nvSpPr>
                  <p:cNvPr id="1075249" name="AutoShape 49"/>
                  <p:cNvSpPr>
                    <a:spLocks noChangeArrowheads="1"/>
                  </p:cNvSpPr>
                  <p:nvPr/>
                </p:nvSpPr>
                <p:spPr bwMode="gray">
                  <a:xfrm rot="5263130">
                    <a:off x="1859" y="2274"/>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50" name="AutoShape 50"/>
                  <p:cNvSpPr>
                    <a:spLocks noChangeArrowheads="1"/>
                  </p:cNvSpPr>
                  <p:nvPr/>
                </p:nvSpPr>
                <p:spPr bwMode="gray">
                  <a:xfrm rot="6078281">
                    <a:off x="1995" y="2274"/>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51" name="AutoShape 51"/>
                  <p:cNvSpPr>
                    <a:spLocks noChangeArrowheads="1"/>
                  </p:cNvSpPr>
                  <p:nvPr/>
                </p:nvSpPr>
                <p:spPr bwMode="gray">
                  <a:xfrm rot="6373927">
                    <a:off x="2071" y="2296"/>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52" name="AutoShape 52"/>
                  <p:cNvSpPr>
                    <a:spLocks noChangeArrowheads="1"/>
                  </p:cNvSpPr>
                  <p:nvPr/>
                </p:nvSpPr>
                <p:spPr bwMode="gray">
                  <a:xfrm rot="6906312">
                    <a:off x="2161" y="2326"/>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grpSp>
          <p:grpSp>
            <p:nvGrpSpPr>
              <p:cNvPr id="1075253" name="Group 53"/>
              <p:cNvGrpSpPr>
                <a:grpSpLocks/>
              </p:cNvGrpSpPr>
              <p:nvPr/>
            </p:nvGrpSpPr>
            <p:grpSpPr bwMode="auto">
              <a:xfrm>
                <a:off x="2241" y="1720"/>
                <a:ext cx="107" cy="32"/>
                <a:chOff x="1773" y="1638"/>
                <a:chExt cx="329" cy="97"/>
              </a:xfrm>
            </p:grpSpPr>
            <p:sp>
              <p:nvSpPr>
                <p:cNvPr id="1075254" name="AutoShape 54"/>
                <p:cNvSpPr>
                  <a:spLocks noChangeArrowheads="1"/>
                </p:cNvSpPr>
                <p:nvPr/>
              </p:nvSpPr>
              <p:spPr bwMode="gray">
                <a:xfrm rot="7767867" flipH="1">
                  <a:off x="1872" y="1539"/>
                  <a:ext cx="50" cy="248"/>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55" name="AutoShape 55"/>
                <p:cNvSpPr>
                  <a:spLocks noChangeArrowheads="1"/>
                </p:cNvSpPr>
                <p:nvPr/>
              </p:nvSpPr>
              <p:spPr bwMode="gray">
                <a:xfrm rot="6952716" flipH="1">
                  <a:off x="1905" y="1563"/>
                  <a:ext cx="50" cy="249"/>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56" name="AutoShape 56"/>
                <p:cNvSpPr>
                  <a:spLocks noChangeArrowheads="1"/>
                </p:cNvSpPr>
                <p:nvPr/>
              </p:nvSpPr>
              <p:spPr bwMode="gray">
                <a:xfrm rot="6657070" flipH="1">
                  <a:off x="1926" y="1573"/>
                  <a:ext cx="50" cy="249"/>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57" name="AutoShape 57"/>
                <p:cNvSpPr>
                  <a:spLocks noChangeArrowheads="1"/>
                </p:cNvSpPr>
                <p:nvPr/>
              </p:nvSpPr>
              <p:spPr bwMode="gray">
                <a:xfrm rot="6124686" flipH="1">
                  <a:off x="1953" y="1586"/>
                  <a:ext cx="50" cy="248"/>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grpSp>
        <p:grpSp>
          <p:nvGrpSpPr>
            <p:cNvPr id="1075258" name="Group 58"/>
            <p:cNvGrpSpPr>
              <a:grpSpLocks/>
            </p:cNvGrpSpPr>
            <p:nvPr/>
          </p:nvGrpSpPr>
          <p:grpSpPr bwMode="auto">
            <a:xfrm>
              <a:off x="3553" y="2560"/>
              <a:ext cx="162" cy="160"/>
              <a:chOff x="2230" y="1584"/>
              <a:chExt cx="186" cy="185"/>
            </a:xfrm>
          </p:grpSpPr>
          <p:sp>
            <p:nvSpPr>
              <p:cNvPr id="1075259" name="Oval 59"/>
              <p:cNvSpPr>
                <a:spLocks noChangeArrowheads="1"/>
              </p:cNvSpPr>
              <p:nvPr/>
            </p:nvSpPr>
            <p:spPr bwMode="gray">
              <a:xfrm>
                <a:off x="2230" y="1584"/>
                <a:ext cx="186" cy="185"/>
              </a:xfrm>
              <a:prstGeom prst="ellipse">
                <a:avLst/>
              </a:prstGeom>
              <a:gradFill rotWithShape="0">
                <a:gsLst>
                  <a:gs pos="0">
                    <a:schemeClr val="accent1">
                      <a:gamma/>
                      <a:shade val="56078"/>
                      <a:invGamma/>
                    </a:schemeClr>
                  </a:gs>
                  <a:gs pos="50000">
                    <a:schemeClr val="accent1"/>
                  </a:gs>
                  <a:gs pos="100000">
                    <a:schemeClr val="accent1">
                      <a:gamma/>
                      <a:shade val="56078"/>
                      <a:invGamma/>
                    </a:schemeClr>
                  </a:gs>
                </a:gsLst>
                <a:lin ang="2700000" scaled="1"/>
              </a:gradFill>
              <a:ln w="28575">
                <a:solidFill>
                  <a:srgbClr val="EAEAEA"/>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nvGrpSpPr>
              <p:cNvPr id="1075260" name="Group 60"/>
              <p:cNvGrpSpPr>
                <a:grpSpLocks/>
              </p:cNvGrpSpPr>
              <p:nvPr/>
            </p:nvGrpSpPr>
            <p:grpSpPr bwMode="auto">
              <a:xfrm>
                <a:off x="2276" y="1601"/>
                <a:ext cx="139" cy="34"/>
                <a:chOff x="2532" y="1051"/>
                <a:chExt cx="893" cy="246"/>
              </a:xfrm>
            </p:grpSpPr>
            <p:grpSp>
              <p:nvGrpSpPr>
                <p:cNvPr id="1075261" name="Group 61"/>
                <p:cNvGrpSpPr>
                  <a:grpSpLocks/>
                </p:cNvGrpSpPr>
                <p:nvPr/>
              </p:nvGrpSpPr>
              <p:grpSpPr bwMode="auto">
                <a:xfrm>
                  <a:off x="2532" y="1051"/>
                  <a:ext cx="743" cy="185"/>
                  <a:chOff x="1565" y="2568"/>
                  <a:chExt cx="1118" cy="279"/>
                </a:xfrm>
              </p:grpSpPr>
              <p:sp>
                <p:nvSpPr>
                  <p:cNvPr id="1075262" name="AutoShape 62"/>
                  <p:cNvSpPr>
                    <a:spLocks noChangeArrowheads="1"/>
                  </p:cNvSpPr>
                  <p:nvPr/>
                </p:nvSpPr>
                <p:spPr bwMode="gray">
                  <a:xfrm rot="5263130">
                    <a:off x="1859" y="2274"/>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63" name="AutoShape 63"/>
                  <p:cNvSpPr>
                    <a:spLocks noChangeArrowheads="1"/>
                  </p:cNvSpPr>
                  <p:nvPr/>
                </p:nvSpPr>
                <p:spPr bwMode="gray">
                  <a:xfrm rot="6078281">
                    <a:off x="1995" y="2274"/>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64" name="AutoShape 64"/>
                  <p:cNvSpPr>
                    <a:spLocks noChangeArrowheads="1"/>
                  </p:cNvSpPr>
                  <p:nvPr/>
                </p:nvSpPr>
                <p:spPr bwMode="gray">
                  <a:xfrm rot="6373927">
                    <a:off x="2071" y="2296"/>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65" name="AutoShape 65"/>
                  <p:cNvSpPr>
                    <a:spLocks noChangeArrowheads="1"/>
                  </p:cNvSpPr>
                  <p:nvPr/>
                </p:nvSpPr>
                <p:spPr bwMode="gray">
                  <a:xfrm rot="6906312">
                    <a:off x="2161" y="2326"/>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grpSp>
              <p:nvGrpSpPr>
                <p:cNvPr id="1075266" name="Group 66"/>
                <p:cNvGrpSpPr>
                  <a:grpSpLocks/>
                </p:cNvGrpSpPr>
                <p:nvPr/>
              </p:nvGrpSpPr>
              <p:grpSpPr bwMode="auto">
                <a:xfrm rot="1353540">
                  <a:off x="2682" y="1111"/>
                  <a:ext cx="743" cy="186"/>
                  <a:chOff x="1565" y="2568"/>
                  <a:chExt cx="1118" cy="279"/>
                </a:xfrm>
              </p:grpSpPr>
              <p:sp>
                <p:nvSpPr>
                  <p:cNvPr id="1075267" name="AutoShape 67"/>
                  <p:cNvSpPr>
                    <a:spLocks noChangeArrowheads="1"/>
                  </p:cNvSpPr>
                  <p:nvPr/>
                </p:nvSpPr>
                <p:spPr bwMode="gray">
                  <a:xfrm rot="5263130">
                    <a:off x="1859" y="2274"/>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68" name="AutoShape 68"/>
                  <p:cNvSpPr>
                    <a:spLocks noChangeArrowheads="1"/>
                  </p:cNvSpPr>
                  <p:nvPr/>
                </p:nvSpPr>
                <p:spPr bwMode="gray">
                  <a:xfrm rot="6078281">
                    <a:off x="1995" y="2274"/>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69" name="AutoShape 69"/>
                  <p:cNvSpPr>
                    <a:spLocks noChangeArrowheads="1"/>
                  </p:cNvSpPr>
                  <p:nvPr/>
                </p:nvSpPr>
                <p:spPr bwMode="gray">
                  <a:xfrm rot="6373927">
                    <a:off x="2071" y="2296"/>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70" name="AutoShape 70"/>
                  <p:cNvSpPr>
                    <a:spLocks noChangeArrowheads="1"/>
                  </p:cNvSpPr>
                  <p:nvPr/>
                </p:nvSpPr>
                <p:spPr bwMode="gray">
                  <a:xfrm rot="6906312">
                    <a:off x="2161" y="2326"/>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grpSp>
          <p:grpSp>
            <p:nvGrpSpPr>
              <p:cNvPr id="1075271" name="Group 71"/>
              <p:cNvGrpSpPr>
                <a:grpSpLocks/>
              </p:cNvGrpSpPr>
              <p:nvPr/>
            </p:nvGrpSpPr>
            <p:grpSpPr bwMode="auto">
              <a:xfrm>
                <a:off x="2241" y="1720"/>
                <a:ext cx="107" cy="32"/>
                <a:chOff x="1773" y="1638"/>
                <a:chExt cx="329" cy="97"/>
              </a:xfrm>
            </p:grpSpPr>
            <p:sp>
              <p:nvSpPr>
                <p:cNvPr id="1075272" name="AutoShape 72"/>
                <p:cNvSpPr>
                  <a:spLocks noChangeArrowheads="1"/>
                </p:cNvSpPr>
                <p:nvPr/>
              </p:nvSpPr>
              <p:spPr bwMode="gray">
                <a:xfrm rot="7767867" flipH="1">
                  <a:off x="1872" y="1539"/>
                  <a:ext cx="50" cy="248"/>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73" name="AutoShape 73"/>
                <p:cNvSpPr>
                  <a:spLocks noChangeArrowheads="1"/>
                </p:cNvSpPr>
                <p:nvPr/>
              </p:nvSpPr>
              <p:spPr bwMode="gray">
                <a:xfrm rot="6952716" flipH="1">
                  <a:off x="1905" y="1563"/>
                  <a:ext cx="50" cy="249"/>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74" name="AutoShape 74"/>
                <p:cNvSpPr>
                  <a:spLocks noChangeArrowheads="1"/>
                </p:cNvSpPr>
                <p:nvPr/>
              </p:nvSpPr>
              <p:spPr bwMode="gray">
                <a:xfrm rot="6657070" flipH="1">
                  <a:off x="1926" y="1573"/>
                  <a:ext cx="50" cy="249"/>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75" name="AutoShape 75"/>
                <p:cNvSpPr>
                  <a:spLocks noChangeArrowheads="1"/>
                </p:cNvSpPr>
                <p:nvPr/>
              </p:nvSpPr>
              <p:spPr bwMode="gray">
                <a:xfrm rot="6124686" flipH="1">
                  <a:off x="1953" y="1586"/>
                  <a:ext cx="50" cy="248"/>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grpSp>
        <p:grpSp>
          <p:nvGrpSpPr>
            <p:cNvPr id="1075276" name="Group 76"/>
            <p:cNvGrpSpPr>
              <a:grpSpLocks/>
            </p:cNvGrpSpPr>
            <p:nvPr/>
          </p:nvGrpSpPr>
          <p:grpSpPr bwMode="auto">
            <a:xfrm>
              <a:off x="3325" y="2902"/>
              <a:ext cx="162" cy="160"/>
              <a:chOff x="2230" y="1584"/>
              <a:chExt cx="186" cy="185"/>
            </a:xfrm>
          </p:grpSpPr>
          <p:sp>
            <p:nvSpPr>
              <p:cNvPr id="1075277" name="Oval 77"/>
              <p:cNvSpPr>
                <a:spLocks noChangeArrowheads="1"/>
              </p:cNvSpPr>
              <p:nvPr/>
            </p:nvSpPr>
            <p:spPr bwMode="gray">
              <a:xfrm>
                <a:off x="2230" y="1584"/>
                <a:ext cx="186" cy="185"/>
              </a:xfrm>
              <a:prstGeom prst="ellipse">
                <a:avLst/>
              </a:prstGeom>
              <a:gradFill rotWithShape="0">
                <a:gsLst>
                  <a:gs pos="0">
                    <a:schemeClr val="accent1">
                      <a:gamma/>
                      <a:shade val="56078"/>
                      <a:invGamma/>
                    </a:schemeClr>
                  </a:gs>
                  <a:gs pos="50000">
                    <a:schemeClr val="accent1"/>
                  </a:gs>
                  <a:gs pos="100000">
                    <a:schemeClr val="accent1">
                      <a:gamma/>
                      <a:shade val="56078"/>
                      <a:invGamma/>
                    </a:schemeClr>
                  </a:gs>
                </a:gsLst>
                <a:lin ang="2700000" scaled="1"/>
              </a:gradFill>
              <a:ln w="28575">
                <a:solidFill>
                  <a:srgbClr val="EAEAEA"/>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nvGrpSpPr>
              <p:cNvPr id="1075278" name="Group 78"/>
              <p:cNvGrpSpPr>
                <a:grpSpLocks/>
              </p:cNvGrpSpPr>
              <p:nvPr/>
            </p:nvGrpSpPr>
            <p:grpSpPr bwMode="auto">
              <a:xfrm>
                <a:off x="2276" y="1601"/>
                <a:ext cx="139" cy="34"/>
                <a:chOff x="2532" y="1051"/>
                <a:chExt cx="893" cy="246"/>
              </a:xfrm>
            </p:grpSpPr>
            <p:grpSp>
              <p:nvGrpSpPr>
                <p:cNvPr id="1075279" name="Group 79"/>
                <p:cNvGrpSpPr>
                  <a:grpSpLocks/>
                </p:cNvGrpSpPr>
                <p:nvPr/>
              </p:nvGrpSpPr>
              <p:grpSpPr bwMode="auto">
                <a:xfrm>
                  <a:off x="2532" y="1051"/>
                  <a:ext cx="743" cy="185"/>
                  <a:chOff x="1565" y="2568"/>
                  <a:chExt cx="1118" cy="279"/>
                </a:xfrm>
              </p:grpSpPr>
              <p:sp>
                <p:nvSpPr>
                  <p:cNvPr id="1075280" name="AutoShape 80"/>
                  <p:cNvSpPr>
                    <a:spLocks noChangeArrowheads="1"/>
                  </p:cNvSpPr>
                  <p:nvPr/>
                </p:nvSpPr>
                <p:spPr bwMode="gray">
                  <a:xfrm rot="5263130">
                    <a:off x="1859" y="2274"/>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81" name="AutoShape 81"/>
                  <p:cNvSpPr>
                    <a:spLocks noChangeArrowheads="1"/>
                  </p:cNvSpPr>
                  <p:nvPr/>
                </p:nvSpPr>
                <p:spPr bwMode="gray">
                  <a:xfrm rot="6078281">
                    <a:off x="1995" y="2274"/>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82" name="AutoShape 82"/>
                  <p:cNvSpPr>
                    <a:spLocks noChangeArrowheads="1"/>
                  </p:cNvSpPr>
                  <p:nvPr/>
                </p:nvSpPr>
                <p:spPr bwMode="gray">
                  <a:xfrm rot="6373927">
                    <a:off x="2071" y="2296"/>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83" name="AutoShape 83"/>
                  <p:cNvSpPr>
                    <a:spLocks noChangeArrowheads="1"/>
                  </p:cNvSpPr>
                  <p:nvPr/>
                </p:nvSpPr>
                <p:spPr bwMode="gray">
                  <a:xfrm rot="6906312">
                    <a:off x="2161" y="2326"/>
                    <a:ext cx="227" cy="816"/>
                  </a:xfrm>
                  <a:prstGeom prst="moon">
                    <a:avLst>
                      <a:gd name="adj" fmla="val 49773"/>
                    </a:avLst>
                  </a:prstGeom>
                  <a:gradFill rotWithShape="1">
                    <a:gsLst>
                      <a:gs pos="0">
                        <a:schemeClr val="bg1">
                          <a:alpha val="27000"/>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grpSp>
              <p:nvGrpSpPr>
                <p:cNvPr id="1075284" name="Group 84"/>
                <p:cNvGrpSpPr>
                  <a:grpSpLocks/>
                </p:cNvGrpSpPr>
                <p:nvPr/>
              </p:nvGrpSpPr>
              <p:grpSpPr bwMode="auto">
                <a:xfrm rot="1353540">
                  <a:off x="2682" y="1111"/>
                  <a:ext cx="743" cy="186"/>
                  <a:chOff x="1565" y="2568"/>
                  <a:chExt cx="1118" cy="279"/>
                </a:xfrm>
              </p:grpSpPr>
              <p:sp>
                <p:nvSpPr>
                  <p:cNvPr id="1075285" name="AutoShape 85"/>
                  <p:cNvSpPr>
                    <a:spLocks noChangeArrowheads="1"/>
                  </p:cNvSpPr>
                  <p:nvPr/>
                </p:nvSpPr>
                <p:spPr bwMode="gray">
                  <a:xfrm rot="5263130">
                    <a:off x="1859" y="2274"/>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86" name="AutoShape 86"/>
                  <p:cNvSpPr>
                    <a:spLocks noChangeArrowheads="1"/>
                  </p:cNvSpPr>
                  <p:nvPr/>
                </p:nvSpPr>
                <p:spPr bwMode="gray">
                  <a:xfrm rot="6078281">
                    <a:off x="1995" y="2274"/>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87" name="AutoShape 87"/>
                  <p:cNvSpPr>
                    <a:spLocks noChangeArrowheads="1"/>
                  </p:cNvSpPr>
                  <p:nvPr/>
                </p:nvSpPr>
                <p:spPr bwMode="gray">
                  <a:xfrm rot="6373927">
                    <a:off x="2071" y="2296"/>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88" name="AutoShape 88"/>
                  <p:cNvSpPr>
                    <a:spLocks noChangeArrowheads="1"/>
                  </p:cNvSpPr>
                  <p:nvPr/>
                </p:nvSpPr>
                <p:spPr bwMode="gray">
                  <a:xfrm rot="6906312">
                    <a:off x="2161" y="2326"/>
                    <a:ext cx="227" cy="816"/>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grpSp>
          <p:grpSp>
            <p:nvGrpSpPr>
              <p:cNvPr id="1075289" name="Group 89"/>
              <p:cNvGrpSpPr>
                <a:grpSpLocks/>
              </p:cNvGrpSpPr>
              <p:nvPr/>
            </p:nvGrpSpPr>
            <p:grpSpPr bwMode="auto">
              <a:xfrm>
                <a:off x="2241" y="1720"/>
                <a:ext cx="107" cy="32"/>
                <a:chOff x="1773" y="1638"/>
                <a:chExt cx="329" cy="97"/>
              </a:xfrm>
            </p:grpSpPr>
            <p:sp>
              <p:nvSpPr>
                <p:cNvPr id="1075290" name="AutoShape 90"/>
                <p:cNvSpPr>
                  <a:spLocks noChangeArrowheads="1"/>
                </p:cNvSpPr>
                <p:nvPr/>
              </p:nvSpPr>
              <p:spPr bwMode="gray">
                <a:xfrm rot="7767867" flipH="1">
                  <a:off x="1872" y="1539"/>
                  <a:ext cx="50" cy="248"/>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91" name="AutoShape 91"/>
                <p:cNvSpPr>
                  <a:spLocks noChangeArrowheads="1"/>
                </p:cNvSpPr>
                <p:nvPr/>
              </p:nvSpPr>
              <p:spPr bwMode="gray">
                <a:xfrm rot="6952716" flipH="1">
                  <a:off x="1905" y="1563"/>
                  <a:ext cx="50" cy="249"/>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92" name="AutoShape 92"/>
                <p:cNvSpPr>
                  <a:spLocks noChangeArrowheads="1"/>
                </p:cNvSpPr>
                <p:nvPr/>
              </p:nvSpPr>
              <p:spPr bwMode="gray">
                <a:xfrm rot="6657070" flipH="1">
                  <a:off x="1926" y="1573"/>
                  <a:ext cx="50" cy="249"/>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sp>
              <p:nvSpPr>
                <p:cNvPr id="1075293" name="AutoShape 93"/>
                <p:cNvSpPr>
                  <a:spLocks noChangeArrowheads="1"/>
                </p:cNvSpPr>
                <p:nvPr/>
              </p:nvSpPr>
              <p:spPr bwMode="gray">
                <a:xfrm rot="6124686" flipH="1">
                  <a:off x="1953" y="1586"/>
                  <a:ext cx="50" cy="248"/>
                </a:xfrm>
                <a:prstGeom prst="moon">
                  <a:avLst>
                    <a:gd name="adj" fmla="val 49773"/>
                  </a:avLst>
                </a:prstGeom>
                <a:gradFill rotWithShape="1">
                  <a:gsLst>
                    <a:gs pos="0">
                      <a:schemeClr val="bg1">
                        <a:alpha val="10001"/>
                      </a:schemeClr>
                    </a:gs>
                    <a:gs pos="100000">
                      <a:schemeClr val="bg1">
                        <a:gamma/>
                        <a:shade val="46275"/>
                        <a:invGamma/>
                        <a:alpha val="0"/>
                      </a:scheme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solidFill>
                      <a:srgbClr val="002060"/>
                    </a:solidFill>
                  </a:endParaRPr>
                </a:p>
              </p:txBody>
            </p:sp>
          </p:grpSp>
        </p:grpSp>
        <p:pic>
          <p:nvPicPr>
            <p:cNvPr id="1075294" name="Picture 94" descr="worldmap_ani8"/>
            <p:cNvPicPr>
              <a:picLocks noChangeAspect="1" noChangeArrowheads="1" noCrop="1"/>
            </p:cNvPicPr>
            <p:nvPr/>
          </p:nvPicPr>
          <p:blipFill>
            <a:blip r:embed="rId2">
              <a:lum bright="18000" contrast="42000"/>
              <a:grayscl/>
              <a:extLst>
                <a:ext uri="{28A0092B-C50C-407E-A947-70E740481C1C}">
                  <a14:useLocalDpi xmlns:a14="http://schemas.microsoft.com/office/drawing/2010/main" val="0"/>
                </a:ext>
              </a:extLst>
            </a:blip>
            <a:srcRect/>
            <a:stretch>
              <a:fillRect/>
            </a:stretch>
          </p:blipFill>
          <p:spPr bwMode="auto">
            <a:xfrm>
              <a:off x="2161" y="1671"/>
              <a:ext cx="1262" cy="1264"/>
            </a:xfrm>
            <a:prstGeom prst="rect">
              <a:avLst/>
            </a:prstGeom>
            <a:noFill/>
            <a:extLst>
              <a:ext uri="{909E8E84-426E-40dd-AFC4-6F175D3DCCD1}">
                <a14:hiddenFill xmlns:a14="http://schemas.microsoft.com/office/drawing/2010/main" xmlns="">
                  <a:solidFill>
                    <a:srgbClr val="FFFFFF"/>
                  </a:solidFill>
                </a14:hiddenFill>
              </a:ext>
            </a:extLst>
          </p:spPr>
        </p:pic>
      </p:grpSp>
      <p:sp>
        <p:nvSpPr>
          <p:cNvPr id="1075295" name="Rectangle 95"/>
          <p:cNvSpPr>
            <a:spLocks noChangeArrowheads="1"/>
          </p:cNvSpPr>
          <p:nvPr/>
        </p:nvSpPr>
        <p:spPr bwMode="black">
          <a:xfrm>
            <a:off x="3472003" y="2331489"/>
            <a:ext cx="4829175" cy="369332"/>
          </a:xfrm>
          <a:prstGeom prst="rect">
            <a:avLst/>
          </a:prstGeom>
          <a:noFill/>
          <a:ln>
            <a:noFill/>
          </a:ln>
          <a:effectLst/>
          <a:extLst>
            <a:ext uri="{909E8E84-426E-40dd-AFC4-6F175D3DCCD1}">
              <a14:hiddenFill xmlns:a14="http://schemas.microsoft.com/office/drawing/2010/main" xmlns="">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l"/>
            <a:r>
              <a:rPr lang="en-US" altLang="en-US" b="1">
                <a:solidFill>
                  <a:srgbClr val="002060"/>
                </a:solidFill>
                <a:latin typeface="Arial" panose="020B0604020202020204" pitchFamily="34" charset="0"/>
              </a:rPr>
              <a:t>NGOẠI THƯƠNG</a:t>
            </a:r>
          </a:p>
        </p:txBody>
      </p:sp>
      <p:sp>
        <p:nvSpPr>
          <p:cNvPr id="1075296" name="Rectangle 96"/>
          <p:cNvSpPr>
            <a:spLocks noChangeArrowheads="1"/>
          </p:cNvSpPr>
          <p:nvPr/>
        </p:nvSpPr>
        <p:spPr bwMode="black">
          <a:xfrm>
            <a:off x="4038740" y="2906164"/>
            <a:ext cx="4829175" cy="369332"/>
          </a:xfrm>
          <a:prstGeom prst="rect">
            <a:avLst/>
          </a:prstGeom>
          <a:noFill/>
          <a:ln>
            <a:noFill/>
          </a:ln>
          <a:effectLst/>
          <a:extLst>
            <a:ext uri="{909E8E84-426E-40dd-AFC4-6F175D3DCCD1}">
              <a14:hiddenFill xmlns:a14="http://schemas.microsoft.com/office/drawing/2010/main" xmlns="">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l"/>
            <a:r>
              <a:rPr lang="en-US" altLang="en-US" b="1">
                <a:solidFill>
                  <a:srgbClr val="002060"/>
                </a:solidFill>
                <a:latin typeface="Arial" panose="020B0604020202020204" pitchFamily="34" charset="0"/>
              </a:rPr>
              <a:t>HỢP TÁC SẢN XUẤT KINH DOANH</a:t>
            </a:r>
          </a:p>
        </p:txBody>
      </p:sp>
      <p:sp>
        <p:nvSpPr>
          <p:cNvPr id="1075297" name="Rectangle 97"/>
          <p:cNvSpPr>
            <a:spLocks noChangeArrowheads="1"/>
          </p:cNvSpPr>
          <p:nvPr/>
        </p:nvSpPr>
        <p:spPr bwMode="black">
          <a:xfrm>
            <a:off x="4224478" y="3572914"/>
            <a:ext cx="4321175" cy="369332"/>
          </a:xfrm>
          <a:prstGeom prst="rect">
            <a:avLst/>
          </a:prstGeom>
          <a:noFill/>
          <a:ln>
            <a:noFill/>
          </a:ln>
          <a:effectLst/>
          <a:extLst>
            <a:ext uri="{909E8E84-426E-40dd-AFC4-6F175D3DCCD1}">
              <a14:hiddenFill xmlns:a14="http://schemas.microsoft.com/office/drawing/2010/main" xmlns="">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l"/>
            <a:r>
              <a:rPr lang="en-US" altLang="en-US" b="1">
                <a:solidFill>
                  <a:srgbClr val="002060"/>
                </a:solidFill>
                <a:latin typeface="Arial" panose="020B0604020202020204" pitchFamily="34" charset="0"/>
              </a:rPr>
              <a:t>HỢP TÁC KHOA HỌC CÔNG NGHỆ</a:t>
            </a:r>
          </a:p>
        </p:txBody>
      </p:sp>
      <p:sp>
        <p:nvSpPr>
          <p:cNvPr id="1075298" name="Rectangle 98"/>
          <p:cNvSpPr>
            <a:spLocks noChangeArrowheads="1"/>
          </p:cNvSpPr>
          <p:nvPr/>
        </p:nvSpPr>
        <p:spPr bwMode="black">
          <a:xfrm>
            <a:off x="4089540" y="4246014"/>
            <a:ext cx="4829175" cy="369332"/>
          </a:xfrm>
          <a:prstGeom prst="rect">
            <a:avLst/>
          </a:prstGeom>
          <a:noFill/>
          <a:ln>
            <a:noFill/>
          </a:ln>
          <a:effectLst/>
          <a:extLst>
            <a:ext uri="{909E8E84-426E-40dd-AFC4-6F175D3DCCD1}">
              <a14:hiddenFill xmlns:a14="http://schemas.microsoft.com/office/drawing/2010/main" xmlns="">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l"/>
            <a:r>
              <a:rPr lang="en-US" altLang="en-US" b="1">
                <a:solidFill>
                  <a:srgbClr val="002060"/>
                </a:solidFill>
                <a:latin typeface="Arial" panose="020B0604020202020204" pitchFamily="34" charset="0"/>
              </a:rPr>
              <a:t>ĐẦU TƯ QUỐC TẾ</a:t>
            </a:r>
          </a:p>
        </p:txBody>
      </p:sp>
      <p:sp>
        <p:nvSpPr>
          <p:cNvPr id="1075299" name="Rectangle 99"/>
          <p:cNvSpPr>
            <a:spLocks noChangeArrowheads="1"/>
          </p:cNvSpPr>
          <p:nvPr/>
        </p:nvSpPr>
        <p:spPr bwMode="black">
          <a:xfrm>
            <a:off x="3668853" y="4866726"/>
            <a:ext cx="4829175" cy="369332"/>
          </a:xfrm>
          <a:prstGeom prst="rect">
            <a:avLst/>
          </a:prstGeom>
          <a:noFill/>
          <a:ln>
            <a:noFill/>
          </a:ln>
          <a:effectLst/>
          <a:extLst>
            <a:ext uri="{909E8E84-426E-40dd-AFC4-6F175D3DCCD1}">
              <a14:hiddenFill xmlns:a14="http://schemas.microsoft.com/office/drawing/2010/main" xmlns="">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l"/>
            <a:r>
              <a:rPr lang="en-US" altLang="en-US" b="1">
                <a:solidFill>
                  <a:srgbClr val="002060"/>
                </a:solidFill>
                <a:latin typeface="Arial" panose="020B0604020202020204" pitchFamily="34" charset="0"/>
              </a:rPr>
              <a:t>DỊCH VỤ QUỐC TẾ</a:t>
            </a:r>
          </a:p>
        </p:txBody>
      </p:sp>
      <p:sp>
        <p:nvSpPr>
          <p:cNvPr id="104" name="Rectangle 2"/>
          <p:cNvSpPr>
            <a:spLocks noGrp="1" noChangeArrowheads="1"/>
          </p:cNvSpPr>
          <p:nvPr>
            <p:ph type="title"/>
          </p:nvPr>
        </p:nvSpPr>
        <p:spPr>
          <a:xfrm>
            <a:off x="628650" y="365126"/>
            <a:ext cx="7886700" cy="1325563"/>
          </a:xfrm>
        </p:spPr>
        <p:txBody>
          <a:bodyPr>
            <a:noAutofit/>
          </a:bodyPr>
          <a:lstStyle/>
          <a:p>
            <a:pPr algn="ctr"/>
            <a:r>
              <a:rPr lang="en-US" altLang="en-US" sz="3200" b="1" dirty="0" err="1">
                <a:solidFill>
                  <a:srgbClr val="002060"/>
                </a:solidFill>
                <a:latin typeface="Arial" panose="020B0604020202020204" pitchFamily="34" charset="0"/>
                <a:cs typeface="Arial" panose="020B0604020202020204" pitchFamily="34" charset="0"/>
              </a:rPr>
              <a:t>Nội</a:t>
            </a:r>
            <a:r>
              <a:rPr lang="en-US" altLang="en-US" sz="3200" b="1" dirty="0">
                <a:solidFill>
                  <a:srgbClr val="002060"/>
                </a:solidFill>
                <a:latin typeface="Arial" panose="020B0604020202020204" pitchFamily="34" charset="0"/>
                <a:cs typeface="Arial" panose="020B0604020202020204" pitchFamily="34" charset="0"/>
              </a:rPr>
              <a:t> dung </a:t>
            </a:r>
            <a:r>
              <a:rPr lang="en-US" altLang="en-US" sz="3200" b="1" dirty="0" err="1">
                <a:solidFill>
                  <a:srgbClr val="002060"/>
                </a:solidFill>
                <a:latin typeface="Arial" panose="020B0604020202020204" pitchFamily="34" charset="0"/>
                <a:cs typeface="Arial" panose="020B0604020202020204" pitchFamily="34" charset="0"/>
              </a:rPr>
              <a:t>Hội</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nhập</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kinh</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tế</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quốc</a:t>
            </a:r>
            <a:r>
              <a:rPr lang="en-US" altLang="en-US" sz="3200" b="1" dirty="0">
                <a:solidFill>
                  <a:srgbClr val="002060"/>
                </a:solidFill>
                <a:latin typeface="Arial" panose="020B0604020202020204" pitchFamily="34" charset="0"/>
                <a:cs typeface="Arial" panose="020B0604020202020204" pitchFamily="34" charset="0"/>
              </a:rPr>
              <a:t> </a:t>
            </a:r>
            <a:r>
              <a:rPr lang="en-US" altLang="en-US" sz="3200" b="1" dirty="0" err="1">
                <a:solidFill>
                  <a:srgbClr val="002060"/>
                </a:solidFill>
                <a:latin typeface="Arial" panose="020B0604020202020204" pitchFamily="34" charset="0"/>
                <a:cs typeface="Arial" panose="020B0604020202020204" pitchFamily="34" charset="0"/>
              </a:rPr>
              <a:t>tế</a:t>
            </a:r>
            <a:endParaRPr lang="vi-VN" altLang="en-US" sz="3200" b="1" dirty="0">
              <a:solidFill>
                <a:srgbClr val="002060"/>
              </a:solidFill>
              <a:latin typeface="Arial" panose="020B0604020202020204" pitchFamily="34" charset="0"/>
              <a:cs typeface="Arial" panose="020B0604020202020204" pitchFamily="34" charset="0"/>
            </a:endParaRPr>
          </a:p>
        </p:txBody>
      </p:sp>
      <p:sp>
        <p:nvSpPr>
          <p:cNvPr id="105" name="Rectangle 23"/>
          <p:cNvSpPr>
            <a:spLocks noGrp="1" noChangeArrowheads="1"/>
          </p:cNvSpPr>
          <p:nvPr>
            <p:ph idx="1"/>
          </p:nvPr>
        </p:nvSpPr>
        <p:spPr>
          <a:xfrm>
            <a:off x="818356" y="1447941"/>
            <a:ext cx="7507288" cy="590902"/>
          </a:xfrm>
        </p:spPr>
        <p:txBody>
          <a:bodyPr>
            <a:noAutofit/>
          </a:bodyPr>
          <a:lstStyle/>
          <a:p>
            <a:pPr marL="0" indent="0" algn="just">
              <a:buNone/>
            </a:pPr>
            <a:r>
              <a:rPr lang="en-US" altLang="en-US" sz="2800" dirty="0">
                <a:solidFill>
                  <a:srgbClr val="002060"/>
                </a:solidFill>
                <a:cs typeface="Arial" panose="020B0604020202020204" pitchFamily="34" charset="0"/>
                <a:sym typeface="Wingdings" panose="05000000000000000000" pitchFamily="2" charset="2"/>
              </a:rPr>
              <a:t>	</a:t>
            </a:r>
            <a:r>
              <a:rPr lang="en-US" altLang="en-US" sz="2800" b="1" dirty="0">
                <a:solidFill>
                  <a:srgbClr val="002060"/>
                </a:solidFill>
                <a:cs typeface="Arial" panose="020B0604020202020204" pitchFamily="34" charset="0"/>
                <a:sym typeface="Wingdings" panose="05000000000000000000" pitchFamily="2" charset="2"/>
              </a:rPr>
              <a:t>VỀ HÌNH THỨC</a:t>
            </a:r>
          </a:p>
        </p:txBody>
      </p:sp>
    </p:spTree>
    <p:extLst>
      <p:ext uri="{BB962C8B-B14F-4D97-AF65-F5344CB8AC3E}">
        <p14:creationId xmlns:p14="http://schemas.microsoft.com/office/powerpoint/2010/main" val="34390892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18" name="Rectangle 18"/>
          <p:cNvSpPr>
            <a:spLocks noGrp="1" noChangeArrowheads="1"/>
          </p:cNvSpPr>
          <p:nvPr>
            <p:ph type="title"/>
          </p:nvPr>
        </p:nvSpPr>
        <p:spPr>
          <a:xfrm>
            <a:off x="628650" y="255890"/>
            <a:ext cx="7886700" cy="891092"/>
          </a:xfrm>
        </p:spPr>
        <p:txBody>
          <a:bodyPr>
            <a:normAutofit/>
          </a:bodyPr>
          <a:lstStyle/>
          <a:p>
            <a:pPr algn="ctr"/>
            <a:r>
              <a:rPr lang="en-US" altLang="en-US" sz="2800" b="1" dirty="0" err="1">
                <a:solidFill>
                  <a:srgbClr val="002060"/>
                </a:solidFill>
                <a:latin typeface="Arial" panose="020B0604020202020204" pitchFamily="34" charset="0"/>
                <a:cs typeface="Arial" panose="020B0604020202020204" pitchFamily="34" charset="0"/>
              </a:rPr>
              <a:t>Tác</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động</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của</a:t>
            </a:r>
            <a:r>
              <a:rPr lang="en-US" altLang="en-US" sz="2800" b="1" dirty="0">
                <a:solidFill>
                  <a:srgbClr val="002060"/>
                </a:solidFill>
                <a:latin typeface="Arial" panose="020B0604020202020204" pitchFamily="34" charset="0"/>
                <a:cs typeface="Arial" panose="020B0604020202020204" pitchFamily="34" charset="0"/>
              </a:rPr>
              <a:t> HNKTQT </a:t>
            </a:r>
            <a:r>
              <a:rPr lang="en-US" altLang="en-US" sz="2800" b="1" dirty="0" err="1">
                <a:solidFill>
                  <a:srgbClr val="002060"/>
                </a:solidFill>
                <a:latin typeface="Arial" panose="020B0604020202020204" pitchFamily="34" charset="0"/>
                <a:cs typeface="Arial" panose="020B0604020202020204" pitchFamily="34" charset="0"/>
              </a:rPr>
              <a:t>đến</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Việt</a:t>
            </a:r>
            <a:r>
              <a:rPr lang="en-US" altLang="en-US" sz="2800" b="1" dirty="0">
                <a:solidFill>
                  <a:srgbClr val="002060"/>
                </a:solidFill>
                <a:latin typeface="Arial" panose="020B0604020202020204" pitchFamily="34" charset="0"/>
                <a:cs typeface="Arial" panose="020B0604020202020204" pitchFamily="34" charset="0"/>
              </a:rPr>
              <a:t> Nam</a:t>
            </a:r>
          </a:p>
        </p:txBody>
      </p:sp>
      <p:sp>
        <p:nvSpPr>
          <p:cNvPr id="15" name="Rectangle 23"/>
          <p:cNvSpPr txBox="1">
            <a:spLocks noChangeArrowheads="1"/>
          </p:cNvSpPr>
          <p:nvPr/>
        </p:nvSpPr>
        <p:spPr bwMode="black">
          <a:xfrm>
            <a:off x="2457972" y="1014354"/>
            <a:ext cx="6486317" cy="5294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buFont typeface="Arial"/>
              <a:buChar char="•"/>
            </a:pPr>
            <a:r>
              <a:rPr lang="en-US" altLang="en-US" sz="2200" dirty="0" err="1">
                <a:solidFill>
                  <a:srgbClr val="002060"/>
                </a:solidFill>
              </a:rPr>
              <a:t>Mở</a:t>
            </a:r>
            <a:r>
              <a:rPr lang="en-US" altLang="en-US" sz="2200" dirty="0">
                <a:solidFill>
                  <a:srgbClr val="002060"/>
                </a:solidFill>
              </a:rPr>
              <a:t> </a:t>
            </a:r>
            <a:r>
              <a:rPr lang="en-US" altLang="en-US" sz="2200" dirty="0" err="1">
                <a:solidFill>
                  <a:srgbClr val="002060"/>
                </a:solidFill>
              </a:rPr>
              <a:t>rộng</a:t>
            </a:r>
            <a:r>
              <a:rPr lang="en-US" altLang="en-US" sz="2200" dirty="0">
                <a:solidFill>
                  <a:srgbClr val="002060"/>
                </a:solidFill>
              </a:rPr>
              <a:t> </a:t>
            </a:r>
            <a:r>
              <a:rPr lang="en-US" altLang="en-US" sz="2200" dirty="0" err="1">
                <a:solidFill>
                  <a:srgbClr val="002060"/>
                </a:solidFill>
              </a:rPr>
              <a:t>thị</a:t>
            </a:r>
            <a:r>
              <a:rPr lang="en-US" altLang="en-US" sz="2200" dirty="0">
                <a:solidFill>
                  <a:srgbClr val="002060"/>
                </a:solidFill>
              </a:rPr>
              <a:t> </a:t>
            </a:r>
            <a:r>
              <a:rPr lang="en-US" altLang="en-US" sz="2200" dirty="0" err="1">
                <a:solidFill>
                  <a:srgbClr val="002060"/>
                </a:solidFill>
              </a:rPr>
              <a:t>trường</a:t>
            </a:r>
            <a:r>
              <a:rPr lang="en-US" altLang="en-US" sz="2200" dirty="0">
                <a:solidFill>
                  <a:srgbClr val="002060"/>
                </a:solidFill>
              </a:rPr>
              <a:t>, </a:t>
            </a:r>
            <a:r>
              <a:rPr lang="en-US" altLang="en-US" sz="2200" dirty="0" err="1">
                <a:solidFill>
                  <a:srgbClr val="002060"/>
                </a:solidFill>
              </a:rPr>
              <a:t>tạo</a:t>
            </a:r>
            <a:r>
              <a:rPr lang="en-US" altLang="en-US" sz="2200" dirty="0">
                <a:solidFill>
                  <a:srgbClr val="002060"/>
                </a:solidFill>
              </a:rPr>
              <a:t> </a:t>
            </a:r>
            <a:r>
              <a:rPr lang="en-US" altLang="en-US" sz="2200" dirty="0" err="1">
                <a:solidFill>
                  <a:srgbClr val="002060"/>
                </a:solidFill>
              </a:rPr>
              <a:t>điều</a:t>
            </a:r>
            <a:r>
              <a:rPr lang="en-US" altLang="en-US" sz="2200" dirty="0">
                <a:solidFill>
                  <a:srgbClr val="002060"/>
                </a:solidFill>
              </a:rPr>
              <a:t> </a:t>
            </a:r>
            <a:r>
              <a:rPr lang="en-US" altLang="en-US" sz="2200" dirty="0" err="1">
                <a:solidFill>
                  <a:srgbClr val="002060"/>
                </a:solidFill>
              </a:rPr>
              <a:t>kiện</a:t>
            </a:r>
            <a:r>
              <a:rPr lang="en-US" altLang="en-US" sz="2200" dirty="0">
                <a:solidFill>
                  <a:srgbClr val="002060"/>
                </a:solidFill>
              </a:rPr>
              <a:t> </a:t>
            </a:r>
            <a:r>
              <a:rPr lang="en-US" altLang="en-US" sz="2200" dirty="0" err="1">
                <a:solidFill>
                  <a:srgbClr val="002060"/>
                </a:solidFill>
              </a:rPr>
              <a:t>cho</a:t>
            </a:r>
            <a:r>
              <a:rPr lang="en-US" altLang="en-US" sz="2200" dirty="0">
                <a:solidFill>
                  <a:srgbClr val="002060"/>
                </a:solidFill>
              </a:rPr>
              <a:t> </a:t>
            </a:r>
            <a:r>
              <a:rPr lang="en-US" altLang="en-US" sz="2200" dirty="0" err="1">
                <a:solidFill>
                  <a:srgbClr val="002060"/>
                </a:solidFill>
              </a:rPr>
              <a:t>sản</a:t>
            </a:r>
            <a:r>
              <a:rPr lang="en-US" altLang="en-US" sz="2200" dirty="0">
                <a:solidFill>
                  <a:srgbClr val="002060"/>
                </a:solidFill>
              </a:rPr>
              <a:t> </a:t>
            </a:r>
            <a:r>
              <a:rPr lang="en-US" altLang="en-US" sz="2200" dirty="0" err="1">
                <a:solidFill>
                  <a:srgbClr val="002060"/>
                </a:solidFill>
              </a:rPr>
              <a:t>xuất</a:t>
            </a:r>
            <a:r>
              <a:rPr lang="en-US" altLang="en-US" sz="2200" dirty="0">
                <a:solidFill>
                  <a:srgbClr val="002060"/>
                </a:solidFill>
              </a:rPr>
              <a:t> </a:t>
            </a:r>
            <a:r>
              <a:rPr lang="en-US" altLang="en-US" sz="2200" dirty="0" err="1">
                <a:solidFill>
                  <a:srgbClr val="002060"/>
                </a:solidFill>
              </a:rPr>
              <a:t>trong</a:t>
            </a:r>
            <a:r>
              <a:rPr lang="en-US" altLang="en-US" sz="2200" dirty="0">
                <a:solidFill>
                  <a:srgbClr val="002060"/>
                </a:solidFill>
              </a:rPr>
              <a:t> </a:t>
            </a:r>
            <a:r>
              <a:rPr lang="en-US" altLang="en-US" sz="2200" dirty="0" err="1">
                <a:solidFill>
                  <a:srgbClr val="002060"/>
                </a:solidFill>
              </a:rPr>
              <a:t>nước</a:t>
            </a:r>
            <a:endParaRPr lang="en-US" altLang="en-US" sz="2200" dirty="0">
              <a:solidFill>
                <a:srgbClr val="002060"/>
              </a:solidFill>
            </a:endParaRPr>
          </a:p>
          <a:p>
            <a:pPr algn="just">
              <a:lnSpc>
                <a:spcPct val="110000"/>
              </a:lnSpc>
              <a:buFont typeface="Arial"/>
              <a:buChar char="•"/>
            </a:pPr>
            <a:r>
              <a:rPr lang="en-US" altLang="en-US" sz="2200" dirty="0" err="1">
                <a:solidFill>
                  <a:srgbClr val="002060"/>
                </a:solidFill>
                <a:sym typeface="Wingdings" panose="05000000000000000000" pitchFamily="2" charset="2"/>
              </a:rPr>
              <a:t>Thúc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đẩy</a:t>
            </a:r>
            <a:r>
              <a:rPr lang="en-US" altLang="en-US" sz="2200" dirty="0">
                <a:solidFill>
                  <a:srgbClr val="002060"/>
                </a:solidFill>
                <a:sym typeface="Wingdings" panose="05000000000000000000" pitchFamily="2" charset="2"/>
              </a:rPr>
              <a:t> CDCCKT, </a:t>
            </a:r>
            <a:r>
              <a:rPr lang="en-US" altLang="en-US" sz="2200" dirty="0" err="1">
                <a:solidFill>
                  <a:srgbClr val="002060"/>
                </a:solidFill>
                <a:sym typeface="Wingdings" panose="05000000000000000000" pitchFamily="2" charset="2"/>
              </a:rPr>
              <a:t>nâng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cao</a:t>
            </a:r>
            <a:r>
              <a:rPr lang="en-US" altLang="en-US" sz="2200" dirty="0">
                <a:solidFill>
                  <a:srgbClr val="002060"/>
                </a:solidFill>
                <a:sym typeface="Wingdings" panose="05000000000000000000" pitchFamily="2" charset="2"/>
              </a:rPr>
              <a:t> NLCT, </a:t>
            </a:r>
            <a:r>
              <a:rPr lang="en-US" altLang="en-US" sz="2200" dirty="0" err="1">
                <a:solidFill>
                  <a:srgbClr val="002060"/>
                </a:solidFill>
                <a:sym typeface="Wingdings" panose="05000000000000000000" pitchFamily="2" charset="2"/>
              </a:rPr>
              <a:t>hoàn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thiện</a:t>
            </a:r>
            <a:r>
              <a:rPr lang="en-US" altLang="en-US" sz="2200" dirty="0">
                <a:solidFill>
                  <a:srgbClr val="002060"/>
                </a:solidFill>
                <a:sym typeface="Wingdings" panose="05000000000000000000" pitchFamily="2" charset="2"/>
              </a:rPr>
              <a:t> MTKD</a:t>
            </a:r>
          </a:p>
          <a:p>
            <a:pPr algn="just">
              <a:lnSpc>
                <a:spcPct val="110000"/>
              </a:lnSpc>
              <a:buFont typeface="Arial"/>
              <a:buChar char="•"/>
            </a:pPr>
            <a:r>
              <a:rPr lang="en-US" altLang="en-US" sz="2200" dirty="0" err="1">
                <a:solidFill>
                  <a:srgbClr val="002060"/>
                </a:solidFill>
                <a:sym typeface="Wingdings" panose="05000000000000000000" pitchFamily="2" charset="2"/>
              </a:rPr>
              <a:t>Nâng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cao</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trình</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độ</a:t>
            </a:r>
            <a:r>
              <a:rPr lang="en-US" altLang="en-US" sz="2200" dirty="0">
                <a:solidFill>
                  <a:srgbClr val="002060"/>
                </a:solidFill>
                <a:sym typeface="Wingdings" panose="05000000000000000000" pitchFamily="2" charset="2"/>
              </a:rPr>
              <a:t> NNL </a:t>
            </a:r>
            <a:r>
              <a:rPr lang="en-US" altLang="en-US" sz="2200" dirty="0" err="1">
                <a:solidFill>
                  <a:srgbClr val="002060"/>
                </a:solidFill>
                <a:sym typeface="Wingdings" panose="05000000000000000000" pitchFamily="2" charset="2"/>
              </a:rPr>
              <a:t>và</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tiềm</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lực</a:t>
            </a:r>
            <a:r>
              <a:rPr lang="en-US" altLang="en-US" sz="2200" dirty="0">
                <a:solidFill>
                  <a:srgbClr val="002060"/>
                </a:solidFill>
                <a:sym typeface="Wingdings" panose="05000000000000000000" pitchFamily="2" charset="2"/>
              </a:rPr>
              <a:t> KHCN </a:t>
            </a:r>
            <a:r>
              <a:rPr lang="en-US" altLang="en-US" sz="2200" dirty="0" err="1">
                <a:solidFill>
                  <a:srgbClr val="002060"/>
                </a:solidFill>
                <a:sym typeface="Wingdings" panose="05000000000000000000" pitchFamily="2" charset="2"/>
              </a:rPr>
              <a:t>quốc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gia</a:t>
            </a:r>
            <a:endParaRPr lang="en-US" altLang="en-US" sz="2200" dirty="0">
              <a:solidFill>
                <a:srgbClr val="002060"/>
              </a:solidFill>
              <a:sym typeface="Wingdings" panose="05000000000000000000" pitchFamily="2" charset="2"/>
            </a:endParaRPr>
          </a:p>
          <a:p>
            <a:pPr algn="just">
              <a:lnSpc>
                <a:spcPct val="110000"/>
              </a:lnSpc>
              <a:buFont typeface="Arial"/>
              <a:buChar char="•"/>
            </a:pPr>
            <a:r>
              <a:rPr lang="en-US" altLang="en-US" sz="2200" dirty="0" err="1">
                <a:solidFill>
                  <a:srgbClr val="002060"/>
                </a:solidFill>
                <a:sym typeface="Wingdings" panose="05000000000000000000" pitchFamily="2" charset="2"/>
              </a:rPr>
              <a:t>Giúp</a:t>
            </a:r>
            <a:r>
              <a:rPr lang="en-US" altLang="en-US" sz="2200" dirty="0">
                <a:solidFill>
                  <a:srgbClr val="002060"/>
                </a:solidFill>
                <a:sym typeface="Wingdings" panose="05000000000000000000" pitchFamily="2" charset="2"/>
              </a:rPr>
              <a:t> DN </a:t>
            </a:r>
            <a:r>
              <a:rPr lang="en-US" altLang="en-US" sz="2200" dirty="0" err="1">
                <a:solidFill>
                  <a:srgbClr val="002060"/>
                </a:solidFill>
                <a:sym typeface="Wingdings" panose="05000000000000000000" pitchFamily="2" charset="2"/>
              </a:rPr>
              <a:t>tiếp</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cận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thị</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trường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vốn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công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nghệ</a:t>
            </a:r>
            <a:r>
              <a:rPr lang="en-US" altLang="en-US" sz="2200" dirty="0">
                <a:solidFill>
                  <a:srgbClr val="002060"/>
                </a:solidFill>
                <a:sym typeface="Wingdings" panose="05000000000000000000" pitchFamily="2" charset="2"/>
              </a:rPr>
              <a:t>, tri </a:t>
            </a:r>
            <a:r>
              <a:rPr lang="en-US" altLang="en-US" sz="2200" dirty="0" err="1">
                <a:solidFill>
                  <a:srgbClr val="002060"/>
                </a:solidFill>
                <a:sym typeface="Wingdings" panose="05000000000000000000" pitchFamily="2" charset="2"/>
              </a:rPr>
              <a:t>thức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quản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trị</a:t>
            </a:r>
            <a:endParaRPr lang="en-US" altLang="en-US" sz="2200" dirty="0">
              <a:solidFill>
                <a:srgbClr val="002060"/>
              </a:solidFill>
              <a:sym typeface="Wingdings" panose="05000000000000000000" pitchFamily="2" charset="2"/>
            </a:endParaRPr>
          </a:p>
          <a:p>
            <a:pPr algn="just">
              <a:lnSpc>
                <a:spcPct val="110000"/>
              </a:lnSpc>
              <a:buFont typeface="Arial"/>
              <a:buChar char="•"/>
            </a:pPr>
            <a:r>
              <a:rPr lang="en-US" altLang="en-US" sz="2200" dirty="0" err="1">
                <a:solidFill>
                  <a:srgbClr val="002060"/>
                </a:solidFill>
                <a:sym typeface="Wingdings" panose="05000000000000000000" pitchFamily="2" charset="2"/>
              </a:rPr>
              <a:t>Tạo</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cơ</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hội</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cải</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thiện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tiêu</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dùng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và</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tìm</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kiếm</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việc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làm</a:t>
            </a:r>
            <a:endParaRPr lang="en-US" altLang="en-US" sz="2200" dirty="0">
              <a:solidFill>
                <a:srgbClr val="002060"/>
              </a:solidFill>
              <a:sym typeface="Wingdings" panose="05000000000000000000" pitchFamily="2" charset="2"/>
            </a:endParaRPr>
          </a:p>
          <a:p>
            <a:pPr algn="just">
              <a:lnSpc>
                <a:spcPct val="110000"/>
              </a:lnSpc>
              <a:buFont typeface="Arial"/>
              <a:buChar char="•"/>
            </a:pPr>
            <a:r>
              <a:rPr lang="en-US" altLang="en-US" sz="2200" dirty="0" err="1">
                <a:solidFill>
                  <a:srgbClr val="002060"/>
                </a:solidFill>
                <a:sym typeface="Wingdings" panose="05000000000000000000" pitchFamily="2" charset="2"/>
              </a:rPr>
              <a:t>Nắm</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bắt</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và</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cập</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nhật</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nhanh</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chóng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tình</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hình</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quốc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tế</a:t>
            </a:r>
            <a:endParaRPr lang="en-US" altLang="en-US" sz="2200" dirty="0">
              <a:solidFill>
                <a:srgbClr val="002060"/>
              </a:solidFill>
              <a:sym typeface="Wingdings" panose="05000000000000000000" pitchFamily="2" charset="2"/>
            </a:endParaRPr>
          </a:p>
          <a:p>
            <a:pPr algn="just">
              <a:lnSpc>
                <a:spcPct val="110000"/>
              </a:lnSpc>
              <a:buFont typeface="Arial"/>
              <a:buChar char="•"/>
            </a:pPr>
            <a:r>
              <a:rPr lang="en-US" altLang="en-US" sz="2200" dirty="0" err="1">
                <a:solidFill>
                  <a:srgbClr val="002060"/>
                </a:solidFill>
                <a:sym typeface="Wingdings" panose="05000000000000000000" pitchFamily="2" charset="2"/>
              </a:rPr>
              <a:t>Tiếp</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thu</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tinh</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hoa</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văn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hóa</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nhân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loại</a:t>
            </a:r>
            <a:endParaRPr lang="en-US" altLang="en-US" sz="2200" dirty="0">
              <a:solidFill>
                <a:srgbClr val="002060"/>
              </a:solidFill>
              <a:sym typeface="Wingdings" panose="05000000000000000000" pitchFamily="2" charset="2"/>
            </a:endParaRPr>
          </a:p>
          <a:p>
            <a:pPr algn="just">
              <a:lnSpc>
                <a:spcPct val="110000"/>
              </a:lnSpc>
              <a:buFont typeface="Arial"/>
              <a:buChar char="•"/>
            </a:pPr>
            <a:r>
              <a:rPr lang="en-US" altLang="en-US" sz="2200" dirty="0" err="1">
                <a:solidFill>
                  <a:srgbClr val="002060"/>
                </a:solidFill>
                <a:sym typeface="Wingdings" panose="05000000000000000000" pitchFamily="2" charset="2"/>
              </a:rPr>
              <a:t>Hội</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nhập</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chính</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trị</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hoàn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thiện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thể</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chế</a:t>
            </a:r>
            <a:endParaRPr lang="en-US" altLang="en-US" sz="2200" dirty="0">
              <a:solidFill>
                <a:srgbClr val="002060"/>
              </a:solidFill>
              <a:sym typeface="Wingdings" panose="05000000000000000000" pitchFamily="2" charset="2"/>
            </a:endParaRPr>
          </a:p>
          <a:p>
            <a:pPr algn="just">
              <a:lnSpc>
                <a:spcPct val="110000"/>
              </a:lnSpc>
              <a:buFont typeface="Arial"/>
              <a:buChar char="•"/>
            </a:pPr>
            <a:r>
              <a:rPr lang="en-US" altLang="en-US" sz="2200" dirty="0" err="1">
                <a:solidFill>
                  <a:srgbClr val="002060"/>
                </a:solidFill>
                <a:sym typeface="Wingdings" panose="05000000000000000000" pitchFamily="2" charset="2"/>
              </a:rPr>
              <a:t>Nâng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cao</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vai</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trò</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vị</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thế</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uy</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tín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quốc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gia</a:t>
            </a:r>
            <a:endParaRPr lang="en-US" altLang="en-US" sz="2200" dirty="0">
              <a:solidFill>
                <a:srgbClr val="002060"/>
              </a:solidFill>
              <a:sym typeface="Wingdings" panose="05000000000000000000" pitchFamily="2" charset="2"/>
            </a:endParaRPr>
          </a:p>
          <a:p>
            <a:pPr algn="just">
              <a:lnSpc>
                <a:spcPct val="110000"/>
              </a:lnSpc>
              <a:buFont typeface="Arial"/>
              <a:buChar char="•"/>
            </a:pPr>
            <a:r>
              <a:rPr lang="en-US" altLang="en-US" sz="2200" dirty="0" err="1">
                <a:solidFill>
                  <a:srgbClr val="002060"/>
                </a:solidFill>
                <a:sym typeface="Wingdings" panose="05000000000000000000" pitchFamily="2" charset="2"/>
              </a:rPr>
              <a:t>Đảm</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bảo</a:t>
            </a:r>
            <a:r>
              <a:rPr lang="en-US" altLang="en-US" sz="2200" dirty="0">
                <a:solidFill>
                  <a:srgbClr val="002060"/>
                </a:solidFill>
                <a:sym typeface="Wingdings" panose="05000000000000000000" pitchFamily="2" charset="2"/>
              </a:rPr>
              <a:t> an </a:t>
            </a:r>
            <a:r>
              <a:rPr lang="en-US" altLang="en-US" sz="2200" dirty="0" err="1">
                <a:solidFill>
                  <a:srgbClr val="002060"/>
                </a:solidFill>
                <a:sym typeface="Wingdings" panose="05000000000000000000" pitchFamily="2" charset="2"/>
              </a:rPr>
              <a:t>ninh</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quốc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gia</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duy</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trì</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hòa</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bình</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và</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tham</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gia</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xử</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lý</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các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vấn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đề</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toàn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cầu</a:t>
            </a:r>
            <a:endParaRPr lang="en-US" altLang="en-US" sz="2200" dirty="0">
              <a:solidFill>
                <a:srgbClr val="002060"/>
              </a:solidFill>
              <a:sym typeface="Wingdings" panose="05000000000000000000" pitchFamily="2" charset="2"/>
            </a:endParaRPr>
          </a:p>
        </p:txBody>
      </p:sp>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696" y="2980933"/>
            <a:ext cx="2103756" cy="2027585"/>
          </a:xfrm>
          <a:prstGeom prst="rect">
            <a:avLst/>
          </a:prstGeom>
        </p:spPr>
      </p:pic>
    </p:spTree>
    <p:extLst>
      <p:ext uri="{BB962C8B-B14F-4D97-AF65-F5344CB8AC3E}">
        <p14:creationId xmlns:p14="http://schemas.microsoft.com/office/powerpoint/2010/main" val="34891631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18" name="Rectangle 18"/>
          <p:cNvSpPr>
            <a:spLocks noGrp="1" noChangeArrowheads="1"/>
          </p:cNvSpPr>
          <p:nvPr>
            <p:ph type="title"/>
          </p:nvPr>
        </p:nvSpPr>
        <p:spPr>
          <a:xfrm>
            <a:off x="628650" y="365126"/>
            <a:ext cx="7886700" cy="945711"/>
          </a:xfrm>
        </p:spPr>
        <p:txBody>
          <a:bodyPr>
            <a:normAutofit/>
          </a:bodyPr>
          <a:lstStyle/>
          <a:p>
            <a:pPr algn="ctr"/>
            <a:r>
              <a:rPr lang="en-US" altLang="en-US" sz="2800" b="1" dirty="0" err="1">
                <a:solidFill>
                  <a:srgbClr val="002060"/>
                </a:solidFill>
                <a:latin typeface="Arial" panose="020B0604020202020204" pitchFamily="34" charset="0"/>
                <a:cs typeface="Arial" panose="020B0604020202020204" pitchFamily="34" charset="0"/>
              </a:rPr>
              <a:t>Tác</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động</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của</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hội</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nhập</a:t>
            </a:r>
            <a:r>
              <a:rPr lang="en-US" altLang="en-US" sz="2800" b="1" dirty="0">
                <a:solidFill>
                  <a:srgbClr val="002060"/>
                </a:solidFill>
                <a:latin typeface="Arial" panose="020B0604020202020204" pitchFamily="34" charset="0"/>
                <a:cs typeface="Arial" panose="020B0604020202020204" pitchFamily="34" charset="0"/>
              </a:rPr>
              <a:t> KTQT </a:t>
            </a:r>
            <a:r>
              <a:rPr lang="en-US" altLang="en-US" sz="2800" b="1" dirty="0" err="1">
                <a:solidFill>
                  <a:srgbClr val="002060"/>
                </a:solidFill>
                <a:latin typeface="Arial" panose="020B0604020202020204" pitchFamily="34" charset="0"/>
                <a:cs typeface="Arial" panose="020B0604020202020204" pitchFamily="34" charset="0"/>
              </a:rPr>
              <a:t>đến</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Việt</a:t>
            </a:r>
            <a:r>
              <a:rPr lang="en-US" altLang="en-US" sz="2800" b="1" dirty="0">
                <a:solidFill>
                  <a:srgbClr val="002060"/>
                </a:solidFill>
                <a:latin typeface="Arial" panose="020B0604020202020204" pitchFamily="34" charset="0"/>
                <a:cs typeface="Arial" panose="020B0604020202020204" pitchFamily="34" charset="0"/>
              </a:rPr>
              <a:t> Nam</a:t>
            </a:r>
          </a:p>
        </p:txBody>
      </p:sp>
      <p:sp>
        <p:nvSpPr>
          <p:cNvPr id="15" name="Rectangle 23"/>
          <p:cNvSpPr txBox="1">
            <a:spLocks noChangeArrowheads="1"/>
          </p:cNvSpPr>
          <p:nvPr/>
        </p:nvSpPr>
        <p:spPr bwMode="black">
          <a:xfrm>
            <a:off x="2512594" y="1242564"/>
            <a:ext cx="6199554" cy="50794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90000"/>
              </a:lnSpc>
              <a:buFont typeface="Arial"/>
              <a:buChar char="•"/>
            </a:pPr>
            <a:r>
              <a:rPr lang="en-US" altLang="en-US" sz="2200" dirty="0" err="1">
                <a:solidFill>
                  <a:srgbClr val="002060"/>
                </a:solidFill>
              </a:rPr>
              <a:t>Gia</a:t>
            </a:r>
            <a:r>
              <a:rPr lang="en-US" altLang="en-US" sz="2200" dirty="0">
                <a:solidFill>
                  <a:srgbClr val="002060"/>
                </a:solidFill>
              </a:rPr>
              <a:t> </a:t>
            </a:r>
            <a:r>
              <a:rPr lang="en-US" altLang="en-US" sz="2200" dirty="0" err="1">
                <a:solidFill>
                  <a:srgbClr val="002060"/>
                </a:solidFill>
              </a:rPr>
              <a:t>tăng</a:t>
            </a:r>
            <a:r>
              <a:rPr lang="en-US" altLang="en-US" sz="2200" dirty="0">
                <a:solidFill>
                  <a:srgbClr val="002060"/>
                </a:solidFill>
              </a:rPr>
              <a:t> </a:t>
            </a:r>
            <a:r>
              <a:rPr lang="en-US" altLang="en-US" sz="2200" dirty="0" err="1">
                <a:solidFill>
                  <a:srgbClr val="002060"/>
                </a:solidFill>
              </a:rPr>
              <a:t>sự</a:t>
            </a:r>
            <a:r>
              <a:rPr lang="en-US" altLang="en-US" sz="2200" dirty="0">
                <a:solidFill>
                  <a:srgbClr val="002060"/>
                </a:solidFill>
              </a:rPr>
              <a:t> </a:t>
            </a:r>
            <a:r>
              <a:rPr lang="en-US" altLang="en-US" sz="2200" dirty="0" err="1">
                <a:solidFill>
                  <a:srgbClr val="002060"/>
                </a:solidFill>
              </a:rPr>
              <a:t>cạnh</a:t>
            </a:r>
            <a:r>
              <a:rPr lang="en-US" altLang="en-US" sz="2200" dirty="0">
                <a:solidFill>
                  <a:srgbClr val="002060"/>
                </a:solidFill>
              </a:rPr>
              <a:t> </a:t>
            </a:r>
            <a:r>
              <a:rPr lang="en-US" altLang="en-US" sz="2200" dirty="0" err="1">
                <a:solidFill>
                  <a:srgbClr val="002060"/>
                </a:solidFill>
              </a:rPr>
              <a:t>tranh</a:t>
            </a:r>
            <a:r>
              <a:rPr lang="en-US" altLang="en-US" sz="2200" dirty="0">
                <a:solidFill>
                  <a:srgbClr val="002060"/>
                </a:solidFill>
              </a:rPr>
              <a:t> gay </a:t>
            </a:r>
            <a:r>
              <a:rPr lang="en-US" altLang="en-US" sz="2200" dirty="0" err="1">
                <a:solidFill>
                  <a:srgbClr val="002060"/>
                </a:solidFill>
              </a:rPr>
              <a:t>gắt</a:t>
            </a:r>
            <a:r>
              <a:rPr lang="en-US" altLang="en-US" sz="2200" dirty="0">
                <a:solidFill>
                  <a:srgbClr val="002060"/>
                </a:solidFill>
              </a:rPr>
              <a:t>, </a:t>
            </a:r>
            <a:r>
              <a:rPr lang="en-US" altLang="en-US" sz="2200" dirty="0" err="1">
                <a:solidFill>
                  <a:srgbClr val="002060"/>
                </a:solidFill>
              </a:rPr>
              <a:t>tạo</a:t>
            </a:r>
            <a:r>
              <a:rPr lang="en-US" altLang="en-US" sz="2200" dirty="0">
                <a:solidFill>
                  <a:srgbClr val="002060"/>
                </a:solidFill>
              </a:rPr>
              <a:t> </a:t>
            </a:r>
            <a:r>
              <a:rPr lang="en-US" altLang="en-US" sz="2200" dirty="0" err="1">
                <a:solidFill>
                  <a:srgbClr val="002060"/>
                </a:solidFill>
              </a:rPr>
              <a:t>khó</a:t>
            </a:r>
            <a:r>
              <a:rPr lang="en-US" altLang="en-US" sz="2200" dirty="0">
                <a:solidFill>
                  <a:srgbClr val="002060"/>
                </a:solidFill>
              </a:rPr>
              <a:t> </a:t>
            </a:r>
            <a:r>
              <a:rPr lang="en-US" altLang="en-US" sz="2200" dirty="0" err="1">
                <a:solidFill>
                  <a:srgbClr val="002060"/>
                </a:solidFill>
              </a:rPr>
              <a:t>khăn</a:t>
            </a:r>
            <a:r>
              <a:rPr lang="en-US" altLang="en-US" sz="2200" dirty="0">
                <a:solidFill>
                  <a:srgbClr val="002060"/>
                </a:solidFill>
              </a:rPr>
              <a:t> </a:t>
            </a:r>
            <a:r>
              <a:rPr lang="en-US" altLang="en-US" sz="2200" dirty="0" err="1">
                <a:solidFill>
                  <a:srgbClr val="002060"/>
                </a:solidFill>
              </a:rPr>
              <a:t>cho</a:t>
            </a:r>
            <a:r>
              <a:rPr lang="en-US" altLang="en-US" sz="2200" dirty="0">
                <a:solidFill>
                  <a:srgbClr val="002060"/>
                </a:solidFill>
              </a:rPr>
              <a:t> DN </a:t>
            </a:r>
            <a:r>
              <a:rPr lang="en-US" altLang="en-US" sz="2200" dirty="0" err="1">
                <a:solidFill>
                  <a:srgbClr val="002060"/>
                </a:solidFill>
              </a:rPr>
              <a:t>và</a:t>
            </a:r>
            <a:r>
              <a:rPr lang="en-US" altLang="en-US" sz="2200" dirty="0">
                <a:solidFill>
                  <a:srgbClr val="002060"/>
                </a:solidFill>
              </a:rPr>
              <a:t> </a:t>
            </a:r>
            <a:r>
              <a:rPr lang="en-US" altLang="en-US" sz="2200" dirty="0" err="1">
                <a:solidFill>
                  <a:srgbClr val="002060"/>
                </a:solidFill>
              </a:rPr>
              <a:t>các</a:t>
            </a:r>
            <a:r>
              <a:rPr lang="en-US" altLang="en-US" sz="2200" dirty="0">
                <a:solidFill>
                  <a:srgbClr val="002060"/>
                </a:solidFill>
              </a:rPr>
              <a:t> </a:t>
            </a:r>
            <a:r>
              <a:rPr lang="en-US" altLang="en-US" sz="2200" dirty="0" err="1">
                <a:solidFill>
                  <a:srgbClr val="002060"/>
                </a:solidFill>
              </a:rPr>
              <a:t>ngành</a:t>
            </a:r>
            <a:r>
              <a:rPr lang="en-US" altLang="en-US" sz="2200" dirty="0">
                <a:solidFill>
                  <a:srgbClr val="002060"/>
                </a:solidFill>
              </a:rPr>
              <a:t> </a:t>
            </a:r>
            <a:r>
              <a:rPr lang="en-US" altLang="en-US" sz="2200" dirty="0" err="1">
                <a:solidFill>
                  <a:srgbClr val="002060"/>
                </a:solidFill>
              </a:rPr>
              <a:t>kinh</a:t>
            </a:r>
            <a:r>
              <a:rPr lang="en-US" altLang="en-US" sz="2200" dirty="0">
                <a:solidFill>
                  <a:srgbClr val="002060"/>
                </a:solidFill>
              </a:rPr>
              <a:t> </a:t>
            </a:r>
            <a:r>
              <a:rPr lang="en-US" altLang="en-US" sz="2200" dirty="0" err="1">
                <a:solidFill>
                  <a:srgbClr val="002060"/>
                </a:solidFill>
              </a:rPr>
              <a:t>tế</a:t>
            </a:r>
            <a:r>
              <a:rPr lang="en-US" altLang="en-US" sz="2200" dirty="0">
                <a:solidFill>
                  <a:srgbClr val="002060"/>
                </a:solidFill>
              </a:rPr>
              <a:t> </a:t>
            </a:r>
            <a:r>
              <a:rPr lang="en-US" altLang="en-US" sz="2200" dirty="0" err="1">
                <a:solidFill>
                  <a:srgbClr val="002060"/>
                </a:solidFill>
              </a:rPr>
              <a:t>trong</a:t>
            </a:r>
            <a:r>
              <a:rPr lang="en-US" altLang="en-US" sz="2200" dirty="0">
                <a:solidFill>
                  <a:srgbClr val="002060"/>
                </a:solidFill>
              </a:rPr>
              <a:t> </a:t>
            </a:r>
            <a:r>
              <a:rPr lang="en-US" altLang="en-US" sz="2200" dirty="0" err="1">
                <a:solidFill>
                  <a:srgbClr val="002060"/>
                </a:solidFill>
              </a:rPr>
              <a:t>nước</a:t>
            </a:r>
            <a:endParaRPr lang="en-US" altLang="en-US" sz="2200" dirty="0">
              <a:solidFill>
                <a:srgbClr val="002060"/>
              </a:solidFill>
            </a:endParaRPr>
          </a:p>
          <a:p>
            <a:pPr algn="just">
              <a:lnSpc>
                <a:spcPct val="90000"/>
              </a:lnSpc>
              <a:buFont typeface="Arial"/>
              <a:buChar char="•"/>
            </a:pPr>
            <a:r>
              <a:rPr lang="en-US" altLang="en-US" sz="2200" dirty="0" err="1">
                <a:solidFill>
                  <a:srgbClr val="002060"/>
                </a:solidFill>
                <a:sym typeface="Wingdings" panose="05000000000000000000" pitchFamily="2" charset="2"/>
              </a:rPr>
              <a:t>Gia</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tăng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sự</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phụ</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thuộc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của</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nền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kinh</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tế</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quốc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gia</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vào</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thị</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trường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bên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ngoài</a:t>
            </a:r>
            <a:endParaRPr lang="en-US" altLang="en-US" sz="2200" dirty="0">
              <a:solidFill>
                <a:srgbClr val="002060"/>
              </a:solidFill>
              <a:sym typeface="Wingdings" panose="05000000000000000000" pitchFamily="2" charset="2"/>
            </a:endParaRPr>
          </a:p>
          <a:p>
            <a:pPr algn="just">
              <a:lnSpc>
                <a:spcPct val="90000"/>
              </a:lnSpc>
              <a:buFont typeface="Arial"/>
              <a:buChar char="•"/>
            </a:pPr>
            <a:r>
              <a:rPr lang="en-US" altLang="en-US" sz="2200" dirty="0" err="1">
                <a:solidFill>
                  <a:srgbClr val="002060"/>
                </a:solidFill>
                <a:sym typeface="Wingdings" panose="05000000000000000000" pitchFamily="2" charset="2"/>
              </a:rPr>
              <a:t>Tăng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khoảng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cách</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giàu</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nghèo</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và</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bất</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bình</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đẳng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xã</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hội</a:t>
            </a:r>
            <a:endParaRPr lang="en-US" altLang="en-US" sz="2200" dirty="0">
              <a:solidFill>
                <a:srgbClr val="002060"/>
              </a:solidFill>
              <a:sym typeface="Wingdings" panose="05000000000000000000" pitchFamily="2" charset="2"/>
            </a:endParaRPr>
          </a:p>
          <a:p>
            <a:pPr algn="just">
              <a:lnSpc>
                <a:spcPct val="90000"/>
              </a:lnSpc>
              <a:buFont typeface="Arial"/>
              <a:buChar char="•"/>
            </a:pPr>
            <a:r>
              <a:rPr lang="en-US" altLang="en-US" sz="2200" dirty="0" err="1">
                <a:solidFill>
                  <a:srgbClr val="002060"/>
                </a:solidFill>
                <a:sym typeface="Wingdings" panose="05000000000000000000" pitchFamily="2" charset="2"/>
              </a:rPr>
              <a:t>Dễ</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trở</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thành</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bãi</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rác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công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nghiệp</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và</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công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nghệ</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thấp</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cạn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kiệt</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tài</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nguyên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và</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ô</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nhiễm</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môi</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trường</a:t>
            </a:r>
            <a:endParaRPr lang="en-US" altLang="en-US" sz="2200" dirty="0">
              <a:solidFill>
                <a:srgbClr val="002060"/>
              </a:solidFill>
              <a:sym typeface="Wingdings" panose="05000000000000000000" pitchFamily="2" charset="2"/>
            </a:endParaRPr>
          </a:p>
          <a:p>
            <a:pPr algn="just">
              <a:lnSpc>
                <a:spcPct val="90000"/>
              </a:lnSpc>
              <a:buFont typeface="Arial"/>
              <a:buChar char="•"/>
            </a:pPr>
            <a:r>
              <a:rPr lang="en-US" altLang="en-US" sz="2200" dirty="0" err="1">
                <a:solidFill>
                  <a:srgbClr val="002060"/>
                </a:solidFill>
                <a:sym typeface="Wingdings" panose="05000000000000000000" pitchFamily="2" charset="2"/>
              </a:rPr>
              <a:t>Tạo</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ra</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một</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số</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thách</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thức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đối</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với</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chủ</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quyền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quốc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gia</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và</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quyền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lực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Nhà</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nước</a:t>
            </a:r>
            <a:endParaRPr lang="en-US" altLang="en-US" sz="2200" dirty="0">
              <a:solidFill>
                <a:srgbClr val="002060"/>
              </a:solidFill>
              <a:sym typeface="Wingdings" panose="05000000000000000000" pitchFamily="2" charset="2"/>
            </a:endParaRPr>
          </a:p>
          <a:p>
            <a:pPr algn="just">
              <a:lnSpc>
                <a:spcPct val="90000"/>
              </a:lnSpc>
              <a:buFont typeface="Arial"/>
              <a:buChar char="•"/>
            </a:pPr>
            <a:r>
              <a:rPr lang="en-US" altLang="en-US" sz="2200" dirty="0" err="1">
                <a:solidFill>
                  <a:srgbClr val="002060"/>
                </a:solidFill>
                <a:sym typeface="Wingdings" panose="05000000000000000000" pitchFamily="2" charset="2"/>
              </a:rPr>
              <a:t>Nguy</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cơ</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xói</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mòn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bản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sắc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dân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tộc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và</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văn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hóa</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quốc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gia</a:t>
            </a:r>
            <a:endParaRPr lang="en-US" altLang="en-US" sz="2200" dirty="0">
              <a:solidFill>
                <a:srgbClr val="002060"/>
              </a:solidFill>
              <a:sym typeface="Wingdings" panose="05000000000000000000" pitchFamily="2" charset="2"/>
            </a:endParaRPr>
          </a:p>
          <a:p>
            <a:pPr algn="just">
              <a:lnSpc>
                <a:spcPct val="90000"/>
              </a:lnSpc>
              <a:buFont typeface="Arial"/>
              <a:buChar char="•"/>
            </a:pPr>
            <a:r>
              <a:rPr lang="en-US" altLang="en-US" sz="2200" dirty="0" err="1">
                <a:solidFill>
                  <a:srgbClr val="002060"/>
                </a:solidFill>
                <a:sym typeface="Wingdings" panose="05000000000000000000" pitchFamily="2" charset="2"/>
              </a:rPr>
              <a:t>Nguy</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cơ</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gia</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tăng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tình</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trạng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khủng</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bố</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quốc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tế</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buôn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lậu</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tội</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phạm</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xuyên</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quốc</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gia</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dịch</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bệnh</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nhập</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cư</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bất</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hợp</a:t>
            </a:r>
            <a:r>
              <a:rPr lang="en-US" altLang="en-US" sz="2200" dirty="0">
                <a:solidFill>
                  <a:srgbClr val="002060"/>
                </a:solidFill>
                <a:sym typeface="Wingdings" panose="05000000000000000000" pitchFamily="2" charset="2"/>
              </a:rPr>
              <a:t> </a:t>
            </a:r>
            <a:r>
              <a:rPr lang="en-US" altLang="en-US" sz="2200" dirty="0" err="1">
                <a:solidFill>
                  <a:srgbClr val="002060"/>
                </a:solidFill>
                <a:sym typeface="Wingdings" panose="05000000000000000000" pitchFamily="2" charset="2"/>
              </a:rPr>
              <a:t>pháp</a:t>
            </a:r>
            <a:endParaRPr lang="en-US" altLang="en-US" sz="2200" dirty="0">
              <a:solidFill>
                <a:srgbClr val="002060"/>
              </a:solidFill>
              <a:sym typeface="Wingdings" panose="05000000000000000000" pitchFamily="2" charset="2"/>
            </a:endParaRPr>
          </a:p>
          <a:p>
            <a:pPr marL="0" indent="0" algn="just">
              <a:lnSpc>
                <a:spcPct val="90000"/>
              </a:lnSpc>
              <a:buNone/>
            </a:pPr>
            <a:r>
              <a:rPr lang="vi-VN" altLang="en-US" sz="2200" dirty="0">
                <a:solidFill>
                  <a:srgbClr val="002060"/>
                </a:solidFill>
                <a:sym typeface="Wingdings" panose="05000000000000000000" pitchFamily="2" charset="2"/>
              </a:rPr>
              <a:t>  </a:t>
            </a:r>
            <a:endParaRPr lang="en-US" altLang="en-US" sz="2200" dirty="0">
              <a:solidFill>
                <a:srgbClr val="002060"/>
              </a:solidFill>
              <a:sym typeface="Wingdings" panose="05000000000000000000" pitchFamily="2" charset="2"/>
            </a:endParaRPr>
          </a:p>
        </p:txBody>
      </p:sp>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5375" y="2444165"/>
            <a:ext cx="2076044" cy="2348584"/>
          </a:xfrm>
          <a:prstGeom prst="rect">
            <a:avLst/>
          </a:prstGeom>
        </p:spPr>
      </p:pic>
    </p:spTree>
    <p:extLst>
      <p:ext uri="{BB962C8B-B14F-4D97-AF65-F5344CB8AC3E}">
        <p14:creationId xmlns:p14="http://schemas.microsoft.com/office/powerpoint/2010/main" val="1135563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8754" name="Rectangle 2"/>
          <p:cNvSpPr>
            <a:spLocks noGrp="1" noChangeArrowheads="1"/>
          </p:cNvSpPr>
          <p:nvPr>
            <p:ph type="title"/>
          </p:nvPr>
        </p:nvSpPr>
        <p:spPr>
          <a:xfrm>
            <a:off x="0" y="575918"/>
            <a:ext cx="9144000" cy="796925"/>
          </a:xfrm>
        </p:spPr>
        <p:txBody>
          <a:bodyPr>
            <a:normAutofit/>
          </a:bodyPr>
          <a:lstStyle/>
          <a:p>
            <a:pPr algn="ctr"/>
            <a:r>
              <a:rPr lang="en-US" altLang="en-US" sz="2800" b="1" dirty="0" err="1">
                <a:solidFill>
                  <a:srgbClr val="002060"/>
                </a:solidFill>
                <a:latin typeface="Arial" panose="020B0604020202020204" pitchFamily="34" charset="0"/>
                <a:cs typeface="Arial" panose="020B0604020202020204" pitchFamily="34" charset="0"/>
              </a:rPr>
              <a:t>Quan</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điểm</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hội</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nhập</a:t>
            </a:r>
            <a:r>
              <a:rPr lang="en-US" altLang="en-US" sz="2800" b="1" dirty="0">
                <a:solidFill>
                  <a:srgbClr val="002060"/>
                </a:solidFill>
                <a:latin typeface="Arial" panose="020B0604020202020204" pitchFamily="34" charset="0"/>
                <a:cs typeface="Arial" panose="020B0604020202020204" pitchFamily="34" charset="0"/>
              </a:rPr>
              <a:t> KTQT </a:t>
            </a:r>
            <a:r>
              <a:rPr lang="en-US" altLang="en-US" sz="2800" b="1" dirty="0" err="1">
                <a:solidFill>
                  <a:srgbClr val="002060"/>
                </a:solidFill>
                <a:latin typeface="Arial" panose="020B0604020202020204" pitchFamily="34" charset="0"/>
                <a:cs typeface="Arial" panose="020B0604020202020204" pitchFamily="34" charset="0"/>
              </a:rPr>
              <a:t>của</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Việt</a:t>
            </a:r>
            <a:r>
              <a:rPr lang="en-US" altLang="en-US" sz="2800" b="1" dirty="0">
                <a:solidFill>
                  <a:srgbClr val="002060"/>
                </a:solidFill>
                <a:latin typeface="Arial" panose="020B0604020202020204" pitchFamily="34" charset="0"/>
                <a:cs typeface="Arial" panose="020B0604020202020204" pitchFamily="34" charset="0"/>
              </a:rPr>
              <a:t> Nam</a:t>
            </a:r>
          </a:p>
        </p:txBody>
      </p:sp>
      <p:grpSp>
        <p:nvGrpSpPr>
          <p:cNvPr id="1098755" name="Group 3"/>
          <p:cNvGrpSpPr>
            <a:grpSpLocks/>
          </p:cNvGrpSpPr>
          <p:nvPr/>
        </p:nvGrpSpPr>
        <p:grpSpPr bwMode="auto">
          <a:xfrm>
            <a:off x="934627" y="1558096"/>
            <a:ext cx="7334250" cy="3606800"/>
            <a:chOff x="664" y="1951"/>
            <a:chExt cx="4308" cy="2120"/>
          </a:xfrm>
        </p:grpSpPr>
        <p:sp>
          <p:nvSpPr>
            <p:cNvPr id="1098756" name="Freeform 4"/>
            <p:cNvSpPr>
              <a:spLocks/>
            </p:cNvSpPr>
            <p:nvPr/>
          </p:nvSpPr>
          <p:spPr bwMode="ltGray">
            <a:xfrm>
              <a:off x="743" y="2045"/>
              <a:ext cx="1267" cy="1938"/>
            </a:xfrm>
            <a:custGeom>
              <a:avLst/>
              <a:gdLst>
                <a:gd name="T0" fmla="*/ 116 w 1692"/>
                <a:gd name="T1" fmla="*/ 258 h 2586"/>
                <a:gd name="T2" fmla="*/ 320 w 1692"/>
                <a:gd name="T3" fmla="*/ 210 h 2586"/>
                <a:gd name="T4" fmla="*/ 434 w 1692"/>
                <a:gd name="T5" fmla="*/ 240 h 2586"/>
                <a:gd name="T6" fmla="*/ 416 w 1692"/>
                <a:gd name="T7" fmla="*/ 444 h 2586"/>
                <a:gd name="T8" fmla="*/ 272 w 1692"/>
                <a:gd name="T9" fmla="*/ 582 h 2586"/>
                <a:gd name="T10" fmla="*/ 218 w 1692"/>
                <a:gd name="T11" fmla="*/ 714 h 2586"/>
                <a:gd name="T12" fmla="*/ 284 w 1692"/>
                <a:gd name="T13" fmla="*/ 964 h 2586"/>
                <a:gd name="T14" fmla="*/ 316 w 1692"/>
                <a:gd name="T15" fmla="*/ 960 h 2586"/>
                <a:gd name="T16" fmla="*/ 328 w 1692"/>
                <a:gd name="T17" fmla="*/ 906 h 2586"/>
                <a:gd name="T18" fmla="*/ 478 w 1692"/>
                <a:gd name="T19" fmla="*/ 1154 h 2586"/>
                <a:gd name="T20" fmla="*/ 650 w 1692"/>
                <a:gd name="T21" fmla="*/ 1200 h 2586"/>
                <a:gd name="T22" fmla="*/ 794 w 1692"/>
                <a:gd name="T23" fmla="*/ 1350 h 2586"/>
                <a:gd name="T24" fmla="*/ 854 w 1692"/>
                <a:gd name="T25" fmla="*/ 1422 h 2586"/>
                <a:gd name="T26" fmla="*/ 770 w 1692"/>
                <a:gd name="T27" fmla="*/ 1608 h 2586"/>
                <a:gd name="T28" fmla="*/ 916 w 1692"/>
                <a:gd name="T29" fmla="*/ 1782 h 2586"/>
                <a:gd name="T30" fmla="*/ 1034 w 1692"/>
                <a:gd name="T31" fmla="*/ 2022 h 2586"/>
                <a:gd name="T32" fmla="*/ 1094 w 1692"/>
                <a:gd name="T33" fmla="*/ 2310 h 2586"/>
                <a:gd name="T34" fmla="*/ 1194 w 1692"/>
                <a:gd name="T35" fmla="*/ 2540 h 2586"/>
                <a:gd name="T36" fmla="*/ 1280 w 1692"/>
                <a:gd name="T37" fmla="*/ 2520 h 2586"/>
                <a:gd name="T38" fmla="*/ 1244 w 1692"/>
                <a:gd name="T39" fmla="*/ 2394 h 2586"/>
                <a:gd name="T40" fmla="*/ 1288 w 1692"/>
                <a:gd name="T41" fmla="*/ 2306 h 2586"/>
                <a:gd name="T42" fmla="*/ 1368 w 1692"/>
                <a:gd name="T43" fmla="*/ 2228 h 2586"/>
                <a:gd name="T44" fmla="*/ 1448 w 1692"/>
                <a:gd name="T45" fmla="*/ 2076 h 2586"/>
                <a:gd name="T46" fmla="*/ 1568 w 1692"/>
                <a:gd name="T47" fmla="*/ 1950 h 2586"/>
                <a:gd name="T48" fmla="*/ 1622 w 1692"/>
                <a:gd name="T49" fmla="*/ 1746 h 2586"/>
                <a:gd name="T50" fmla="*/ 1552 w 1692"/>
                <a:gd name="T51" fmla="*/ 1538 h 2586"/>
                <a:gd name="T52" fmla="*/ 1376 w 1692"/>
                <a:gd name="T53" fmla="*/ 1410 h 2586"/>
                <a:gd name="T54" fmla="*/ 1104 w 1692"/>
                <a:gd name="T55" fmla="*/ 1280 h 2586"/>
                <a:gd name="T56" fmla="*/ 974 w 1692"/>
                <a:gd name="T57" fmla="*/ 1260 h 2586"/>
                <a:gd name="T58" fmla="*/ 904 w 1692"/>
                <a:gd name="T59" fmla="*/ 1268 h 2586"/>
                <a:gd name="T60" fmla="*/ 794 w 1692"/>
                <a:gd name="T61" fmla="*/ 1308 h 2586"/>
                <a:gd name="T62" fmla="*/ 758 w 1692"/>
                <a:gd name="T63" fmla="*/ 1174 h 2586"/>
                <a:gd name="T64" fmla="*/ 736 w 1692"/>
                <a:gd name="T65" fmla="*/ 1062 h 2586"/>
                <a:gd name="T66" fmla="*/ 632 w 1692"/>
                <a:gd name="T67" fmla="*/ 1104 h 2586"/>
                <a:gd name="T68" fmla="*/ 568 w 1692"/>
                <a:gd name="T69" fmla="*/ 950 h 2586"/>
                <a:gd name="T70" fmla="*/ 740 w 1692"/>
                <a:gd name="T71" fmla="*/ 912 h 2586"/>
                <a:gd name="T72" fmla="*/ 842 w 1692"/>
                <a:gd name="T73" fmla="*/ 906 h 2586"/>
                <a:gd name="T74" fmla="*/ 896 w 1692"/>
                <a:gd name="T75" fmla="*/ 900 h 2586"/>
                <a:gd name="T76" fmla="*/ 1058 w 1692"/>
                <a:gd name="T77" fmla="*/ 750 h 2586"/>
                <a:gd name="T78" fmla="*/ 1184 w 1692"/>
                <a:gd name="T79" fmla="*/ 678 h 2586"/>
                <a:gd name="T80" fmla="*/ 1278 w 1692"/>
                <a:gd name="T81" fmla="*/ 636 h 2586"/>
                <a:gd name="T82" fmla="*/ 1340 w 1692"/>
                <a:gd name="T83" fmla="*/ 538 h 2586"/>
                <a:gd name="T84" fmla="*/ 1288 w 1692"/>
                <a:gd name="T85" fmla="*/ 512 h 2586"/>
                <a:gd name="T86" fmla="*/ 1526 w 1692"/>
                <a:gd name="T87" fmla="*/ 456 h 2586"/>
                <a:gd name="T88" fmla="*/ 1406 w 1692"/>
                <a:gd name="T89" fmla="*/ 342 h 2586"/>
                <a:gd name="T90" fmla="*/ 1328 w 1692"/>
                <a:gd name="T91" fmla="*/ 264 h 2586"/>
                <a:gd name="T92" fmla="*/ 1222 w 1692"/>
                <a:gd name="T93" fmla="*/ 364 h 2586"/>
                <a:gd name="T94" fmla="*/ 1110 w 1692"/>
                <a:gd name="T95" fmla="*/ 444 h 2586"/>
                <a:gd name="T96" fmla="*/ 1022 w 1692"/>
                <a:gd name="T97" fmla="*/ 304 h 2586"/>
                <a:gd name="T98" fmla="*/ 1212 w 1692"/>
                <a:gd name="T99" fmla="*/ 240 h 2586"/>
                <a:gd name="T100" fmla="*/ 1266 w 1692"/>
                <a:gd name="T101" fmla="*/ 198 h 2586"/>
                <a:gd name="T102" fmla="*/ 1328 w 1692"/>
                <a:gd name="T103" fmla="*/ 172 h 2586"/>
                <a:gd name="T104" fmla="*/ 1286 w 1692"/>
                <a:gd name="T105" fmla="*/ 144 h 2586"/>
                <a:gd name="T106" fmla="*/ 1262 w 1692"/>
                <a:gd name="T107" fmla="*/ 120 h 2586"/>
                <a:gd name="T108" fmla="*/ 1202 w 1692"/>
                <a:gd name="T109" fmla="*/ 102 h 2586"/>
                <a:gd name="T110" fmla="*/ 1106 w 1692"/>
                <a:gd name="T111" fmla="*/ 136 h 2586"/>
                <a:gd name="T112" fmla="*/ 950 w 1692"/>
                <a:gd name="T113" fmla="*/ 120 h 2586"/>
                <a:gd name="T114" fmla="*/ 550 w 1692"/>
                <a:gd name="T115" fmla="*/ 0 h 2586"/>
                <a:gd name="T116" fmla="*/ 344 w 1692"/>
                <a:gd name="T117" fmla="*/ 32 h 2586"/>
                <a:gd name="T118" fmla="*/ 290 w 1692"/>
                <a:gd name="T119" fmla="*/ 102 h 2586"/>
                <a:gd name="T120" fmla="*/ 128 w 1692"/>
                <a:gd name="T121" fmla="*/ 174 h 2586"/>
                <a:gd name="T122" fmla="*/ 128 w 1692"/>
                <a:gd name="T123" fmla="*/ 216 h 2586"/>
                <a:gd name="T124" fmla="*/ 2 w 1692"/>
                <a:gd name="T125" fmla="*/ 252 h 2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57" name="Freeform 5"/>
            <p:cNvSpPr>
              <a:spLocks/>
            </p:cNvSpPr>
            <p:nvPr/>
          </p:nvSpPr>
          <p:spPr bwMode="ltGray">
            <a:xfrm>
              <a:off x="703" y="2230"/>
              <a:ext cx="34" cy="28"/>
            </a:xfrm>
            <a:custGeom>
              <a:avLst/>
              <a:gdLst>
                <a:gd name="T0" fmla="*/ 16 w 46"/>
                <a:gd name="T1" fmla="*/ 4 h 38"/>
                <a:gd name="T2" fmla="*/ 0 w 46"/>
                <a:gd name="T3" fmla="*/ 22 h 38"/>
                <a:gd name="T4" fmla="*/ 22 w 46"/>
                <a:gd name="T5" fmla="*/ 38 h 38"/>
                <a:gd name="T6" fmla="*/ 46 w 46"/>
                <a:gd name="T7" fmla="*/ 26 h 38"/>
                <a:gd name="T8" fmla="*/ 30 w 46"/>
                <a:gd name="T9" fmla="*/ 0 h 38"/>
                <a:gd name="T10" fmla="*/ 16 w 46"/>
                <a:gd name="T11" fmla="*/ 4 h 38"/>
              </a:gdLst>
              <a:ahLst/>
              <a:cxnLst>
                <a:cxn ang="0">
                  <a:pos x="T0" y="T1"/>
                </a:cxn>
                <a:cxn ang="0">
                  <a:pos x="T2" y="T3"/>
                </a:cxn>
                <a:cxn ang="0">
                  <a:pos x="T4" y="T5"/>
                </a:cxn>
                <a:cxn ang="0">
                  <a:pos x="T6" y="T7"/>
                </a:cxn>
                <a:cxn ang="0">
                  <a:pos x="T8" y="T9"/>
                </a:cxn>
                <a:cxn ang="0">
                  <a:pos x="T10" y="T11"/>
                </a:cxn>
              </a:cxnLst>
              <a:rect l="0" t="0" r="r" b="b"/>
              <a:pathLst>
                <a:path w="46" h="38">
                  <a:moveTo>
                    <a:pt x="16" y="4"/>
                  </a:moveTo>
                  <a:lnTo>
                    <a:pt x="0" y="22"/>
                  </a:lnTo>
                  <a:lnTo>
                    <a:pt x="22" y="38"/>
                  </a:lnTo>
                  <a:lnTo>
                    <a:pt x="46" y="26"/>
                  </a:lnTo>
                  <a:lnTo>
                    <a:pt x="30" y="0"/>
                  </a:lnTo>
                  <a:lnTo>
                    <a:pt x="16" y="4"/>
                  </a:ln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58" name="Freeform 6"/>
            <p:cNvSpPr>
              <a:spLocks/>
            </p:cNvSpPr>
            <p:nvPr/>
          </p:nvSpPr>
          <p:spPr bwMode="ltGray">
            <a:xfrm>
              <a:off x="1010" y="2353"/>
              <a:ext cx="39" cy="32"/>
            </a:xfrm>
            <a:custGeom>
              <a:avLst/>
              <a:gdLst>
                <a:gd name="T0" fmla="*/ 12 w 52"/>
                <a:gd name="T1" fmla="*/ 0 h 44"/>
                <a:gd name="T2" fmla="*/ 26 w 52"/>
                <a:gd name="T3" fmla="*/ 44 h 44"/>
                <a:gd name="T4" fmla="*/ 42 w 52"/>
                <a:gd name="T5" fmla="*/ 42 h 44"/>
                <a:gd name="T6" fmla="*/ 38 w 52"/>
                <a:gd name="T7" fmla="*/ 16 h 44"/>
                <a:gd name="T8" fmla="*/ 26 w 52"/>
                <a:gd name="T9" fmla="*/ 2 h 44"/>
                <a:gd name="T10" fmla="*/ 12 w 52"/>
                <a:gd name="T11" fmla="*/ 0 h 44"/>
              </a:gdLst>
              <a:ahLst/>
              <a:cxnLst>
                <a:cxn ang="0">
                  <a:pos x="T0" y="T1"/>
                </a:cxn>
                <a:cxn ang="0">
                  <a:pos x="T2" y="T3"/>
                </a:cxn>
                <a:cxn ang="0">
                  <a:pos x="T4" y="T5"/>
                </a:cxn>
                <a:cxn ang="0">
                  <a:pos x="T6" y="T7"/>
                </a:cxn>
                <a:cxn ang="0">
                  <a:pos x="T8" y="T9"/>
                </a:cxn>
                <a:cxn ang="0">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59" name="Freeform 7"/>
            <p:cNvSpPr>
              <a:spLocks/>
            </p:cNvSpPr>
            <p:nvPr/>
          </p:nvSpPr>
          <p:spPr bwMode="ltGray">
            <a:xfrm>
              <a:off x="1792" y="2409"/>
              <a:ext cx="98" cy="74"/>
            </a:xfrm>
            <a:custGeom>
              <a:avLst/>
              <a:gdLst>
                <a:gd name="T0" fmla="*/ 97 w 131"/>
                <a:gd name="T1" fmla="*/ 0 h 98"/>
                <a:gd name="T2" fmla="*/ 79 w 131"/>
                <a:gd name="T3" fmla="*/ 8 h 98"/>
                <a:gd name="T4" fmla="*/ 53 w 131"/>
                <a:gd name="T5" fmla="*/ 24 h 98"/>
                <a:gd name="T6" fmla="*/ 39 w 131"/>
                <a:gd name="T7" fmla="*/ 40 h 98"/>
                <a:gd name="T8" fmla="*/ 21 w 131"/>
                <a:gd name="T9" fmla="*/ 52 h 98"/>
                <a:gd name="T10" fmla="*/ 63 w 131"/>
                <a:gd name="T11" fmla="*/ 82 h 98"/>
                <a:gd name="T12" fmla="*/ 79 w 131"/>
                <a:gd name="T13" fmla="*/ 94 h 98"/>
                <a:gd name="T14" fmla="*/ 85 w 131"/>
                <a:gd name="T15" fmla="*/ 92 h 98"/>
                <a:gd name="T16" fmla="*/ 89 w 131"/>
                <a:gd name="T17" fmla="*/ 86 h 98"/>
                <a:gd name="T18" fmla="*/ 97 w 131"/>
                <a:gd name="T19" fmla="*/ 98 h 98"/>
                <a:gd name="T20" fmla="*/ 123 w 131"/>
                <a:gd name="T21" fmla="*/ 86 h 98"/>
                <a:gd name="T22" fmla="*/ 129 w 131"/>
                <a:gd name="T23" fmla="*/ 74 h 98"/>
                <a:gd name="T24" fmla="*/ 101 w 131"/>
                <a:gd name="T25" fmla="*/ 40 h 98"/>
                <a:gd name="T26" fmla="*/ 115 w 131"/>
                <a:gd name="T27" fmla="*/ 24 h 98"/>
                <a:gd name="T28" fmla="*/ 111 w 131"/>
                <a:gd name="T29" fmla="*/ 4 h 98"/>
                <a:gd name="T30" fmla="*/ 97 w 131"/>
                <a:gd name="T3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0" name="Freeform 8"/>
            <p:cNvSpPr>
              <a:spLocks/>
            </p:cNvSpPr>
            <p:nvPr/>
          </p:nvSpPr>
          <p:spPr bwMode="ltGray">
            <a:xfrm>
              <a:off x="1318" y="2793"/>
              <a:ext cx="158" cy="84"/>
            </a:xfrm>
            <a:custGeom>
              <a:avLst/>
              <a:gdLst>
                <a:gd name="T0" fmla="*/ 47 w 212"/>
                <a:gd name="T1" fmla="*/ 12 h 112"/>
                <a:gd name="T2" fmla="*/ 17 w 212"/>
                <a:gd name="T3" fmla="*/ 12 h 112"/>
                <a:gd name="T4" fmla="*/ 5 w 212"/>
                <a:gd name="T5" fmla="*/ 16 h 112"/>
                <a:gd name="T6" fmla="*/ 25 w 212"/>
                <a:gd name="T7" fmla="*/ 52 h 112"/>
                <a:gd name="T8" fmla="*/ 51 w 212"/>
                <a:gd name="T9" fmla="*/ 44 h 112"/>
                <a:gd name="T10" fmla="*/ 93 w 212"/>
                <a:gd name="T11" fmla="*/ 54 h 112"/>
                <a:gd name="T12" fmla="*/ 111 w 212"/>
                <a:gd name="T13" fmla="*/ 60 h 112"/>
                <a:gd name="T14" fmla="*/ 133 w 212"/>
                <a:gd name="T15" fmla="*/ 88 h 112"/>
                <a:gd name="T16" fmla="*/ 141 w 212"/>
                <a:gd name="T17" fmla="*/ 112 h 112"/>
                <a:gd name="T18" fmla="*/ 157 w 212"/>
                <a:gd name="T19" fmla="*/ 100 h 112"/>
                <a:gd name="T20" fmla="*/ 169 w 212"/>
                <a:gd name="T21" fmla="*/ 96 h 112"/>
                <a:gd name="T22" fmla="*/ 187 w 212"/>
                <a:gd name="T23" fmla="*/ 102 h 112"/>
                <a:gd name="T24" fmla="*/ 195 w 212"/>
                <a:gd name="T25" fmla="*/ 80 h 112"/>
                <a:gd name="T26" fmla="*/ 153 w 212"/>
                <a:gd name="T27" fmla="*/ 54 h 112"/>
                <a:gd name="T28" fmla="*/ 105 w 212"/>
                <a:gd name="T29" fmla="*/ 20 h 112"/>
                <a:gd name="T30" fmla="*/ 53 w 212"/>
                <a:gd name="T31" fmla="*/ 26 h 112"/>
                <a:gd name="T32" fmla="*/ 47 w 212"/>
                <a:gd name="T33" fmla="*/ 1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1" name="Freeform 9"/>
            <p:cNvSpPr>
              <a:spLocks/>
            </p:cNvSpPr>
            <p:nvPr/>
          </p:nvSpPr>
          <p:spPr bwMode="ltGray">
            <a:xfrm>
              <a:off x="1448" y="2857"/>
              <a:ext cx="99" cy="41"/>
            </a:xfrm>
            <a:custGeom>
              <a:avLst/>
              <a:gdLst>
                <a:gd name="T0" fmla="*/ 57 w 133"/>
                <a:gd name="T1" fmla="*/ 0 h 54"/>
                <a:gd name="T2" fmla="*/ 43 w 133"/>
                <a:gd name="T3" fmla="*/ 6 h 54"/>
                <a:gd name="T4" fmla="*/ 31 w 133"/>
                <a:gd name="T5" fmla="*/ 30 h 54"/>
                <a:gd name="T6" fmla="*/ 15 w 133"/>
                <a:gd name="T7" fmla="*/ 34 h 54"/>
                <a:gd name="T8" fmla="*/ 3 w 133"/>
                <a:gd name="T9" fmla="*/ 42 h 54"/>
                <a:gd name="T10" fmla="*/ 13 w 133"/>
                <a:gd name="T11" fmla="*/ 54 h 54"/>
                <a:gd name="T12" fmla="*/ 133 w 133"/>
                <a:gd name="T13" fmla="*/ 34 h 54"/>
                <a:gd name="T14" fmla="*/ 123 w 133"/>
                <a:gd name="T15" fmla="*/ 16 h 54"/>
                <a:gd name="T16" fmla="*/ 105 w 133"/>
                <a:gd name="T17" fmla="*/ 8 h 54"/>
                <a:gd name="T18" fmla="*/ 101 w 133"/>
                <a:gd name="T19" fmla="*/ 24 h 54"/>
                <a:gd name="T20" fmla="*/ 89 w 133"/>
                <a:gd name="T21" fmla="*/ 18 h 54"/>
                <a:gd name="T22" fmla="*/ 67 w 133"/>
                <a:gd name="T23" fmla="*/ 14 h 54"/>
                <a:gd name="T24" fmla="*/ 57 w 133"/>
                <a:gd name="T2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2" name="Freeform 10"/>
            <p:cNvSpPr>
              <a:spLocks/>
            </p:cNvSpPr>
            <p:nvPr/>
          </p:nvSpPr>
          <p:spPr bwMode="ltGray">
            <a:xfrm>
              <a:off x="1553" y="2883"/>
              <a:ext cx="38" cy="18"/>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3" name="Freeform 11"/>
            <p:cNvSpPr>
              <a:spLocks/>
            </p:cNvSpPr>
            <p:nvPr/>
          </p:nvSpPr>
          <p:spPr bwMode="ltGray">
            <a:xfrm>
              <a:off x="1609" y="2886"/>
              <a:ext cx="12" cy="25"/>
            </a:xfrm>
            <a:custGeom>
              <a:avLst/>
              <a:gdLst>
                <a:gd name="T0" fmla="*/ 14 w 16"/>
                <a:gd name="T1" fmla="*/ 0 h 34"/>
                <a:gd name="T2" fmla="*/ 0 w 16"/>
                <a:gd name="T3" fmla="*/ 14 h 34"/>
                <a:gd name="T4" fmla="*/ 16 w 16"/>
                <a:gd name="T5" fmla="*/ 34 h 34"/>
                <a:gd name="T6" fmla="*/ 12 w 16"/>
                <a:gd name="T7" fmla="*/ 18 h 34"/>
                <a:gd name="T8" fmla="*/ 16 w 16"/>
                <a:gd name="T9" fmla="*/ 6 h 34"/>
                <a:gd name="T10" fmla="*/ 14 w 16"/>
                <a:gd name="T11" fmla="*/ 0 h 34"/>
              </a:gdLst>
              <a:ahLst/>
              <a:cxnLst>
                <a:cxn ang="0">
                  <a:pos x="T0" y="T1"/>
                </a:cxn>
                <a:cxn ang="0">
                  <a:pos x="T2" y="T3"/>
                </a:cxn>
                <a:cxn ang="0">
                  <a:pos x="T4" y="T5"/>
                </a:cxn>
                <a:cxn ang="0">
                  <a:pos x="T6" y="T7"/>
                </a:cxn>
                <a:cxn ang="0">
                  <a:pos x="T8" y="T9"/>
                </a:cxn>
                <a:cxn ang="0">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4" name="Freeform 12"/>
            <p:cNvSpPr>
              <a:spLocks/>
            </p:cNvSpPr>
            <p:nvPr/>
          </p:nvSpPr>
          <p:spPr bwMode="ltGray">
            <a:xfrm>
              <a:off x="1426" y="2040"/>
              <a:ext cx="180" cy="88"/>
            </a:xfrm>
            <a:custGeom>
              <a:avLst/>
              <a:gdLst>
                <a:gd name="T0" fmla="*/ 64 w 240"/>
                <a:gd name="T1" fmla="*/ 1 h 117"/>
                <a:gd name="T2" fmla="*/ 24 w 240"/>
                <a:gd name="T3" fmla="*/ 31 h 117"/>
                <a:gd name="T4" fmla="*/ 6 w 240"/>
                <a:gd name="T5" fmla="*/ 37 h 117"/>
                <a:gd name="T6" fmla="*/ 0 w 240"/>
                <a:gd name="T7" fmla="*/ 39 h 117"/>
                <a:gd name="T8" fmla="*/ 26 w 240"/>
                <a:gd name="T9" fmla="*/ 59 h 117"/>
                <a:gd name="T10" fmla="*/ 38 w 240"/>
                <a:gd name="T11" fmla="*/ 63 h 117"/>
                <a:gd name="T12" fmla="*/ 68 w 240"/>
                <a:gd name="T13" fmla="*/ 47 h 117"/>
                <a:gd name="T14" fmla="*/ 80 w 240"/>
                <a:gd name="T15" fmla="*/ 43 h 117"/>
                <a:gd name="T16" fmla="*/ 82 w 240"/>
                <a:gd name="T17" fmla="*/ 55 h 117"/>
                <a:gd name="T18" fmla="*/ 64 w 240"/>
                <a:gd name="T19" fmla="*/ 61 h 117"/>
                <a:gd name="T20" fmla="*/ 72 w 240"/>
                <a:gd name="T21" fmla="*/ 73 h 117"/>
                <a:gd name="T22" fmla="*/ 40 w 240"/>
                <a:gd name="T23" fmla="*/ 87 h 117"/>
                <a:gd name="T24" fmla="*/ 70 w 240"/>
                <a:gd name="T25" fmla="*/ 109 h 117"/>
                <a:gd name="T26" fmla="*/ 82 w 240"/>
                <a:gd name="T27" fmla="*/ 113 h 117"/>
                <a:gd name="T28" fmla="*/ 118 w 240"/>
                <a:gd name="T29" fmla="*/ 103 h 117"/>
                <a:gd name="T30" fmla="*/ 150 w 240"/>
                <a:gd name="T31" fmla="*/ 105 h 117"/>
                <a:gd name="T32" fmla="*/ 168 w 240"/>
                <a:gd name="T33" fmla="*/ 117 h 117"/>
                <a:gd name="T34" fmla="*/ 204 w 240"/>
                <a:gd name="T35" fmla="*/ 109 h 117"/>
                <a:gd name="T36" fmla="*/ 224 w 240"/>
                <a:gd name="T37" fmla="*/ 103 h 117"/>
                <a:gd name="T38" fmla="*/ 222 w 240"/>
                <a:gd name="T39" fmla="*/ 77 h 117"/>
                <a:gd name="T40" fmla="*/ 234 w 240"/>
                <a:gd name="T41" fmla="*/ 69 h 117"/>
                <a:gd name="T42" fmla="*/ 238 w 240"/>
                <a:gd name="T43" fmla="*/ 47 h 117"/>
                <a:gd name="T44" fmla="*/ 210 w 240"/>
                <a:gd name="T45" fmla="*/ 57 h 117"/>
                <a:gd name="T46" fmla="*/ 200 w 240"/>
                <a:gd name="T47" fmla="*/ 43 h 117"/>
                <a:gd name="T48" fmla="*/ 172 w 240"/>
                <a:gd name="T49" fmla="*/ 45 h 117"/>
                <a:gd name="T50" fmla="*/ 134 w 240"/>
                <a:gd name="T51" fmla="*/ 9 h 117"/>
                <a:gd name="T52" fmla="*/ 94 w 240"/>
                <a:gd name="T53" fmla="*/ 11 h 117"/>
                <a:gd name="T54" fmla="*/ 82 w 240"/>
                <a:gd name="T55" fmla="*/ 1 h 117"/>
                <a:gd name="T56" fmla="*/ 64 w 240"/>
                <a:gd name="T57" fmla="*/ 1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5" name="Freeform 13"/>
            <p:cNvSpPr>
              <a:spLocks/>
            </p:cNvSpPr>
            <p:nvPr/>
          </p:nvSpPr>
          <p:spPr bwMode="ltGray">
            <a:xfrm>
              <a:off x="1506" y="1999"/>
              <a:ext cx="146" cy="60"/>
            </a:xfrm>
            <a:custGeom>
              <a:avLst/>
              <a:gdLst>
                <a:gd name="T0" fmla="*/ 97 w 194"/>
                <a:gd name="T1" fmla="*/ 10 h 80"/>
                <a:gd name="T2" fmla="*/ 13 w 194"/>
                <a:gd name="T3" fmla="*/ 24 h 80"/>
                <a:gd name="T4" fmla="*/ 9 w 194"/>
                <a:gd name="T5" fmla="*/ 34 h 80"/>
                <a:gd name="T6" fmla="*/ 57 w 194"/>
                <a:gd name="T7" fmla="*/ 52 h 80"/>
                <a:gd name="T8" fmla="*/ 135 w 194"/>
                <a:gd name="T9" fmla="*/ 74 h 80"/>
                <a:gd name="T10" fmla="*/ 175 w 194"/>
                <a:gd name="T11" fmla="*/ 68 h 80"/>
                <a:gd name="T12" fmla="*/ 187 w 194"/>
                <a:gd name="T13" fmla="*/ 64 h 80"/>
                <a:gd name="T14" fmla="*/ 175 w 194"/>
                <a:gd name="T15" fmla="*/ 44 h 80"/>
                <a:gd name="T16" fmla="*/ 163 w 194"/>
                <a:gd name="T17" fmla="*/ 36 h 80"/>
                <a:gd name="T18" fmla="*/ 129 w 194"/>
                <a:gd name="T19" fmla="*/ 26 h 80"/>
                <a:gd name="T20" fmla="*/ 97 w 194"/>
                <a:gd name="T21" fmla="*/ 1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6" name="Freeform 14"/>
            <p:cNvSpPr>
              <a:spLocks/>
            </p:cNvSpPr>
            <p:nvPr/>
          </p:nvSpPr>
          <p:spPr bwMode="ltGray">
            <a:xfrm>
              <a:off x="1711" y="2069"/>
              <a:ext cx="233" cy="190"/>
            </a:xfrm>
            <a:custGeom>
              <a:avLst/>
              <a:gdLst>
                <a:gd name="T0" fmla="*/ 67 w 310"/>
                <a:gd name="T1" fmla="*/ 9 h 254"/>
                <a:gd name="T2" fmla="*/ 51 w 310"/>
                <a:gd name="T3" fmla="*/ 23 h 254"/>
                <a:gd name="T4" fmla="*/ 21 w 310"/>
                <a:gd name="T5" fmla="*/ 39 h 254"/>
                <a:gd name="T6" fmla="*/ 53 w 310"/>
                <a:gd name="T7" fmla="*/ 77 h 254"/>
                <a:gd name="T8" fmla="*/ 79 w 310"/>
                <a:gd name="T9" fmla="*/ 85 h 254"/>
                <a:gd name="T10" fmla="*/ 103 w 310"/>
                <a:gd name="T11" fmla="*/ 99 h 254"/>
                <a:gd name="T12" fmla="*/ 127 w 310"/>
                <a:gd name="T13" fmla="*/ 85 h 254"/>
                <a:gd name="T14" fmla="*/ 143 w 310"/>
                <a:gd name="T15" fmla="*/ 101 h 254"/>
                <a:gd name="T16" fmla="*/ 149 w 310"/>
                <a:gd name="T17" fmla="*/ 127 h 254"/>
                <a:gd name="T18" fmla="*/ 115 w 310"/>
                <a:gd name="T19" fmla="*/ 151 h 254"/>
                <a:gd name="T20" fmla="*/ 89 w 310"/>
                <a:gd name="T21" fmla="*/ 173 h 254"/>
                <a:gd name="T22" fmla="*/ 69 w 310"/>
                <a:gd name="T23" fmla="*/ 169 h 254"/>
                <a:gd name="T24" fmla="*/ 57 w 310"/>
                <a:gd name="T25" fmla="*/ 165 h 254"/>
                <a:gd name="T26" fmla="*/ 43 w 310"/>
                <a:gd name="T27" fmla="*/ 187 h 254"/>
                <a:gd name="T28" fmla="*/ 39 w 310"/>
                <a:gd name="T29" fmla="*/ 199 h 254"/>
                <a:gd name="T30" fmla="*/ 73 w 310"/>
                <a:gd name="T31" fmla="*/ 205 h 254"/>
                <a:gd name="T32" fmla="*/ 95 w 310"/>
                <a:gd name="T33" fmla="*/ 203 h 254"/>
                <a:gd name="T34" fmla="*/ 115 w 310"/>
                <a:gd name="T35" fmla="*/ 231 h 254"/>
                <a:gd name="T36" fmla="*/ 127 w 310"/>
                <a:gd name="T37" fmla="*/ 235 h 254"/>
                <a:gd name="T38" fmla="*/ 139 w 310"/>
                <a:gd name="T39" fmla="*/ 239 h 254"/>
                <a:gd name="T40" fmla="*/ 155 w 310"/>
                <a:gd name="T41" fmla="*/ 251 h 254"/>
                <a:gd name="T42" fmla="*/ 181 w 310"/>
                <a:gd name="T43" fmla="*/ 237 h 254"/>
                <a:gd name="T44" fmla="*/ 203 w 310"/>
                <a:gd name="T45" fmla="*/ 235 h 254"/>
                <a:gd name="T46" fmla="*/ 229 w 310"/>
                <a:gd name="T47" fmla="*/ 213 h 254"/>
                <a:gd name="T48" fmla="*/ 225 w 310"/>
                <a:gd name="T49" fmla="*/ 185 h 254"/>
                <a:gd name="T50" fmla="*/ 217 w 310"/>
                <a:gd name="T51" fmla="*/ 173 h 254"/>
                <a:gd name="T52" fmla="*/ 233 w 310"/>
                <a:gd name="T53" fmla="*/ 167 h 254"/>
                <a:gd name="T54" fmla="*/ 245 w 310"/>
                <a:gd name="T55" fmla="*/ 183 h 254"/>
                <a:gd name="T56" fmla="*/ 247 w 310"/>
                <a:gd name="T57" fmla="*/ 197 h 254"/>
                <a:gd name="T58" fmla="*/ 261 w 310"/>
                <a:gd name="T59" fmla="*/ 193 h 254"/>
                <a:gd name="T60" fmla="*/ 303 w 310"/>
                <a:gd name="T61" fmla="*/ 169 h 254"/>
                <a:gd name="T62" fmla="*/ 293 w 310"/>
                <a:gd name="T63" fmla="*/ 147 h 254"/>
                <a:gd name="T64" fmla="*/ 259 w 310"/>
                <a:gd name="T65" fmla="*/ 123 h 254"/>
                <a:gd name="T66" fmla="*/ 265 w 310"/>
                <a:gd name="T67" fmla="*/ 107 h 254"/>
                <a:gd name="T68" fmla="*/ 277 w 310"/>
                <a:gd name="T69" fmla="*/ 103 h 254"/>
                <a:gd name="T70" fmla="*/ 253 w 310"/>
                <a:gd name="T71" fmla="*/ 63 h 254"/>
                <a:gd name="T72" fmla="*/ 233 w 310"/>
                <a:gd name="T73" fmla="*/ 59 h 254"/>
                <a:gd name="T74" fmla="*/ 221 w 310"/>
                <a:gd name="T75" fmla="*/ 55 h 254"/>
                <a:gd name="T76" fmla="*/ 201 w 310"/>
                <a:gd name="T77" fmla="*/ 33 h 254"/>
                <a:gd name="T78" fmla="*/ 155 w 310"/>
                <a:gd name="T79" fmla="*/ 45 h 254"/>
                <a:gd name="T80" fmla="*/ 167 w 310"/>
                <a:gd name="T81" fmla="*/ 25 h 254"/>
                <a:gd name="T82" fmla="*/ 139 w 310"/>
                <a:gd name="T83" fmla="*/ 17 h 254"/>
                <a:gd name="T84" fmla="*/ 119 w 310"/>
                <a:gd name="T85" fmla="*/ 19 h 254"/>
                <a:gd name="T86" fmla="*/ 67 w 310"/>
                <a:gd name="T87" fmla="*/ 9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7" name="Freeform 15"/>
            <p:cNvSpPr>
              <a:spLocks/>
            </p:cNvSpPr>
            <p:nvPr/>
          </p:nvSpPr>
          <p:spPr bwMode="ltGray">
            <a:xfrm>
              <a:off x="1709" y="1987"/>
              <a:ext cx="44" cy="37"/>
            </a:xfrm>
            <a:custGeom>
              <a:avLst/>
              <a:gdLst>
                <a:gd name="T0" fmla="*/ 26 w 59"/>
                <a:gd name="T1" fmla="*/ 0 h 50"/>
                <a:gd name="T2" fmla="*/ 0 w 59"/>
                <a:gd name="T3" fmla="*/ 10 h 50"/>
                <a:gd name="T4" fmla="*/ 30 w 59"/>
                <a:gd name="T5" fmla="*/ 40 h 50"/>
                <a:gd name="T6" fmla="*/ 48 w 59"/>
                <a:gd name="T7" fmla="*/ 50 h 50"/>
                <a:gd name="T8" fmla="*/ 58 w 59"/>
                <a:gd name="T9" fmla="*/ 28 h 50"/>
                <a:gd name="T10" fmla="*/ 44 w 59"/>
                <a:gd name="T11" fmla="*/ 8 h 50"/>
                <a:gd name="T12" fmla="*/ 26 w 59"/>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8" name="Freeform 16"/>
            <p:cNvSpPr>
              <a:spLocks/>
            </p:cNvSpPr>
            <p:nvPr/>
          </p:nvSpPr>
          <p:spPr bwMode="ltGray">
            <a:xfrm>
              <a:off x="1625" y="2057"/>
              <a:ext cx="65" cy="42"/>
            </a:xfrm>
            <a:custGeom>
              <a:avLst/>
              <a:gdLst>
                <a:gd name="T0" fmla="*/ 44 w 86"/>
                <a:gd name="T1" fmla="*/ 7 h 57"/>
                <a:gd name="T2" fmla="*/ 24 w 86"/>
                <a:gd name="T3" fmla="*/ 25 h 57"/>
                <a:gd name="T4" fmla="*/ 4 w 86"/>
                <a:gd name="T5" fmla="*/ 27 h 57"/>
                <a:gd name="T6" fmla="*/ 16 w 86"/>
                <a:gd name="T7" fmla="*/ 57 h 57"/>
                <a:gd name="T8" fmla="*/ 74 w 86"/>
                <a:gd name="T9" fmla="*/ 35 h 57"/>
                <a:gd name="T10" fmla="*/ 86 w 86"/>
                <a:gd name="T11" fmla="*/ 17 h 57"/>
                <a:gd name="T12" fmla="*/ 56 w 86"/>
                <a:gd name="T13" fmla="*/ 7 h 57"/>
                <a:gd name="T14" fmla="*/ 44 w 86"/>
                <a:gd name="T15" fmla="*/ 7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9" name="Freeform 17"/>
            <p:cNvSpPr>
              <a:spLocks/>
            </p:cNvSpPr>
            <p:nvPr/>
          </p:nvSpPr>
          <p:spPr bwMode="ltGray">
            <a:xfrm>
              <a:off x="1693" y="2065"/>
              <a:ext cx="54" cy="25"/>
            </a:xfrm>
            <a:custGeom>
              <a:avLst/>
              <a:gdLst>
                <a:gd name="T0" fmla="*/ 40 w 73"/>
                <a:gd name="T1" fmla="*/ 0 h 34"/>
                <a:gd name="T2" fmla="*/ 10 w 73"/>
                <a:gd name="T3" fmla="*/ 16 h 34"/>
                <a:gd name="T4" fmla="*/ 24 w 73"/>
                <a:gd name="T5" fmla="*/ 34 h 34"/>
                <a:gd name="T6" fmla="*/ 52 w 73"/>
                <a:gd name="T7" fmla="*/ 28 h 34"/>
                <a:gd name="T8" fmla="*/ 64 w 73"/>
                <a:gd name="T9" fmla="*/ 20 h 34"/>
                <a:gd name="T10" fmla="*/ 40 w 73"/>
                <a:gd name="T11" fmla="*/ 0 h 34"/>
              </a:gdLst>
              <a:ahLst/>
              <a:cxnLst>
                <a:cxn ang="0">
                  <a:pos x="T0" y="T1"/>
                </a:cxn>
                <a:cxn ang="0">
                  <a:pos x="T2" y="T3"/>
                </a:cxn>
                <a:cxn ang="0">
                  <a:pos x="T4" y="T5"/>
                </a:cxn>
                <a:cxn ang="0">
                  <a:pos x="T6" y="T7"/>
                </a:cxn>
                <a:cxn ang="0">
                  <a:pos x="T8" y="T9"/>
                </a:cxn>
                <a:cxn ang="0">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0" name="Freeform 18"/>
            <p:cNvSpPr>
              <a:spLocks/>
            </p:cNvSpPr>
            <p:nvPr/>
          </p:nvSpPr>
          <p:spPr bwMode="ltGray">
            <a:xfrm>
              <a:off x="1664" y="2029"/>
              <a:ext cx="64" cy="34"/>
            </a:xfrm>
            <a:custGeom>
              <a:avLst/>
              <a:gdLst>
                <a:gd name="T0" fmla="*/ 58 w 85"/>
                <a:gd name="T1" fmla="*/ 10 h 45"/>
                <a:gd name="T2" fmla="*/ 28 w 85"/>
                <a:gd name="T3" fmla="*/ 4 h 45"/>
                <a:gd name="T4" fmla="*/ 0 w 85"/>
                <a:gd name="T5" fmla="*/ 18 h 45"/>
                <a:gd name="T6" fmla="*/ 40 w 85"/>
                <a:gd name="T7" fmla="*/ 32 h 45"/>
                <a:gd name="T8" fmla="*/ 64 w 85"/>
                <a:gd name="T9" fmla="*/ 40 h 45"/>
                <a:gd name="T10" fmla="*/ 84 w 85"/>
                <a:gd name="T11" fmla="*/ 18 h 45"/>
                <a:gd name="T12" fmla="*/ 82 w 85"/>
                <a:gd name="T13" fmla="*/ 6 h 45"/>
                <a:gd name="T14" fmla="*/ 64 w 85"/>
                <a:gd name="T15" fmla="*/ 0 h 45"/>
                <a:gd name="T16" fmla="*/ 58 w 85"/>
                <a:gd name="T17" fmla="*/ 1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1" name="Freeform 19"/>
            <p:cNvSpPr>
              <a:spLocks/>
            </p:cNvSpPr>
            <p:nvPr/>
          </p:nvSpPr>
          <p:spPr bwMode="ltGray">
            <a:xfrm>
              <a:off x="1637" y="1997"/>
              <a:ext cx="44" cy="24"/>
            </a:xfrm>
            <a:custGeom>
              <a:avLst/>
              <a:gdLst>
                <a:gd name="T0" fmla="*/ 16 w 58"/>
                <a:gd name="T1" fmla="*/ 4 h 31"/>
                <a:gd name="T2" fmla="*/ 0 w 58"/>
                <a:gd name="T3" fmla="*/ 18 h 31"/>
                <a:gd name="T4" fmla="*/ 20 w 58"/>
                <a:gd name="T5" fmla="*/ 28 h 31"/>
                <a:gd name="T6" fmla="*/ 28 w 58"/>
                <a:gd name="T7" fmla="*/ 20 h 31"/>
                <a:gd name="T8" fmla="*/ 52 w 58"/>
                <a:gd name="T9" fmla="*/ 12 h 31"/>
                <a:gd name="T10" fmla="*/ 44 w 58"/>
                <a:gd name="T11" fmla="*/ 0 h 31"/>
                <a:gd name="T12" fmla="*/ 16 w 58"/>
                <a:gd name="T13" fmla="*/ 4 h 31"/>
              </a:gdLst>
              <a:ahLst/>
              <a:cxnLst>
                <a:cxn ang="0">
                  <a:pos x="T0" y="T1"/>
                </a:cxn>
                <a:cxn ang="0">
                  <a:pos x="T2" y="T3"/>
                </a:cxn>
                <a:cxn ang="0">
                  <a:pos x="T4" y="T5"/>
                </a:cxn>
                <a:cxn ang="0">
                  <a:pos x="T6" y="T7"/>
                </a:cxn>
                <a:cxn ang="0">
                  <a:pos x="T8" y="T9"/>
                </a:cxn>
                <a:cxn ang="0">
                  <a:pos x="T10" y="T11"/>
                </a:cxn>
                <a:cxn ang="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2" name="Freeform 20"/>
            <p:cNvSpPr>
              <a:spLocks/>
            </p:cNvSpPr>
            <p:nvPr/>
          </p:nvSpPr>
          <p:spPr bwMode="ltGray">
            <a:xfrm>
              <a:off x="1751" y="2000"/>
              <a:ext cx="114" cy="77"/>
            </a:xfrm>
            <a:custGeom>
              <a:avLst/>
              <a:gdLst>
                <a:gd name="T0" fmla="*/ 38 w 152"/>
                <a:gd name="T1" fmla="*/ 0 h 102"/>
                <a:gd name="T2" fmla="*/ 14 w 152"/>
                <a:gd name="T3" fmla="*/ 6 h 102"/>
                <a:gd name="T4" fmla="*/ 4 w 152"/>
                <a:gd name="T5" fmla="*/ 38 h 102"/>
                <a:gd name="T6" fmla="*/ 12 w 152"/>
                <a:gd name="T7" fmla="*/ 56 h 102"/>
                <a:gd name="T8" fmla="*/ 0 w 152"/>
                <a:gd name="T9" fmla="*/ 72 h 102"/>
                <a:gd name="T10" fmla="*/ 56 w 152"/>
                <a:gd name="T11" fmla="*/ 86 h 102"/>
                <a:gd name="T12" fmla="*/ 82 w 152"/>
                <a:gd name="T13" fmla="*/ 92 h 102"/>
                <a:gd name="T14" fmla="*/ 152 w 152"/>
                <a:gd name="T15" fmla="*/ 86 h 102"/>
                <a:gd name="T16" fmla="*/ 76 w 152"/>
                <a:gd name="T17" fmla="*/ 70 h 102"/>
                <a:gd name="T18" fmla="*/ 54 w 152"/>
                <a:gd name="T19" fmla="*/ 62 h 102"/>
                <a:gd name="T20" fmla="*/ 44 w 152"/>
                <a:gd name="T21" fmla="*/ 52 h 102"/>
                <a:gd name="T22" fmla="*/ 50 w 152"/>
                <a:gd name="T23" fmla="*/ 34 h 102"/>
                <a:gd name="T24" fmla="*/ 38 w 152"/>
                <a:gd name="T25"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3" name="Freeform 21"/>
            <p:cNvSpPr>
              <a:spLocks/>
            </p:cNvSpPr>
            <p:nvPr/>
          </p:nvSpPr>
          <p:spPr bwMode="ltGray">
            <a:xfrm>
              <a:off x="664" y="2245"/>
              <a:ext cx="25" cy="15"/>
            </a:xfrm>
            <a:custGeom>
              <a:avLst/>
              <a:gdLst>
                <a:gd name="T0" fmla="*/ 34 w 34"/>
                <a:gd name="T1" fmla="*/ 0 h 20"/>
                <a:gd name="T2" fmla="*/ 24 w 34"/>
                <a:gd name="T3" fmla="*/ 20 h 20"/>
                <a:gd name="T4" fmla="*/ 4 w 34"/>
                <a:gd name="T5" fmla="*/ 18 h 20"/>
                <a:gd name="T6" fmla="*/ 4 w 34"/>
                <a:gd name="T7" fmla="*/ 6 h 20"/>
                <a:gd name="T8" fmla="*/ 34 w 34"/>
                <a:gd name="T9" fmla="*/ 0 h 20"/>
              </a:gdLst>
              <a:ahLst/>
              <a:cxnLst>
                <a:cxn ang="0">
                  <a:pos x="T0" y="T1"/>
                </a:cxn>
                <a:cxn ang="0">
                  <a:pos x="T2" y="T3"/>
                </a:cxn>
                <a:cxn ang="0">
                  <a:pos x="T4" y="T5"/>
                </a:cxn>
                <a:cxn ang="0">
                  <a:pos x="T6" y="T7"/>
                </a:cxn>
                <a:cxn ang="0">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4" name="Freeform 22"/>
            <p:cNvSpPr>
              <a:spLocks/>
            </p:cNvSpPr>
            <p:nvPr/>
          </p:nvSpPr>
          <p:spPr bwMode="ltGray">
            <a:xfrm>
              <a:off x="1421" y="2756"/>
              <a:ext cx="16" cy="12"/>
            </a:xfrm>
            <a:custGeom>
              <a:avLst/>
              <a:gdLst>
                <a:gd name="T0" fmla="*/ 3 w 21"/>
                <a:gd name="T1" fmla="*/ 0 h 16"/>
                <a:gd name="T2" fmla="*/ 13 w 21"/>
                <a:gd name="T3" fmla="*/ 16 h 16"/>
                <a:gd name="T4" fmla="*/ 3 w 21"/>
                <a:gd name="T5" fmla="*/ 0 h 16"/>
              </a:gdLst>
              <a:ahLst/>
              <a:cxnLst>
                <a:cxn ang="0">
                  <a:pos x="T0" y="T1"/>
                </a:cxn>
                <a:cxn ang="0">
                  <a:pos x="T2" y="T3"/>
                </a:cxn>
                <a:cxn ang="0">
                  <a:pos x="T4" y="T5"/>
                </a:cxn>
              </a:cxnLst>
              <a:rect l="0" t="0" r="r" b="b"/>
              <a:pathLst>
                <a:path w="21" h="16">
                  <a:moveTo>
                    <a:pt x="3" y="0"/>
                  </a:moveTo>
                  <a:cubicBezTo>
                    <a:pt x="0" y="9"/>
                    <a:pt x="6" y="11"/>
                    <a:pt x="13" y="16"/>
                  </a:cubicBezTo>
                  <a:cubicBezTo>
                    <a:pt x="21" y="4"/>
                    <a:pt x="16" y="2"/>
                    <a:pt x="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5" name="Freeform 23"/>
            <p:cNvSpPr>
              <a:spLocks/>
            </p:cNvSpPr>
            <p:nvPr/>
          </p:nvSpPr>
          <p:spPr bwMode="ltGray">
            <a:xfrm>
              <a:off x="1424" y="2781"/>
              <a:ext cx="16" cy="12"/>
            </a:xfrm>
            <a:custGeom>
              <a:avLst/>
              <a:gdLst>
                <a:gd name="T0" fmla="*/ 3 w 21"/>
                <a:gd name="T1" fmla="*/ 0 h 16"/>
                <a:gd name="T2" fmla="*/ 13 w 21"/>
                <a:gd name="T3" fmla="*/ 16 h 16"/>
                <a:gd name="T4" fmla="*/ 3 w 21"/>
                <a:gd name="T5" fmla="*/ 0 h 16"/>
              </a:gdLst>
              <a:ahLst/>
              <a:cxnLst>
                <a:cxn ang="0">
                  <a:pos x="T0" y="T1"/>
                </a:cxn>
                <a:cxn ang="0">
                  <a:pos x="T2" y="T3"/>
                </a:cxn>
                <a:cxn ang="0">
                  <a:pos x="T4" y="T5"/>
                </a:cxn>
              </a:cxnLst>
              <a:rect l="0" t="0" r="r" b="b"/>
              <a:pathLst>
                <a:path w="21" h="16">
                  <a:moveTo>
                    <a:pt x="3" y="0"/>
                  </a:moveTo>
                  <a:cubicBezTo>
                    <a:pt x="0" y="9"/>
                    <a:pt x="6" y="11"/>
                    <a:pt x="13" y="16"/>
                  </a:cubicBezTo>
                  <a:cubicBezTo>
                    <a:pt x="21" y="4"/>
                    <a:pt x="16" y="2"/>
                    <a:pt x="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6" name="Freeform 24"/>
            <p:cNvSpPr>
              <a:spLocks/>
            </p:cNvSpPr>
            <p:nvPr/>
          </p:nvSpPr>
          <p:spPr bwMode="ltGray">
            <a:xfrm>
              <a:off x="1628" y="2913"/>
              <a:ext cx="15" cy="12"/>
            </a:xfrm>
            <a:custGeom>
              <a:avLst/>
              <a:gdLst>
                <a:gd name="T0" fmla="*/ 3 w 21"/>
                <a:gd name="T1" fmla="*/ 0 h 16"/>
                <a:gd name="T2" fmla="*/ 13 w 21"/>
                <a:gd name="T3" fmla="*/ 16 h 16"/>
                <a:gd name="T4" fmla="*/ 3 w 21"/>
                <a:gd name="T5" fmla="*/ 0 h 16"/>
              </a:gdLst>
              <a:ahLst/>
              <a:cxnLst>
                <a:cxn ang="0">
                  <a:pos x="T0" y="T1"/>
                </a:cxn>
                <a:cxn ang="0">
                  <a:pos x="T2" y="T3"/>
                </a:cxn>
                <a:cxn ang="0">
                  <a:pos x="T4" y="T5"/>
                </a:cxn>
              </a:cxnLst>
              <a:rect l="0" t="0" r="r" b="b"/>
              <a:pathLst>
                <a:path w="21" h="16">
                  <a:moveTo>
                    <a:pt x="3" y="0"/>
                  </a:moveTo>
                  <a:cubicBezTo>
                    <a:pt x="0" y="9"/>
                    <a:pt x="6" y="11"/>
                    <a:pt x="13" y="16"/>
                  </a:cubicBezTo>
                  <a:cubicBezTo>
                    <a:pt x="21" y="4"/>
                    <a:pt x="16" y="2"/>
                    <a:pt x="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7" name="Freeform 25"/>
            <p:cNvSpPr>
              <a:spLocks/>
            </p:cNvSpPr>
            <p:nvPr/>
          </p:nvSpPr>
          <p:spPr bwMode="ltGray">
            <a:xfrm>
              <a:off x="1752" y="2429"/>
              <a:ext cx="38" cy="18"/>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8" name="Freeform 26"/>
            <p:cNvSpPr>
              <a:spLocks/>
            </p:cNvSpPr>
            <p:nvPr/>
          </p:nvSpPr>
          <p:spPr bwMode="ltGray">
            <a:xfrm>
              <a:off x="1652" y="2224"/>
              <a:ext cx="38" cy="18"/>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9" name="Freeform 27"/>
            <p:cNvSpPr>
              <a:spLocks/>
            </p:cNvSpPr>
            <p:nvPr/>
          </p:nvSpPr>
          <p:spPr bwMode="ltGray">
            <a:xfrm>
              <a:off x="1717" y="2045"/>
              <a:ext cx="39" cy="18"/>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0" name="Freeform 28"/>
            <p:cNvSpPr>
              <a:spLocks/>
            </p:cNvSpPr>
            <p:nvPr/>
          </p:nvSpPr>
          <p:spPr bwMode="ltGray">
            <a:xfrm>
              <a:off x="1780" y="2153"/>
              <a:ext cx="38" cy="18"/>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1" name="Freeform 29"/>
            <p:cNvSpPr>
              <a:spLocks/>
            </p:cNvSpPr>
            <p:nvPr/>
          </p:nvSpPr>
          <p:spPr bwMode="ltGray">
            <a:xfrm>
              <a:off x="1796" y="1951"/>
              <a:ext cx="696" cy="346"/>
            </a:xfrm>
            <a:custGeom>
              <a:avLst/>
              <a:gdLst>
                <a:gd name="T0" fmla="*/ 28 w 929"/>
                <a:gd name="T1" fmla="*/ 56 h 462"/>
                <a:gd name="T2" fmla="*/ 6 w 929"/>
                <a:gd name="T3" fmla="*/ 92 h 462"/>
                <a:gd name="T4" fmla="*/ 36 w 929"/>
                <a:gd name="T5" fmla="*/ 100 h 462"/>
                <a:gd name="T6" fmla="*/ 16 w 929"/>
                <a:gd name="T7" fmla="*/ 116 h 462"/>
                <a:gd name="T8" fmla="*/ 104 w 929"/>
                <a:gd name="T9" fmla="*/ 136 h 462"/>
                <a:gd name="T10" fmla="*/ 142 w 929"/>
                <a:gd name="T11" fmla="*/ 130 h 462"/>
                <a:gd name="T12" fmla="*/ 250 w 929"/>
                <a:gd name="T13" fmla="*/ 78 h 462"/>
                <a:gd name="T14" fmla="*/ 300 w 929"/>
                <a:gd name="T15" fmla="*/ 66 h 462"/>
                <a:gd name="T16" fmla="*/ 324 w 929"/>
                <a:gd name="T17" fmla="*/ 80 h 462"/>
                <a:gd name="T18" fmla="*/ 272 w 929"/>
                <a:gd name="T19" fmla="*/ 88 h 462"/>
                <a:gd name="T20" fmla="*/ 242 w 929"/>
                <a:gd name="T21" fmla="*/ 112 h 462"/>
                <a:gd name="T22" fmla="*/ 254 w 929"/>
                <a:gd name="T23" fmla="*/ 120 h 462"/>
                <a:gd name="T24" fmla="*/ 260 w 929"/>
                <a:gd name="T25" fmla="*/ 158 h 462"/>
                <a:gd name="T26" fmla="*/ 350 w 929"/>
                <a:gd name="T27" fmla="*/ 192 h 462"/>
                <a:gd name="T28" fmla="*/ 336 w 929"/>
                <a:gd name="T29" fmla="*/ 210 h 462"/>
                <a:gd name="T30" fmla="*/ 368 w 929"/>
                <a:gd name="T31" fmla="*/ 246 h 462"/>
                <a:gd name="T32" fmla="*/ 348 w 929"/>
                <a:gd name="T33" fmla="*/ 266 h 462"/>
                <a:gd name="T34" fmla="*/ 324 w 929"/>
                <a:gd name="T35" fmla="*/ 294 h 462"/>
                <a:gd name="T36" fmla="*/ 294 w 929"/>
                <a:gd name="T37" fmla="*/ 324 h 462"/>
                <a:gd name="T38" fmla="*/ 292 w 929"/>
                <a:gd name="T39" fmla="*/ 420 h 462"/>
                <a:gd name="T40" fmla="*/ 332 w 929"/>
                <a:gd name="T41" fmla="*/ 446 h 462"/>
                <a:gd name="T42" fmla="*/ 388 w 929"/>
                <a:gd name="T43" fmla="*/ 448 h 462"/>
                <a:gd name="T44" fmla="*/ 412 w 929"/>
                <a:gd name="T45" fmla="*/ 422 h 462"/>
                <a:gd name="T46" fmla="*/ 506 w 929"/>
                <a:gd name="T47" fmla="*/ 356 h 462"/>
                <a:gd name="T48" fmla="*/ 572 w 929"/>
                <a:gd name="T49" fmla="*/ 334 h 462"/>
                <a:gd name="T50" fmla="*/ 646 w 929"/>
                <a:gd name="T51" fmla="*/ 308 h 462"/>
                <a:gd name="T52" fmla="*/ 720 w 929"/>
                <a:gd name="T53" fmla="*/ 290 h 462"/>
                <a:gd name="T54" fmla="*/ 762 w 929"/>
                <a:gd name="T55" fmla="*/ 260 h 462"/>
                <a:gd name="T56" fmla="*/ 800 w 929"/>
                <a:gd name="T57" fmla="*/ 200 h 462"/>
                <a:gd name="T58" fmla="*/ 802 w 929"/>
                <a:gd name="T59" fmla="*/ 154 h 462"/>
                <a:gd name="T60" fmla="*/ 802 w 929"/>
                <a:gd name="T61" fmla="*/ 124 h 462"/>
                <a:gd name="T62" fmla="*/ 832 w 929"/>
                <a:gd name="T63" fmla="*/ 90 h 462"/>
                <a:gd name="T64" fmla="*/ 876 w 929"/>
                <a:gd name="T65" fmla="*/ 94 h 462"/>
                <a:gd name="T66" fmla="*/ 922 w 929"/>
                <a:gd name="T67" fmla="*/ 52 h 462"/>
                <a:gd name="T68" fmla="*/ 888 w 929"/>
                <a:gd name="T69" fmla="*/ 56 h 462"/>
                <a:gd name="T70" fmla="*/ 848 w 929"/>
                <a:gd name="T71" fmla="*/ 46 h 462"/>
                <a:gd name="T72" fmla="*/ 794 w 929"/>
                <a:gd name="T73" fmla="*/ 22 h 462"/>
                <a:gd name="T74" fmla="*/ 642 w 929"/>
                <a:gd name="T75" fmla="*/ 26 h 462"/>
                <a:gd name="T76" fmla="*/ 584 w 929"/>
                <a:gd name="T77" fmla="*/ 38 h 462"/>
                <a:gd name="T78" fmla="*/ 556 w 929"/>
                <a:gd name="T79" fmla="*/ 38 h 462"/>
                <a:gd name="T80" fmla="*/ 516 w 929"/>
                <a:gd name="T81" fmla="*/ 54 h 462"/>
                <a:gd name="T82" fmla="*/ 478 w 929"/>
                <a:gd name="T83" fmla="*/ 30 h 462"/>
                <a:gd name="T84" fmla="*/ 432 w 929"/>
                <a:gd name="T85" fmla="*/ 40 h 462"/>
                <a:gd name="T86" fmla="*/ 366 w 929"/>
                <a:gd name="T87" fmla="*/ 52 h 462"/>
                <a:gd name="T88" fmla="*/ 410 w 929"/>
                <a:gd name="T89" fmla="*/ 38 h 462"/>
                <a:gd name="T90" fmla="*/ 352 w 929"/>
                <a:gd name="T91" fmla="*/ 8 h 462"/>
                <a:gd name="T92" fmla="*/ 334 w 929"/>
                <a:gd name="T93" fmla="*/ 2 h 462"/>
                <a:gd name="T94" fmla="*/ 314 w 929"/>
                <a:gd name="T95" fmla="*/ 8 h 462"/>
                <a:gd name="T96" fmla="*/ 240 w 929"/>
                <a:gd name="T97" fmla="*/ 16 h 462"/>
                <a:gd name="T98" fmla="*/ 160 w 929"/>
                <a:gd name="T99" fmla="*/ 28 h 462"/>
                <a:gd name="T100" fmla="*/ 108 w 929"/>
                <a:gd name="T101" fmla="*/ 26 h 462"/>
                <a:gd name="T102" fmla="*/ 114 w 929"/>
                <a:gd name="T103" fmla="*/ 68 h 462"/>
                <a:gd name="T104" fmla="*/ 104 w 929"/>
                <a:gd name="T105" fmla="*/ 52 h 462"/>
                <a:gd name="T106" fmla="*/ 60 w 929"/>
                <a:gd name="T107" fmla="*/ 42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2" name="Freeform 30"/>
            <p:cNvSpPr>
              <a:spLocks/>
            </p:cNvSpPr>
            <p:nvPr/>
          </p:nvSpPr>
          <p:spPr bwMode="ltGray">
            <a:xfrm>
              <a:off x="2009" y="2135"/>
              <a:ext cx="39" cy="24"/>
            </a:xfrm>
            <a:custGeom>
              <a:avLst/>
              <a:gdLst>
                <a:gd name="T0" fmla="*/ 34 w 52"/>
                <a:gd name="T1" fmla="*/ 0 h 32"/>
                <a:gd name="T2" fmla="*/ 8 w 52"/>
                <a:gd name="T3" fmla="*/ 20 h 32"/>
                <a:gd name="T4" fmla="*/ 24 w 52"/>
                <a:gd name="T5" fmla="*/ 32 h 32"/>
                <a:gd name="T6" fmla="*/ 42 w 52"/>
                <a:gd name="T7" fmla="*/ 30 h 32"/>
                <a:gd name="T8" fmla="*/ 34 w 52"/>
                <a:gd name="T9" fmla="*/ 0 h 32"/>
              </a:gdLst>
              <a:ahLst/>
              <a:cxnLst>
                <a:cxn ang="0">
                  <a:pos x="T0" y="T1"/>
                </a:cxn>
                <a:cxn ang="0">
                  <a:pos x="T2" y="T3"/>
                </a:cxn>
                <a:cxn ang="0">
                  <a:pos x="T4" y="T5"/>
                </a:cxn>
                <a:cxn ang="0">
                  <a:pos x="T6" y="T7"/>
                </a:cxn>
                <a:cxn ang="0">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3" name="Freeform 31"/>
            <p:cNvSpPr>
              <a:spLocks/>
            </p:cNvSpPr>
            <p:nvPr/>
          </p:nvSpPr>
          <p:spPr bwMode="ltGray">
            <a:xfrm>
              <a:off x="2292" y="2201"/>
              <a:ext cx="128" cy="54"/>
            </a:xfrm>
            <a:custGeom>
              <a:avLst/>
              <a:gdLst>
                <a:gd name="T0" fmla="*/ 102 w 172"/>
                <a:gd name="T1" fmla="*/ 8 h 72"/>
                <a:gd name="T2" fmla="*/ 66 w 172"/>
                <a:gd name="T3" fmla="*/ 4 h 72"/>
                <a:gd name="T4" fmla="*/ 54 w 172"/>
                <a:gd name="T5" fmla="*/ 0 h 72"/>
                <a:gd name="T6" fmla="*/ 0 w 172"/>
                <a:gd name="T7" fmla="*/ 28 h 72"/>
                <a:gd name="T8" fmla="*/ 28 w 172"/>
                <a:gd name="T9" fmla="*/ 40 h 72"/>
                <a:gd name="T10" fmla="*/ 42 w 172"/>
                <a:gd name="T11" fmla="*/ 60 h 72"/>
                <a:gd name="T12" fmla="*/ 66 w 172"/>
                <a:gd name="T13" fmla="*/ 68 h 72"/>
                <a:gd name="T14" fmla="*/ 78 w 172"/>
                <a:gd name="T15" fmla="*/ 72 h 72"/>
                <a:gd name="T16" fmla="*/ 130 w 172"/>
                <a:gd name="T17" fmla="*/ 60 h 72"/>
                <a:gd name="T18" fmla="*/ 172 w 172"/>
                <a:gd name="T19" fmla="*/ 44 h 72"/>
                <a:gd name="T20" fmla="*/ 148 w 172"/>
                <a:gd name="T21" fmla="*/ 18 h 72"/>
                <a:gd name="T22" fmla="*/ 136 w 172"/>
                <a:gd name="T23" fmla="*/ 4 h 72"/>
                <a:gd name="T24" fmla="*/ 102 w 172"/>
                <a:gd name="T25" fmla="*/ 8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4" name="Freeform 32"/>
            <p:cNvSpPr>
              <a:spLocks/>
            </p:cNvSpPr>
            <p:nvPr/>
          </p:nvSpPr>
          <p:spPr bwMode="ltGray">
            <a:xfrm>
              <a:off x="2393" y="2038"/>
              <a:ext cx="39" cy="24"/>
            </a:xfrm>
            <a:custGeom>
              <a:avLst/>
              <a:gdLst>
                <a:gd name="T0" fmla="*/ 34 w 52"/>
                <a:gd name="T1" fmla="*/ 0 h 32"/>
                <a:gd name="T2" fmla="*/ 8 w 52"/>
                <a:gd name="T3" fmla="*/ 20 h 32"/>
                <a:gd name="T4" fmla="*/ 24 w 52"/>
                <a:gd name="T5" fmla="*/ 32 h 32"/>
                <a:gd name="T6" fmla="*/ 42 w 52"/>
                <a:gd name="T7" fmla="*/ 30 h 32"/>
                <a:gd name="T8" fmla="*/ 34 w 52"/>
                <a:gd name="T9" fmla="*/ 0 h 32"/>
              </a:gdLst>
              <a:ahLst/>
              <a:cxnLst>
                <a:cxn ang="0">
                  <a:pos x="T0" y="T1"/>
                </a:cxn>
                <a:cxn ang="0">
                  <a:pos x="T2" y="T3"/>
                </a:cxn>
                <a:cxn ang="0">
                  <a:pos x="T4" y="T5"/>
                </a:cxn>
                <a:cxn ang="0">
                  <a:pos x="T6" y="T7"/>
                </a:cxn>
                <a:cxn ang="0">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5" name="Freeform 33"/>
            <p:cNvSpPr>
              <a:spLocks/>
            </p:cNvSpPr>
            <p:nvPr/>
          </p:nvSpPr>
          <p:spPr bwMode="ltGray">
            <a:xfrm>
              <a:off x="2662" y="2006"/>
              <a:ext cx="155" cy="63"/>
            </a:xfrm>
            <a:custGeom>
              <a:avLst/>
              <a:gdLst>
                <a:gd name="T0" fmla="*/ 191 w 206"/>
                <a:gd name="T1" fmla="*/ 7 h 85"/>
                <a:gd name="T2" fmla="*/ 103 w 206"/>
                <a:gd name="T3" fmla="*/ 9 h 85"/>
                <a:gd name="T4" fmla="*/ 109 w 206"/>
                <a:gd name="T5" fmla="*/ 25 h 85"/>
                <a:gd name="T6" fmla="*/ 107 w 206"/>
                <a:gd name="T7" fmla="*/ 33 h 85"/>
                <a:gd name="T8" fmla="*/ 89 w 206"/>
                <a:gd name="T9" fmla="*/ 27 h 85"/>
                <a:gd name="T10" fmla="*/ 77 w 206"/>
                <a:gd name="T11" fmla="*/ 19 h 85"/>
                <a:gd name="T12" fmla="*/ 23 w 206"/>
                <a:gd name="T13" fmla="*/ 27 h 85"/>
                <a:gd name="T14" fmla="*/ 31 w 206"/>
                <a:gd name="T15" fmla="*/ 49 h 85"/>
                <a:gd name="T16" fmla="*/ 55 w 206"/>
                <a:gd name="T17" fmla="*/ 53 h 85"/>
                <a:gd name="T18" fmla="*/ 75 w 206"/>
                <a:gd name="T19" fmla="*/ 73 h 85"/>
                <a:gd name="T20" fmla="*/ 89 w 206"/>
                <a:gd name="T21" fmla="*/ 85 h 85"/>
                <a:gd name="T22" fmla="*/ 109 w 206"/>
                <a:gd name="T23" fmla="*/ 67 h 85"/>
                <a:gd name="T24" fmla="*/ 121 w 206"/>
                <a:gd name="T25" fmla="*/ 59 h 85"/>
                <a:gd name="T26" fmla="*/ 127 w 206"/>
                <a:gd name="T27" fmla="*/ 47 h 85"/>
                <a:gd name="T28" fmla="*/ 167 w 206"/>
                <a:gd name="T29" fmla="*/ 35 h 85"/>
                <a:gd name="T30" fmla="*/ 187 w 206"/>
                <a:gd name="T31" fmla="*/ 31 h 85"/>
                <a:gd name="T32" fmla="*/ 199 w 206"/>
                <a:gd name="T33" fmla="*/ 27 h 85"/>
                <a:gd name="T34" fmla="*/ 191 w 206"/>
                <a:gd name="T35" fmla="*/ 7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6" name="Freeform 34"/>
            <p:cNvSpPr>
              <a:spLocks/>
            </p:cNvSpPr>
            <p:nvPr/>
          </p:nvSpPr>
          <p:spPr bwMode="ltGray">
            <a:xfrm>
              <a:off x="2759" y="2039"/>
              <a:ext cx="48" cy="21"/>
            </a:xfrm>
            <a:custGeom>
              <a:avLst/>
              <a:gdLst>
                <a:gd name="T0" fmla="*/ 36 w 64"/>
                <a:gd name="T1" fmla="*/ 6 h 28"/>
                <a:gd name="T2" fmla="*/ 8 w 64"/>
                <a:gd name="T3" fmla="*/ 4 h 28"/>
                <a:gd name="T4" fmla="*/ 24 w 64"/>
                <a:gd name="T5" fmla="*/ 28 h 28"/>
                <a:gd name="T6" fmla="*/ 54 w 64"/>
                <a:gd name="T7" fmla="*/ 14 h 28"/>
                <a:gd name="T8" fmla="*/ 36 w 64"/>
                <a:gd name="T9" fmla="*/ 6 h 28"/>
              </a:gdLst>
              <a:ahLst/>
              <a:cxnLst>
                <a:cxn ang="0">
                  <a:pos x="T0" y="T1"/>
                </a:cxn>
                <a:cxn ang="0">
                  <a:pos x="T2" y="T3"/>
                </a:cxn>
                <a:cxn ang="0">
                  <a:pos x="T4" y="T5"/>
                </a:cxn>
                <a:cxn ang="0">
                  <a:pos x="T6" y="T7"/>
                </a:cxn>
                <a:cxn ang="0">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7" name="Freeform 35"/>
            <p:cNvSpPr>
              <a:spLocks/>
            </p:cNvSpPr>
            <p:nvPr/>
          </p:nvSpPr>
          <p:spPr bwMode="ltGray">
            <a:xfrm>
              <a:off x="2467" y="2311"/>
              <a:ext cx="109" cy="132"/>
            </a:xfrm>
            <a:custGeom>
              <a:avLst/>
              <a:gdLst>
                <a:gd name="T0" fmla="*/ 24 w 146"/>
                <a:gd name="T1" fmla="*/ 19 h 176"/>
                <a:gd name="T2" fmla="*/ 0 w 146"/>
                <a:gd name="T3" fmla="*/ 25 h 176"/>
                <a:gd name="T4" fmla="*/ 14 w 146"/>
                <a:gd name="T5" fmla="*/ 43 h 176"/>
                <a:gd name="T6" fmla="*/ 34 w 146"/>
                <a:gd name="T7" fmla="*/ 87 h 176"/>
                <a:gd name="T8" fmla="*/ 52 w 146"/>
                <a:gd name="T9" fmla="*/ 91 h 176"/>
                <a:gd name="T10" fmla="*/ 50 w 146"/>
                <a:gd name="T11" fmla="*/ 107 h 176"/>
                <a:gd name="T12" fmla="*/ 28 w 146"/>
                <a:gd name="T13" fmla="*/ 113 h 176"/>
                <a:gd name="T14" fmla="*/ 16 w 146"/>
                <a:gd name="T15" fmla="*/ 131 h 176"/>
                <a:gd name="T16" fmla="*/ 18 w 146"/>
                <a:gd name="T17" fmla="*/ 137 h 176"/>
                <a:gd name="T18" fmla="*/ 30 w 146"/>
                <a:gd name="T19" fmla="*/ 141 h 176"/>
                <a:gd name="T20" fmla="*/ 18 w 146"/>
                <a:gd name="T21" fmla="*/ 169 h 176"/>
                <a:gd name="T22" fmla="*/ 20 w 146"/>
                <a:gd name="T23" fmla="*/ 175 h 176"/>
                <a:gd name="T24" fmla="*/ 34 w 146"/>
                <a:gd name="T25" fmla="*/ 171 h 176"/>
                <a:gd name="T26" fmla="*/ 58 w 146"/>
                <a:gd name="T27" fmla="*/ 169 h 176"/>
                <a:gd name="T28" fmla="*/ 92 w 146"/>
                <a:gd name="T29" fmla="*/ 171 h 176"/>
                <a:gd name="T30" fmla="*/ 110 w 146"/>
                <a:gd name="T31" fmla="*/ 169 h 176"/>
                <a:gd name="T32" fmla="*/ 122 w 146"/>
                <a:gd name="T33" fmla="*/ 165 h 176"/>
                <a:gd name="T34" fmla="*/ 128 w 146"/>
                <a:gd name="T35" fmla="*/ 141 h 176"/>
                <a:gd name="T36" fmla="*/ 146 w 146"/>
                <a:gd name="T37" fmla="*/ 133 h 176"/>
                <a:gd name="T38" fmla="*/ 110 w 146"/>
                <a:gd name="T39" fmla="*/ 109 h 176"/>
                <a:gd name="T40" fmla="*/ 88 w 146"/>
                <a:gd name="T41" fmla="*/ 83 h 176"/>
                <a:gd name="T42" fmla="*/ 82 w 146"/>
                <a:gd name="T43" fmla="*/ 69 h 176"/>
                <a:gd name="T44" fmla="*/ 64 w 146"/>
                <a:gd name="T45" fmla="*/ 61 h 176"/>
                <a:gd name="T46" fmla="*/ 86 w 146"/>
                <a:gd name="T47" fmla="*/ 45 h 176"/>
                <a:gd name="T48" fmla="*/ 64 w 146"/>
                <a:gd name="T49" fmla="*/ 31 h 176"/>
                <a:gd name="T50" fmla="*/ 70 w 146"/>
                <a:gd name="T51" fmla="*/ 13 h 176"/>
                <a:gd name="T52" fmla="*/ 46 w 146"/>
                <a:gd name="T53" fmla="*/ 1 h 176"/>
                <a:gd name="T54" fmla="*/ 30 w 146"/>
                <a:gd name="T55" fmla="*/ 9 h 176"/>
                <a:gd name="T56" fmla="*/ 24 w 146"/>
                <a:gd name="T57" fmla="*/ 1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8" name="Freeform 36"/>
            <p:cNvSpPr>
              <a:spLocks/>
            </p:cNvSpPr>
            <p:nvPr/>
          </p:nvSpPr>
          <p:spPr bwMode="ltGray">
            <a:xfrm>
              <a:off x="2413" y="2359"/>
              <a:ext cx="69" cy="68"/>
            </a:xfrm>
            <a:custGeom>
              <a:avLst/>
              <a:gdLst>
                <a:gd name="T0" fmla="*/ 58 w 92"/>
                <a:gd name="T1" fmla="*/ 6 h 92"/>
                <a:gd name="T2" fmla="*/ 82 w 92"/>
                <a:gd name="T3" fmla="*/ 8 h 92"/>
                <a:gd name="T4" fmla="*/ 92 w 92"/>
                <a:gd name="T5" fmla="*/ 26 h 92"/>
                <a:gd name="T6" fmla="*/ 78 w 92"/>
                <a:gd name="T7" fmla="*/ 48 h 92"/>
                <a:gd name="T8" fmla="*/ 46 w 92"/>
                <a:gd name="T9" fmla="*/ 76 h 92"/>
                <a:gd name="T10" fmla="*/ 18 w 92"/>
                <a:gd name="T11" fmla="*/ 92 h 92"/>
                <a:gd name="T12" fmla="*/ 8 w 92"/>
                <a:gd name="T13" fmla="*/ 72 h 92"/>
                <a:gd name="T14" fmla="*/ 20 w 92"/>
                <a:gd name="T15" fmla="*/ 64 h 92"/>
                <a:gd name="T16" fmla="*/ 14 w 92"/>
                <a:gd name="T17" fmla="*/ 46 h 92"/>
                <a:gd name="T18" fmla="*/ 40 w 92"/>
                <a:gd name="T19" fmla="*/ 28 h 92"/>
                <a:gd name="T20" fmla="*/ 58 w 92"/>
                <a:gd name="T21" fmla="*/ 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9" name="Freeform 37"/>
            <p:cNvSpPr>
              <a:spLocks/>
            </p:cNvSpPr>
            <p:nvPr/>
          </p:nvSpPr>
          <p:spPr bwMode="ltGray">
            <a:xfrm>
              <a:off x="4099" y="3502"/>
              <a:ext cx="474" cy="495"/>
            </a:xfrm>
            <a:custGeom>
              <a:avLst/>
              <a:gdLst>
                <a:gd name="T0" fmla="*/ 212 w 633"/>
                <a:gd name="T1" fmla="*/ 11 h 660"/>
                <a:gd name="T2" fmla="*/ 176 w 633"/>
                <a:gd name="T3" fmla="*/ 19 h 660"/>
                <a:gd name="T4" fmla="*/ 144 w 633"/>
                <a:gd name="T5" fmla="*/ 51 h 660"/>
                <a:gd name="T6" fmla="*/ 104 w 633"/>
                <a:gd name="T7" fmla="*/ 59 h 660"/>
                <a:gd name="T8" fmla="*/ 84 w 633"/>
                <a:gd name="T9" fmla="*/ 75 h 660"/>
                <a:gd name="T10" fmla="*/ 68 w 633"/>
                <a:gd name="T11" fmla="*/ 115 h 660"/>
                <a:gd name="T12" fmla="*/ 36 w 633"/>
                <a:gd name="T13" fmla="*/ 167 h 660"/>
                <a:gd name="T14" fmla="*/ 0 w 633"/>
                <a:gd name="T15" fmla="*/ 179 h 660"/>
                <a:gd name="T16" fmla="*/ 72 w 633"/>
                <a:gd name="T17" fmla="*/ 323 h 660"/>
                <a:gd name="T18" fmla="*/ 120 w 633"/>
                <a:gd name="T19" fmla="*/ 427 h 660"/>
                <a:gd name="T20" fmla="*/ 144 w 633"/>
                <a:gd name="T21" fmla="*/ 443 h 660"/>
                <a:gd name="T22" fmla="*/ 168 w 633"/>
                <a:gd name="T23" fmla="*/ 451 h 660"/>
                <a:gd name="T24" fmla="*/ 228 w 633"/>
                <a:gd name="T25" fmla="*/ 431 h 660"/>
                <a:gd name="T26" fmla="*/ 252 w 633"/>
                <a:gd name="T27" fmla="*/ 423 h 660"/>
                <a:gd name="T28" fmla="*/ 300 w 633"/>
                <a:gd name="T29" fmla="*/ 451 h 660"/>
                <a:gd name="T30" fmla="*/ 324 w 633"/>
                <a:gd name="T31" fmla="*/ 527 h 660"/>
                <a:gd name="T32" fmla="*/ 336 w 633"/>
                <a:gd name="T33" fmla="*/ 523 h 660"/>
                <a:gd name="T34" fmla="*/ 344 w 633"/>
                <a:gd name="T35" fmla="*/ 511 h 660"/>
                <a:gd name="T36" fmla="*/ 368 w 633"/>
                <a:gd name="T37" fmla="*/ 547 h 660"/>
                <a:gd name="T38" fmla="*/ 404 w 633"/>
                <a:gd name="T39" fmla="*/ 571 h 660"/>
                <a:gd name="T40" fmla="*/ 436 w 633"/>
                <a:gd name="T41" fmla="*/ 603 h 660"/>
                <a:gd name="T42" fmla="*/ 444 w 633"/>
                <a:gd name="T43" fmla="*/ 615 h 660"/>
                <a:gd name="T44" fmla="*/ 456 w 633"/>
                <a:gd name="T45" fmla="*/ 623 h 660"/>
                <a:gd name="T46" fmla="*/ 484 w 633"/>
                <a:gd name="T47" fmla="*/ 655 h 660"/>
                <a:gd name="T48" fmla="*/ 492 w 633"/>
                <a:gd name="T49" fmla="*/ 631 h 660"/>
                <a:gd name="T50" fmla="*/ 540 w 633"/>
                <a:gd name="T51" fmla="*/ 659 h 660"/>
                <a:gd name="T52" fmla="*/ 588 w 633"/>
                <a:gd name="T53" fmla="*/ 655 h 660"/>
                <a:gd name="T54" fmla="*/ 616 w 633"/>
                <a:gd name="T55" fmla="*/ 531 h 660"/>
                <a:gd name="T56" fmla="*/ 632 w 633"/>
                <a:gd name="T57" fmla="*/ 463 h 660"/>
                <a:gd name="T58" fmla="*/ 620 w 633"/>
                <a:gd name="T59" fmla="*/ 367 h 660"/>
                <a:gd name="T60" fmla="*/ 536 w 633"/>
                <a:gd name="T61" fmla="*/ 271 h 660"/>
                <a:gd name="T62" fmla="*/ 528 w 633"/>
                <a:gd name="T63" fmla="*/ 235 h 660"/>
                <a:gd name="T64" fmla="*/ 460 w 633"/>
                <a:gd name="T65" fmla="*/ 179 h 660"/>
                <a:gd name="T66" fmla="*/ 472 w 633"/>
                <a:gd name="T67" fmla="*/ 155 h 660"/>
                <a:gd name="T68" fmla="*/ 456 w 633"/>
                <a:gd name="T69" fmla="*/ 131 h 660"/>
                <a:gd name="T70" fmla="*/ 416 w 633"/>
                <a:gd name="T71" fmla="*/ 79 h 660"/>
                <a:gd name="T72" fmla="*/ 392 w 633"/>
                <a:gd name="T73" fmla="*/ 31 h 660"/>
                <a:gd name="T74" fmla="*/ 388 w 633"/>
                <a:gd name="T75" fmla="*/ 19 h 660"/>
                <a:gd name="T76" fmla="*/ 364 w 633"/>
                <a:gd name="T77" fmla="*/ 151 h 660"/>
                <a:gd name="T78" fmla="*/ 324 w 633"/>
                <a:gd name="T79" fmla="*/ 115 h 660"/>
                <a:gd name="T80" fmla="*/ 292 w 633"/>
                <a:gd name="T81" fmla="*/ 111 h 660"/>
                <a:gd name="T82" fmla="*/ 272 w 633"/>
                <a:gd name="T83" fmla="*/ 87 h 660"/>
                <a:gd name="T84" fmla="*/ 264 w 633"/>
                <a:gd name="T85" fmla="*/ 63 h 660"/>
                <a:gd name="T86" fmla="*/ 276 w 633"/>
                <a:gd name="T87" fmla="*/ 55 h 660"/>
                <a:gd name="T88" fmla="*/ 240 w 633"/>
                <a:gd name="T89" fmla="*/ 19 h 660"/>
                <a:gd name="T90" fmla="*/ 216 w 633"/>
                <a:gd name="T91" fmla="*/ 11 h 660"/>
                <a:gd name="T92" fmla="*/ 204 w 633"/>
                <a:gd name="T93" fmla="*/ 7 h 660"/>
                <a:gd name="T94" fmla="*/ 212 w 633"/>
                <a:gd name="T95" fmla="*/ 11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0" name="Freeform 38"/>
            <p:cNvSpPr>
              <a:spLocks/>
            </p:cNvSpPr>
            <p:nvPr/>
          </p:nvSpPr>
          <p:spPr bwMode="ltGray">
            <a:xfrm>
              <a:off x="4246" y="3241"/>
              <a:ext cx="319" cy="210"/>
            </a:xfrm>
            <a:custGeom>
              <a:avLst/>
              <a:gdLst>
                <a:gd name="T0" fmla="*/ 84 w 426"/>
                <a:gd name="T1" fmla="*/ 60 h 280"/>
                <a:gd name="T2" fmla="*/ 68 w 426"/>
                <a:gd name="T3" fmla="*/ 36 h 280"/>
                <a:gd name="T4" fmla="*/ 64 w 426"/>
                <a:gd name="T5" fmla="*/ 16 h 280"/>
                <a:gd name="T6" fmla="*/ 52 w 426"/>
                <a:gd name="T7" fmla="*/ 12 h 280"/>
                <a:gd name="T8" fmla="*/ 16 w 426"/>
                <a:gd name="T9" fmla="*/ 16 h 280"/>
                <a:gd name="T10" fmla="*/ 44 w 426"/>
                <a:gd name="T11" fmla="*/ 40 h 280"/>
                <a:gd name="T12" fmla="*/ 48 w 426"/>
                <a:gd name="T13" fmla="*/ 52 h 280"/>
                <a:gd name="T14" fmla="*/ 24 w 426"/>
                <a:gd name="T15" fmla="*/ 68 h 280"/>
                <a:gd name="T16" fmla="*/ 88 w 426"/>
                <a:gd name="T17" fmla="*/ 92 h 280"/>
                <a:gd name="T18" fmla="*/ 124 w 426"/>
                <a:gd name="T19" fmla="*/ 112 h 280"/>
                <a:gd name="T20" fmla="*/ 128 w 426"/>
                <a:gd name="T21" fmla="*/ 124 h 280"/>
                <a:gd name="T22" fmla="*/ 140 w 426"/>
                <a:gd name="T23" fmla="*/ 132 h 280"/>
                <a:gd name="T24" fmla="*/ 148 w 426"/>
                <a:gd name="T25" fmla="*/ 156 h 280"/>
                <a:gd name="T26" fmla="*/ 132 w 426"/>
                <a:gd name="T27" fmla="*/ 196 h 280"/>
                <a:gd name="T28" fmla="*/ 180 w 426"/>
                <a:gd name="T29" fmla="*/ 188 h 280"/>
                <a:gd name="T30" fmla="*/ 192 w 426"/>
                <a:gd name="T31" fmla="*/ 216 h 280"/>
                <a:gd name="T32" fmla="*/ 216 w 426"/>
                <a:gd name="T33" fmla="*/ 224 h 280"/>
                <a:gd name="T34" fmla="*/ 228 w 426"/>
                <a:gd name="T35" fmla="*/ 228 h 280"/>
                <a:gd name="T36" fmla="*/ 252 w 426"/>
                <a:gd name="T37" fmla="*/ 224 h 280"/>
                <a:gd name="T38" fmla="*/ 276 w 426"/>
                <a:gd name="T39" fmla="*/ 196 h 280"/>
                <a:gd name="T40" fmla="*/ 336 w 426"/>
                <a:gd name="T41" fmla="*/ 252 h 280"/>
                <a:gd name="T42" fmla="*/ 364 w 426"/>
                <a:gd name="T43" fmla="*/ 280 h 280"/>
                <a:gd name="T44" fmla="*/ 360 w 426"/>
                <a:gd name="T45" fmla="*/ 224 h 280"/>
                <a:gd name="T46" fmla="*/ 336 w 426"/>
                <a:gd name="T47" fmla="*/ 200 h 280"/>
                <a:gd name="T48" fmla="*/ 372 w 426"/>
                <a:gd name="T49" fmla="*/ 168 h 280"/>
                <a:gd name="T50" fmla="*/ 408 w 426"/>
                <a:gd name="T51" fmla="*/ 156 h 280"/>
                <a:gd name="T52" fmla="*/ 420 w 426"/>
                <a:gd name="T53" fmla="*/ 152 h 280"/>
                <a:gd name="T54" fmla="*/ 424 w 426"/>
                <a:gd name="T55" fmla="*/ 140 h 280"/>
                <a:gd name="T56" fmla="*/ 356 w 426"/>
                <a:gd name="T57" fmla="*/ 148 h 280"/>
                <a:gd name="T58" fmla="*/ 304 w 426"/>
                <a:gd name="T59" fmla="*/ 140 h 280"/>
                <a:gd name="T60" fmla="*/ 300 w 426"/>
                <a:gd name="T61" fmla="*/ 128 h 280"/>
                <a:gd name="T62" fmla="*/ 292 w 426"/>
                <a:gd name="T63" fmla="*/ 116 h 280"/>
                <a:gd name="T64" fmla="*/ 220 w 426"/>
                <a:gd name="T65" fmla="*/ 80 h 280"/>
                <a:gd name="T66" fmla="*/ 160 w 426"/>
                <a:gd name="T67" fmla="*/ 60 h 280"/>
                <a:gd name="T68" fmla="*/ 136 w 426"/>
                <a:gd name="T69" fmla="*/ 52 h 280"/>
                <a:gd name="T70" fmla="*/ 80 w 426"/>
                <a:gd name="T71" fmla="*/ 52 h 280"/>
                <a:gd name="T72" fmla="*/ 68 w 426"/>
                <a:gd name="T73" fmla="*/ 32 h 280"/>
                <a:gd name="T74" fmla="*/ 68 w 426"/>
                <a:gd name="T75"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algn="ctr" rotWithShape="0">
                      <a:srgbClr val="FFFFFF">
                        <a:alpha val="50000"/>
                      </a:srgbClr>
                    </a:outerShdw>
                  </a:effectLst>
                </a14:hiddenEffects>
              </a:ext>
            </a:extLst>
          </p:spPr>
          <p:txBody>
            <a:bodyPr/>
            <a:lstStyle/>
            <a:p>
              <a:endParaRPr lang="en-US">
                <a:solidFill>
                  <a:srgbClr val="002060"/>
                </a:solidFill>
              </a:endParaRPr>
            </a:p>
          </p:txBody>
        </p:sp>
        <p:sp>
          <p:nvSpPr>
            <p:cNvPr id="1098791" name="Freeform 39"/>
            <p:cNvSpPr>
              <a:spLocks/>
            </p:cNvSpPr>
            <p:nvPr/>
          </p:nvSpPr>
          <p:spPr bwMode="ltGray">
            <a:xfrm>
              <a:off x="4255" y="3243"/>
              <a:ext cx="311" cy="211"/>
            </a:xfrm>
            <a:custGeom>
              <a:avLst/>
              <a:gdLst>
                <a:gd name="T0" fmla="*/ 0 w 416"/>
                <a:gd name="T1" fmla="*/ 1 h 282"/>
                <a:gd name="T2" fmla="*/ 20 w 416"/>
                <a:gd name="T3" fmla="*/ 37 h 282"/>
                <a:gd name="T4" fmla="*/ 28 w 416"/>
                <a:gd name="T5" fmla="*/ 49 h 282"/>
                <a:gd name="T6" fmla="*/ 84 w 416"/>
                <a:gd name="T7" fmla="*/ 89 h 282"/>
                <a:gd name="T8" fmla="*/ 120 w 416"/>
                <a:gd name="T9" fmla="*/ 113 h 282"/>
                <a:gd name="T10" fmla="*/ 132 w 416"/>
                <a:gd name="T11" fmla="*/ 121 h 282"/>
                <a:gd name="T12" fmla="*/ 136 w 416"/>
                <a:gd name="T13" fmla="*/ 169 h 282"/>
                <a:gd name="T14" fmla="*/ 116 w 416"/>
                <a:gd name="T15" fmla="*/ 201 h 282"/>
                <a:gd name="T16" fmla="*/ 136 w 416"/>
                <a:gd name="T17" fmla="*/ 197 h 282"/>
                <a:gd name="T18" fmla="*/ 148 w 416"/>
                <a:gd name="T19" fmla="*/ 189 h 282"/>
                <a:gd name="T20" fmla="*/ 160 w 416"/>
                <a:gd name="T21" fmla="*/ 201 h 282"/>
                <a:gd name="T22" fmla="*/ 184 w 416"/>
                <a:gd name="T23" fmla="*/ 217 h 282"/>
                <a:gd name="T24" fmla="*/ 208 w 416"/>
                <a:gd name="T25" fmla="*/ 233 h 282"/>
                <a:gd name="T26" fmla="*/ 240 w 416"/>
                <a:gd name="T27" fmla="*/ 221 h 282"/>
                <a:gd name="T28" fmla="*/ 248 w 416"/>
                <a:gd name="T29" fmla="*/ 197 h 282"/>
                <a:gd name="T30" fmla="*/ 268 w 416"/>
                <a:gd name="T31" fmla="*/ 201 h 282"/>
                <a:gd name="T32" fmla="*/ 292 w 416"/>
                <a:gd name="T33" fmla="*/ 209 h 282"/>
                <a:gd name="T34" fmla="*/ 340 w 416"/>
                <a:gd name="T35" fmla="*/ 281 h 282"/>
                <a:gd name="T36" fmla="*/ 356 w 416"/>
                <a:gd name="T37" fmla="*/ 277 h 282"/>
                <a:gd name="T38" fmla="*/ 352 w 416"/>
                <a:gd name="T39" fmla="*/ 253 h 282"/>
                <a:gd name="T40" fmla="*/ 316 w 416"/>
                <a:gd name="T41" fmla="*/ 197 h 282"/>
                <a:gd name="T42" fmla="*/ 360 w 416"/>
                <a:gd name="T43" fmla="*/ 173 h 282"/>
                <a:gd name="T44" fmla="*/ 408 w 416"/>
                <a:gd name="T45" fmla="*/ 145 h 282"/>
                <a:gd name="T46" fmla="*/ 409 w 416"/>
                <a:gd name="T47" fmla="*/ 120 h 282"/>
                <a:gd name="T48" fmla="*/ 367 w 416"/>
                <a:gd name="T49" fmla="*/ 138 h 282"/>
                <a:gd name="T50" fmla="*/ 308 w 416"/>
                <a:gd name="T51" fmla="*/ 137 h 282"/>
                <a:gd name="T52" fmla="*/ 264 w 416"/>
                <a:gd name="T53" fmla="*/ 97 h 282"/>
                <a:gd name="T54" fmla="*/ 180 w 416"/>
                <a:gd name="T55" fmla="*/ 61 h 282"/>
                <a:gd name="T56" fmla="*/ 132 w 416"/>
                <a:gd name="T57" fmla="*/ 33 h 282"/>
                <a:gd name="T58" fmla="*/ 92 w 416"/>
                <a:gd name="T59" fmla="*/ 41 h 282"/>
                <a:gd name="T60" fmla="*/ 76 w 416"/>
                <a:gd name="T61" fmla="*/ 57 h 282"/>
                <a:gd name="T62" fmla="*/ 56 w 416"/>
                <a:gd name="T63" fmla="*/ 17 h 282"/>
                <a:gd name="T64" fmla="*/ 0 w 416"/>
                <a:gd name="T65" fmla="*/ 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2" name="Freeform 40"/>
            <p:cNvSpPr>
              <a:spLocks/>
            </p:cNvSpPr>
            <p:nvPr/>
          </p:nvSpPr>
          <p:spPr bwMode="ltGray">
            <a:xfrm>
              <a:off x="4485" y="4013"/>
              <a:ext cx="45" cy="58"/>
            </a:xfrm>
            <a:custGeom>
              <a:avLst/>
              <a:gdLst>
                <a:gd name="T0" fmla="*/ 32 w 60"/>
                <a:gd name="T1" fmla="*/ 18 h 78"/>
                <a:gd name="T2" fmla="*/ 0 w 60"/>
                <a:gd name="T3" fmla="*/ 18 h 78"/>
                <a:gd name="T4" fmla="*/ 20 w 60"/>
                <a:gd name="T5" fmla="*/ 42 h 78"/>
                <a:gd name="T6" fmla="*/ 28 w 60"/>
                <a:gd name="T7" fmla="*/ 66 h 78"/>
                <a:gd name="T8" fmla="*/ 32 w 60"/>
                <a:gd name="T9" fmla="*/ 78 h 78"/>
                <a:gd name="T10" fmla="*/ 60 w 60"/>
                <a:gd name="T11" fmla="*/ 50 h 78"/>
                <a:gd name="T12" fmla="*/ 32 w 60"/>
                <a:gd name="T13" fmla="*/ 18 h 78"/>
              </a:gdLst>
              <a:ahLst/>
              <a:cxnLst>
                <a:cxn ang="0">
                  <a:pos x="T0" y="T1"/>
                </a:cxn>
                <a:cxn ang="0">
                  <a:pos x="T2" y="T3"/>
                </a:cxn>
                <a:cxn ang="0">
                  <a:pos x="T4" y="T5"/>
                </a:cxn>
                <a:cxn ang="0">
                  <a:pos x="T6" y="T7"/>
                </a:cxn>
                <a:cxn ang="0">
                  <a:pos x="T8" y="T9"/>
                </a:cxn>
                <a:cxn ang="0">
                  <a:pos x="T10" y="T11"/>
                </a:cxn>
                <a:cxn ang="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3" name="Freeform 41"/>
            <p:cNvSpPr>
              <a:spLocks/>
            </p:cNvSpPr>
            <p:nvPr/>
          </p:nvSpPr>
          <p:spPr bwMode="ltGray">
            <a:xfrm>
              <a:off x="4621" y="3923"/>
              <a:ext cx="164" cy="85"/>
            </a:xfrm>
            <a:custGeom>
              <a:avLst/>
              <a:gdLst>
                <a:gd name="T0" fmla="*/ 47 w 219"/>
                <a:gd name="T1" fmla="*/ 73 h 113"/>
                <a:gd name="T2" fmla="*/ 39 w 219"/>
                <a:gd name="T3" fmla="*/ 61 h 113"/>
                <a:gd name="T4" fmla="*/ 15 w 219"/>
                <a:gd name="T5" fmla="*/ 69 h 113"/>
                <a:gd name="T6" fmla="*/ 39 w 219"/>
                <a:gd name="T7" fmla="*/ 113 h 113"/>
                <a:gd name="T8" fmla="*/ 123 w 219"/>
                <a:gd name="T9" fmla="*/ 89 h 113"/>
                <a:gd name="T10" fmla="*/ 147 w 219"/>
                <a:gd name="T11" fmla="*/ 73 h 113"/>
                <a:gd name="T12" fmla="*/ 171 w 219"/>
                <a:gd name="T13" fmla="*/ 65 h 113"/>
                <a:gd name="T14" fmla="*/ 219 w 219"/>
                <a:gd name="T15" fmla="*/ 19 h 113"/>
                <a:gd name="T16" fmla="*/ 210 w 219"/>
                <a:gd name="T17" fmla="*/ 0 h 113"/>
                <a:gd name="T18" fmla="*/ 179 w 219"/>
                <a:gd name="T19" fmla="*/ 17 h 113"/>
                <a:gd name="T20" fmla="*/ 107 w 219"/>
                <a:gd name="T21" fmla="*/ 41 h 113"/>
                <a:gd name="T22" fmla="*/ 83 w 219"/>
                <a:gd name="T23" fmla="*/ 45 h 113"/>
                <a:gd name="T24" fmla="*/ 59 w 219"/>
                <a:gd name="T25" fmla="*/ 53 h 113"/>
                <a:gd name="T26" fmla="*/ 47 w 219"/>
                <a:gd name="T27" fmla="*/ 7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4" name="Freeform 42"/>
            <p:cNvSpPr>
              <a:spLocks/>
            </p:cNvSpPr>
            <p:nvPr/>
          </p:nvSpPr>
          <p:spPr bwMode="ltGray">
            <a:xfrm>
              <a:off x="4791" y="3873"/>
              <a:ext cx="104" cy="92"/>
            </a:xfrm>
            <a:custGeom>
              <a:avLst/>
              <a:gdLst>
                <a:gd name="T0" fmla="*/ 12 w 139"/>
                <a:gd name="T1" fmla="*/ 60 h 122"/>
                <a:gd name="T2" fmla="*/ 8 w 139"/>
                <a:gd name="T3" fmla="*/ 84 h 122"/>
                <a:gd name="T4" fmla="*/ 0 w 139"/>
                <a:gd name="T5" fmla="*/ 108 h 122"/>
                <a:gd name="T6" fmla="*/ 36 w 139"/>
                <a:gd name="T7" fmla="*/ 116 h 122"/>
                <a:gd name="T8" fmla="*/ 52 w 139"/>
                <a:gd name="T9" fmla="*/ 96 h 122"/>
                <a:gd name="T10" fmla="*/ 124 w 139"/>
                <a:gd name="T11" fmla="*/ 68 h 122"/>
                <a:gd name="T12" fmla="*/ 136 w 139"/>
                <a:gd name="T13" fmla="*/ 44 h 122"/>
                <a:gd name="T14" fmla="*/ 112 w 139"/>
                <a:gd name="T15" fmla="*/ 28 h 122"/>
                <a:gd name="T16" fmla="*/ 100 w 139"/>
                <a:gd name="T17" fmla="*/ 20 h 122"/>
                <a:gd name="T18" fmla="*/ 64 w 139"/>
                <a:gd name="T19" fmla="*/ 12 h 122"/>
                <a:gd name="T20" fmla="*/ 52 w 139"/>
                <a:gd name="T21" fmla="*/ 36 h 122"/>
                <a:gd name="T22" fmla="*/ 12 w 139"/>
                <a:gd name="T23" fmla="*/ 6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5" name="Freeform 43"/>
            <p:cNvSpPr>
              <a:spLocks/>
            </p:cNvSpPr>
            <p:nvPr/>
          </p:nvSpPr>
          <p:spPr bwMode="ltGray">
            <a:xfrm>
              <a:off x="4846" y="3832"/>
              <a:ext cx="37" cy="26"/>
            </a:xfrm>
            <a:custGeom>
              <a:avLst/>
              <a:gdLst>
                <a:gd name="T0" fmla="*/ 29 w 49"/>
                <a:gd name="T1" fmla="*/ 0 h 35"/>
                <a:gd name="T2" fmla="*/ 8 w 49"/>
                <a:gd name="T3" fmla="*/ 11 h 35"/>
                <a:gd name="T4" fmla="*/ 24 w 49"/>
                <a:gd name="T5" fmla="*/ 35 h 35"/>
                <a:gd name="T6" fmla="*/ 39 w 49"/>
                <a:gd name="T7" fmla="*/ 26 h 35"/>
                <a:gd name="T8" fmla="*/ 29 w 49"/>
                <a:gd name="T9" fmla="*/ 0 h 35"/>
              </a:gdLst>
              <a:ahLst/>
              <a:cxnLst>
                <a:cxn ang="0">
                  <a:pos x="T0" y="T1"/>
                </a:cxn>
                <a:cxn ang="0">
                  <a:pos x="T2" y="T3"/>
                </a:cxn>
                <a:cxn ang="0">
                  <a:pos x="T4" y="T5"/>
                </a:cxn>
                <a:cxn ang="0">
                  <a:pos x="T6" y="T7"/>
                </a:cxn>
                <a:cxn ang="0">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6" name="Freeform 44"/>
            <p:cNvSpPr>
              <a:spLocks/>
            </p:cNvSpPr>
            <p:nvPr/>
          </p:nvSpPr>
          <p:spPr bwMode="ltGray">
            <a:xfrm>
              <a:off x="3123" y="3346"/>
              <a:ext cx="123" cy="201"/>
            </a:xfrm>
            <a:custGeom>
              <a:avLst/>
              <a:gdLst>
                <a:gd name="T0" fmla="*/ 128 w 164"/>
                <a:gd name="T1" fmla="*/ 0 h 268"/>
                <a:gd name="T2" fmla="*/ 104 w 164"/>
                <a:gd name="T3" fmla="*/ 28 h 268"/>
                <a:gd name="T4" fmla="*/ 88 w 164"/>
                <a:gd name="T5" fmla="*/ 64 h 268"/>
                <a:gd name="T6" fmla="*/ 36 w 164"/>
                <a:gd name="T7" fmla="*/ 84 h 268"/>
                <a:gd name="T8" fmla="*/ 28 w 164"/>
                <a:gd name="T9" fmla="*/ 96 h 268"/>
                <a:gd name="T10" fmla="*/ 16 w 164"/>
                <a:gd name="T11" fmla="*/ 100 h 268"/>
                <a:gd name="T12" fmla="*/ 20 w 164"/>
                <a:gd name="T13" fmla="*/ 132 h 268"/>
                <a:gd name="T14" fmla="*/ 28 w 164"/>
                <a:gd name="T15" fmla="*/ 156 h 268"/>
                <a:gd name="T16" fmla="*/ 0 w 164"/>
                <a:gd name="T17" fmla="*/ 200 h 268"/>
                <a:gd name="T18" fmla="*/ 28 w 164"/>
                <a:gd name="T19" fmla="*/ 260 h 268"/>
                <a:gd name="T20" fmla="*/ 52 w 164"/>
                <a:gd name="T21" fmla="*/ 268 h 268"/>
                <a:gd name="T22" fmla="*/ 88 w 164"/>
                <a:gd name="T23" fmla="*/ 216 h 268"/>
                <a:gd name="T24" fmla="*/ 104 w 164"/>
                <a:gd name="T25" fmla="*/ 192 h 268"/>
                <a:gd name="T26" fmla="*/ 128 w 164"/>
                <a:gd name="T27" fmla="*/ 116 h 268"/>
                <a:gd name="T28" fmla="*/ 140 w 164"/>
                <a:gd name="T29" fmla="*/ 76 h 268"/>
                <a:gd name="T30" fmla="*/ 164 w 164"/>
                <a:gd name="T31" fmla="*/ 72 h 268"/>
                <a:gd name="T32" fmla="*/ 128 w 164"/>
                <a:gd name="T33" fmla="*/ 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7" name="Freeform 45"/>
            <p:cNvSpPr>
              <a:spLocks/>
            </p:cNvSpPr>
            <p:nvPr/>
          </p:nvSpPr>
          <p:spPr bwMode="ltGray">
            <a:xfrm>
              <a:off x="3655" y="3034"/>
              <a:ext cx="49" cy="61"/>
            </a:xfrm>
            <a:custGeom>
              <a:avLst/>
              <a:gdLst>
                <a:gd name="T0" fmla="*/ 29 w 66"/>
                <a:gd name="T1" fmla="*/ 0 h 81"/>
                <a:gd name="T2" fmla="*/ 25 w 66"/>
                <a:gd name="T3" fmla="*/ 60 h 81"/>
                <a:gd name="T4" fmla="*/ 29 w 66"/>
                <a:gd name="T5" fmla="*/ 76 h 81"/>
                <a:gd name="T6" fmla="*/ 41 w 66"/>
                <a:gd name="T7" fmla="*/ 80 h 81"/>
                <a:gd name="T8" fmla="*/ 57 w 66"/>
                <a:gd name="T9" fmla="*/ 76 h 81"/>
                <a:gd name="T10" fmla="*/ 29 w 66"/>
                <a:gd name="T11" fmla="*/ 0 h 81"/>
              </a:gdLst>
              <a:ahLst/>
              <a:cxnLst>
                <a:cxn ang="0">
                  <a:pos x="T0" y="T1"/>
                </a:cxn>
                <a:cxn ang="0">
                  <a:pos x="T2" y="T3"/>
                </a:cxn>
                <a:cxn ang="0">
                  <a:pos x="T4" y="T5"/>
                </a:cxn>
                <a:cxn ang="0">
                  <a:pos x="T6" y="T7"/>
                </a:cxn>
                <a:cxn ang="0">
                  <a:pos x="T8" y="T9"/>
                </a:cxn>
                <a:cxn ang="0">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8" name="Freeform 46"/>
            <p:cNvSpPr>
              <a:spLocks/>
            </p:cNvSpPr>
            <p:nvPr/>
          </p:nvSpPr>
          <p:spPr bwMode="ltGray">
            <a:xfrm>
              <a:off x="3988" y="3100"/>
              <a:ext cx="111" cy="183"/>
            </a:xfrm>
            <a:custGeom>
              <a:avLst/>
              <a:gdLst>
                <a:gd name="T0" fmla="*/ 96 w 148"/>
                <a:gd name="T1" fmla="*/ 0 h 244"/>
                <a:gd name="T2" fmla="*/ 60 w 148"/>
                <a:gd name="T3" fmla="*/ 84 h 244"/>
                <a:gd name="T4" fmla="*/ 36 w 148"/>
                <a:gd name="T5" fmla="*/ 92 h 244"/>
                <a:gd name="T6" fmla="*/ 12 w 148"/>
                <a:gd name="T7" fmla="*/ 108 h 244"/>
                <a:gd name="T8" fmla="*/ 40 w 148"/>
                <a:gd name="T9" fmla="*/ 188 h 244"/>
                <a:gd name="T10" fmla="*/ 52 w 148"/>
                <a:gd name="T11" fmla="*/ 224 h 244"/>
                <a:gd name="T12" fmla="*/ 60 w 148"/>
                <a:gd name="T13" fmla="*/ 236 h 244"/>
                <a:gd name="T14" fmla="*/ 84 w 148"/>
                <a:gd name="T15" fmla="*/ 244 h 244"/>
                <a:gd name="T16" fmla="*/ 96 w 148"/>
                <a:gd name="T17" fmla="*/ 196 h 244"/>
                <a:gd name="T18" fmla="*/ 124 w 148"/>
                <a:gd name="T19" fmla="*/ 168 h 244"/>
                <a:gd name="T20" fmla="*/ 112 w 148"/>
                <a:gd name="T21" fmla="*/ 68 h 244"/>
                <a:gd name="T22" fmla="*/ 140 w 148"/>
                <a:gd name="T23" fmla="*/ 48 h 244"/>
                <a:gd name="T24" fmla="*/ 112 w 148"/>
                <a:gd name="T25" fmla="*/ 20 h 244"/>
                <a:gd name="T26" fmla="*/ 96 w 148"/>
                <a:gd name="T2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9" name="Freeform 47"/>
            <p:cNvSpPr>
              <a:spLocks/>
            </p:cNvSpPr>
            <p:nvPr/>
          </p:nvSpPr>
          <p:spPr bwMode="ltGray">
            <a:xfrm>
              <a:off x="3894" y="3043"/>
              <a:ext cx="72" cy="137"/>
            </a:xfrm>
            <a:custGeom>
              <a:avLst/>
              <a:gdLst>
                <a:gd name="T0" fmla="*/ 48 w 96"/>
                <a:gd name="T1" fmla="*/ 2 h 183"/>
                <a:gd name="T2" fmla="*/ 51 w 96"/>
                <a:gd name="T3" fmla="*/ 35 h 183"/>
                <a:gd name="T4" fmla="*/ 60 w 96"/>
                <a:gd name="T5" fmla="*/ 62 h 183"/>
                <a:gd name="T6" fmla="*/ 62 w 96"/>
                <a:gd name="T7" fmla="*/ 92 h 183"/>
                <a:gd name="T8" fmla="*/ 68 w 96"/>
                <a:gd name="T9" fmla="*/ 105 h 183"/>
                <a:gd name="T10" fmla="*/ 71 w 96"/>
                <a:gd name="T11" fmla="*/ 126 h 183"/>
                <a:gd name="T12" fmla="*/ 57 w 96"/>
                <a:gd name="T13" fmla="*/ 93 h 183"/>
                <a:gd name="T14" fmla="*/ 35 w 96"/>
                <a:gd name="T15" fmla="*/ 78 h 183"/>
                <a:gd name="T16" fmla="*/ 5 w 96"/>
                <a:gd name="T17" fmla="*/ 83 h 183"/>
                <a:gd name="T18" fmla="*/ 8 w 96"/>
                <a:gd name="T19" fmla="*/ 102 h 183"/>
                <a:gd name="T20" fmla="*/ 41 w 96"/>
                <a:gd name="T21" fmla="*/ 114 h 183"/>
                <a:gd name="T22" fmla="*/ 57 w 96"/>
                <a:gd name="T23" fmla="*/ 135 h 183"/>
                <a:gd name="T24" fmla="*/ 71 w 96"/>
                <a:gd name="T25" fmla="*/ 135 h 183"/>
                <a:gd name="T26" fmla="*/ 78 w 96"/>
                <a:gd name="T27" fmla="*/ 150 h 183"/>
                <a:gd name="T28" fmla="*/ 96 w 96"/>
                <a:gd name="T29" fmla="*/ 179 h 183"/>
                <a:gd name="T30" fmla="*/ 81 w 96"/>
                <a:gd name="T31" fmla="*/ 126 h 183"/>
                <a:gd name="T32" fmla="*/ 80 w 96"/>
                <a:gd name="T33" fmla="*/ 93 h 183"/>
                <a:gd name="T34" fmla="*/ 71 w 96"/>
                <a:gd name="T35" fmla="*/ 63 h 183"/>
                <a:gd name="T36" fmla="*/ 63 w 96"/>
                <a:gd name="T37" fmla="*/ 41 h 183"/>
                <a:gd name="T38" fmla="*/ 57 w 96"/>
                <a:gd name="T39" fmla="*/ 20 h 183"/>
                <a:gd name="T40" fmla="*/ 48 w 96"/>
                <a:gd name="T41" fmla="*/ 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0" name="Freeform 48"/>
            <p:cNvSpPr>
              <a:spLocks/>
            </p:cNvSpPr>
            <p:nvPr/>
          </p:nvSpPr>
          <p:spPr bwMode="ltGray">
            <a:xfrm>
              <a:off x="3943" y="3153"/>
              <a:ext cx="40" cy="131"/>
            </a:xfrm>
            <a:custGeom>
              <a:avLst/>
              <a:gdLst>
                <a:gd name="T0" fmla="*/ 6 w 54"/>
                <a:gd name="T1" fmla="*/ 0 h 175"/>
                <a:gd name="T2" fmla="*/ 0 w 54"/>
                <a:gd name="T3" fmla="*/ 25 h 175"/>
                <a:gd name="T4" fmla="*/ 9 w 54"/>
                <a:gd name="T5" fmla="*/ 54 h 175"/>
                <a:gd name="T6" fmla="*/ 18 w 54"/>
                <a:gd name="T7" fmla="*/ 94 h 175"/>
                <a:gd name="T8" fmla="*/ 34 w 54"/>
                <a:gd name="T9" fmla="*/ 129 h 175"/>
                <a:gd name="T10" fmla="*/ 54 w 54"/>
                <a:gd name="T11" fmla="*/ 175 h 175"/>
                <a:gd name="T12" fmla="*/ 40 w 54"/>
                <a:gd name="T13" fmla="*/ 115 h 175"/>
                <a:gd name="T14" fmla="*/ 34 w 54"/>
                <a:gd name="T15" fmla="*/ 93 h 175"/>
                <a:gd name="T16" fmla="*/ 28 w 54"/>
                <a:gd name="T17" fmla="*/ 61 h 175"/>
                <a:gd name="T18" fmla="*/ 25 w 54"/>
                <a:gd name="T19" fmla="*/ 46 h 175"/>
                <a:gd name="T20" fmla="*/ 16 w 54"/>
                <a:gd name="T21" fmla="*/ 37 h 175"/>
                <a:gd name="T22" fmla="*/ 6 w 54"/>
                <a:gd name="T23" fmla="*/ 0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1" name="Freeform 49"/>
            <p:cNvSpPr>
              <a:spLocks/>
            </p:cNvSpPr>
            <p:nvPr/>
          </p:nvSpPr>
          <p:spPr bwMode="ltGray">
            <a:xfrm>
              <a:off x="3988" y="3290"/>
              <a:ext cx="65" cy="54"/>
            </a:xfrm>
            <a:custGeom>
              <a:avLst/>
              <a:gdLst>
                <a:gd name="T0" fmla="*/ 2 w 86"/>
                <a:gd name="T1" fmla="*/ 0 h 73"/>
                <a:gd name="T2" fmla="*/ 8 w 86"/>
                <a:gd name="T3" fmla="*/ 34 h 73"/>
                <a:gd name="T4" fmla="*/ 23 w 86"/>
                <a:gd name="T5" fmla="*/ 43 h 73"/>
                <a:gd name="T6" fmla="*/ 48 w 86"/>
                <a:gd name="T7" fmla="*/ 49 h 73"/>
                <a:gd name="T8" fmla="*/ 62 w 86"/>
                <a:gd name="T9" fmla="*/ 57 h 73"/>
                <a:gd name="T10" fmla="*/ 74 w 86"/>
                <a:gd name="T11" fmla="*/ 66 h 73"/>
                <a:gd name="T12" fmla="*/ 86 w 86"/>
                <a:gd name="T13" fmla="*/ 69 h 73"/>
                <a:gd name="T14" fmla="*/ 72 w 86"/>
                <a:gd name="T15" fmla="*/ 39 h 73"/>
                <a:gd name="T16" fmla="*/ 63 w 86"/>
                <a:gd name="T17" fmla="*/ 22 h 73"/>
                <a:gd name="T18" fmla="*/ 36 w 86"/>
                <a:gd name="T19" fmla="*/ 24 h 73"/>
                <a:gd name="T20" fmla="*/ 24 w 86"/>
                <a:gd name="T21" fmla="*/ 19 h 73"/>
                <a:gd name="T22" fmla="*/ 6 w 86"/>
                <a:gd name="T23" fmla="*/ 0 h 73"/>
                <a:gd name="T24" fmla="*/ 2 w 86"/>
                <a:gd name="T25"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2" name="Freeform 50"/>
            <p:cNvSpPr>
              <a:spLocks/>
            </p:cNvSpPr>
            <p:nvPr/>
          </p:nvSpPr>
          <p:spPr bwMode="ltGray">
            <a:xfrm>
              <a:off x="4092" y="3195"/>
              <a:ext cx="83" cy="117"/>
            </a:xfrm>
            <a:custGeom>
              <a:avLst/>
              <a:gdLst>
                <a:gd name="T0" fmla="*/ 98 w 111"/>
                <a:gd name="T1" fmla="*/ 0 h 156"/>
                <a:gd name="T2" fmla="*/ 75 w 111"/>
                <a:gd name="T3" fmla="*/ 10 h 156"/>
                <a:gd name="T4" fmla="*/ 23 w 111"/>
                <a:gd name="T5" fmla="*/ 15 h 156"/>
                <a:gd name="T6" fmla="*/ 14 w 111"/>
                <a:gd name="T7" fmla="*/ 33 h 156"/>
                <a:gd name="T8" fmla="*/ 11 w 111"/>
                <a:gd name="T9" fmla="*/ 61 h 156"/>
                <a:gd name="T10" fmla="*/ 14 w 111"/>
                <a:gd name="T11" fmla="*/ 75 h 156"/>
                <a:gd name="T12" fmla="*/ 3 w 111"/>
                <a:gd name="T13" fmla="*/ 88 h 156"/>
                <a:gd name="T14" fmla="*/ 14 w 111"/>
                <a:gd name="T15" fmla="*/ 109 h 156"/>
                <a:gd name="T16" fmla="*/ 23 w 111"/>
                <a:gd name="T17" fmla="*/ 124 h 156"/>
                <a:gd name="T18" fmla="*/ 15 w 111"/>
                <a:gd name="T19" fmla="*/ 144 h 156"/>
                <a:gd name="T20" fmla="*/ 24 w 111"/>
                <a:gd name="T21" fmla="*/ 156 h 156"/>
                <a:gd name="T22" fmla="*/ 42 w 111"/>
                <a:gd name="T23" fmla="*/ 144 h 156"/>
                <a:gd name="T24" fmla="*/ 50 w 111"/>
                <a:gd name="T25" fmla="*/ 93 h 156"/>
                <a:gd name="T26" fmla="*/ 56 w 111"/>
                <a:gd name="T27" fmla="*/ 126 h 156"/>
                <a:gd name="T28" fmla="*/ 65 w 111"/>
                <a:gd name="T29" fmla="*/ 145 h 156"/>
                <a:gd name="T30" fmla="*/ 62 w 111"/>
                <a:gd name="T31" fmla="*/ 112 h 156"/>
                <a:gd name="T32" fmla="*/ 72 w 111"/>
                <a:gd name="T33" fmla="*/ 73 h 156"/>
                <a:gd name="T34" fmla="*/ 69 w 111"/>
                <a:gd name="T35" fmla="*/ 51 h 156"/>
                <a:gd name="T36" fmla="*/ 54 w 111"/>
                <a:gd name="T37" fmla="*/ 60 h 156"/>
                <a:gd name="T38" fmla="*/ 35 w 111"/>
                <a:gd name="T39" fmla="*/ 54 h 156"/>
                <a:gd name="T40" fmla="*/ 41 w 111"/>
                <a:gd name="T41" fmla="*/ 36 h 156"/>
                <a:gd name="T42" fmla="*/ 62 w 111"/>
                <a:gd name="T43" fmla="*/ 34 h 156"/>
                <a:gd name="T44" fmla="*/ 78 w 111"/>
                <a:gd name="T45" fmla="*/ 39 h 156"/>
                <a:gd name="T46" fmla="*/ 98 w 111"/>
                <a:gd name="T47" fmla="*/ 30 h 156"/>
                <a:gd name="T48" fmla="*/ 111 w 111"/>
                <a:gd name="T49" fmla="*/ 13 h 156"/>
                <a:gd name="T50" fmla="*/ 98 w 111"/>
                <a:gd name="T5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3" name="Freeform 51"/>
            <p:cNvSpPr>
              <a:spLocks/>
            </p:cNvSpPr>
            <p:nvPr/>
          </p:nvSpPr>
          <p:spPr bwMode="ltGray">
            <a:xfrm>
              <a:off x="4064" y="2777"/>
              <a:ext cx="22" cy="71"/>
            </a:xfrm>
            <a:custGeom>
              <a:avLst/>
              <a:gdLst>
                <a:gd name="T0" fmla="*/ 12 w 30"/>
                <a:gd name="T1" fmla="*/ 0 h 94"/>
                <a:gd name="T2" fmla="*/ 0 w 30"/>
                <a:gd name="T3" fmla="*/ 16 h 94"/>
                <a:gd name="T4" fmla="*/ 6 w 30"/>
                <a:gd name="T5" fmla="*/ 37 h 94"/>
                <a:gd name="T6" fmla="*/ 1 w 30"/>
                <a:gd name="T7" fmla="*/ 61 h 94"/>
                <a:gd name="T8" fmla="*/ 16 w 30"/>
                <a:gd name="T9" fmla="*/ 94 h 94"/>
                <a:gd name="T10" fmla="*/ 30 w 30"/>
                <a:gd name="T11" fmla="*/ 82 h 94"/>
                <a:gd name="T12" fmla="*/ 22 w 30"/>
                <a:gd name="T13" fmla="*/ 61 h 94"/>
                <a:gd name="T14" fmla="*/ 12 w 30"/>
                <a:gd name="T15" fmla="*/ 0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4" name="Freeform 52"/>
            <p:cNvSpPr>
              <a:spLocks/>
            </p:cNvSpPr>
            <p:nvPr/>
          </p:nvSpPr>
          <p:spPr bwMode="ltGray">
            <a:xfrm>
              <a:off x="4078" y="2896"/>
              <a:ext cx="61" cy="118"/>
            </a:xfrm>
            <a:custGeom>
              <a:avLst/>
              <a:gdLst>
                <a:gd name="T0" fmla="*/ 12 w 81"/>
                <a:gd name="T1" fmla="*/ 2 h 158"/>
                <a:gd name="T2" fmla="*/ 0 w 81"/>
                <a:gd name="T3" fmla="*/ 20 h 158"/>
                <a:gd name="T4" fmla="*/ 8 w 81"/>
                <a:gd name="T5" fmla="*/ 49 h 158"/>
                <a:gd name="T6" fmla="*/ 6 w 81"/>
                <a:gd name="T7" fmla="*/ 107 h 158"/>
                <a:gd name="T8" fmla="*/ 17 w 81"/>
                <a:gd name="T9" fmla="*/ 103 h 158"/>
                <a:gd name="T10" fmla="*/ 20 w 81"/>
                <a:gd name="T11" fmla="*/ 115 h 158"/>
                <a:gd name="T12" fmla="*/ 29 w 81"/>
                <a:gd name="T13" fmla="*/ 122 h 158"/>
                <a:gd name="T14" fmla="*/ 38 w 81"/>
                <a:gd name="T15" fmla="*/ 140 h 158"/>
                <a:gd name="T16" fmla="*/ 48 w 81"/>
                <a:gd name="T17" fmla="*/ 128 h 158"/>
                <a:gd name="T18" fmla="*/ 65 w 81"/>
                <a:gd name="T19" fmla="*/ 134 h 158"/>
                <a:gd name="T20" fmla="*/ 63 w 81"/>
                <a:gd name="T21" fmla="*/ 109 h 158"/>
                <a:gd name="T22" fmla="*/ 48 w 81"/>
                <a:gd name="T23" fmla="*/ 104 h 158"/>
                <a:gd name="T24" fmla="*/ 39 w 81"/>
                <a:gd name="T25" fmla="*/ 91 h 158"/>
                <a:gd name="T26" fmla="*/ 33 w 81"/>
                <a:gd name="T27" fmla="*/ 73 h 158"/>
                <a:gd name="T28" fmla="*/ 41 w 81"/>
                <a:gd name="T29" fmla="*/ 53 h 158"/>
                <a:gd name="T30" fmla="*/ 35 w 81"/>
                <a:gd name="T31" fmla="*/ 35 h 158"/>
                <a:gd name="T32" fmla="*/ 42 w 81"/>
                <a:gd name="T33" fmla="*/ 20 h 158"/>
                <a:gd name="T34" fmla="*/ 29 w 81"/>
                <a:gd name="T35" fmla="*/ 4 h 158"/>
                <a:gd name="T36" fmla="*/ 18 w 81"/>
                <a:gd name="T37" fmla="*/ 7 h 158"/>
                <a:gd name="T38" fmla="*/ 12 w 81"/>
                <a:gd name="T39" fmla="*/ 2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5" name="Freeform 53"/>
            <p:cNvSpPr>
              <a:spLocks/>
            </p:cNvSpPr>
            <p:nvPr/>
          </p:nvSpPr>
          <p:spPr bwMode="ltGray">
            <a:xfrm>
              <a:off x="4121" y="3052"/>
              <a:ext cx="64" cy="79"/>
            </a:xfrm>
            <a:custGeom>
              <a:avLst/>
              <a:gdLst>
                <a:gd name="T0" fmla="*/ 52 w 85"/>
                <a:gd name="T1" fmla="*/ 0 h 105"/>
                <a:gd name="T2" fmla="*/ 44 w 85"/>
                <a:gd name="T3" fmla="*/ 18 h 105"/>
                <a:gd name="T4" fmla="*/ 32 w 85"/>
                <a:gd name="T5" fmla="*/ 30 h 105"/>
                <a:gd name="T6" fmla="*/ 16 w 85"/>
                <a:gd name="T7" fmla="*/ 35 h 105"/>
                <a:gd name="T8" fmla="*/ 8 w 85"/>
                <a:gd name="T9" fmla="*/ 48 h 105"/>
                <a:gd name="T10" fmla="*/ 4 w 85"/>
                <a:gd name="T11" fmla="*/ 74 h 105"/>
                <a:gd name="T12" fmla="*/ 13 w 85"/>
                <a:gd name="T13" fmla="*/ 71 h 105"/>
                <a:gd name="T14" fmla="*/ 25 w 85"/>
                <a:gd name="T15" fmla="*/ 62 h 105"/>
                <a:gd name="T16" fmla="*/ 34 w 85"/>
                <a:gd name="T17" fmla="*/ 69 h 105"/>
                <a:gd name="T18" fmla="*/ 58 w 85"/>
                <a:gd name="T19" fmla="*/ 99 h 105"/>
                <a:gd name="T20" fmla="*/ 71 w 85"/>
                <a:gd name="T21" fmla="*/ 72 h 105"/>
                <a:gd name="T22" fmla="*/ 85 w 85"/>
                <a:gd name="T23" fmla="*/ 68 h 105"/>
                <a:gd name="T24" fmla="*/ 74 w 85"/>
                <a:gd name="T25" fmla="*/ 39 h 105"/>
                <a:gd name="T26" fmla="*/ 52 w 85"/>
                <a:gd name="T27"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6" name="Freeform 54"/>
            <p:cNvSpPr>
              <a:spLocks/>
            </p:cNvSpPr>
            <p:nvPr/>
          </p:nvSpPr>
          <p:spPr bwMode="ltGray">
            <a:xfrm>
              <a:off x="4197" y="3193"/>
              <a:ext cx="29" cy="49"/>
            </a:xfrm>
            <a:custGeom>
              <a:avLst/>
              <a:gdLst>
                <a:gd name="T0" fmla="*/ 6 w 38"/>
                <a:gd name="T1" fmla="*/ 27 h 66"/>
                <a:gd name="T2" fmla="*/ 26 w 38"/>
                <a:gd name="T3" fmla="*/ 66 h 66"/>
                <a:gd name="T4" fmla="*/ 30 w 38"/>
                <a:gd name="T5" fmla="*/ 52 h 66"/>
                <a:gd name="T6" fmla="*/ 38 w 38"/>
                <a:gd name="T7" fmla="*/ 40 h 66"/>
                <a:gd name="T8" fmla="*/ 30 w 38"/>
                <a:gd name="T9" fmla="*/ 25 h 66"/>
                <a:gd name="T10" fmla="*/ 20 w 38"/>
                <a:gd name="T11" fmla="*/ 13 h 66"/>
                <a:gd name="T12" fmla="*/ 11 w 38"/>
                <a:gd name="T13" fmla="*/ 1 h 66"/>
                <a:gd name="T14" fmla="*/ 2 w 38"/>
                <a:gd name="T15" fmla="*/ 12 h 66"/>
                <a:gd name="T16" fmla="*/ 6 w 38"/>
                <a:gd name="T17" fmla="*/ 2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7" name="Freeform 55"/>
            <p:cNvSpPr>
              <a:spLocks/>
            </p:cNvSpPr>
            <p:nvPr/>
          </p:nvSpPr>
          <p:spPr bwMode="ltGray">
            <a:xfrm>
              <a:off x="4181" y="3275"/>
              <a:ext cx="18" cy="17"/>
            </a:xfrm>
            <a:custGeom>
              <a:avLst/>
              <a:gdLst>
                <a:gd name="T0" fmla="*/ 0 w 24"/>
                <a:gd name="T1" fmla="*/ 0 h 23"/>
                <a:gd name="T2" fmla="*/ 6 w 24"/>
                <a:gd name="T3" fmla="*/ 23 h 23"/>
                <a:gd name="T4" fmla="*/ 24 w 24"/>
                <a:gd name="T5" fmla="*/ 11 h 23"/>
                <a:gd name="T6" fmla="*/ 0 w 24"/>
                <a:gd name="T7" fmla="*/ 0 h 23"/>
              </a:gdLst>
              <a:ahLst/>
              <a:cxnLst>
                <a:cxn ang="0">
                  <a:pos x="T0" y="T1"/>
                </a:cxn>
                <a:cxn ang="0">
                  <a:pos x="T2" y="T3"/>
                </a:cxn>
                <a:cxn ang="0">
                  <a:pos x="T4" y="T5"/>
                </a:cxn>
                <a:cxn ang="0">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8" name="Freeform 56"/>
            <p:cNvSpPr>
              <a:spLocks/>
            </p:cNvSpPr>
            <p:nvPr/>
          </p:nvSpPr>
          <p:spPr bwMode="ltGray">
            <a:xfrm>
              <a:off x="4208" y="3265"/>
              <a:ext cx="45" cy="37"/>
            </a:xfrm>
            <a:custGeom>
              <a:avLst/>
              <a:gdLst>
                <a:gd name="T0" fmla="*/ 9 w 60"/>
                <a:gd name="T1" fmla="*/ 0 h 49"/>
                <a:gd name="T2" fmla="*/ 0 w 60"/>
                <a:gd name="T3" fmla="*/ 18 h 49"/>
                <a:gd name="T4" fmla="*/ 28 w 60"/>
                <a:gd name="T5" fmla="*/ 33 h 49"/>
                <a:gd name="T6" fmla="*/ 42 w 60"/>
                <a:gd name="T7" fmla="*/ 46 h 49"/>
                <a:gd name="T8" fmla="*/ 60 w 60"/>
                <a:gd name="T9" fmla="*/ 42 h 49"/>
                <a:gd name="T10" fmla="*/ 49 w 60"/>
                <a:gd name="T11" fmla="*/ 24 h 49"/>
                <a:gd name="T12" fmla="*/ 28 w 60"/>
                <a:gd name="T13" fmla="*/ 3 h 49"/>
                <a:gd name="T14" fmla="*/ 19 w 60"/>
                <a:gd name="T15" fmla="*/ 16 h 49"/>
                <a:gd name="T16" fmla="*/ 9 w 60"/>
                <a:gd name="T1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9" name="Freeform 57"/>
            <p:cNvSpPr>
              <a:spLocks/>
            </p:cNvSpPr>
            <p:nvPr/>
          </p:nvSpPr>
          <p:spPr bwMode="ltGray">
            <a:xfrm>
              <a:off x="4277" y="3335"/>
              <a:ext cx="24" cy="33"/>
            </a:xfrm>
            <a:custGeom>
              <a:avLst/>
              <a:gdLst>
                <a:gd name="T0" fmla="*/ 28 w 32"/>
                <a:gd name="T1" fmla="*/ 0 h 44"/>
                <a:gd name="T2" fmla="*/ 10 w 32"/>
                <a:gd name="T3" fmla="*/ 11 h 44"/>
                <a:gd name="T4" fmla="*/ 12 w 32"/>
                <a:gd name="T5" fmla="*/ 32 h 44"/>
                <a:gd name="T6" fmla="*/ 24 w 32"/>
                <a:gd name="T7" fmla="*/ 36 h 44"/>
                <a:gd name="T8" fmla="*/ 28 w 32"/>
                <a:gd name="T9" fmla="*/ 0 h 44"/>
              </a:gdLst>
              <a:ahLst/>
              <a:cxnLst>
                <a:cxn ang="0">
                  <a:pos x="T0" y="T1"/>
                </a:cxn>
                <a:cxn ang="0">
                  <a:pos x="T2" y="T3"/>
                </a:cxn>
                <a:cxn ang="0">
                  <a:pos x="T4" y="T5"/>
                </a:cxn>
                <a:cxn ang="0">
                  <a:pos x="T6" y="T7"/>
                </a:cxn>
                <a:cxn ang="0">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0" name="Freeform 58"/>
            <p:cNvSpPr>
              <a:spLocks/>
            </p:cNvSpPr>
            <p:nvPr/>
          </p:nvSpPr>
          <p:spPr bwMode="ltGray">
            <a:xfrm>
              <a:off x="4544" y="3293"/>
              <a:ext cx="46" cy="47"/>
            </a:xfrm>
            <a:custGeom>
              <a:avLst/>
              <a:gdLst>
                <a:gd name="T0" fmla="*/ 7 w 61"/>
                <a:gd name="T1" fmla="*/ 0 h 63"/>
                <a:gd name="T2" fmla="*/ 0 w 61"/>
                <a:gd name="T3" fmla="*/ 14 h 63"/>
                <a:gd name="T4" fmla="*/ 24 w 61"/>
                <a:gd name="T5" fmla="*/ 35 h 63"/>
                <a:gd name="T6" fmla="*/ 36 w 61"/>
                <a:gd name="T7" fmla="*/ 54 h 63"/>
                <a:gd name="T8" fmla="*/ 46 w 61"/>
                <a:gd name="T9" fmla="*/ 63 h 63"/>
                <a:gd name="T10" fmla="*/ 61 w 61"/>
                <a:gd name="T11" fmla="*/ 56 h 63"/>
                <a:gd name="T12" fmla="*/ 33 w 61"/>
                <a:gd name="T13" fmla="*/ 17 h 63"/>
                <a:gd name="T14" fmla="*/ 7 w 61"/>
                <a:gd name="T15" fmla="*/ 0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1" name="Freeform 59"/>
            <p:cNvSpPr>
              <a:spLocks/>
            </p:cNvSpPr>
            <p:nvPr/>
          </p:nvSpPr>
          <p:spPr bwMode="ltGray">
            <a:xfrm>
              <a:off x="4147" y="3352"/>
              <a:ext cx="46" cy="50"/>
            </a:xfrm>
            <a:custGeom>
              <a:avLst/>
              <a:gdLst>
                <a:gd name="T0" fmla="*/ 28 w 61"/>
                <a:gd name="T1" fmla="*/ 7 h 67"/>
                <a:gd name="T2" fmla="*/ 30 w 61"/>
                <a:gd name="T3" fmla="*/ 34 h 67"/>
                <a:gd name="T4" fmla="*/ 16 w 61"/>
                <a:gd name="T5" fmla="*/ 43 h 67"/>
                <a:gd name="T6" fmla="*/ 22 w 61"/>
                <a:gd name="T7" fmla="*/ 67 h 67"/>
                <a:gd name="T8" fmla="*/ 48 w 61"/>
                <a:gd name="T9" fmla="*/ 58 h 67"/>
                <a:gd name="T10" fmla="*/ 60 w 61"/>
                <a:gd name="T11" fmla="*/ 47 h 67"/>
                <a:gd name="T12" fmla="*/ 51 w 61"/>
                <a:gd name="T13" fmla="*/ 28 h 67"/>
                <a:gd name="T14" fmla="*/ 57 w 61"/>
                <a:gd name="T15" fmla="*/ 14 h 67"/>
                <a:gd name="T16" fmla="*/ 55 w 61"/>
                <a:gd name="T17" fmla="*/ 2 h 67"/>
                <a:gd name="T18" fmla="*/ 46 w 61"/>
                <a:gd name="T19" fmla="*/ 4 h 67"/>
                <a:gd name="T20" fmla="*/ 51 w 61"/>
                <a:gd name="T21" fmla="*/ 5 h 67"/>
                <a:gd name="T22" fmla="*/ 49 w 61"/>
                <a:gd name="T23" fmla="*/ 16 h 67"/>
                <a:gd name="T24" fmla="*/ 43 w 61"/>
                <a:gd name="T25" fmla="*/ 23 h 67"/>
                <a:gd name="T26" fmla="*/ 28 w 61"/>
                <a:gd name="T27" fmla="*/ 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2" name="Freeform 60"/>
            <p:cNvSpPr>
              <a:spLocks/>
            </p:cNvSpPr>
            <p:nvPr/>
          </p:nvSpPr>
          <p:spPr bwMode="ltGray">
            <a:xfrm>
              <a:off x="4098" y="3371"/>
              <a:ext cx="32" cy="27"/>
            </a:xfrm>
            <a:custGeom>
              <a:avLst/>
              <a:gdLst>
                <a:gd name="T0" fmla="*/ 21 w 43"/>
                <a:gd name="T1" fmla="*/ 3 h 36"/>
                <a:gd name="T2" fmla="*/ 6 w 43"/>
                <a:gd name="T3" fmla="*/ 6 h 36"/>
                <a:gd name="T4" fmla="*/ 33 w 43"/>
                <a:gd name="T5" fmla="*/ 36 h 36"/>
                <a:gd name="T6" fmla="*/ 42 w 43"/>
                <a:gd name="T7" fmla="*/ 30 h 36"/>
                <a:gd name="T8" fmla="*/ 21 w 43"/>
                <a:gd name="T9" fmla="*/ 3 h 36"/>
              </a:gdLst>
              <a:ahLst/>
              <a:cxnLst>
                <a:cxn ang="0">
                  <a:pos x="T0" y="T1"/>
                </a:cxn>
                <a:cxn ang="0">
                  <a:pos x="T2" y="T3"/>
                </a:cxn>
                <a:cxn ang="0">
                  <a:pos x="T4" y="T5"/>
                </a:cxn>
                <a:cxn ang="0">
                  <a:pos x="T6" y="T7"/>
                </a:cxn>
                <a:cxn ang="0">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3" name="Freeform 61"/>
            <p:cNvSpPr>
              <a:spLocks/>
            </p:cNvSpPr>
            <p:nvPr/>
          </p:nvSpPr>
          <p:spPr bwMode="ltGray">
            <a:xfrm>
              <a:off x="4077" y="3342"/>
              <a:ext cx="24" cy="31"/>
            </a:xfrm>
            <a:custGeom>
              <a:avLst/>
              <a:gdLst>
                <a:gd name="T0" fmla="*/ 21 w 32"/>
                <a:gd name="T1" fmla="*/ 0 h 41"/>
                <a:gd name="T2" fmla="*/ 0 w 32"/>
                <a:gd name="T3" fmla="*/ 26 h 41"/>
                <a:gd name="T4" fmla="*/ 16 w 32"/>
                <a:gd name="T5" fmla="*/ 24 h 41"/>
                <a:gd name="T6" fmla="*/ 19 w 32"/>
                <a:gd name="T7" fmla="*/ 29 h 41"/>
                <a:gd name="T8" fmla="*/ 16 w 32"/>
                <a:gd name="T9" fmla="*/ 35 h 41"/>
                <a:gd name="T10" fmla="*/ 30 w 32"/>
                <a:gd name="T11" fmla="*/ 21 h 41"/>
                <a:gd name="T12" fmla="*/ 24 w 32"/>
                <a:gd name="T13" fmla="*/ 9 h 41"/>
                <a:gd name="T14" fmla="*/ 21 w 32"/>
                <a:gd name="T15" fmla="*/ 0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4" name="Freeform 62"/>
            <p:cNvSpPr>
              <a:spLocks/>
            </p:cNvSpPr>
            <p:nvPr/>
          </p:nvSpPr>
          <p:spPr bwMode="ltGray">
            <a:xfrm>
              <a:off x="4111" y="3353"/>
              <a:ext cx="34" cy="24"/>
            </a:xfrm>
            <a:custGeom>
              <a:avLst/>
              <a:gdLst>
                <a:gd name="T0" fmla="*/ 21 w 45"/>
                <a:gd name="T1" fmla="*/ 0 h 32"/>
                <a:gd name="T2" fmla="*/ 0 w 45"/>
                <a:gd name="T3" fmla="*/ 7 h 32"/>
                <a:gd name="T4" fmla="*/ 27 w 45"/>
                <a:gd name="T5" fmla="*/ 31 h 32"/>
                <a:gd name="T6" fmla="*/ 45 w 45"/>
                <a:gd name="T7" fmla="*/ 24 h 32"/>
                <a:gd name="T8" fmla="*/ 22 w 45"/>
                <a:gd name="T9" fmla="*/ 10 h 32"/>
                <a:gd name="T10" fmla="*/ 21 w 45"/>
                <a:gd name="T11" fmla="*/ 0 h 32"/>
              </a:gdLst>
              <a:ahLst/>
              <a:cxnLst>
                <a:cxn ang="0">
                  <a:pos x="T0" y="T1"/>
                </a:cxn>
                <a:cxn ang="0">
                  <a:pos x="T2" y="T3"/>
                </a:cxn>
                <a:cxn ang="0">
                  <a:pos x="T4" y="T5"/>
                </a:cxn>
                <a:cxn ang="0">
                  <a:pos x="T6" y="T7"/>
                </a:cxn>
                <a:cxn ang="0">
                  <a:pos x="T8" y="T9"/>
                </a:cxn>
                <a:cxn ang="0">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5" name="Freeform 63"/>
            <p:cNvSpPr>
              <a:spLocks/>
            </p:cNvSpPr>
            <p:nvPr/>
          </p:nvSpPr>
          <p:spPr bwMode="ltGray">
            <a:xfrm>
              <a:off x="4062" y="3021"/>
              <a:ext cx="27" cy="55"/>
            </a:xfrm>
            <a:custGeom>
              <a:avLst/>
              <a:gdLst>
                <a:gd name="T0" fmla="*/ 30 w 35"/>
                <a:gd name="T1" fmla="*/ 0 h 74"/>
                <a:gd name="T2" fmla="*/ 21 w 35"/>
                <a:gd name="T3" fmla="*/ 15 h 74"/>
                <a:gd name="T4" fmla="*/ 9 w 35"/>
                <a:gd name="T5" fmla="*/ 36 h 74"/>
                <a:gd name="T6" fmla="*/ 0 w 35"/>
                <a:gd name="T7" fmla="*/ 59 h 74"/>
                <a:gd name="T8" fmla="*/ 8 w 35"/>
                <a:gd name="T9" fmla="*/ 74 h 74"/>
                <a:gd name="T10" fmla="*/ 20 w 35"/>
                <a:gd name="T11" fmla="*/ 59 h 74"/>
                <a:gd name="T12" fmla="*/ 35 w 35"/>
                <a:gd name="T13" fmla="*/ 32 h 74"/>
                <a:gd name="T14" fmla="*/ 30 w 3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6" name="Freeform 64"/>
            <p:cNvSpPr>
              <a:spLocks/>
            </p:cNvSpPr>
            <p:nvPr/>
          </p:nvSpPr>
          <p:spPr bwMode="ltGray">
            <a:xfrm>
              <a:off x="4113" y="3012"/>
              <a:ext cx="19" cy="55"/>
            </a:xfrm>
            <a:custGeom>
              <a:avLst/>
              <a:gdLst>
                <a:gd name="T0" fmla="*/ 13 w 25"/>
                <a:gd name="T1" fmla="*/ 7 h 73"/>
                <a:gd name="T2" fmla="*/ 4 w 25"/>
                <a:gd name="T3" fmla="*/ 8 h 73"/>
                <a:gd name="T4" fmla="*/ 0 w 25"/>
                <a:gd name="T5" fmla="*/ 22 h 73"/>
                <a:gd name="T6" fmla="*/ 15 w 25"/>
                <a:gd name="T7" fmla="*/ 41 h 73"/>
                <a:gd name="T8" fmla="*/ 25 w 25"/>
                <a:gd name="T9" fmla="*/ 56 h 73"/>
                <a:gd name="T10" fmla="*/ 16 w 25"/>
                <a:gd name="T11" fmla="*/ 20 h 73"/>
                <a:gd name="T12" fmla="*/ 13 w 25"/>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7" name="Freeform 65"/>
            <p:cNvSpPr>
              <a:spLocks/>
            </p:cNvSpPr>
            <p:nvPr/>
          </p:nvSpPr>
          <p:spPr bwMode="ltGray">
            <a:xfrm>
              <a:off x="4135" y="2995"/>
              <a:ext cx="10" cy="25"/>
            </a:xfrm>
            <a:custGeom>
              <a:avLst/>
              <a:gdLst>
                <a:gd name="T0" fmla="*/ 11 w 14"/>
                <a:gd name="T1" fmla="*/ 0 h 33"/>
                <a:gd name="T2" fmla="*/ 1 w 14"/>
                <a:gd name="T3" fmla="*/ 10 h 33"/>
                <a:gd name="T4" fmla="*/ 11 w 14"/>
                <a:gd name="T5" fmla="*/ 25 h 33"/>
                <a:gd name="T6" fmla="*/ 11 w 14"/>
                <a:gd name="T7" fmla="*/ 0 h 33"/>
              </a:gdLst>
              <a:ahLst/>
              <a:cxnLst>
                <a:cxn ang="0">
                  <a:pos x="T0" y="T1"/>
                </a:cxn>
                <a:cxn ang="0">
                  <a:pos x="T2" y="T3"/>
                </a:cxn>
                <a:cxn ang="0">
                  <a:pos x="T4" y="T5"/>
                </a:cxn>
                <a:cxn ang="0">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8" name="Freeform 66"/>
            <p:cNvSpPr>
              <a:spLocks/>
            </p:cNvSpPr>
            <p:nvPr/>
          </p:nvSpPr>
          <p:spPr bwMode="ltGray">
            <a:xfrm>
              <a:off x="4145" y="3007"/>
              <a:ext cx="21" cy="48"/>
            </a:xfrm>
            <a:custGeom>
              <a:avLst/>
              <a:gdLst>
                <a:gd name="T0" fmla="*/ 5 w 28"/>
                <a:gd name="T1" fmla="*/ 0 h 64"/>
                <a:gd name="T2" fmla="*/ 11 w 28"/>
                <a:gd name="T3" fmla="*/ 14 h 64"/>
                <a:gd name="T4" fmla="*/ 20 w 28"/>
                <a:gd name="T5" fmla="*/ 21 h 64"/>
                <a:gd name="T6" fmla="*/ 8 w 28"/>
                <a:gd name="T7" fmla="*/ 39 h 64"/>
                <a:gd name="T8" fmla="*/ 0 w 28"/>
                <a:gd name="T9" fmla="*/ 56 h 64"/>
                <a:gd name="T10" fmla="*/ 11 w 28"/>
                <a:gd name="T11" fmla="*/ 57 h 64"/>
                <a:gd name="T12" fmla="*/ 26 w 28"/>
                <a:gd name="T13" fmla="*/ 26 h 64"/>
                <a:gd name="T14" fmla="*/ 5 w 28"/>
                <a:gd name="T15" fmla="*/ 0 h 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9" name="Freeform 67"/>
            <p:cNvSpPr>
              <a:spLocks/>
            </p:cNvSpPr>
            <p:nvPr/>
          </p:nvSpPr>
          <p:spPr bwMode="ltGray">
            <a:xfrm>
              <a:off x="3876" y="3076"/>
              <a:ext cx="12" cy="27"/>
            </a:xfrm>
            <a:custGeom>
              <a:avLst/>
              <a:gdLst>
                <a:gd name="T0" fmla="*/ 14 w 16"/>
                <a:gd name="T1" fmla="*/ 3 h 36"/>
                <a:gd name="T2" fmla="*/ 0 w 16"/>
                <a:gd name="T3" fmla="*/ 7 h 36"/>
                <a:gd name="T4" fmla="*/ 8 w 16"/>
                <a:gd name="T5" fmla="*/ 22 h 36"/>
                <a:gd name="T6" fmla="*/ 14 w 16"/>
                <a:gd name="T7" fmla="*/ 3 h 36"/>
              </a:gdLst>
              <a:ahLst/>
              <a:cxnLst>
                <a:cxn ang="0">
                  <a:pos x="T0" y="T1"/>
                </a:cxn>
                <a:cxn ang="0">
                  <a:pos x="T2" y="T3"/>
                </a:cxn>
                <a:cxn ang="0">
                  <a:pos x="T4" y="T5"/>
                </a:cxn>
                <a:cxn ang="0">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0" name="Freeform 68"/>
            <p:cNvSpPr>
              <a:spLocks/>
            </p:cNvSpPr>
            <p:nvPr/>
          </p:nvSpPr>
          <p:spPr bwMode="ltGray">
            <a:xfrm>
              <a:off x="3866" y="3053"/>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1" name="Freeform 69"/>
            <p:cNvSpPr>
              <a:spLocks/>
            </p:cNvSpPr>
            <p:nvPr/>
          </p:nvSpPr>
          <p:spPr bwMode="ltGray">
            <a:xfrm>
              <a:off x="3862" y="3035"/>
              <a:ext cx="12" cy="14"/>
            </a:xfrm>
            <a:custGeom>
              <a:avLst/>
              <a:gdLst>
                <a:gd name="T0" fmla="*/ 10 w 16"/>
                <a:gd name="T1" fmla="*/ 5 h 19"/>
                <a:gd name="T2" fmla="*/ 0 w 16"/>
                <a:gd name="T3" fmla="*/ 10 h 19"/>
                <a:gd name="T4" fmla="*/ 12 w 16"/>
                <a:gd name="T5" fmla="*/ 19 h 19"/>
                <a:gd name="T6" fmla="*/ 10 w 16"/>
                <a:gd name="T7" fmla="*/ 5 h 19"/>
              </a:gdLst>
              <a:ahLst/>
              <a:cxnLst>
                <a:cxn ang="0">
                  <a:pos x="T0" y="T1"/>
                </a:cxn>
                <a:cxn ang="0">
                  <a:pos x="T2" y="T3"/>
                </a:cxn>
                <a:cxn ang="0">
                  <a:pos x="T4" y="T5"/>
                </a:cxn>
                <a:cxn ang="0">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2" name="Freeform 70"/>
            <p:cNvSpPr>
              <a:spLocks/>
            </p:cNvSpPr>
            <p:nvPr/>
          </p:nvSpPr>
          <p:spPr bwMode="ltGray">
            <a:xfrm>
              <a:off x="3850" y="2995"/>
              <a:ext cx="11" cy="19"/>
            </a:xfrm>
            <a:custGeom>
              <a:avLst/>
              <a:gdLst>
                <a:gd name="T0" fmla="*/ 6 w 14"/>
                <a:gd name="T1" fmla="*/ 0 h 25"/>
                <a:gd name="T2" fmla="*/ 0 w 14"/>
                <a:gd name="T3" fmla="*/ 13 h 25"/>
                <a:gd name="T4" fmla="*/ 12 w 14"/>
                <a:gd name="T5" fmla="*/ 24 h 25"/>
                <a:gd name="T6" fmla="*/ 6 w 14"/>
                <a:gd name="T7" fmla="*/ 0 h 25"/>
              </a:gdLst>
              <a:ahLst/>
              <a:cxnLst>
                <a:cxn ang="0">
                  <a:pos x="T0" y="T1"/>
                </a:cxn>
                <a:cxn ang="0">
                  <a:pos x="T2" y="T3"/>
                </a:cxn>
                <a:cxn ang="0">
                  <a:pos x="T4" y="T5"/>
                </a:cxn>
                <a:cxn ang="0">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3" name="Freeform 71"/>
            <p:cNvSpPr>
              <a:spLocks/>
            </p:cNvSpPr>
            <p:nvPr/>
          </p:nvSpPr>
          <p:spPr bwMode="ltGray">
            <a:xfrm>
              <a:off x="3852" y="3020"/>
              <a:ext cx="16" cy="13"/>
            </a:xfrm>
            <a:custGeom>
              <a:avLst/>
              <a:gdLst>
                <a:gd name="T0" fmla="*/ 13 w 22"/>
                <a:gd name="T1" fmla="*/ 0 h 18"/>
                <a:gd name="T2" fmla="*/ 19 w 22"/>
                <a:gd name="T3" fmla="*/ 18 h 18"/>
                <a:gd name="T4" fmla="*/ 14 w 22"/>
                <a:gd name="T5" fmla="*/ 6 h 18"/>
                <a:gd name="T6" fmla="*/ 13 w 22"/>
                <a:gd name="T7" fmla="*/ 0 h 18"/>
              </a:gdLst>
              <a:ahLst/>
              <a:cxnLst>
                <a:cxn ang="0">
                  <a:pos x="T0" y="T1"/>
                </a:cxn>
                <a:cxn ang="0">
                  <a:pos x="T2" y="T3"/>
                </a:cxn>
                <a:cxn ang="0">
                  <a:pos x="T4" y="T5"/>
                </a:cxn>
                <a:cxn ang="0">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4" name="Freeform 72"/>
            <p:cNvSpPr>
              <a:spLocks/>
            </p:cNvSpPr>
            <p:nvPr/>
          </p:nvSpPr>
          <p:spPr bwMode="ltGray">
            <a:xfrm>
              <a:off x="4688" y="3643"/>
              <a:ext cx="45" cy="60"/>
            </a:xfrm>
            <a:custGeom>
              <a:avLst/>
              <a:gdLst>
                <a:gd name="T0" fmla="*/ 10 w 60"/>
                <a:gd name="T1" fmla="*/ 7 h 81"/>
                <a:gd name="T2" fmla="*/ 3 w 60"/>
                <a:gd name="T3" fmla="*/ 18 h 81"/>
                <a:gd name="T4" fmla="*/ 15 w 60"/>
                <a:gd name="T5" fmla="*/ 39 h 81"/>
                <a:gd name="T6" fmla="*/ 27 w 60"/>
                <a:gd name="T7" fmla="*/ 54 h 81"/>
                <a:gd name="T8" fmla="*/ 40 w 60"/>
                <a:gd name="T9" fmla="*/ 63 h 81"/>
                <a:gd name="T10" fmla="*/ 51 w 60"/>
                <a:gd name="T11" fmla="*/ 81 h 81"/>
                <a:gd name="T12" fmla="*/ 52 w 60"/>
                <a:gd name="T13" fmla="*/ 57 h 81"/>
                <a:gd name="T14" fmla="*/ 43 w 60"/>
                <a:gd name="T15" fmla="*/ 37 h 81"/>
                <a:gd name="T16" fmla="*/ 25 w 60"/>
                <a:gd name="T17" fmla="*/ 18 h 81"/>
                <a:gd name="T18" fmla="*/ 10 w 60"/>
                <a:gd name="T19"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5" name="Freeform 73"/>
            <p:cNvSpPr>
              <a:spLocks/>
            </p:cNvSpPr>
            <p:nvPr/>
          </p:nvSpPr>
          <p:spPr bwMode="ltGray">
            <a:xfrm>
              <a:off x="4919" y="3594"/>
              <a:ext cx="53" cy="46"/>
            </a:xfrm>
            <a:custGeom>
              <a:avLst/>
              <a:gdLst>
                <a:gd name="T0" fmla="*/ 28 w 71"/>
                <a:gd name="T1" fmla="*/ 23 h 61"/>
                <a:gd name="T2" fmla="*/ 13 w 71"/>
                <a:gd name="T3" fmla="*/ 32 h 61"/>
                <a:gd name="T4" fmla="*/ 1 w 71"/>
                <a:gd name="T5" fmla="*/ 44 h 61"/>
                <a:gd name="T6" fmla="*/ 13 w 71"/>
                <a:gd name="T7" fmla="*/ 59 h 61"/>
                <a:gd name="T8" fmla="*/ 28 w 71"/>
                <a:gd name="T9" fmla="*/ 44 h 61"/>
                <a:gd name="T10" fmla="*/ 40 w 71"/>
                <a:gd name="T11" fmla="*/ 23 h 61"/>
                <a:gd name="T12" fmla="*/ 55 w 71"/>
                <a:gd name="T13" fmla="*/ 0 h 61"/>
                <a:gd name="T14" fmla="*/ 71 w 71"/>
                <a:gd name="T15" fmla="*/ 11 h 61"/>
                <a:gd name="T16" fmla="*/ 35 w 71"/>
                <a:gd name="T17" fmla="*/ 23 h 61"/>
                <a:gd name="T18" fmla="*/ 28 w 71"/>
                <a:gd name="T19" fmla="*/ 23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6" name="Freeform 74"/>
            <p:cNvSpPr>
              <a:spLocks/>
            </p:cNvSpPr>
            <p:nvPr/>
          </p:nvSpPr>
          <p:spPr bwMode="ltGray">
            <a:xfrm>
              <a:off x="4759" y="3569"/>
              <a:ext cx="17" cy="23"/>
            </a:xfrm>
            <a:custGeom>
              <a:avLst/>
              <a:gdLst>
                <a:gd name="T0" fmla="*/ 9 w 23"/>
                <a:gd name="T1" fmla="*/ 0 h 30"/>
                <a:gd name="T2" fmla="*/ 0 w 23"/>
                <a:gd name="T3" fmla="*/ 14 h 30"/>
                <a:gd name="T4" fmla="*/ 12 w 23"/>
                <a:gd name="T5" fmla="*/ 30 h 30"/>
                <a:gd name="T6" fmla="*/ 9 w 23"/>
                <a:gd name="T7" fmla="*/ 0 h 30"/>
              </a:gdLst>
              <a:ahLst/>
              <a:cxnLst>
                <a:cxn ang="0">
                  <a:pos x="T0" y="T1"/>
                </a:cxn>
                <a:cxn ang="0">
                  <a:pos x="T2" y="T3"/>
                </a:cxn>
                <a:cxn ang="0">
                  <a:pos x="T4" y="T5"/>
                </a:cxn>
                <a:cxn ang="0">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7" name="Freeform 75"/>
            <p:cNvSpPr>
              <a:spLocks/>
            </p:cNvSpPr>
            <p:nvPr/>
          </p:nvSpPr>
          <p:spPr bwMode="ltGray">
            <a:xfrm>
              <a:off x="4751" y="3547"/>
              <a:ext cx="20" cy="17"/>
            </a:xfrm>
            <a:custGeom>
              <a:avLst/>
              <a:gdLst>
                <a:gd name="T0" fmla="*/ 19 w 26"/>
                <a:gd name="T1" fmla="*/ 0 h 23"/>
                <a:gd name="T2" fmla="*/ 0 w 26"/>
                <a:gd name="T3" fmla="*/ 14 h 23"/>
                <a:gd name="T4" fmla="*/ 21 w 26"/>
                <a:gd name="T5" fmla="*/ 20 h 23"/>
                <a:gd name="T6" fmla="*/ 19 w 26"/>
                <a:gd name="T7" fmla="*/ 0 h 23"/>
              </a:gdLst>
              <a:ahLst/>
              <a:cxnLst>
                <a:cxn ang="0">
                  <a:pos x="T0" y="T1"/>
                </a:cxn>
                <a:cxn ang="0">
                  <a:pos x="T2" y="T3"/>
                </a:cxn>
                <a:cxn ang="0">
                  <a:pos x="T4" y="T5"/>
                </a:cxn>
                <a:cxn ang="0">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8" name="Freeform 76"/>
            <p:cNvSpPr>
              <a:spLocks/>
            </p:cNvSpPr>
            <p:nvPr/>
          </p:nvSpPr>
          <p:spPr bwMode="ltGray">
            <a:xfrm>
              <a:off x="4598" y="3353"/>
              <a:ext cx="24" cy="33"/>
            </a:xfrm>
            <a:custGeom>
              <a:avLst/>
              <a:gdLst>
                <a:gd name="T0" fmla="*/ 28 w 32"/>
                <a:gd name="T1" fmla="*/ 0 h 44"/>
                <a:gd name="T2" fmla="*/ 10 w 32"/>
                <a:gd name="T3" fmla="*/ 11 h 44"/>
                <a:gd name="T4" fmla="*/ 12 w 32"/>
                <a:gd name="T5" fmla="*/ 32 h 44"/>
                <a:gd name="T6" fmla="*/ 24 w 32"/>
                <a:gd name="T7" fmla="*/ 36 h 44"/>
                <a:gd name="T8" fmla="*/ 28 w 32"/>
                <a:gd name="T9" fmla="*/ 0 h 44"/>
              </a:gdLst>
              <a:ahLst/>
              <a:cxnLst>
                <a:cxn ang="0">
                  <a:pos x="T0" y="T1"/>
                </a:cxn>
                <a:cxn ang="0">
                  <a:pos x="T2" y="T3"/>
                </a:cxn>
                <a:cxn ang="0">
                  <a:pos x="T4" y="T5"/>
                </a:cxn>
                <a:cxn ang="0">
                  <a:pos x="T6" y="T7"/>
                </a:cxn>
                <a:cxn ang="0">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9" name="Freeform 77"/>
            <p:cNvSpPr>
              <a:spLocks/>
            </p:cNvSpPr>
            <p:nvPr/>
          </p:nvSpPr>
          <p:spPr bwMode="ltGray">
            <a:xfrm>
              <a:off x="4632" y="3396"/>
              <a:ext cx="26" cy="33"/>
            </a:xfrm>
            <a:custGeom>
              <a:avLst/>
              <a:gdLst>
                <a:gd name="T0" fmla="*/ 30 w 34"/>
                <a:gd name="T1" fmla="*/ 0 h 44"/>
                <a:gd name="T2" fmla="*/ 10 w 34"/>
                <a:gd name="T3" fmla="*/ 9 h 44"/>
                <a:gd name="T4" fmla="*/ 14 w 34"/>
                <a:gd name="T5" fmla="*/ 32 h 44"/>
                <a:gd name="T6" fmla="*/ 26 w 34"/>
                <a:gd name="T7" fmla="*/ 36 h 44"/>
                <a:gd name="T8" fmla="*/ 30 w 34"/>
                <a:gd name="T9" fmla="*/ 0 h 44"/>
              </a:gdLst>
              <a:ahLst/>
              <a:cxnLst>
                <a:cxn ang="0">
                  <a:pos x="T0" y="T1"/>
                </a:cxn>
                <a:cxn ang="0">
                  <a:pos x="T2" y="T3"/>
                </a:cxn>
                <a:cxn ang="0">
                  <a:pos x="T4" y="T5"/>
                </a:cxn>
                <a:cxn ang="0">
                  <a:pos x="T6" y="T7"/>
                </a:cxn>
                <a:cxn ang="0">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0" name="Freeform 78"/>
            <p:cNvSpPr>
              <a:spLocks/>
            </p:cNvSpPr>
            <p:nvPr/>
          </p:nvSpPr>
          <p:spPr bwMode="ltGray">
            <a:xfrm>
              <a:off x="4659" y="3459"/>
              <a:ext cx="28" cy="28"/>
            </a:xfrm>
            <a:custGeom>
              <a:avLst/>
              <a:gdLst>
                <a:gd name="T0" fmla="*/ 34 w 38"/>
                <a:gd name="T1" fmla="*/ 2 h 37"/>
                <a:gd name="T2" fmla="*/ 10 w 38"/>
                <a:gd name="T3" fmla="*/ 2 h 37"/>
                <a:gd name="T4" fmla="*/ 14 w 38"/>
                <a:gd name="T5" fmla="*/ 25 h 37"/>
                <a:gd name="T6" fmla="*/ 26 w 38"/>
                <a:gd name="T7" fmla="*/ 29 h 37"/>
                <a:gd name="T8" fmla="*/ 34 w 38"/>
                <a:gd name="T9" fmla="*/ 2 h 37"/>
              </a:gdLst>
              <a:ahLst/>
              <a:cxnLst>
                <a:cxn ang="0">
                  <a:pos x="T0" y="T1"/>
                </a:cxn>
                <a:cxn ang="0">
                  <a:pos x="T2" y="T3"/>
                </a:cxn>
                <a:cxn ang="0">
                  <a:pos x="T4" y="T5"/>
                </a:cxn>
                <a:cxn ang="0">
                  <a:pos x="T6" y="T7"/>
                </a:cxn>
                <a:cxn ang="0">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1" name="Freeform 79"/>
            <p:cNvSpPr>
              <a:spLocks/>
            </p:cNvSpPr>
            <p:nvPr/>
          </p:nvSpPr>
          <p:spPr bwMode="ltGray">
            <a:xfrm>
              <a:off x="4693" y="3449"/>
              <a:ext cx="28" cy="26"/>
            </a:xfrm>
            <a:custGeom>
              <a:avLst/>
              <a:gdLst>
                <a:gd name="T0" fmla="*/ 34 w 38"/>
                <a:gd name="T1" fmla="*/ 2 h 34"/>
                <a:gd name="T2" fmla="*/ 10 w 38"/>
                <a:gd name="T3" fmla="*/ 2 h 34"/>
                <a:gd name="T4" fmla="*/ 16 w 38"/>
                <a:gd name="T5" fmla="*/ 22 h 34"/>
                <a:gd name="T6" fmla="*/ 27 w 38"/>
                <a:gd name="T7" fmla="*/ 22 h 34"/>
                <a:gd name="T8" fmla="*/ 34 w 38"/>
                <a:gd name="T9" fmla="*/ 2 h 34"/>
              </a:gdLst>
              <a:ahLst/>
              <a:cxnLst>
                <a:cxn ang="0">
                  <a:pos x="T0" y="T1"/>
                </a:cxn>
                <a:cxn ang="0">
                  <a:pos x="T2" y="T3"/>
                </a:cxn>
                <a:cxn ang="0">
                  <a:pos x="T4" y="T5"/>
                </a:cxn>
                <a:cxn ang="0">
                  <a:pos x="T6" y="T7"/>
                </a:cxn>
                <a:cxn ang="0">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2" name="Freeform 80"/>
            <p:cNvSpPr>
              <a:spLocks/>
            </p:cNvSpPr>
            <p:nvPr/>
          </p:nvSpPr>
          <p:spPr bwMode="ltGray">
            <a:xfrm>
              <a:off x="4683" y="3413"/>
              <a:ext cx="26" cy="20"/>
            </a:xfrm>
            <a:custGeom>
              <a:avLst/>
              <a:gdLst>
                <a:gd name="T0" fmla="*/ 31 w 35"/>
                <a:gd name="T1" fmla="*/ 1 h 27"/>
                <a:gd name="T2" fmla="*/ 10 w 35"/>
                <a:gd name="T3" fmla="*/ 2 h 27"/>
                <a:gd name="T4" fmla="*/ 13 w 35"/>
                <a:gd name="T5" fmla="*/ 15 h 27"/>
                <a:gd name="T6" fmla="*/ 25 w 35"/>
                <a:gd name="T7" fmla="*/ 19 h 27"/>
                <a:gd name="T8" fmla="*/ 31 w 35"/>
                <a:gd name="T9" fmla="*/ 1 h 27"/>
              </a:gdLst>
              <a:ahLst/>
              <a:cxnLst>
                <a:cxn ang="0">
                  <a:pos x="T0" y="T1"/>
                </a:cxn>
                <a:cxn ang="0">
                  <a:pos x="T2" y="T3"/>
                </a:cxn>
                <a:cxn ang="0">
                  <a:pos x="T4" y="T5"/>
                </a:cxn>
                <a:cxn ang="0">
                  <a:pos x="T6" y="T7"/>
                </a:cxn>
                <a:cxn ang="0">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3" name="Freeform 81"/>
            <p:cNvSpPr>
              <a:spLocks/>
            </p:cNvSpPr>
            <p:nvPr/>
          </p:nvSpPr>
          <p:spPr bwMode="ltGray">
            <a:xfrm>
              <a:off x="4657" y="3388"/>
              <a:ext cx="26" cy="35"/>
            </a:xfrm>
            <a:custGeom>
              <a:avLst/>
              <a:gdLst>
                <a:gd name="T0" fmla="*/ 28 w 35"/>
                <a:gd name="T1" fmla="*/ 16 h 47"/>
                <a:gd name="T2" fmla="*/ 19 w 35"/>
                <a:gd name="T3" fmla="*/ 2 h 47"/>
                <a:gd name="T4" fmla="*/ 10 w 35"/>
                <a:gd name="T5" fmla="*/ 25 h 47"/>
                <a:gd name="T6" fmla="*/ 19 w 35"/>
                <a:gd name="T7" fmla="*/ 35 h 47"/>
                <a:gd name="T8" fmla="*/ 27 w 35"/>
                <a:gd name="T9" fmla="*/ 29 h 47"/>
                <a:gd name="T10" fmla="*/ 28 w 35"/>
                <a:gd name="T11" fmla="*/ 16 h 47"/>
              </a:gdLst>
              <a:ahLst/>
              <a:cxnLst>
                <a:cxn ang="0">
                  <a:pos x="T0" y="T1"/>
                </a:cxn>
                <a:cxn ang="0">
                  <a:pos x="T2" y="T3"/>
                </a:cxn>
                <a:cxn ang="0">
                  <a:pos x="T4" y="T5"/>
                </a:cxn>
                <a:cxn ang="0">
                  <a:pos x="T6" y="T7"/>
                </a:cxn>
                <a:cxn ang="0">
                  <a:pos x="T8" y="T9"/>
                </a:cxn>
                <a:cxn ang="0">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4" name="Freeform 82"/>
            <p:cNvSpPr>
              <a:spLocks/>
            </p:cNvSpPr>
            <p:nvPr/>
          </p:nvSpPr>
          <p:spPr bwMode="ltGray">
            <a:xfrm>
              <a:off x="4625" y="3372"/>
              <a:ext cx="24" cy="26"/>
            </a:xfrm>
            <a:custGeom>
              <a:avLst/>
              <a:gdLst>
                <a:gd name="T0" fmla="*/ 22 w 32"/>
                <a:gd name="T1" fmla="*/ 10 h 35"/>
                <a:gd name="T2" fmla="*/ 10 w 32"/>
                <a:gd name="T3" fmla="*/ 2 h 35"/>
                <a:gd name="T4" fmla="*/ 12 w 32"/>
                <a:gd name="T5" fmla="*/ 23 h 35"/>
                <a:gd name="T6" fmla="*/ 24 w 32"/>
                <a:gd name="T7" fmla="*/ 27 h 35"/>
                <a:gd name="T8" fmla="*/ 22 w 32"/>
                <a:gd name="T9" fmla="*/ 10 h 35"/>
              </a:gdLst>
              <a:ahLst/>
              <a:cxnLst>
                <a:cxn ang="0">
                  <a:pos x="T0" y="T1"/>
                </a:cxn>
                <a:cxn ang="0">
                  <a:pos x="T2" y="T3"/>
                </a:cxn>
                <a:cxn ang="0">
                  <a:pos x="T4" y="T5"/>
                </a:cxn>
                <a:cxn ang="0">
                  <a:pos x="T6" y="T7"/>
                </a:cxn>
                <a:cxn ang="0">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5" name="Freeform 83"/>
            <p:cNvSpPr>
              <a:spLocks/>
            </p:cNvSpPr>
            <p:nvPr/>
          </p:nvSpPr>
          <p:spPr bwMode="ltGray">
            <a:xfrm>
              <a:off x="4665" y="3425"/>
              <a:ext cx="24" cy="26"/>
            </a:xfrm>
            <a:custGeom>
              <a:avLst/>
              <a:gdLst>
                <a:gd name="T0" fmla="*/ 22 w 32"/>
                <a:gd name="T1" fmla="*/ 10 h 35"/>
                <a:gd name="T2" fmla="*/ 10 w 32"/>
                <a:gd name="T3" fmla="*/ 2 h 35"/>
                <a:gd name="T4" fmla="*/ 12 w 32"/>
                <a:gd name="T5" fmla="*/ 23 h 35"/>
                <a:gd name="T6" fmla="*/ 24 w 32"/>
                <a:gd name="T7" fmla="*/ 27 h 35"/>
                <a:gd name="T8" fmla="*/ 22 w 32"/>
                <a:gd name="T9" fmla="*/ 10 h 35"/>
              </a:gdLst>
              <a:ahLst/>
              <a:cxnLst>
                <a:cxn ang="0">
                  <a:pos x="T0" y="T1"/>
                </a:cxn>
                <a:cxn ang="0">
                  <a:pos x="T2" y="T3"/>
                </a:cxn>
                <a:cxn ang="0">
                  <a:pos x="T4" y="T5"/>
                </a:cxn>
                <a:cxn ang="0">
                  <a:pos x="T6" y="T7"/>
                </a:cxn>
                <a:cxn ang="0">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6" name="Freeform 84"/>
            <p:cNvSpPr>
              <a:spLocks/>
            </p:cNvSpPr>
            <p:nvPr/>
          </p:nvSpPr>
          <p:spPr bwMode="ltGray">
            <a:xfrm>
              <a:off x="3055" y="2051"/>
              <a:ext cx="141" cy="108"/>
            </a:xfrm>
            <a:custGeom>
              <a:avLst/>
              <a:gdLst>
                <a:gd name="T0" fmla="*/ 171 w 189"/>
                <a:gd name="T1" fmla="*/ 4 h 144"/>
                <a:gd name="T2" fmla="*/ 185 w 189"/>
                <a:gd name="T3" fmla="*/ 4 h 144"/>
                <a:gd name="T4" fmla="*/ 189 w 189"/>
                <a:gd name="T5" fmla="*/ 16 h 144"/>
                <a:gd name="T6" fmla="*/ 187 w 189"/>
                <a:gd name="T7" fmla="*/ 24 h 144"/>
                <a:gd name="T8" fmla="*/ 131 w 189"/>
                <a:gd name="T9" fmla="*/ 44 h 144"/>
                <a:gd name="T10" fmla="*/ 109 w 189"/>
                <a:gd name="T11" fmla="*/ 58 h 144"/>
                <a:gd name="T12" fmla="*/ 97 w 189"/>
                <a:gd name="T13" fmla="*/ 62 h 144"/>
                <a:gd name="T14" fmla="*/ 71 w 189"/>
                <a:gd name="T15" fmla="*/ 82 h 144"/>
                <a:gd name="T16" fmla="*/ 75 w 189"/>
                <a:gd name="T17" fmla="*/ 92 h 144"/>
                <a:gd name="T18" fmla="*/ 83 w 189"/>
                <a:gd name="T19" fmla="*/ 116 h 144"/>
                <a:gd name="T20" fmla="*/ 107 w 189"/>
                <a:gd name="T21" fmla="*/ 126 h 144"/>
                <a:gd name="T22" fmla="*/ 93 w 189"/>
                <a:gd name="T23" fmla="*/ 140 h 144"/>
                <a:gd name="T24" fmla="*/ 83 w 189"/>
                <a:gd name="T25" fmla="*/ 130 h 144"/>
                <a:gd name="T26" fmla="*/ 71 w 189"/>
                <a:gd name="T27" fmla="*/ 134 h 144"/>
                <a:gd name="T28" fmla="*/ 21 w 189"/>
                <a:gd name="T29" fmla="*/ 122 h 144"/>
                <a:gd name="T30" fmla="*/ 19 w 189"/>
                <a:gd name="T31" fmla="*/ 106 h 144"/>
                <a:gd name="T32" fmla="*/ 47 w 189"/>
                <a:gd name="T33" fmla="*/ 90 h 144"/>
                <a:gd name="T34" fmla="*/ 51 w 189"/>
                <a:gd name="T35" fmla="*/ 76 h 144"/>
                <a:gd name="T36" fmla="*/ 47 w 189"/>
                <a:gd name="T37" fmla="*/ 64 h 144"/>
                <a:gd name="T38" fmla="*/ 73 w 189"/>
                <a:gd name="T39" fmla="*/ 46 h 144"/>
                <a:gd name="T40" fmla="*/ 97 w 189"/>
                <a:gd name="T41" fmla="*/ 36 h 144"/>
                <a:gd name="T42" fmla="*/ 113 w 189"/>
                <a:gd name="T43" fmla="*/ 24 h 144"/>
                <a:gd name="T44" fmla="*/ 171 w 189"/>
                <a:gd name="T45" fmla="*/ 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7" name="Freeform 85"/>
            <p:cNvSpPr>
              <a:spLocks/>
            </p:cNvSpPr>
            <p:nvPr/>
          </p:nvSpPr>
          <p:spPr bwMode="ltGray">
            <a:xfrm>
              <a:off x="3139" y="2155"/>
              <a:ext cx="40" cy="12"/>
            </a:xfrm>
            <a:custGeom>
              <a:avLst/>
              <a:gdLst>
                <a:gd name="T0" fmla="*/ 24 w 53"/>
                <a:gd name="T1" fmla="*/ 0 h 17"/>
                <a:gd name="T2" fmla="*/ 12 w 53"/>
                <a:gd name="T3" fmla="*/ 2 h 17"/>
                <a:gd name="T4" fmla="*/ 32 w 53"/>
                <a:gd name="T5" fmla="*/ 16 h 17"/>
                <a:gd name="T6" fmla="*/ 44 w 53"/>
                <a:gd name="T7" fmla="*/ 14 h 17"/>
                <a:gd name="T8" fmla="*/ 24 w 53"/>
                <a:gd name="T9" fmla="*/ 0 h 17"/>
              </a:gdLst>
              <a:ahLst/>
              <a:cxnLst>
                <a:cxn ang="0">
                  <a:pos x="T0" y="T1"/>
                </a:cxn>
                <a:cxn ang="0">
                  <a:pos x="T2" y="T3"/>
                </a:cxn>
                <a:cxn ang="0">
                  <a:pos x="T4" y="T5"/>
                </a:cxn>
                <a:cxn ang="0">
                  <a:pos x="T6" y="T7"/>
                </a:cxn>
                <a:cxn ang="0">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8" name="Freeform 86"/>
            <p:cNvSpPr>
              <a:spLocks/>
            </p:cNvSpPr>
            <p:nvPr/>
          </p:nvSpPr>
          <p:spPr bwMode="ltGray">
            <a:xfrm>
              <a:off x="3344" y="1999"/>
              <a:ext cx="42" cy="28"/>
            </a:xfrm>
            <a:custGeom>
              <a:avLst/>
              <a:gdLst>
                <a:gd name="T0" fmla="*/ 57 w 57"/>
                <a:gd name="T1" fmla="*/ 4 h 37"/>
                <a:gd name="T2" fmla="*/ 25 w 57"/>
                <a:gd name="T3" fmla="*/ 24 h 37"/>
                <a:gd name="T4" fmla="*/ 11 w 57"/>
                <a:gd name="T5" fmla="*/ 34 h 37"/>
                <a:gd name="T6" fmla="*/ 9 w 57"/>
                <a:gd name="T7" fmla="*/ 4 h 37"/>
                <a:gd name="T8" fmla="*/ 21 w 57"/>
                <a:gd name="T9" fmla="*/ 0 h 37"/>
                <a:gd name="T10" fmla="*/ 57 w 57"/>
                <a:gd name="T11" fmla="*/ 4 h 37"/>
              </a:gdLst>
              <a:ahLst/>
              <a:cxnLst>
                <a:cxn ang="0">
                  <a:pos x="T0" y="T1"/>
                </a:cxn>
                <a:cxn ang="0">
                  <a:pos x="T2" y="T3"/>
                </a:cxn>
                <a:cxn ang="0">
                  <a:pos x="T4" y="T5"/>
                </a:cxn>
                <a:cxn ang="0">
                  <a:pos x="T6" y="T7"/>
                </a:cxn>
                <a:cxn ang="0">
                  <a:pos x="T8" y="T9"/>
                </a:cxn>
                <a:cxn ang="0">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9" name="Freeform 87"/>
            <p:cNvSpPr>
              <a:spLocks/>
            </p:cNvSpPr>
            <p:nvPr/>
          </p:nvSpPr>
          <p:spPr bwMode="ltGray">
            <a:xfrm>
              <a:off x="3374" y="2012"/>
              <a:ext cx="50" cy="20"/>
            </a:xfrm>
            <a:custGeom>
              <a:avLst/>
              <a:gdLst>
                <a:gd name="T0" fmla="*/ 29 w 68"/>
                <a:gd name="T1" fmla="*/ 0 h 26"/>
                <a:gd name="T2" fmla="*/ 11 w 68"/>
                <a:gd name="T3" fmla="*/ 6 h 26"/>
                <a:gd name="T4" fmla="*/ 57 w 68"/>
                <a:gd name="T5" fmla="*/ 26 h 26"/>
                <a:gd name="T6" fmla="*/ 63 w 68"/>
                <a:gd name="T7" fmla="*/ 24 h 26"/>
                <a:gd name="T8" fmla="*/ 29 w 68"/>
                <a:gd name="T9" fmla="*/ 0 h 26"/>
              </a:gdLst>
              <a:ahLst/>
              <a:cxnLst>
                <a:cxn ang="0">
                  <a:pos x="T0" y="T1"/>
                </a:cxn>
                <a:cxn ang="0">
                  <a:pos x="T2" y="T3"/>
                </a:cxn>
                <a:cxn ang="0">
                  <a:pos x="T4" y="T5"/>
                </a:cxn>
                <a:cxn ang="0">
                  <a:pos x="T6" y="T7"/>
                </a:cxn>
                <a:cxn ang="0">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0" name="Freeform 88"/>
            <p:cNvSpPr>
              <a:spLocks/>
            </p:cNvSpPr>
            <p:nvPr/>
          </p:nvSpPr>
          <p:spPr bwMode="ltGray">
            <a:xfrm>
              <a:off x="3428" y="2015"/>
              <a:ext cx="50" cy="32"/>
            </a:xfrm>
            <a:custGeom>
              <a:avLst/>
              <a:gdLst>
                <a:gd name="T0" fmla="*/ 50 w 66"/>
                <a:gd name="T1" fmla="*/ 9 h 43"/>
                <a:gd name="T2" fmla="*/ 26 w 66"/>
                <a:gd name="T3" fmla="*/ 9 h 43"/>
                <a:gd name="T4" fmla="*/ 10 w 66"/>
                <a:gd name="T5" fmla="*/ 9 h 43"/>
                <a:gd name="T6" fmla="*/ 8 w 66"/>
                <a:gd name="T7" fmla="*/ 35 h 43"/>
                <a:gd name="T8" fmla="*/ 32 w 66"/>
                <a:gd name="T9" fmla="*/ 43 h 43"/>
                <a:gd name="T10" fmla="*/ 62 w 66"/>
                <a:gd name="T11" fmla="*/ 27 h 43"/>
                <a:gd name="T12" fmla="*/ 50 w 66"/>
                <a:gd name="T13" fmla="*/ 9 h 43"/>
              </a:gdLst>
              <a:ahLst/>
              <a:cxnLst>
                <a:cxn ang="0">
                  <a:pos x="T0" y="T1"/>
                </a:cxn>
                <a:cxn ang="0">
                  <a:pos x="T2" y="T3"/>
                </a:cxn>
                <a:cxn ang="0">
                  <a:pos x="T4" y="T5"/>
                </a:cxn>
                <a:cxn ang="0">
                  <a:pos x="T6" y="T7"/>
                </a:cxn>
                <a:cxn ang="0">
                  <a:pos x="T8" y="T9"/>
                </a:cxn>
                <a:cxn ang="0">
                  <a:pos x="T10" y="T11"/>
                </a:cxn>
                <a:cxn ang="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1" name="Freeform 89"/>
            <p:cNvSpPr>
              <a:spLocks/>
            </p:cNvSpPr>
            <p:nvPr/>
          </p:nvSpPr>
          <p:spPr bwMode="ltGray">
            <a:xfrm>
              <a:off x="3777" y="2042"/>
              <a:ext cx="88" cy="31"/>
            </a:xfrm>
            <a:custGeom>
              <a:avLst/>
              <a:gdLst>
                <a:gd name="T0" fmla="*/ 14 w 117"/>
                <a:gd name="T1" fmla="*/ 0 h 41"/>
                <a:gd name="T2" fmla="*/ 8 w 117"/>
                <a:gd name="T3" fmla="*/ 16 h 41"/>
                <a:gd name="T4" fmla="*/ 50 w 117"/>
                <a:gd name="T5" fmla="*/ 30 h 41"/>
                <a:gd name="T6" fmla="*/ 76 w 117"/>
                <a:gd name="T7" fmla="*/ 36 h 41"/>
                <a:gd name="T8" fmla="*/ 112 w 117"/>
                <a:gd name="T9" fmla="*/ 22 h 41"/>
                <a:gd name="T10" fmla="*/ 78 w 117"/>
                <a:gd name="T11" fmla="*/ 4 h 41"/>
                <a:gd name="T12" fmla="*/ 14 w 117"/>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2" name="Freeform 90"/>
            <p:cNvSpPr>
              <a:spLocks/>
            </p:cNvSpPr>
            <p:nvPr/>
          </p:nvSpPr>
          <p:spPr bwMode="ltGray">
            <a:xfrm>
              <a:off x="3867" y="2041"/>
              <a:ext cx="46" cy="24"/>
            </a:xfrm>
            <a:custGeom>
              <a:avLst/>
              <a:gdLst>
                <a:gd name="T0" fmla="*/ 32 w 62"/>
                <a:gd name="T1" fmla="*/ 4 h 32"/>
                <a:gd name="T2" fmla="*/ 62 w 62"/>
                <a:gd name="T3" fmla="*/ 10 h 32"/>
                <a:gd name="T4" fmla="*/ 30 w 62"/>
                <a:gd name="T5" fmla="*/ 32 h 32"/>
                <a:gd name="T6" fmla="*/ 6 w 62"/>
                <a:gd name="T7" fmla="*/ 22 h 32"/>
                <a:gd name="T8" fmla="*/ 32 w 62"/>
                <a:gd name="T9" fmla="*/ 4 h 32"/>
              </a:gdLst>
              <a:ahLst/>
              <a:cxnLst>
                <a:cxn ang="0">
                  <a:pos x="T0" y="T1"/>
                </a:cxn>
                <a:cxn ang="0">
                  <a:pos x="T2" y="T3"/>
                </a:cxn>
                <a:cxn ang="0">
                  <a:pos x="T4" y="T5"/>
                </a:cxn>
                <a:cxn ang="0">
                  <a:pos x="T6" y="T7"/>
                </a:cxn>
                <a:cxn ang="0">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3" name="Freeform 91"/>
            <p:cNvSpPr>
              <a:spLocks/>
            </p:cNvSpPr>
            <p:nvPr/>
          </p:nvSpPr>
          <p:spPr bwMode="ltGray">
            <a:xfrm>
              <a:off x="3846" y="2070"/>
              <a:ext cx="37" cy="17"/>
            </a:xfrm>
            <a:custGeom>
              <a:avLst/>
              <a:gdLst>
                <a:gd name="T0" fmla="*/ 20 w 49"/>
                <a:gd name="T1" fmla="*/ 1 h 23"/>
                <a:gd name="T2" fmla="*/ 6 w 49"/>
                <a:gd name="T3" fmla="*/ 5 h 23"/>
                <a:gd name="T4" fmla="*/ 38 w 49"/>
                <a:gd name="T5" fmla="*/ 23 h 23"/>
                <a:gd name="T6" fmla="*/ 20 w 49"/>
                <a:gd name="T7" fmla="*/ 1 h 23"/>
              </a:gdLst>
              <a:ahLst/>
              <a:cxnLst>
                <a:cxn ang="0">
                  <a:pos x="T0" y="T1"/>
                </a:cxn>
                <a:cxn ang="0">
                  <a:pos x="T2" y="T3"/>
                </a:cxn>
                <a:cxn ang="0">
                  <a:pos x="T4" y="T5"/>
                </a:cxn>
                <a:cxn ang="0">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4" name="Freeform 92"/>
            <p:cNvSpPr>
              <a:spLocks/>
            </p:cNvSpPr>
            <p:nvPr/>
          </p:nvSpPr>
          <p:spPr bwMode="ltGray">
            <a:xfrm>
              <a:off x="4098" y="2294"/>
              <a:ext cx="76" cy="114"/>
            </a:xfrm>
            <a:custGeom>
              <a:avLst/>
              <a:gdLst>
                <a:gd name="T0" fmla="*/ 6 w 102"/>
                <a:gd name="T1" fmla="*/ 0 h 152"/>
                <a:gd name="T2" fmla="*/ 0 w 102"/>
                <a:gd name="T3" fmla="*/ 18 h 152"/>
                <a:gd name="T4" fmla="*/ 14 w 102"/>
                <a:gd name="T5" fmla="*/ 42 h 152"/>
                <a:gd name="T6" fmla="*/ 32 w 102"/>
                <a:gd name="T7" fmla="*/ 72 h 152"/>
                <a:gd name="T8" fmla="*/ 36 w 102"/>
                <a:gd name="T9" fmla="*/ 104 h 152"/>
                <a:gd name="T10" fmla="*/ 80 w 102"/>
                <a:gd name="T11" fmla="*/ 152 h 152"/>
                <a:gd name="T12" fmla="*/ 86 w 102"/>
                <a:gd name="T13" fmla="*/ 124 h 152"/>
                <a:gd name="T14" fmla="*/ 74 w 102"/>
                <a:gd name="T15" fmla="*/ 102 h 152"/>
                <a:gd name="T16" fmla="*/ 62 w 102"/>
                <a:gd name="T17" fmla="*/ 92 h 152"/>
                <a:gd name="T18" fmla="*/ 52 w 102"/>
                <a:gd name="T19" fmla="*/ 74 h 152"/>
                <a:gd name="T20" fmla="*/ 42 w 102"/>
                <a:gd name="T21" fmla="*/ 44 h 152"/>
                <a:gd name="T22" fmla="*/ 4 w 102"/>
                <a:gd name="T23" fmla="*/ 12 h 152"/>
                <a:gd name="T24" fmla="*/ 6 w 102"/>
                <a:gd name="T25"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5" name="Freeform 93"/>
            <p:cNvSpPr>
              <a:spLocks/>
            </p:cNvSpPr>
            <p:nvPr/>
          </p:nvSpPr>
          <p:spPr bwMode="ltGray">
            <a:xfrm>
              <a:off x="4159" y="2412"/>
              <a:ext cx="55" cy="78"/>
            </a:xfrm>
            <a:custGeom>
              <a:avLst/>
              <a:gdLst>
                <a:gd name="T0" fmla="*/ 64 w 74"/>
                <a:gd name="T1" fmla="*/ 22 h 103"/>
                <a:gd name="T2" fmla="*/ 74 w 74"/>
                <a:gd name="T3" fmla="*/ 40 h 103"/>
                <a:gd name="T4" fmla="*/ 30 w 74"/>
                <a:gd name="T5" fmla="*/ 84 h 103"/>
                <a:gd name="T6" fmla="*/ 32 w 74"/>
                <a:gd name="T7" fmla="*/ 100 h 103"/>
                <a:gd name="T8" fmla="*/ 20 w 74"/>
                <a:gd name="T9" fmla="*/ 94 h 103"/>
                <a:gd name="T10" fmla="*/ 6 w 74"/>
                <a:gd name="T11" fmla="*/ 84 h 103"/>
                <a:gd name="T12" fmla="*/ 0 w 74"/>
                <a:gd name="T13" fmla="*/ 82 h 103"/>
                <a:gd name="T14" fmla="*/ 10 w 74"/>
                <a:gd name="T15" fmla="*/ 58 h 103"/>
                <a:gd name="T16" fmla="*/ 12 w 74"/>
                <a:gd name="T17" fmla="*/ 52 h 103"/>
                <a:gd name="T18" fmla="*/ 2 w 74"/>
                <a:gd name="T19" fmla="*/ 24 h 103"/>
                <a:gd name="T20" fmla="*/ 4 w 74"/>
                <a:gd name="T21" fmla="*/ 14 h 103"/>
                <a:gd name="T22" fmla="*/ 26 w 74"/>
                <a:gd name="T23" fmla="*/ 22 h 103"/>
                <a:gd name="T24" fmla="*/ 36 w 74"/>
                <a:gd name="T25" fmla="*/ 36 h 103"/>
                <a:gd name="T26" fmla="*/ 64 w 74"/>
                <a:gd name="T27" fmla="*/ 2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6" name="Freeform 94"/>
            <p:cNvSpPr>
              <a:spLocks/>
            </p:cNvSpPr>
            <p:nvPr/>
          </p:nvSpPr>
          <p:spPr bwMode="ltGray">
            <a:xfrm>
              <a:off x="4123" y="2492"/>
              <a:ext cx="109" cy="189"/>
            </a:xfrm>
            <a:custGeom>
              <a:avLst/>
              <a:gdLst>
                <a:gd name="T0" fmla="*/ 82 w 146"/>
                <a:gd name="T1" fmla="*/ 100 h 252"/>
                <a:gd name="T2" fmla="*/ 66 w 146"/>
                <a:gd name="T3" fmla="*/ 106 h 252"/>
                <a:gd name="T4" fmla="*/ 64 w 146"/>
                <a:gd name="T5" fmla="*/ 132 h 252"/>
                <a:gd name="T6" fmla="*/ 22 w 146"/>
                <a:gd name="T7" fmla="*/ 146 h 252"/>
                <a:gd name="T8" fmla="*/ 8 w 146"/>
                <a:gd name="T9" fmla="*/ 168 h 252"/>
                <a:gd name="T10" fmla="*/ 20 w 146"/>
                <a:gd name="T11" fmla="*/ 182 h 252"/>
                <a:gd name="T12" fmla="*/ 8 w 146"/>
                <a:gd name="T13" fmla="*/ 198 h 252"/>
                <a:gd name="T14" fmla="*/ 24 w 146"/>
                <a:gd name="T15" fmla="*/ 252 h 252"/>
                <a:gd name="T16" fmla="*/ 28 w 146"/>
                <a:gd name="T17" fmla="*/ 214 h 252"/>
                <a:gd name="T18" fmla="*/ 22 w 146"/>
                <a:gd name="T19" fmla="*/ 192 h 252"/>
                <a:gd name="T20" fmla="*/ 42 w 146"/>
                <a:gd name="T21" fmla="*/ 176 h 252"/>
                <a:gd name="T22" fmla="*/ 52 w 146"/>
                <a:gd name="T23" fmla="*/ 158 h 252"/>
                <a:gd name="T24" fmla="*/ 66 w 146"/>
                <a:gd name="T25" fmla="*/ 174 h 252"/>
                <a:gd name="T26" fmla="*/ 44 w 146"/>
                <a:gd name="T27" fmla="*/ 190 h 252"/>
                <a:gd name="T28" fmla="*/ 56 w 146"/>
                <a:gd name="T29" fmla="*/ 200 h 252"/>
                <a:gd name="T30" fmla="*/ 68 w 146"/>
                <a:gd name="T31" fmla="*/ 178 h 252"/>
                <a:gd name="T32" fmla="*/ 84 w 146"/>
                <a:gd name="T33" fmla="*/ 184 h 252"/>
                <a:gd name="T34" fmla="*/ 104 w 146"/>
                <a:gd name="T35" fmla="*/ 148 h 252"/>
                <a:gd name="T36" fmla="*/ 114 w 146"/>
                <a:gd name="T37" fmla="*/ 156 h 252"/>
                <a:gd name="T38" fmla="*/ 136 w 146"/>
                <a:gd name="T39" fmla="*/ 148 h 252"/>
                <a:gd name="T40" fmla="*/ 146 w 146"/>
                <a:gd name="T41" fmla="*/ 130 h 252"/>
                <a:gd name="T42" fmla="*/ 142 w 146"/>
                <a:gd name="T43" fmla="*/ 110 h 252"/>
                <a:gd name="T44" fmla="*/ 134 w 146"/>
                <a:gd name="T45" fmla="*/ 98 h 252"/>
                <a:gd name="T46" fmla="*/ 122 w 146"/>
                <a:gd name="T47" fmla="*/ 40 h 252"/>
                <a:gd name="T48" fmla="*/ 94 w 146"/>
                <a:gd name="T49" fmla="*/ 0 h 252"/>
                <a:gd name="T50" fmla="*/ 78 w 146"/>
                <a:gd name="T51" fmla="*/ 12 h 252"/>
                <a:gd name="T52" fmla="*/ 96 w 146"/>
                <a:gd name="T53" fmla="*/ 34 h 252"/>
                <a:gd name="T54" fmla="*/ 96 w 146"/>
                <a:gd name="T55" fmla="*/ 64 h 252"/>
                <a:gd name="T56" fmla="*/ 82 w 146"/>
                <a:gd name="T57" fmla="*/ 10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7" name="Freeform 95"/>
            <p:cNvSpPr>
              <a:spLocks/>
            </p:cNvSpPr>
            <p:nvPr/>
          </p:nvSpPr>
          <p:spPr bwMode="ltGray">
            <a:xfrm>
              <a:off x="3062" y="1988"/>
              <a:ext cx="52" cy="30"/>
            </a:xfrm>
            <a:custGeom>
              <a:avLst/>
              <a:gdLst>
                <a:gd name="T0" fmla="*/ 59 w 70"/>
                <a:gd name="T1" fmla="*/ 0 h 40"/>
                <a:gd name="T2" fmla="*/ 65 w 70"/>
                <a:gd name="T3" fmla="*/ 20 h 40"/>
                <a:gd name="T4" fmla="*/ 41 w 70"/>
                <a:gd name="T5" fmla="*/ 24 h 40"/>
                <a:gd name="T6" fmla="*/ 31 w 70"/>
                <a:gd name="T7" fmla="*/ 40 h 40"/>
                <a:gd name="T8" fmla="*/ 7 w 70"/>
                <a:gd name="T9" fmla="*/ 38 h 40"/>
                <a:gd name="T10" fmla="*/ 1 w 70"/>
                <a:gd name="T11" fmla="*/ 36 h 40"/>
                <a:gd name="T12" fmla="*/ 33 w 70"/>
                <a:gd name="T13" fmla="*/ 20 h 40"/>
                <a:gd name="T14" fmla="*/ 59 w 70"/>
                <a:gd name="T15" fmla="*/ 0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8" name="Freeform 96"/>
            <p:cNvSpPr>
              <a:spLocks/>
            </p:cNvSpPr>
            <p:nvPr/>
          </p:nvSpPr>
          <p:spPr bwMode="ltGray">
            <a:xfrm>
              <a:off x="2955" y="1997"/>
              <a:ext cx="19" cy="22"/>
            </a:xfrm>
            <a:custGeom>
              <a:avLst/>
              <a:gdLst>
                <a:gd name="T0" fmla="*/ 18 w 26"/>
                <a:gd name="T1" fmla="*/ 0 h 29"/>
                <a:gd name="T2" fmla="*/ 0 w 26"/>
                <a:gd name="T3" fmla="*/ 18 h 29"/>
                <a:gd name="T4" fmla="*/ 18 w 26"/>
                <a:gd name="T5" fmla="*/ 26 h 29"/>
                <a:gd name="T6" fmla="*/ 18 w 26"/>
                <a:gd name="T7" fmla="*/ 0 h 29"/>
              </a:gdLst>
              <a:ahLst/>
              <a:cxnLst>
                <a:cxn ang="0">
                  <a:pos x="T0" y="T1"/>
                </a:cxn>
                <a:cxn ang="0">
                  <a:pos x="T2" y="T3"/>
                </a:cxn>
                <a:cxn ang="0">
                  <a:pos x="T4" y="T5"/>
                </a:cxn>
                <a:cxn ang="0">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9" name="Freeform 97"/>
            <p:cNvSpPr>
              <a:spLocks/>
            </p:cNvSpPr>
            <p:nvPr/>
          </p:nvSpPr>
          <p:spPr bwMode="ltGray">
            <a:xfrm>
              <a:off x="2979" y="1996"/>
              <a:ext cx="37" cy="27"/>
            </a:xfrm>
            <a:custGeom>
              <a:avLst/>
              <a:gdLst>
                <a:gd name="T0" fmla="*/ 14 w 49"/>
                <a:gd name="T1" fmla="*/ 6 h 36"/>
                <a:gd name="T2" fmla="*/ 0 w 49"/>
                <a:gd name="T3" fmla="*/ 18 h 36"/>
                <a:gd name="T4" fmla="*/ 6 w 49"/>
                <a:gd name="T5" fmla="*/ 32 h 36"/>
                <a:gd name="T6" fmla="*/ 18 w 49"/>
                <a:gd name="T7" fmla="*/ 36 h 36"/>
                <a:gd name="T8" fmla="*/ 40 w 49"/>
                <a:gd name="T9" fmla="*/ 26 h 36"/>
                <a:gd name="T10" fmla="*/ 14 w 49"/>
                <a:gd name="T11" fmla="*/ 6 h 36"/>
              </a:gdLst>
              <a:ahLst/>
              <a:cxnLst>
                <a:cxn ang="0">
                  <a:pos x="T0" y="T1"/>
                </a:cxn>
                <a:cxn ang="0">
                  <a:pos x="T2" y="T3"/>
                </a:cxn>
                <a:cxn ang="0">
                  <a:pos x="T4" y="T5"/>
                </a:cxn>
                <a:cxn ang="0">
                  <a:pos x="T6" y="T7"/>
                </a:cxn>
                <a:cxn ang="0">
                  <a:pos x="T8" y="T9"/>
                </a:cxn>
                <a:cxn ang="0">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0" name="Freeform 98"/>
            <p:cNvSpPr>
              <a:spLocks/>
            </p:cNvSpPr>
            <p:nvPr/>
          </p:nvSpPr>
          <p:spPr bwMode="ltGray">
            <a:xfrm>
              <a:off x="3040" y="1987"/>
              <a:ext cx="20" cy="16"/>
            </a:xfrm>
            <a:custGeom>
              <a:avLst/>
              <a:gdLst>
                <a:gd name="T0" fmla="*/ 11 w 27"/>
                <a:gd name="T1" fmla="*/ 0 h 22"/>
                <a:gd name="T2" fmla="*/ 3 w 27"/>
                <a:gd name="T3" fmla="*/ 12 h 22"/>
                <a:gd name="T4" fmla="*/ 19 w 27"/>
                <a:gd name="T5" fmla="*/ 22 h 22"/>
                <a:gd name="T6" fmla="*/ 11 w 27"/>
                <a:gd name="T7" fmla="*/ 0 h 22"/>
              </a:gdLst>
              <a:ahLst/>
              <a:cxnLst>
                <a:cxn ang="0">
                  <a:pos x="T0" y="T1"/>
                </a:cxn>
                <a:cxn ang="0">
                  <a:pos x="T2" y="T3"/>
                </a:cxn>
                <a:cxn ang="0">
                  <a:pos x="T4" y="T5"/>
                </a:cxn>
                <a:cxn ang="0">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1" name="Freeform 99"/>
            <p:cNvSpPr>
              <a:spLocks/>
            </p:cNvSpPr>
            <p:nvPr/>
          </p:nvSpPr>
          <p:spPr bwMode="ltGray">
            <a:xfrm>
              <a:off x="3022" y="2005"/>
              <a:ext cx="15" cy="13"/>
            </a:xfrm>
            <a:custGeom>
              <a:avLst/>
              <a:gdLst>
                <a:gd name="T0" fmla="*/ 11 w 20"/>
                <a:gd name="T1" fmla="*/ 0 h 18"/>
                <a:gd name="T2" fmla="*/ 9 w 20"/>
                <a:gd name="T3" fmla="*/ 18 h 18"/>
                <a:gd name="T4" fmla="*/ 11 w 20"/>
                <a:gd name="T5" fmla="*/ 0 h 18"/>
              </a:gdLst>
              <a:ahLst/>
              <a:cxnLst>
                <a:cxn ang="0">
                  <a:pos x="T0" y="T1"/>
                </a:cxn>
                <a:cxn ang="0">
                  <a:pos x="T2" y="T3"/>
                </a:cxn>
                <a:cxn ang="0">
                  <a:pos x="T4" y="T5"/>
                </a:cxn>
              </a:cxnLst>
              <a:rect l="0" t="0" r="r" b="b"/>
              <a:pathLst>
                <a:path w="20" h="18">
                  <a:moveTo>
                    <a:pt x="11" y="0"/>
                  </a:moveTo>
                  <a:cubicBezTo>
                    <a:pt x="1" y="14"/>
                    <a:pt x="0" y="9"/>
                    <a:pt x="9" y="18"/>
                  </a:cubicBezTo>
                  <a:cubicBezTo>
                    <a:pt x="20" y="14"/>
                    <a:pt x="16" y="18"/>
                    <a:pt x="11"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2" name="Freeform 100"/>
            <p:cNvSpPr>
              <a:spLocks/>
            </p:cNvSpPr>
            <p:nvPr/>
          </p:nvSpPr>
          <p:spPr bwMode="ltGray">
            <a:xfrm>
              <a:off x="4162" y="2021"/>
              <a:ext cx="18" cy="33"/>
            </a:xfrm>
            <a:custGeom>
              <a:avLst/>
              <a:gdLst>
                <a:gd name="T0" fmla="*/ 24 w 24"/>
                <a:gd name="T1" fmla="*/ 0 h 44"/>
                <a:gd name="T2" fmla="*/ 8 w 24"/>
                <a:gd name="T3" fmla="*/ 16 h 44"/>
                <a:gd name="T4" fmla="*/ 0 w 24"/>
                <a:gd name="T5" fmla="*/ 34 h 44"/>
                <a:gd name="T6" fmla="*/ 16 w 24"/>
                <a:gd name="T7" fmla="*/ 40 h 44"/>
                <a:gd name="T8" fmla="*/ 24 w 24"/>
                <a:gd name="T9" fmla="*/ 0 h 44"/>
              </a:gdLst>
              <a:ahLst/>
              <a:cxnLst>
                <a:cxn ang="0">
                  <a:pos x="T0" y="T1"/>
                </a:cxn>
                <a:cxn ang="0">
                  <a:pos x="T2" y="T3"/>
                </a:cxn>
                <a:cxn ang="0">
                  <a:pos x="T4" y="T5"/>
                </a:cxn>
                <a:cxn ang="0">
                  <a:pos x="T6" y="T7"/>
                </a:cxn>
                <a:cxn ang="0">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3" name="Freeform 101"/>
            <p:cNvSpPr>
              <a:spLocks/>
            </p:cNvSpPr>
            <p:nvPr/>
          </p:nvSpPr>
          <p:spPr bwMode="ltGray">
            <a:xfrm>
              <a:off x="3278" y="3473"/>
              <a:ext cx="31" cy="18"/>
            </a:xfrm>
            <a:custGeom>
              <a:avLst/>
              <a:gdLst>
                <a:gd name="T0" fmla="*/ 30 w 41"/>
                <a:gd name="T1" fmla="*/ 0 h 24"/>
                <a:gd name="T2" fmla="*/ 26 w 41"/>
                <a:gd name="T3" fmla="*/ 24 h 24"/>
                <a:gd name="T4" fmla="*/ 30 w 41"/>
                <a:gd name="T5" fmla="*/ 0 h 24"/>
              </a:gdLst>
              <a:ahLst/>
              <a:cxnLst>
                <a:cxn ang="0">
                  <a:pos x="T0" y="T1"/>
                </a:cxn>
                <a:cxn ang="0">
                  <a:pos x="T2" y="T3"/>
                </a:cxn>
                <a:cxn ang="0">
                  <a:pos x="T4" y="T5"/>
                </a:cxn>
              </a:cxnLst>
              <a:rect l="0" t="0" r="r" b="b"/>
              <a:pathLst>
                <a:path w="41" h="24">
                  <a:moveTo>
                    <a:pt x="30" y="0"/>
                  </a:moveTo>
                  <a:cubicBezTo>
                    <a:pt x="4" y="4"/>
                    <a:pt x="0" y="17"/>
                    <a:pt x="26" y="24"/>
                  </a:cubicBezTo>
                  <a:cubicBezTo>
                    <a:pt x="41" y="19"/>
                    <a:pt x="38" y="10"/>
                    <a:pt x="30"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4" name="Freeform 102"/>
            <p:cNvSpPr>
              <a:spLocks/>
            </p:cNvSpPr>
            <p:nvPr/>
          </p:nvSpPr>
          <p:spPr bwMode="ltGray">
            <a:xfrm>
              <a:off x="3318" y="3466"/>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5" name="Freeform 103"/>
            <p:cNvSpPr>
              <a:spLocks/>
            </p:cNvSpPr>
            <p:nvPr/>
          </p:nvSpPr>
          <p:spPr bwMode="ltGray">
            <a:xfrm>
              <a:off x="3251" y="3312"/>
              <a:ext cx="9"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6" name="Freeform 104"/>
            <p:cNvSpPr>
              <a:spLocks/>
            </p:cNvSpPr>
            <p:nvPr/>
          </p:nvSpPr>
          <p:spPr bwMode="ltGray">
            <a:xfrm>
              <a:off x="3311" y="3239"/>
              <a:ext cx="11" cy="19"/>
            </a:xfrm>
            <a:custGeom>
              <a:avLst/>
              <a:gdLst>
                <a:gd name="T0" fmla="*/ 6 w 14"/>
                <a:gd name="T1" fmla="*/ 0 h 25"/>
                <a:gd name="T2" fmla="*/ 0 w 14"/>
                <a:gd name="T3" fmla="*/ 13 h 25"/>
                <a:gd name="T4" fmla="*/ 12 w 14"/>
                <a:gd name="T5" fmla="*/ 24 h 25"/>
                <a:gd name="T6" fmla="*/ 6 w 14"/>
                <a:gd name="T7" fmla="*/ 0 h 25"/>
              </a:gdLst>
              <a:ahLst/>
              <a:cxnLst>
                <a:cxn ang="0">
                  <a:pos x="T0" y="T1"/>
                </a:cxn>
                <a:cxn ang="0">
                  <a:pos x="T2" y="T3"/>
                </a:cxn>
                <a:cxn ang="0">
                  <a:pos x="T4" y="T5"/>
                </a:cxn>
                <a:cxn ang="0">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7" name="Freeform 105"/>
            <p:cNvSpPr>
              <a:spLocks/>
            </p:cNvSpPr>
            <p:nvPr/>
          </p:nvSpPr>
          <p:spPr bwMode="ltGray">
            <a:xfrm>
              <a:off x="3287" y="3238"/>
              <a:ext cx="11" cy="19"/>
            </a:xfrm>
            <a:custGeom>
              <a:avLst/>
              <a:gdLst>
                <a:gd name="T0" fmla="*/ 6 w 14"/>
                <a:gd name="T1" fmla="*/ 0 h 25"/>
                <a:gd name="T2" fmla="*/ 0 w 14"/>
                <a:gd name="T3" fmla="*/ 13 h 25"/>
                <a:gd name="T4" fmla="*/ 12 w 14"/>
                <a:gd name="T5" fmla="*/ 24 h 25"/>
                <a:gd name="T6" fmla="*/ 6 w 14"/>
                <a:gd name="T7" fmla="*/ 0 h 25"/>
              </a:gdLst>
              <a:ahLst/>
              <a:cxnLst>
                <a:cxn ang="0">
                  <a:pos x="T0" y="T1"/>
                </a:cxn>
                <a:cxn ang="0">
                  <a:pos x="T2" y="T3"/>
                </a:cxn>
                <a:cxn ang="0">
                  <a:pos x="T4" y="T5"/>
                </a:cxn>
                <a:cxn ang="0">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8" name="Freeform 106"/>
            <p:cNvSpPr>
              <a:spLocks/>
            </p:cNvSpPr>
            <p:nvPr/>
          </p:nvSpPr>
          <p:spPr bwMode="ltGray">
            <a:xfrm>
              <a:off x="3276" y="3260"/>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9" name="Freeform 107"/>
            <p:cNvSpPr>
              <a:spLocks/>
            </p:cNvSpPr>
            <p:nvPr/>
          </p:nvSpPr>
          <p:spPr bwMode="ltGray">
            <a:xfrm>
              <a:off x="3251" y="3294"/>
              <a:ext cx="9"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60" name="Freeform 108"/>
            <p:cNvSpPr>
              <a:spLocks/>
            </p:cNvSpPr>
            <p:nvPr/>
          </p:nvSpPr>
          <p:spPr bwMode="ltGray">
            <a:xfrm>
              <a:off x="3270" y="3281"/>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61" name="Freeform 109"/>
            <p:cNvSpPr>
              <a:spLocks/>
            </p:cNvSpPr>
            <p:nvPr/>
          </p:nvSpPr>
          <p:spPr bwMode="ltGray">
            <a:xfrm>
              <a:off x="2537" y="2293"/>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62" name="Freeform 110"/>
            <p:cNvSpPr>
              <a:spLocks/>
            </p:cNvSpPr>
            <p:nvPr/>
          </p:nvSpPr>
          <p:spPr bwMode="ltGray">
            <a:xfrm>
              <a:off x="2476" y="2259"/>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63" name="Freeform 111"/>
            <p:cNvSpPr>
              <a:spLocks/>
            </p:cNvSpPr>
            <p:nvPr/>
          </p:nvSpPr>
          <p:spPr bwMode="ltGray">
            <a:xfrm>
              <a:off x="2238" y="2042"/>
              <a:ext cx="2060" cy="1644"/>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41 h 1644"/>
                <a:gd name="T10" fmla="*/ 146 w 2060"/>
                <a:gd name="T11" fmla="*/ 1059 h 1644"/>
                <a:gd name="T12" fmla="*/ 308 w 2060"/>
                <a:gd name="T13" fmla="*/ 1041 h 1644"/>
                <a:gd name="T14" fmla="*/ 396 w 2060"/>
                <a:gd name="T15" fmla="*/ 1138 h 1644"/>
                <a:gd name="T16" fmla="*/ 452 w 2060"/>
                <a:gd name="T17" fmla="*/ 1447 h 1644"/>
                <a:gd name="T18" fmla="*/ 497 w 2060"/>
                <a:gd name="T19" fmla="*/ 1628 h 1644"/>
                <a:gd name="T20" fmla="*/ 704 w 2060"/>
                <a:gd name="T21" fmla="*/ 1574 h 1644"/>
                <a:gd name="T22" fmla="*/ 817 w 2060"/>
                <a:gd name="T23" fmla="*/ 1380 h 1644"/>
                <a:gd name="T24" fmla="*/ 885 w 2060"/>
                <a:gd name="T25" fmla="*/ 1153 h 1644"/>
                <a:gd name="T26" fmla="*/ 998 w 2060"/>
                <a:gd name="T27" fmla="*/ 999 h 1644"/>
                <a:gd name="T28" fmla="*/ 796 w 2060"/>
                <a:gd name="T29" fmla="*/ 856 h 1644"/>
                <a:gd name="T30" fmla="*/ 817 w 2060"/>
                <a:gd name="T31" fmla="*/ 819 h 1644"/>
                <a:gd name="T32" fmla="*/ 1003 w 2060"/>
                <a:gd name="T33" fmla="*/ 916 h 1644"/>
                <a:gd name="T34" fmla="*/ 1098 w 2060"/>
                <a:gd name="T35" fmla="*/ 792 h 1644"/>
                <a:gd name="T36" fmla="*/ 1046 w 2060"/>
                <a:gd name="T37" fmla="*/ 763 h 1644"/>
                <a:gd name="T38" fmla="*/ 929 w 2060"/>
                <a:gd name="T39" fmla="*/ 716 h 1644"/>
                <a:gd name="T40" fmla="*/ 1141 w 2060"/>
                <a:gd name="T41" fmla="*/ 761 h 1644"/>
                <a:gd name="T42" fmla="*/ 1296 w 2060"/>
                <a:gd name="T43" fmla="*/ 852 h 1644"/>
                <a:gd name="T44" fmla="*/ 1373 w 2060"/>
                <a:gd name="T45" fmla="*/ 1033 h 1644"/>
                <a:gd name="T46" fmla="*/ 1608 w 2060"/>
                <a:gd name="T47" fmla="*/ 847 h 1644"/>
                <a:gd name="T48" fmla="*/ 1704 w 2060"/>
                <a:gd name="T49" fmla="*/ 1030 h 1644"/>
                <a:gd name="T50" fmla="*/ 1707 w 2060"/>
                <a:gd name="T51" fmla="*/ 874 h 1644"/>
                <a:gd name="T52" fmla="*/ 1759 w 2060"/>
                <a:gd name="T53" fmla="*/ 800 h 1644"/>
                <a:gd name="T54" fmla="*/ 1783 w 2060"/>
                <a:gd name="T55" fmla="*/ 544 h 1644"/>
                <a:gd name="T56" fmla="*/ 1824 w 2060"/>
                <a:gd name="T57" fmla="*/ 528 h 1644"/>
                <a:gd name="T58" fmla="*/ 1844 w 2060"/>
                <a:gd name="T59" fmla="*/ 427 h 1644"/>
                <a:gd name="T60" fmla="*/ 1805 w 2060"/>
                <a:gd name="T61" fmla="*/ 226 h 1644"/>
                <a:gd name="T62" fmla="*/ 1899 w 2060"/>
                <a:gd name="T63" fmla="*/ 108 h 1644"/>
                <a:gd name="T64" fmla="*/ 1947 w 2060"/>
                <a:gd name="T65" fmla="*/ 209 h 1644"/>
                <a:gd name="T66" fmla="*/ 1943 w 2060"/>
                <a:gd name="T67" fmla="*/ 123 h 1644"/>
                <a:gd name="T68" fmla="*/ 1975 w 2060"/>
                <a:gd name="T69" fmla="*/ 51 h 1644"/>
                <a:gd name="T70" fmla="*/ 2038 w 2060"/>
                <a:gd name="T71" fmla="*/ 0 h 1644"/>
                <a:gd name="T72" fmla="*/ 1820 w 2060"/>
                <a:gd name="T73" fmla="*/ 63 h 1644"/>
                <a:gd name="T74" fmla="*/ 1583 w 2060"/>
                <a:gd name="T75" fmla="*/ 83 h 1644"/>
                <a:gd name="T76" fmla="*/ 1349 w 2060"/>
                <a:gd name="T77" fmla="*/ 30 h 1644"/>
                <a:gd name="T78" fmla="*/ 1132 w 2060"/>
                <a:gd name="T79" fmla="*/ 65 h 1644"/>
                <a:gd name="T80" fmla="*/ 1040 w 2060"/>
                <a:gd name="T81" fmla="*/ 170 h 1644"/>
                <a:gd name="T82" fmla="*/ 926 w 2060"/>
                <a:gd name="T83" fmla="*/ 137 h 1644"/>
                <a:gd name="T84" fmla="*/ 758 w 2060"/>
                <a:gd name="T85" fmla="*/ 183 h 1644"/>
                <a:gd name="T86" fmla="*/ 667 w 2060"/>
                <a:gd name="T87" fmla="*/ 140 h 1644"/>
                <a:gd name="T88" fmla="*/ 364 w 2060"/>
                <a:gd name="T89" fmla="*/ 248 h 1644"/>
                <a:gd name="T90" fmla="*/ 535 w 2060"/>
                <a:gd name="T91" fmla="*/ 213 h 1644"/>
                <a:gd name="T92" fmla="*/ 638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92 w 2060"/>
                <a:gd name="T109" fmla="*/ 548 h 1644"/>
                <a:gd name="T110" fmla="*/ 686 w 2060"/>
                <a:gd name="T111" fmla="*/ 470 h 1644"/>
                <a:gd name="T112" fmla="*/ 772 w 2060"/>
                <a:gd name="T113" fmla="*/ 480 h 1644"/>
                <a:gd name="T114" fmla="*/ 639 w 2060"/>
                <a:gd name="T115" fmla="*/ 598 h 1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grpSp>
      <p:sp>
        <p:nvSpPr>
          <p:cNvPr id="113" name="Rectangle 23"/>
          <p:cNvSpPr txBox="1">
            <a:spLocks noChangeArrowheads="1"/>
          </p:cNvSpPr>
          <p:nvPr/>
        </p:nvSpPr>
        <p:spPr bwMode="black">
          <a:xfrm>
            <a:off x="689113" y="1537251"/>
            <a:ext cx="7839559" cy="42932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charset="2"/>
              <a:buChar char="§"/>
            </a:pPr>
            <a:r>
              <a:rPr lang="vi-VN" altLang="en-US" sz="2600" dirty="0">
                <a:solidFill>
                  <a:srgbClr val="002060"/>
                </a:solidFill>
              </a:rPr>
              <a:t>VN mong muốn chân thành là bạn với những ai muốn là bạn với VN</a:t>
            </a:r>
          </a:p>
          <a:p>
            <a:pPr algn="just">
              <a:buFont typeface="Wingdings" charset="2"/>
              <a:buChar char="§"/>
            </a:pPr>
            <a:r>
              <a:rPr lang="vi-VN" altLang="en-US" sz="2600" dirty="0">
                <a:solidFill>
                  <a:srgbClr val="002060"/>
                </a:solidFill>
              </a:rPr>
              <a:t>Thái độ trách nhiệm cao sẵn sàng là đối tác tin cậy của các nước, nghiêm chỉnh thực hiện mọi cam kết chung khi đã thiết lập quan hệ đối tác và ngược lại các đối tác cũng phải nghiêm chỉnh thực hiện các cam kết đã thỏa thuận với nhau</a:t>
            </a:r>
          </a:p>
          <a:p>
            <a:pPr algn="just">
              <a:buFont typeface="Wingdings" charset="2"/>
              <a:buChar char="§"/>
            </a:pPr>
            <a:r>
              <a:rPr lang="vi-VN" altLang="en-US" sz="2600" dirty="0">
                <a:solidFill>
                  <a:srgbClr val="002060"/>
                </a:solidFill>
              </a:rPr>
              <a:t>Cơ sở chung để thiết lập quan hệ giữa nước ta với các nước là “phấn đấu vì hòa bình, độc lập và phát triển”</a:t>
            </a:r>
          </a:p>
        </p:txBody>
      </p:sp>
    </p:spTree>
    <p:extLst>
      <p:ext uri="{BB962C8B-B14F-4D97-AF65-F5344CB8AC3E}">
        <p14:creationId xmlns:p14="http://schemas.microsoft.com/office/powerpoint/2010/main" val="38434120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8754" name="Rectangle 2"/>
          <p:cNvSpPr>
            <a:spLocks noGrp="1" noChangeArrowheads="1"/>
          </p:cNvSpPr>
          <p:nvPr>
            <p:ph type="title"/>
          </p:nvPr>
        </p:nvSpPr>
        <p:spPr>
          <a:xfrm>
            <a:off x="0" y="575918"/>
            <a:ext cx="9144000" cy="796925"/>
          </a:xfrm>
        </p:spPr>
        <p:txBody>
          <a:bodyPr>
            <a:noAutofit/>
          </a:bodyPr>
          <a:lstStyle/>
          <a:p>
            <a:pPr algn="ctr"/>
            <a:r>
              <a:rPr lang="en-US" altLang="en-US" sz="2800" b="1" dirty="0" err="1">
                <a:solidFill>
                  <a:srgbClr val="002060"/>
                </a:solidFill>
                <a:latin typeface="Arial" panose="020B0604020202020204" pitchFamily="34" charset="0"/>
                <a:cs typeface="Arial" panose="020B0604020202020204" pitchFamily="34" charset="0"/>
              </a:rPr>
              <a:t>Phương</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hướng</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nâng</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cao</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hiệu</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quả</a:t>
            </a:r>
            <a:r>
              <a:rPr lang="en-US" altLang="en-US" sz="2800" b="1" dirty="0">
                <a:solidFill>
                  <a:srgbClr val="002060"/>
                </a:solidFill>
                <a:latin typeface="Arial" panose="020B0604020202020204" pitchFamily="34" charset="0"/>
                <a:cs typeface="Arial" panose="020B0604020202020204" pitchFamily="34" charset="0"/>
              </a:rPr>
              <a:t> </a:t>
            </a:r>
            <a:br>
              <a:rPr lang="en-US" altLang="en-US" sz="2800" b="1" dirty="0">
                <a:solidFill>
                  <a:srgbClr val="002060"/>
                </a:solidFill>
                <a:latin typeface="Arial" panose="020B0604020202020204" pitchFamily="34" charset="0"/>
                <a:cs typeface="Arial" panose="020B0604020202020204" pitchFamily="34" charset="0"/>
              </a:rPr>
            </a:br>
            <a:r>
              <a:rPr lang="en-US" altLang="en-US" sz="2800" b="1" dirty="0" err="1">
                <a:solidFill>
                  <a:srgbClr val="002060"/>
                </a:solidFill>
                <a:latin typeface="Arial" panose="020B0604020202020204" pitchFamily="34" charset="0"/>
                <a:cs typeface="Arial" panose="020B0604020202020204" pitchFamily="34" charset="0"/>
              </a:rPr>
              <a:t>hội</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nhập</a:t>
            </a:r>
            <a:r>
              <a:rPr lang="en-US" altLang="en-US" sz="2800" b="1" dirty="0">
                <a:solidFill>
                  <a:srgbClr val="002060"/>
                </a:solidFill>
                <a:latin typeface="Arial" panose="020B0604020202020204" pitchFamily="34" charset="0"/>
                <a:cs typeface="Arial" panose="020B0604020202020204" pitchFamily="34" charset="0"/>
              </a:rPr>
              <a:t> KTQT </a:t>
            </a:r>
            <a:r>
              <a:rPr lang="en-US" altLang="en-US" sz="2800" b="1" dirty="0" err="1">
                <a:solidFill>
                  <a:srgbClr val="002060"/>
                </a:solidFill>
                <a:latin typeface="Arial" panose="020B0604020202020204" pitchFamily="34" charset="0"/>
                <a:cs typeface="Arial" panose="020B0604020202020204" pitchFamily="34" charset="0"/>
              </a:rPr>
              <a:t>của</a:t>
            </a:r>
            <a:r>
              <a:rPr lang="en-US" altLang="en-US" sz="2800" b="1" dirty="0">
                <a:solidFill>
                  <a:srgbClr val="002060"/>
                </a:solidFill>
                <a:latin typeface="Arial" panose="020B0604020202020204" pitchFamily="34" charset="0"/>
                <a:cs typeface="Arial" panose="020B0604020202020204" pitchFamily="34" charset="0"/>
              </a:rPr>
              <a:t> </a:t>
            </a:r>
            <a:r>
              <a:rPr lang="en-US" altLang="en-US" sz="2800" b="1" dirty="0" err="1">
                <a:solidFill>
                  <a:srgbClr val="002060"/>
                </a:solidFill>
                <a:latin typeface="Arial" panose="020B0604020202020204" pitchFamily="34" charset="0"/>
                <a:cs typeface="Arial" panose="020B0604020202020204" pitchFamily="34" charset="0"/>
              </a:rPr>
              <a:t>Việt</a:t>
            </a:r>
            <a:r>
              <a:rPr lang="en-US" altLang="en-US" sz="2800" b="1" dirty="0">
                <a:solidFill>
                  <a:srgbClr val="002060"/>
                </a:solidFill>
                <a:latin typeface="Arial" panose="020B0604020202020204" pitchFamily="34" charset="0"/>
                <a:cs typeface="Arial" panose="020B0604020202020204" pitchFamily="34" charset="0"/>
              </a:rPr>
              <a:t> Nam</a:t>
            </a:r>
          </a:p>
        </p:txBody>
      </p:sp>
      <p:grpSp>
        <p:nvGrpSpPr>
          <p:cNvPr id="1098755" name="Group 3"/>
          <p:cNvGrpSpPr>
            <a:grpSpLocks/>
          </p:cNvGrpSpPr>
          <p:nvPr/>
        </p:nvGrpSpPr>
        <p:grpSpPr bwMode="auto">
          <a:xfrm>
            <a:off x="934627" y="1558096"/>
            <a:ext cx="7334250" cy="3606800"/>
            <a:chOff x="664" y="1951"/>
            <a:chExt cx="4308" cy="2120"/>
          </a:xfrm>
        </p:grpSpPr>
        <p:sp>
          <p:nvSpPr>
            <p:cNvPr id="1098756" name="Freeform 4"/>
            <p:cNvSpPr>
              <a:spLocks/>
            </p:cNvSpPr>
            <p:nvPr/>
          </p:nvSpPr>
          <p:spPr bwMode="ltGray">
            <a:xfrm>
              <a:off x="743" y="2045"/>
              <a:ext cx="1267" cy="1938"/>
            </a:xfrm>
            <a:custGeom>
              <a:avLst/>
              <a:gdLst>
                <a:gd name="T0" fmla="*/ 116 w 1692"/>
                <a:gd name="T1" fmla="*/ 258 h 2586"/>
                <a:gd name="T2" fmla="*/ 320 w 1692"/>
                <a:gd name="T3" fmla="*/ 210 h 2586"/>
                <a:gd name="T4" fmla="*/ 434 w 1692"/>
                <a:gd name="T5" fmla="*/ 240 h 2586"/>
                <a:gd name="T6" fmla="*/ 416 w 1692"/>
                <a:gd name="T7" fmla="*/ 444 h 2586"/>
                <a:gd name="T8" fmla="*/ 272 w 1692"/>
                <a:gd name="T9" fmla="*/ 582 h 2586"/>
                <a:gd name="T10" fmla="*/ 218 w 1692"/>
                <a:gd name="T11" fmla="*/ 714 h 2586"/>
                <a:gd name="T12" fmla="*/ 284 w 1692"/>
                <a:gd name="T13" fmla="*/ 964 h 2586"/>
                <a:gd name="T14" fmla="*/ 316 w 1692"/>
                <a:gd name="T15" fmla="*/ 960 h 2586"/>
                <a:gd name="T16" fmla="*/ 328 w 1692"/>
                <a:gd name="T17" fmla="*/ 906 h 2586"/>
                <a:gd name="T18" fmla="*/ 478 w 1692"/>
                <a:gd name="T19" fmla="*/ 1154 h 2586"/>
                <a:gd name="T20" fmla="*/ 650 w 1692"/>
                <a:gd name="T21" fmla="*/ 1200 h 2586"/>
                <a:gd name="T22" fmla="*/ 794 w 1692"/>
                <a:gd name="T23" fmla="*/ 1350 h 2586"/>
                <a:gd name="T24" fmla="*/ 854 w 1692"/>
                <a:gd name="T25" fmla="*/ 1422 h 2586"/>
                <a:gd name="T26" fmla="*/ 770 w 1692"/>
                <a:gd name="T27" fmla="*/ 1608 h 2586"/>
                <a:gd name="T28" fmla="*/ 916 w 1692"/>
                <a:gd name="T29" fmla="*/ 1782 h 2586"/>
                <a:gd name="T30" fmla="*/ 1034 w 1692"/>
                <a:gd name="T31" fmla="*/ 2022 h 2586"/>
                <a:gd name="T32" fmla="*/ 1094 w 1692"/>
                <a:gd name="T33" fmla="*/ 2310 h 2586"/>
                <a:gd name="T34" fmla="*/ 1194 w 1692"/>
                <a:gd name="T35" fmla="*/ 2540 h 2586"/>
                <a:gd name="T36" fmla="*/ 1280 w 1692"/>
                <a:gd name="T37" fmla="*/ 2520 h 2586"/>
                <a:gd name="T38" fmla="*/ 1244 w 1692"/>
                <a:gd name="T39" fmla="*/ 2394 h 2586"/>
                <a:gd name="T40" fmla="*/ 1288 w 1692"/>
                <a:gd name="T41" fmla="*/ 2306 h 2586"/>
                <a:gd name="T42" fmla="*/ 1368 w 1692"/>
                <a:gd name="T43" fmla="*/ 2228 h 2586"/>
                <a:gd name="T44" fmla="*/ 1448 w 1692"/>
                <a:gd name="T45" fmla="*/ 2076 h 2586"/>
                <a:gd name="T46" fmla="*/ 1568 w 1692"/>
                <a:gd name="T47" fmla="*/ 1950 h 2586"/>
                <a:gd name="T48" fmla="*/ 1622 w 1692"/>
                <a:gd name="T49" fmla="*/ 1746 h 2586"/>
                <a:gd name="T50" fmla="*/ 1552 w 1692"/>
                <a:gd name="T51" fmla="*/ 1538 h 2586"/>
                <a:gd name="T52" fmla="*/ 1376 w 1692"/>
                <a:gd name="T53" fmla="*/ 1410 h 2586"/>
                <a:gd name="T54" fmla="*/ 1104 w 1692"/>
                <a:gd name="T55" fmla="*/ 1280 h 2586"/>
                <a:gd name="T56" fmla="*/ 974 w 1692"/>
                <a:gd name="T57" fmla="*/ 1260 h 2586"/>
                <a:gd name="T58" fmla="*/ 904 w 1692"/>
                <a:gd name="T59" fmla="*/ 1268 h 2586"/>
                <a:gd name="T60" fmla="*/ 794 w 1692"/>
                <a:gd name="T61" fmla="*/ 1308 h 2586"/>
                <a:gd name="T62" fmla="*/ 758 w 1692"/>
                <a:gd name="T63" fmla="*/ 1174 h 2586"/>
                <a:gd name="T64" fmla="*/ 736 w 1692"/>
                <a:gd name="T65" fmla="*/ 1062 h 2586"/>
                <a:gd name="T66" fmla="*/ 632 w 1692"/>
                <a:gd name="T67" fmla="*/ 1104 h 2586"/>
                <a:gd name="T68" fmla="*/ 568 w 1692"/>
                <a:gd name="T69" fmla="*/ 950 h 2586"/>
                <a:gd name="T70" fmla="*/ 740 w 1692"/>
                <a:gd name="T71" fmla="*/ 912 h 2586"/>
                <a:gd name="T72" fmla="*/ 842 w 1692"/>
                <a:gd name="T73" fmla="*/ 906 h 2586"/>
                <a:gd name="T74" fmla="*/ 896 w 1692"/>
                <a:gd name="T75" fmla="*/ 900 h 2586"/>
                <a:gd name="T76" fmla="*/ 1058 w 1692"/>
                <a:gd name="T77" fmla="*/ 750 h 2586"/>
                <a:gd name="T78" fmla="*/ 1184 w 1692"/>
                <a:gd name="T79" fmla="*/ 678 h 2586"/>
                <a:gd name="T80" fmla="*/ 1278 w 1692"/>
                <a:gd name="T81" fmla="*/ 636 h 2586"/>
                <a:gd name="T82" fmla="*/ 1340 w 1692"/>
                <a:gd name="T83" fmla="*/ 538 h 2586"/>
                <a:gd name="T84" fmla="*/ 1288 w 1692"/>
                <a:gd name="T85" fmla="*/ 512 h 2586"/>
                <a:gd name="T86" fmla="*/ 1526 w 1692"/>
                <a:gd name="T87" fmla="*/ 456 h 2586"/>
                <a:gd name="T88" fmla="*/ 1406 w 1692"/>
                <a:gd name="T89" fmla="*/ 342 h 2586"/>
                <a:gd name="T90" fmla="*/ 1328 w 1692"/>
                <a:gd name="T91" fmla="*/ 264 h 2586"/>
                <a:gd name="T92" fmla="*/ 1222 w 1692"/>
                <a:gd name="T93" fmla="*/ 364 h 2586"/>
                <a:gd name="T94" fmla="*/ 1110 w 1692"/>
                <a:gd name="T95" fmla="*/ 444 h 2586"/>
                <a:gd name="T96" fmla="*/ 1022 w 1692"/>
                <a:gd name="T97" fmla="*/ 304 h 2586"/>
                <a:gd name="T98" fmla="*/ 1212 w 1692"/>
                <a:gd name="T99" fmla="*/ 240 h 2586"/>
                <a:gd name="T100" fmla="*/ 1266 w 1692"/>
                <a:gd name="T101" fmla="*/ 198 h 2586"/>
                <a:gd name="T102" fmla="*/ 1328 w 1692"/>
                <a:gd name="T103" fmla="*/ 172 h 2586"/>
                <a:gd name="T104" fmla="*/ 1286 w 1692"/>
                <a:gd name="T105" fmla="*/ 144 h 2586"/>
                <a:gd name="T106" fmla="*/ 1262 w 1692"/>
                <a:gd name="T107" fmla="*/ 120 h 2586"/>
                <a:gd name="T108" fmla="*/ 1202 w 1692"/>
                <a:gd name="T109" fmla="*/ 102 h 2586"/>
                <a:gd name="T110" fmla="*/ 1106 w 1692"/>
                <a:gd name="T111" fmla="*/ 136 h 2586"/>
                <a:gd name="T112" fmla="*/ 950 w 1692"/>
                <a:gd name="T113" fmla="*/ 120 h 2586"/>
                <a:gd name="T114" fmla="*/ 550 w 1692"/>
                <a:gd name="T115" fmla="*/ 0 h 2586"/>
                <a:gd name="T116" fmla="*/ 344 w 1692"/>
                <a:gd name="T117" fmla="*/ 32 h 2586"/>
                <a:gd name="T118" fmla="*/ 290 w 1692"/>
                <a:gd name="T119" fmla="*/ 102 h 2586"/>
                <a:gd name="T120" fmla="*/ 128 w 1692"/>
                <a:gd name="T121" fmla="*/ 174 h 2586"/>
                <a:gd name="T122" fmla="*/ 128 w 1692"/>
                <a:gd name="T123" fmla="*/ 216 h 2586"/>
                <a:gd name="T124" fmla="*/ 2 w 1692"/>
                <a:gd name="T125" fmla="*/ 252 h 2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57" name="Freeform 5"/>
            <p:cNvSpPr>
              <a:spLocks/>
            </p:cNvSpPr>
            <p:nvPr/>
          </p:nvSpPr>
          <p:spPr bwMode="ltGray">
            <a:xfrm>
              <a:off x="703" y="2230"/>
              <a:ext cx="34" cy="28"/>
            </a:xfrm>
            <a:custGeom>
              <a:avLst/>
              <a:gdLst>
                <a:gd name="T0" fmla="*/ 16 w 46"/>
                <a:gd name="T1" fmla="*/ 4 h 38"/>
                <a:gd name="T2" fmla="*/ 0 w 46"/>
                <a:gd name="T3" fmla="*/ 22 h 38"/>
                <a:gd name="T4" fmla="*/ 22 w 46"/>
                <a:gd name="T5" fmla="*/ 38 h 38"/>
                <a:gd name="T6" fmla="*/ 46 w 46"/>
                <a:gd name="T7" fmla="*/ 26 h 38"/>
                <a:gd name="T8" fmla="*/ 30 w 46"/>
                <a:gd name="T9" fmla="*/ 0 h 38"/>
                <a:gd name="T10" fmla="*/ 16 w 46"/>
                <a:gd name="T11" fmla="*/ 4 h 38"/>
              </a:gdLst>
              <a:ahLst/>
              <a:cxnLst>
                <a:cxn ang="0">
                  <a:pos x="T0" y="T1"/>
                </a:cxn>
                <a:cxn ang="0">
                  <a:pos x="T2" y="T3"/>
                </a:cxn>
                <a:cxn ang="0">
                  <a:pos x="T4" y="T5"/>
                </a:cxn>
                <a:cxn ang="0">
                  <a:pos x="T6" y="T7"/>
                </a:cxn>
                <a:cxn ang="0">
                  <a:pos x="T8" y="T9"/>
                </a:cxn>
                <a:cxn ang="0">
                  <a:pos x="T10" y="T11"/>
                </a:cxn>
              </a:cxnLst>
              <a:rect l="0" t="0" r="r" b="b"/>
              <a:pathLst>
                <a:path w="46" h="38">
                  <a:moveTo>
                    <a:pt x="16" y="4"/>
                  </a:moveTo>
                  <a:lnTo>
                    <a:pt x="0" y="22"/>
                  </a:lnTo>
                  <a:lnTo>
                    <a:pt x="22" y="38"/>
                  </a:lnTo>
                  <a:lnTo>
                    <a:pt x="46" y="26"/>
                  </a:lnTo>
                  <a:lnTo>
                    <a:pt x="30" y="0"/>
                  </a:lnTo>
                  <a:lnTo>
                    <a:pt x="16" y="4"/>
                  </a:ln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58" name="Freeform 6"/>
            <p:cNvSpPr>
              <a:spLocks/>
            </p:cNvSpPr>
            <p:nvPr/>
          </p:nvSpPr>
          <p:spPr bwMode="ltGray">
            <a:xfrm>
              <a:off x="1010" y="2353"/>
              <a:ext cx="39" cy="32"/>
            </a:xfrm>
            <a:custGeom>
              <a:avLst/>
              <a:gdLst>
                <a:gd name="T0" fmla="*/ 12 w 52"/>
                <a:gd name="T1" fmla="*/ 0 h 44"/>
                <a:gd name="T2" fmla="*/ 26 w 52"/>
                <a:gd name="T3" fmla="*/ 44 h 44"/>
                <a:gd name="T4" fmla="*/ 42 w 52"/>
                <a:gd name="T5" fmla="*/ 42 h 44"/>
                <a:gd name="T6" fmla="*/ 38 w 52"/>
                <a:gd name="T7" fmla="*/ 16 h 44"/>
                <a:gd name="T8" fmla="*/ 26 w 52"/>
                <a:gd name="T9" fmla="*/ 2 h 44"/>
                <a:gd name="T10" fmla="*/ 12 w 52"/>
                <a:gd name="T11" fmla="*/ 0 h 44"/>
              </a:gdLst>
              <a:ahLst/>
              <a:cxnLst>
                <a:cxn ang="0">
                  <a:pos x="T0" y="T1"/>
                </a:cxn>
                <a:cxn ang="0">
                  <a:pos x="T2" y="T3"/>
                </a:cxn>
                <a:cxn ang="0">
                  <a:pos x="T4" y="T5"/>
                </a:cxn>
                <a:cxn ang="0">
                  <a:pos x="T6" y="T7"/>
                </a:cxn>
                <a:cxn ang="0">
                  <a:pos x="T8" y="T9"/>
                </a:cxn>
                <a:cxn ang="0">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59" name="Freeform 7"/>
            <p:cNvSpPr>
              <a:spLocks/>
            </p:cNvSpPr>
            <p:nvPr/>
          </p:nvSpPr>
          <p:spPr bwMode="ltGray">
            <a:xfrm>
              <a:off x="1792" y="2409"/>
              <a:ext cx="98" cy="74"/>
            </a:xfrm>
            <a:custGeom>
              <a:avLst/>
              <a:gdLst>
                <a:gd name="T0" fmla="*/ 97 w 131"/>
                <a:gd name="T1" fmla="*/ 0 h 98"/>
                <a:gd name="T2" fmla="*/ 79 w 131"/>
                <a:gd name="T3" fmla="*/ 8 h 98"/>
                <a:gd name="T4" fmla="*/ 53 w 131"/>
                <a:gd name="T5" fmla="*/ 24 h 98"/>
                <a:gd name="T6" fmla="*/ 39 w 131"/>
                <a:gd name="T7" fmla="*/ 40 h 98"/>
                <a:gd name="T8" fmla="*/ 21 w 131"/>
                <a:gd name="T9" fmla="*/ 52 h 98"/>
                <a:gd name="T10" fmla="*/ 63 w 131"/>
                <a:gd name="T11" fmla="*/ 82 h 98"/>
                <a:gd name="T12" fmla="*/ 79 w 131"/>
                <a:gd name="T13" fmla="*/ 94 h 98"/>
                <a:gd name="T14" fmla="*/ 85 w 131"/>
                <a:gd name="T15" fmla="*/ 92 h 98"/>
                <a:gd name="T16" fmla="*/ 89 w 131"/>
                <a:gd name="T17" fmla="*/ 86 h 98"/>
                <a:gd name="T18" fmla="*/ 97 w 131"/>
                <a:gd name="T19" fmla="*/ 98 h 98"/>
                <a:gd name="T20" fmla="*/ 123 w 131"/>
                <a:gd name="T21" fmla="*/ 86 h 98"/>
                <a:gd name="T22" fmla="*/ 129 w 131"/>
                <a:gd name="T23" fmla="*/ 74 h 98"/>
                <a:gd name="T24" fmla="*/ 101 w 131"/>
                <a:gd name="T25" fmla="*/ 40 h 98"/>
                <a:gd name="T26" fmla="*/ 115 w 131"/>
                <a:gd name="T27" fmla="*/ 24 h 98"/>
                <a:gd name="T28" fmla="*/ 111 w 131"/>
                <a:gd name="T29" fmla="*/ 4 h 98"/>
                <a:gd name="T30" fmla="*/ 97 w 131"/>
                <a:gd name="T3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0" name="Freeform 8"/>
            <p:cNvSpPr>
              <a:spLocks/>
            </p:cNvSpPr>
            <p:nvPr/>
          </p:nvSpPr>
          <p:spPr bwMode="ltGray">
            <a:xfrm>
              <a:off x="1318" y="2793"/>
              <a:ext cx="158" cy="84"/>
            </a:xfrm>
            <a:custGeom>
              <a:avLst/>
              <a:gdLst>
                <a:gd name="T0" fmla="*/ 47 w 212"/>
                <a:gd name="T1" fmla="*/ 12 h 112"/>
                <a:gd name="T2" fmla="*/ 17 w 212"/>
                <a:gd name="T3" fmla="*/ 12 h 112"/>
                <a:gd name="T4" fmla="*/ 5 w 212"/>
                <a:gd name="T5" fmla="*/ 16 h 112"/>
                <a:gd name="T6" fmla="*/ 25 w 212"/>
                <a:gd name="T7" fmla="*/ 52 h 112"/>
                <a:gd name="T8" fmla="*/ 51 w 212"/>
                <a:gd name="T9" fmla="*/ 44 h 112"/>
                <a:gd name="T10" fmla="*/ 93 w 212"/>
                <a:gd name="T11" fmla="*/ 54 h 112"/>
                <a:gd name="T12" fmla="*/ 111 w 212"/>
                <a:gd name="T13" fmla="*/ 60 h 112"/>
                <a:gd name="T14" fmla="*/ 133 w 212"/>
                <a:gd name="T15" fmla="*/ 88 h 112"/>
                <a:gd name="T16" fmla="*/ 141 w 212"/>
                <a:gd name="T17" fmla="*/ 112 h 112"/>
                <a:gd name="T18" fmla="*/ 157 w 212"/>
                <a:gd name="T19" fmla="*/ 100 h 112"/>
                <a:gd name="T20" fmla="*/ 169 w 212"/>
                <a:gd name="T21" fmla="*/ 96 h 112"/>
                <a:gd name="T22" fmla="*/ 187 w 212"/>
                <a:gd name="T23" fmla="*/ 102 h 112"/>
                <a:gd name="T24" fmla="*/ 195 w 212"/>
                <a:gd name="T25" fmla="*/ 80 h 112"/>
                <a:gd name="T26" fmla="*/ 153 w 212"/>
                <a:gd name="T27" fmla="*/ 54 h 112"/>
                <a:gd name="T28" fmla="*/ 105 w 212"/>
                <a:gd name="T29" fmla="*/ 20 h 112"/>
                <a:gd name="T30" fmla="*/ 53 w 212"/>
                <a:gd name="T31" fmla="*/ 26 h 112"/>
                <a:gd name="T32" fmla="*/ 47 w 212"/>
                <a:gd name="T33" fmla="*/ 1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1" name="Freeform 9"/>
            <p:cNvSpPr>
              <a:spLocks/>
            </p:cNvSpPr>
            <p:nvPr/>
          </p:nvSpPr>
          <p:spPr bwMode="ltGray">
            <a:xfrm>
              <a:off x="1448" y="2857"/>
              <a:ext cx="99" cy="41"/>
            </a:xfrm>
            <a:custGeom>
              <a:avLst/>
              <a:gdLst>
                <a:gd name="T0" fmla="*/ 57 w 133"/>
                <a:gd name="T1" fmla="*/ 0 h 54"/>
                <a:gd name="T2" fmla="*/ 43 w 133"/>
                <a:gd name="T3" fmla="*/ 6 h 54"/>
                <a:gd name="T4" fmla="*/ 31 w 133"/>
                <a:gd name="T5" fmla="*/ 30 h 54"/>
                <a:gd name="T6" fmla="*/ 15 w 133"/>
                <a:gd name="T7" fmla="*/ 34 h 54"/>
                <a:gd name="T8" fmla="*/ 3 w 133"/>
                <a:gd name="T9" fmla="*/ 42 h 54"/>
                <a:gd name="T10" fmla="*/ 13 w 133"/>
                <a:gd name="T11" fmla="*/ 54 h 54"/>
                <a:gd name="T12" fmla="*/ 133 w 133"/>
                <a:gd name="T13" fmla="*/ 34 h 54"/>
                <a:gd name="T14" fmla="*/ 123 w 133"/>
                <a:gd name="T15" fmla="*/ 16 h 54"/>
                <a:gd name="T16" fmla="*/ 105 w 133"/>
                <a:gd name="T17" fmla="*/ 8 h 54"/>
                <a:gd name="T18" fmla="*/ 101 w 133"/>
                <a:gd name="T19" fmla="*/ 24 h 54"/>
                <a:gd name="T20" fmla="*/ 89 w 133"/>
                <a:gd name="T21" fmla="*/ 18 h 54"/>
                <a:gd name="T22" fmla="*/ 67 w 133"/>
                <a:gd name="T23" fmla="*/ 14 h 54"/>
                <a:gd name="T24" fmla="*/ 57 w 133"/>
                <a:gd name="T2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2" name="Freeform 10"/>
            <p:cNvSpPr>
              <a:spLocks/>
            </p:cNvSpPr>
            <p:nvPr/>
          </p:nvSpPr>
          <p:spPr bwMode="ltGray">
            <a:xfrm>
              <a:off x="1553" y="2883"/>
              <a:ext cx="38" cy="18"/>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3" name="Freeform 11"/>
            <p:cNvSpPr>
              <a:spLocks/>
            </p:cNvSpPr>
            <p:nvPr/>
          </p:nvSpPr>
          <p:spPr bwMode="ltGray">
            <a:xfrm>
              <a:off x="1609" y="2886"/>
              <a:ext cx="12" cy="25"/>
            </a:xfrm>
            <a:custGeom>
              <a:avLst/>
              <a:gdLst>
                <a:gd name="T0" fmla="*/ 14 w 16"/>
                <a:gd name="T1" fmla="*/ 0 h 34"/>
                <a:gd name="T2" fmla="*/ 0 w 16"/>
                <a:gd name="T3" fmla="*/ 14 h 34"/>
                <a:gd name="T4" fmla="*/ 16 w 16"/>
                <a:gd name="T5" fmla="*/ 34 h 34"/>
                <a:gd name="T6" fmla="*/ 12 w 16"/>
                <a:gd name="T7" fmla="*/ 18 h 34"/>
                <a:gd name="T8" fmla="*/ 16 w 16"/>
                <a:gd name="T9" fmla="*/ 6 h 34"/>
                <a:gd name="T10" fmla="*/ 14 w 16"/>
                <a:gd name="T11" fmla="*/ 0 h 34"/>
              </a:gdLst>
              <a:ahLst/>
              <a:cxnLst>
                <a:cxn ang="0">
                  <a:pos x="T0" y="T1"/>
                </a:cxn>
                <a:cxn ang="0">
                  <a:pos x="T2" y="T3"/>
                </a:cxn>
                <a:cxn ang="0">
                  <a:pos x="T4" y="T5"/>
                </a:cxn>
                <a:cxn ang="0">
                  <a:pos x="T6" y="T7"/>
                </a:cxn>
                <a:cxn ang="0">
                  <a:pos x="T8" y="T9"/>
                </a:cxn>
                <a:cxn ang="0">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4" name="Freeform 12"/>
            <p:cNvSpPr>
              <a:spLocks/>
            </p:cNvSpPr>
            <p:nvPr/>
          </p:nvSpPr>
          <p:spPr bwMode="ltGray">
            <a:xfrm>
              <a:off x="1426" y="2040"/>
              <a:ext cx="180" cy="88"/>
            </a:xfrm>
            <a:custGeom>
              <a:avLst/>
              <a:gdLst>
                <a:gd name="T0" fmla="*/ 64 w 240"/>
                <a:gd name="T1" fmla="*/ 1 h 117"/>
                <a:gd name="T2" fmla="*/ 24 w 240"/>
                <a:gd name="T3" fmla="*/ 31 h 117"/>
                <a:gd name="T4" fmla="*/ 6 w 240"/>
                <a:gd name="T5" fmla="*/ 37 h 117"/>
                <a:gd name="T6" fmla="*/ 0 w 240"/>
                <a:gd name="T7" fmla="*/ 39 h 117"/>
                <a:gd name="T8" fmla="*/ 26 w 240"/>
                <a:gd name="T9" fmla="*/ 59 h 117"/>
                <a:gd name="T10" fmla="*/ 38 w 240"/>
                <a:gd name="T11" fmla="*/ 63 h 117"/>
                <a:gd name="T12" fmla="*/ 68 w 240"/>
                <a:gd name="T13" fmla="*/ 47 h 117"/>
                <a:gd name="T14" fmla="*/ 80 w 240"/>
                <a:gd name="T15" fmla="*/ 43 h 117"/>
                <a:gd name="T16" fmla="*/ 82 w 240"/>
                <a:gd name="T17" fmla="*/ 55 h 117"/>
                <a:gd name="T18" fmla="*/ 64 w 240"/>
                <a:gd name="T19" fmla="*/ 61 h 117"/>
                <a:gd name="T20" fmla="*/ 72 w 240"/>
                <a:gd name="T21" fmla="*/ 73 h 117"/>
                <a:gd name="T22" fmla="*/ 40 w 240"/>
                <a:gd name="T23" fmla="*/ 87 h 117"/>
                <a:gd name="T24" fmla="*/ 70 w 240"/>
                <a:gd name="T25" fmla="*/ 109 h 117"/>
                <a:gd name="T26" fmla="*/ 82 w 240"/>
                <a:gd name="T27" fmla="*/ 113 h 117"/>
                <a:gd name="T28" fmla="*/ 118 w 240"/>
                <a:gd name="T29" fmla="*/ 103 h 117"/>
                <a:gd name="T30" fmla="*/ 150 w 240"/>
                <a:gd name="T31" fmla="*/ 105 h 117"/>
                <a:gd name="T32" fmla="*/ 168 w 240"/>
                <a:gd name="T33" fmla="*/ 117 h 117"/>
                <a:gd name="T34" fmla="*/ 204 w 240"/>
                <a:gd name="T35" fmla="*/ 109 h 117"/>
                <a:gd name="T36" fmla="*/ 224 w 240"/>
                <a:gd name="T37" fmla="*/ 103 h 117"/>
                <a:gd name="T38" fmla="*/ 222 w 240"/>
                <a:gd name="T39" fmla="*/ 77 h 117"/>
                <a:gd name="T40" fmla="*/ 234 w 240"/>
                <a:gd name="T41" fmla="*/ 69 h 117"/>
                <a:gd name="T42" fmla="*/ 238 w 240"/>
                <a:gd name="T43" fmla="*/ 47 h 117"/>
                <a:gd name="T44" fmla="*/ 210 w 240"/>
                <a:gd name="T45" fmla="*/ 57 h 117"/>
                <a:gd name="T46" fmla="*/ 200 w 240"/>
                <a:gd name="T47" fmla="*/ 43 h 117"/>
                <a:gd name="T48" fmla="*/ 172 w 240"/>
                <a:gd name="T49" fmla="*/ 45 h 117"/>
                <a:gd name="T50" fmla="*/ 134 w 240"/>
                <a:gd name="T51" fmla="*/ 9 h 117"/>
                <a:gd name="T52" fmla="*/ 94 w 240"/>
                <a:gd name="T53" fmla="*/ 11 h 117"/>
                <a:gd name="T54" fmla="*/ 82 w 240"/>
                <a:gd name="T55" fmla="*/ 1 h 117"/>
                <a:gd name="T56" fmla="*/ 64 w 240"/>
                <a:gd name="T57" fmla="*/ 1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5" name="Freeform 13"/>
            <p:cNvSpPr>
              <a:spLocks/>
            </p:cNvSpPr>
            <p:nvPr/>
          </p:nvSpPr>
          <p:spPr bwMode="ltGray">
            <a:xfrm>
              <a:off x="1506" y="1999"/>
              <a:ext cx="146" cy="60"/>
            </a:xfrm>
            <a:custGeom>
              <a:avLst/>
              <a:gdLst>
                <a:gd name="T0" fmla="*/ 97 w 194"/>
                <a:gd name="T1" fmla="*/ 10 h 80"/>
                <a:gd name="T2" fmla="*/ 13 w 194"/>
                <a:gd name="T3" fmla="*/ 24 h 80"/>
                <a:gd name="T4" fmla="*/ 9 w 194"/>
                <a:gd name="T5" fmla="*/ 34 h 80"/>
                <a:gd name="T6" fmla="*/ 57 w 194"/>
                <a:gd name="T7" fmla="*/ 52 h 80"/>
                <a:gd name="T8" fmla="*/ 135 w 194"/>
                <a:gd name="T9" fmla="*/ 74 h 80"/>
                <a:gd name="T10" fmla="*/ 175 w 194"/>
                <a:gd name="T11" fmla="*/ 68 h 80"/>
                <a:gd name="T12" fmla="*/ 187 w 194"/>
                <a:gd name="T13" fmla="*/ 64 h 80"/>
                <a:gd name="T14" fmla="*/ 175 w 194"/>
                <a:gd name="T15" fmla="*/ 44 h 80"/>
                <a:gd name="T16" fmla="*/ 163 w 194"/>
                <a:gd name="T17" fmla="*/ 36 h 80"/>
                <a:gd name="T18" fmla="*/ 129 w 194"/>
                <a:gd name="T19" fmla="*/ 26 h 80"/>
                <a:gd name="T20" fmla="*/ 97 w 194"/>
                <a:gd name="T21" fmla="*/ 1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6" name="Freeform 14"/>
            <p:cNvSpPr>
              <a:spLocks/>
            </p:cNvSpPr>
            <p:nvPr/>
          </p:nvSpPr>
          <p:spPr bwMode="ltGray">
            <a:xfrm>
              <a:off x="1711" y="2069"/>
              <a:ext cx="233" cy="190"/>
            </a:xfrm>
            <a:custGeom>
              <a:avLst/>
              <a:gdLst>
                <a:gd name="T0" fmla="*/ 67 w 310"/>
                <a:gd name="T1" fmla="*/ 9 h 254"/>
                <a:gd name="T2" fmla="*/ 51 w 310"/>
                <a:gd name="T3" fmla="*/ 23 h 254"/>
                <a:gd name="T4" fmla="*/ 21 w 310"/>
                <a:gd name="T5" fmla="*/ 39 h 254"/>
                <a:gd name="T6" fmla="*/ 53 w 310"/>
                <a:gd name="T7" fmla="*/ 77 h 254"/>
                <a:gd name="T8" fmla="*/ 79 w 310"/>
                <a:gd name="T9" fmla="*/ 85 h 254"/>
                <a:gd name="T10" fmla="*/ 103 w 310"/>
                <a:gd name="T11" fmla="*/ 99 h 254"/>
                <a:gd name="T12" fmla="*/ 127 w 310"/>
                <a:gd name="T13" fmla="*/ 85 h 254"/>
                <a:gd name="T14" fmla="*/ 143 w 310"/>
                <a:gd name="T15" fmla="*/ 101 h 254"/>
                <a:gd name="T16" fmla="*/ 149 w 310"/>
                <a:gd name="T17" fmla="*/ 127 h 254"/>
                <a:gd name="T18" fmla="*/ 115 w 310"/>
                <a:gd name="T19" fmla="*/ 151 h 254"/>
                <a:gd name="T20" fmla="*/ 89 w 310"/>
                <a:gd name="T21" fmla="*/ 173 h 254"/>
                <a:gd name="T22" fmla="*/ 69 w 310"/>
                <a:gd name="T23" fmla="*/ 169 h 254"/>
                <a:gd name="T24" fmla="*/ 57 w 310"/>
                <a:gd name="T25" fmla="*/ 165 h 254"/>
                <a:gd name="T26" fmla="*/ 43 w 310"/>
                <a:gd name="T27" fmla="*/ 187 h 254"/>
                <a:gd name="T28" fmla="*/ 39 w 310"/>
                <a:gd name="T29" fmla="*/ 199 h 254"/>
                <a:gd name="T30" fmla="*/ 73 w 310"/>
                <a:gd name="T31" fmla="*/ 205 h 254"/>
                <a:gd name="T32" fmla="*/ 95 w 310"/>
                <a:gd name="T33" fmla="*/ 203 h 254"/>
                <a:gd name="T34" fmla="*/ 115 w 310"/>
                <a:gd name="T35" fmla="*/ 231 h 254"/>
                <a:gd name="T36" fmla="*/ 127 w 310"/>
                <a:gd name="T37" fmla="*/ 235 h 254"/>
                <a:gd name="T38" fmla="*/ 139 w 310"/>
                <a:gd name="T39" fmla="*/ 239 h 254"/>
                <a:gd name="T40" fmla="*/ 155 w 310"/>
                <a:gd name="T41" fmla="*/ 251 h 254"/>
                <a:gd name="T42" fmla="*/ 181 w 310"/>
                <a:gd name="T43" fmla="*/ 237 h 254"/>
                <a:gd name="T44" fmla="*/ 203 w 310"/>
                <a:gd name="T45" fmla="*/ 235 h 254"/>
                <a:gd name="T46" fmla="*/ 229 w 310"/>
                <a:gd name="T47" fmla="*/ 213 h 254"/>
                <a:gd name="T48" fmla="*/ 225 w 310"/>
                <a:gd name="T49" fmla="*/ 185 h 254"/>
                <a:gd name="T50" fmla="*/ 217 w 310"/>
                <a:gd name="T51" fmla="*/ 173 h 254"/>
                <a:gd name="T52" fmla="*/ 233 w 310"/>
                <a:gd name="T53" fmla="*/ 167 h 254"/>
                <a:gd name="T54" fmla="*/ 245 w 310"/>
                <a:gd name="T55" fmla="*/ 183 h 254"/>
                <a:gd name="T56" fmla="*/ 247 w 310"/>
                <a:gd name="T57" fmla="*/ 197 h 254"/>
                <a:gd name="T58" fmla="*/ 261 w 310"/>
                <a:gd name="T59" fmla="*/ 193 h 254"/>
                <a:gd name="T60" fmla="*/ 303 w 310"/>
                <a:gd name="T61" fmla="*/ 169 h 254"/>
                <a:gd name="T62" fmla="*/ 293 w 310"/>
                <a:gd name="T63" fmla="*/ 147 h 254"/>
                <a:gd name="T64" fmla="*/ 259 w 310"/>
                <a:gd name="T65" fmla="*/ 123 h 254"/>
                <a:gd name="T66" fmla="*/ 265 w 310"/>
                <a:gd name="T67" fmla="*/ 107 h 254"/>
                <a:gd name="T68" fmla="*/ 277 w 310"/>
                <a:gd name="T69" fmla="*/ 103 h 254"/>
                <a:gd name="T70" fmla="*/ 253 w 310"/>
                <a:gd name="T71" fmla="*/ 63 h 254"/>
                <a:gd name="T72" fmla="*/ 233 w 310"/>
                <a:gd name="T73" fmla="*/ 59 h 254"/>
                <a:gd name="T74" fmla="*/ 221 w 310"/>
                <a:gd name="T75" fmla="*/ 55 h 254"/>
                <a:gd name="T76" fmla="*/ 201 w 310"/>
                <a:gd name="T77" fmla="*/ 33 h 254"/>
                <a:gd name="T78" fmla="*/ 155 w 310"/>
                <a:gd name="T79" fmla="*/ 45 h 254"/>
                <a:gd name="T80" fmla="*/ 167 w 310"/>
                <a:gd name="T81" fmla="*/ 25 h 254"/>
                <a:gd name="T82" fmla="*/ 139 w 310"/>
                <a:gd name="T83" fmla="*/ 17 h 254"/>
                <a:gd name="T84" fmla="*/ 119 w 310"/>
                <a:gd name="T85" fmla="*/ 19 h 254"/>
                <a:gd name="T86" fmla="*/ 67 w 310"/>
                <a:gd name="T87" fmla="*/ 9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7" name="Freeform 15"/>
            <p:cNvSpPr>
              <a:spLocks/>
            </p:cNvSpPr>
            <p:nvPr/>
          </p:nvSpPr>
          <p:spPr bwMode="ltGray">
            <a:xfrm>
              <a:off x="1709" y="1987"/>
              <a:ext cx="44" cy="37"/>
            </a:xfrm>
            <a:custGeom>
              <a:avLst/>
              <a:gdLst>
                <a:gd name="T0" fmla="*/ 26 w 59"/>
                <a:gd name="T1" fmla="*/ 0 h 50"/>
                <a:gd name="T2" fmla="*/ 0 w 59"/>
                <a:gd name="T3" fmla="*/ 10 h 50"/>
                <a:gd name="T4" fmla="*/ 30 w 59"/>
                <a:gd name="T5" fmla="*/ 40 h 50"/>
                <a:gd name="T6" fmla="*/ 48 w 59"/>
                <a:gd name="T7" fmla="*/ 50 h 50"/>
                <a:gd name="T8" fmla="*/ 58 w 59"/>
                <a:gd name="T9" fmla="*/ 28 h 50"/>
                <a:gd name="T10" fmla="*/ 44 w 59"/>
                <a:gd name="T11" fmla="*/ 8 h 50"/>
                <a:gd name="T12" fmla="*/ 26 w 59"/>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8" name="Freeform 16"/>
            <p:cNvSpPr>
              <a:spLocks/>
            </p:cNvSpPr>
            <p:nvPr/>
          </p:nvSpPr>
          <p:spPr bwMode="ltGray">
            <a:xfrm>
              <a:off x="1625" y="2057"/>
              <a:ext cx="65" cy="42"/>
            </a:xfrm>
            <a:custGeom>
              <a:avLst/>
              <a:gdLst>
                <a:gd name="T0" fmla="*/ 44 w 86"/>
                <a:gd name="T1" fmla="*/ 7 h 57"/>
                <a:gd name="T2" fmla="*/ 24 w 86"/>
                <a:gd name="T3" fmla="*/ 25 h 57"/>
                <a:gd name="T4" fmla="*/ 4 w 86"/>
                <a:gd name="T5" fmla="*/ 27 h 57"/>
                <a:gd name="T6" fmla="*/ 16 w 86"/>
                <a:gd name="T7" fmla="*/ 57 h 57"/>
                <a:gd name="T8" fmla="*/ 74 w 86"/>
                <a:gd name="T9" fmla="*/ 35 h 57"/>
                <a:gd name="T10" fmla="*/ 86 w 86"/>
                <a:gd name="T11" fmla="*/ 17 h 57"/>
                <a:gd name="T12" fmla="*/ 56 w 86"/>
                <a:gd name="T13" fmla="*/ 7 h 57"/>
                <a:gd name="T14" fmla="*/ 44 w 86"/>
                <a:gd name="T15" fmla="*/ 7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69" name="Freeform 17"/>
            <p:cNvSpPr>
              <a:spLocks/>
            </p:cNvSpPr>
            <p:nvPr/>
          </p:nvSpPr>
          <p:spPr bwMode="ltGray">
            <a:xfrm>
              <a:off x="1693" y="2065"/>
              <a:ext cx="54" cy="25"/>
            </a:xfrm>
            <a:custGeom>
              <a:avLst/>
              <a:gdLst>
                <a:gd name="T0" fmla="*/ 40 w 73"/>
                <a:gd name="T1" fmla="*/ 0 h 34"/>
                <a:gd name="T2" fmla="*/ 10 w 73"/>
                <a:gd name="T3" fmla="*/ 16 h 34"/>
                <a:gd name="T4" fmla="*/ 24 w 73"/>
                <a:gd name="T5" fmla="*/ 34 h 34"/>
                <a:gd name="T6" fmla="*/ 52 w 73"/>
                <a:gd name="T7" fmla="*/ 28 h 34"/>
                <a:gd name="T8" fmla="*/ 64 w 73"/>
                <a:gd name="T9" fmla="*/ 20 h 34"/>
                <a:gd name="T10" fmla="*/ 40 w 73"/>
                <a:gd name="T11" fmla="*/ 0 h 34"/>
              </a:gdLst>
              <a:ahLst/>
              <a:cxnLst>
                <a:cxn ang="0">
                  <a:pos x="T0" y="T1"/>
                </a:cxn>
                <a:cxn ang="0">
                  <a:pos x="T2" y="T3"/>
                </a:cxn>
                <a:cxn ang="0">
                  <a:pos x="T4" y="T5"/>
                </a:cxn>
                <a:cxn ang="0">
                  <a:pos x="T6" y="T7"/>
                </a:cxn>
                <a:cxn ang="0">
                  <a:pos x="T8" y="T9"/>
                </a:cxn>
                <a:cxn ang="0">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0" name="Freeform 18"/>
            <p:cNvSpPr>
              <a:spLocks/>
            </p:cNvSpPr>
            <p:nvPr/>
          </p:nvSpPr>
          <p:spPr bwMode="ltGray">
            <a:xfrm>
              <a:off x="1664" y="2029"/>
              <a:ext cx="64" cy="34"/>
            </a:xfrm>
            <a:custGeom>
              <a:avLst/>
              <a:gdLst>
                <a:gd name="T0" fmla="*/ 58 w 85"/>
                <a:gd name="T1" fmla="*/ 10 h 45"/>
                <a:gd name="T2" fmla="*/ 28 w 85"/>
                <a:gd name="T3" fmla="*/ 4 h 45"/>
                <a:gd name="T4" fmla="*/ 0 w 85"/>
                <a:gd name="T5" fmla="*/ 18 h 45"/>
                <a:gd name="T6" fmla="*/ 40 w 85"/>
                <a:gd name="T7" fmla="*/ 32 h 45"/>
                <a:gd name="T8" fmla="*/ 64 w 85"/>
                <a:gd name="T9" fmla="*/ 40 h 45"/>
                <a:gd name="T10" fmla="*/ 84 w 85"/>
                <a:gd name="T11" fmla="*/ 18 h 45"/>
                <a:gd name="T12" fmla="*/ 82 w 85"/>
                <a:gd name="T13" fmla="*/ 6 h 45"/>
                <a:gd name="T14" fmla="*/ 64 w 85"/>
                <a:gd name="T15" fmla="*/ 0 h 45"/>
                <a:gd name="T16" fmla="*/ 58 w 85"/>
                <a:gd name="T17" fmla="*/ 1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1" name="Freeform 19"/>
            <p:cNvSpPr>
              <a:spLocks/>
            </p:cNvSpPr>
            <p:nvPr/>
          </p:nvSpPr>
          <p:spPr bwMode="ltGray">
            <a:xfrm>
              <a:off x="1637" y="1997"/>
              <a:ext cx="44" cy="24"/>
            </a:xfrm>
            <a:custGeom>
              <a:avLst/>
              <a:gdLst>
                <a:gd name="T0" fmla="*/ 16 w 58"/>
                <a:gd name="T1" fmla="*/ 4 h 31"/>
                <a:gd name="T2" fmla="*/ 0 w 58"/>
                <a:gd name="T3" fmla="*/ 18 h 31"/>
                <a:gd name="T4" fmla="*/ 20 w 58"/>
                <a:gd name="T5" fmla="*/ 28 h 31"/>
                <a:gd name="T6" fmla="*/ 28 w 58"/>
                <a:gd name="T7" fmla="*/ 20 h 31"/>
                <a:gd name="T8" fmla="*/ 52 w 58"/>
                <a:gd name="T9" fmla="*/ 12 h 31"/>
                <a:gd name="T10" fmla="*/ 44 w 58"/>
                <a:gd name="T11" fmla="*/ 0 h 31"/>
                <a:gd name="T12" fmla="*/ 16 w 58"/>
                <a:gd name="T13" fmla="*/ 4 h 31"/>
              </a:gdLst>
              <a:ahLst/>
              <a:cxnLst>
                <a:cxn ang="0">
                  <a:pos x="T0" y="T1"/>
                </a:cxn>
                <a:cxn ang="0">
                  <a:pos x="T2" y="T3"/>
                </a:cxn>
                <a:cxn ang="0">
                  <a:pos x="T4" y="T5"/>
                </a:cxn>
                <a:cxn ang="0">
                  <a:pos x="T6" y="T7"/>
                </a:cxn>
                <a:cxn ang="0">
                  <a:pos x="T8" y="T9"/>
                </a:cxn>
                <a:cxn ang="0">
                  <a:pos x="T10" y="T11"/>
                </a:cxn>
                <a:cxn ang="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2" name="Freeform 20"/>
            <p:cNvSpPr>
              <a:spLocks/>
            </p:cNvSpPr>
            <p:nvPr/>
          </p:nvSpPr>
          <p:spPr bwMode="ltGray">
            <a:xfrm>
              <a:off x="1751" y="2000"/>
              <a:ext cx="114" cy="77"/>
            </a:xfrm>
            <a:custGeom>
              <a:avLst/>
              <a:gdLst>
                <a:gd name="T0" fmla="*/ 38 w 152"/>
                <a:gd name="T1" fmla="*/ 0 h 102"/>
                <a:gd name="T2" fmla="*/ 14 w 152"/>
                <a:gd name="T3" fmla="*/ 6 h 102"/>
                <a:gd name="T4" fmla="*/ 4 w 152"/>
                <a:gd name="T5" fmla="*/ 38 h 102"/>
                <a:gd name="T6" fmla="*/ 12 w 152"/>
                <a:gd name="T7" fmla="*/ 56 h 102"/>
                <a:gd name="T8" fmla="*/ 0 w 152"/>
                <a:gd name="T9" fmla="*/ 72 h 102"/>
                <a:gd name="T10" fmla="*/ 56 w 152"/>
                <a:gd name="T11" fmla="*/ 86 h 102"/>
                <a:gd name="T12" fmla="*/ 82 w 152"/>
                <a:gd name="T13" fmla="*/ 92 h 102"/>
                <a:gd name="T14" fmla="*/ 152 w 152"/>
                <a:gd name="T15" fmla="*/ 86 h 102"/>
                <a:gd name="T16" fmla="*/ 76 w 152"/>
                <a:gd name="T17" fmla="*/ 70 h 102"/>
                <a:gd name="T18" fmla="*/ 54 w 152"/>
                <a:gd name="T19" fmla="*/ 62 h 102"/>
                <a:gd name="T20" fmla="*/ 44 w 152"/>
                <a:gd name="T21" fmla="*/ 52 h 102"/>
                <a:gd name="T22" fmla="*/ 50 w 152"/>
                <a:gd name="T23" fmla="*/ 34 h 102"/>
                <a:gd name="T24" fmla="*/ 38 w 152"/>
                <a:gd name="T25"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3" name="Freeform 21"/>
            <p:cNvSpPr>
              <a:spLocks/>
            </p:cNvSpPr>
            <p:nvPr/>
          </p:nvSpPr>
          <p:spPr bwMode="ltGray">
            <a:xfrm>
              <a:off x="664" y="2245"/>
              <a:ext cx="25" cy="15"/>
            </a:xfrm>
            <a:custGeom>
              <a:avLst/>
              <a:gdLst>
                <a:gd name="T0" fmla="*/ 34 w 34"/>
                <a:gd name="T1" fmla="*/ 0 h 20"/>
                <a:gd name="T2" fmla="*/ 24 w 34"/>
                <a:gd name="T3" fmla="*/ 20 h 20"/>
                <a:gd name="T4" fmla="*/ 4 w 34"/>
                <a:gd name="T5" fmla="*/ 18 h 20"/>
                <a:gd name="T6" fmla="*/ 4 w 34"/>
                <a:gd name="T7" fmla="*/ 6 h 20"/>
                <a:gd name="T8" fmla="*/ 34 w 34"/>
                <a:gd name="T9" fmla="*/ 0 h 20"/>
              </a:gdLst>
              <a:ahLst/>
              <a:cxnLst>
                <a:cxn ang="0">
                  <a:pos x="T0" y="T1"/>
                </a:cxn>
                <a:cxn ang="0">
                  <a:pos x="T2" y="T3"/>
                </a:cxn>
                <a:cxn ang="0">
                  <a:pos x="T4" y="T5"/>
                </a:cxn>
                <a:cxn ang="0">
                  <a:pos x="T6" y="T7"/>
                </a:cxn>
                <a:cxn ang="0">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4" name="Freeform 22"/>
            <p:cNvSpPr>
              <a:spLocks/>
            </p:cNvSpPr>
            <p:nvPr/>
          </p:nvSpPr>
          <p:spPr bwMode="ltGray">
            <a:xfrm>
              <a:off x="1421" y="2756"/>
              <a:ext cx="16" cy="12"/>
            </a:xfrm>
            <a:custGeom>
              <a:avLst/>
              <a:gdLst>
                <a:gd name="T0" fmla="*/ 3 w 21"/>
                <a:gd name="T1" fmla="*/ 0 h 16"/>
                <a:gd name="T2" fmla="*/ 13 w 21"/>
                <a:gd name="T3" fmla="*/ 16 h 16"/>
                <a:gd name="T4" fmla="*/ 3 w 21"/>
                <a:gd name="T5" fmla="*/ 0 h 16"/>
              </a:gdLst>
              <a:ahLst/>
              <a:cxnLst>
                <a:cxn ang="0">
                  <a:pos x="T0" y="T1"/>
                </a:cxn>
                <a:cxn ang="0">
                  <a:pos x="T2" y="T3"/>
                </a:cxn>
                <a:cxn ang="0">
                  <a:pos x="T4" y="T5"/>
                </a:cxn>
              </a:cxnLst>
              <a:rect l="0" t="0" r="r" b="b"/>
              <a:pathLst>
                <a:path w="21" h="16">
                  <a:moveTo>
                    <a:pt x="3" y="0"/>
                  </a:moveTo>
                  <a:cubicBezTo>
                    <a:pt x="0" y="9"/>
                    <a:pt x="6" y="11"/>
                    <a:pt x="13" y="16"/>
                  </a:cubicBezTo>
                  <a:cubicBezTo>
                    <a:pt x="21" y="4"/>
                    <a:pt x="16" y="2"/>
                    <a:pt x="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5" name="Freeform 23"/>
            <p:cNvSpPr>
              <a:spLocks/>
            </p:cNvSpPr>
            <p:nvPr/>
          </p:nvSpPr>
          <p:spPr bwMode="ltGray">
            <a:xfrm>
              <a:off x="1424" y="2781"/>
              <a:ext cx="16" cy="12"/>
            </a:xfrm>
            <a:custGeom>
              <a:avLst/>
              <a:gdLst>
                <a:gd name="T0" fmla="*/ 3 w 21"/>
                <a:gd name="T1" fmla="*/ 0 h 16"/>
                <a:gd name="T2" fmla="*/ 13 w 21"/>
                <a:gd name="T3" fmla="*/ 16 h 16"/>
                <a:gd name="T4" fmla="*/ 3 w 21"/>
                <a:gd name="T5" fmla="*/ 0 h 16"/>
              </a:gdLst>
              <a:ahLst/>
              <a:cxnLst>
                <a:cxn ang="0">
                  <a:pos x="T0" y="T1"/>
                </a:cxn>
                <a:cxn ang="0">
                  <a:pos x="T2" y="T3"/>
                </a:cxn>
                <a:cxn ang="0">
                  <a:pos x="T4" y="T5"/>
                </a:cxn>
              </a:cxnLst>
              <a:rect l="0" t="0" r="r" b="b"/>
              <a:pathLst>
                <a:path w="21" h="16">
                  <a:moveTo>
                    <a:pt x="3" y="0"/>
                  </a:moveTo>
                  <a:cubicBezTo>
                    <a:pt x="0" y="9"/>
                    <a:pt x="6" y="11"/>
                    <a:pt x="13" y="16"/>
                  </a:cubicBezTo>
                  <a:cubicBezTo>
                    <a:pt x="21" y="4"/>
                    <a:pt x="16" y="2"/>
                    <a:pt x="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6" name="Freeform 24"/>
            <p:cNvSpPr>
              <a:spLocks/>
            </p:cNvSpPr>
            <p:nvPr/>
          </p:nvSpPr>
          <p:spPr bwMode="ltGray">
            <a:xfrm>
              <a:off x="1628" y="2913"/>
              <a:ext cx="15" cy="12"/>
            </a:xfrm>
            <a:custGeom>
              <a:avLst/>
              <a:gdLst>
                <a:gd name="T0" fmla="*/ 3 w 21"/>
                <a:gd name="T1" fmla="*/ 0 h 16"/>
                <a:gd name="T2" fmla="*/ 13 w 21"/>
                <a:gd name="T3" fmla="*/ 16 h 16"/>
                <a:gd name="T4" fmla="*/ 3 w 21"/>
                <a:gd name="T5" fmla="*/ 0 h 16"/>
              </a:gdLst>
              <a:ahLst/>
              <a:cxnLst>
                <a:cxn ang="0">
                  <a:pos x="T0" y="T1"/>
                </a:cxn>
                <a:cxn ang="0">
                  <a:pos x="T2" y="T3"/>
                </a:cxn>
                <a:cxn ang="0">
                  <a:pos x="T4" y="T5"/>
                </a:cxn>
              </a:cxnLst>
              <a:rect l="0" t="0" r="r" b="b"/>
              <a:pathLst>
                <a:path w="21" h="16">
                  <a:moveTo>
                    <a:pt x="3" y="0"/>
                  </a:moveTo>
                  <a:cubicBezTo>
                    <a:pt x="0" y="9"/>
                    <a:pt x="6" y="11"/>
                    <a:pt x="13" y="16"/>
                  </a:cubicBezTo>
                  <a:cubicBezTo>
                    <a:pt x="21" y="4"/>
                    <a:pt x="16" y="2"/>
                    <a:pt x="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7" name="Freeform 25"/>
            <p:cNvSpPr>
              <a:spLocks/>
            </p:cNvSpPr>
            <p:nvPr/>
          </p:nvSpPr>
          <p:spPr bwMode="ltGray">
            <a:xfrm>
              <a:off x="1752" y="2429"/>
              <a:ext cx="38" cy="18"/>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8" name="Freeform 26"/>
            <p:cNvSpPr>
              <a:spLocks/>
            </p:cNvSpPr>
            <p:nvPr/>
          </p:nvSpPr>
          <p:spPr bwMode="ltGray">
            <a:xfrm>
              <a:off x="1652" y="2224"/>
              <a:ext cx="38" cy="18"/>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79" name="Freeform 27"/>
            <p:cNvSpPr>
              <a:spLocks/>
            </p:cNvSpPr>
            <p:nvPr/>
          </p:nvSpPr>
          <p:spPr bwMode="ltGray">
            <a:xfrm>
              <a:off x="1717" y="2045"/>
              <a:ext cx="39" cy="18"/>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0" name="Freeform 28"/>
            <p:cNvSpPr>
              <a:spLocks/>
            </p:cNvSpPr>
            <p:nvPr/>
          </p:nvSpPr>
          <p:spPr bwMode="ltGray">
            <a:xfrm>
              <a:off x="1780" y="2153"/>
              <a:ext cx="38" cy="18"/>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1" name="Freeform 29"/>
            <p:cNvSpPr>
              <a:spLocks/>
            </p:cNvSpPr>
            <p:nvPr/>
          </p:nvSpPr>
          <p:spPr bwMode="ltGray">
            <a:xfrm>
              <a:off x="1796" y="1951"/>
              <a:ext cx="696" cy="346"/>
            </a:xfrm>
            <a:custGeom>
              <a:avLst/>
              <a:gdLst>
                <a:gd name="T0" fmla="*/ 28 w 929"/>
                <a:gd name="T1" fmla="*/ 56 h 462"/>
                <a:gd name="T2" fmla="*/ 6 w 929"/>
                <a:gd name="T3" fmla="*/ 92 h 462"/>
                <a:gd name="T4" fmla="*/ 36 w 929"/>
                <a:gd name="T5" fmla="*/ 100 h 462"/>
                <a:gd name="T6" fmla="*/ 16 w 929"/>
                <a:gd name="T7" fmla="*/ 116 h 462"/>
                <a:gd name="T8" fmla="*/ 104 w 929"/>
                <a:gd name="T9" fmla="*/ 136 h 462"/>
                <a:gd name="T10" fmla="*/ 142 w 929"/>
                <a:gd name="T11" fmla="*/ 130 h 462"/>
                <a:gd name="T12" fmla="*/ 250 w 929"/>
                <a:gd name="T13" fmla="*/ 78 h 462"/>
                <a:gd name="T14" fmla="*/ 300 w 929"/>
                <a:gd name="T15" fmla="*/ 66 h 462"/>
                <a:gd name="T16" fmla="*/ 324 w 929"/>
                <a:gd name="T17" fmla="*/ 80 h 462"/>
                <a:gd name="T18" fmla="*/ 272 w 929"/>
                <a:gd name="T19" fmla="*/ 88 h 462"/>
                <a:gd name="T20" fmla="*/ 242 w 929"/>
                <a:gd name="T21" fmla="*/ 112 h 462"/>
                <a:gd name="T22" fmla="*/ 254 w 929"/>
                <a:gd name="T23" fmla="*/ 120 h 462"/>
                <a:gd name="T24" fmla="*/ 260 w 929"/>
                <a:gd name="T25" fmla="*/ 158 h 462"/>
                <a:gd name="T26" fmla="*/ 350 w 929"/>
                <a:gd name="T27" fmla="*/ 192 h 462"/>
                <a:gd name="T28" fmla="*/ 336 w 929"/>
                <a:gd name="T29" fmla="*/ 210 h 462"/>
                <a:gd name="T30" fmla="*/ 368 w 929"/>
                <a:gd name="T31" fmla="*/ 246 h 462"/>
                <a:gd name="T32" fmla="*/ 348 w 929"/>
                <a:gd name="T33" fmla="*/ 266 h 462"/>
                <a:gd name="T34" fmla="*/ 324 w 929"/>
                <a:gd name="T35" fmla="*/ 294 h 462"/>
                <a:gd name="T36" fmla="*/ 294 w 929"/>
                <a:gd name="T37" fmla="*/ 324 h 462"/>
                <a:gd name="T38" fmla="*/ 292 w 929"/>
                <a:gd name="T39" fmla="*/ 420 h 462"/>
                <a:gd name="T40" fmla="*/ 332 w 929"/>
                <a:gd name="T41" fmla="*/ 446 h 462"/>
                <a:gd name="T42" fmla="*/ 388 w 929"/>
                <a:gd name="T43" fmla="*/ 448 h 462"/>
                <a:gd name="T44" fmla="*/ 412 w 929"/>
                <a:gd name="T45" fmla="*/ 422 h 462"/>
                <a:gd name="T46" fmla="*/ 506 w 929"/>
                <a:gd name="T47" fmla="*/ 356 h 462"/>
                <a:gd name="T48" fmla="*/ 572 w 929"/>
                <a:gd name="T49" fmla="*/ 334 h 462"/>
                <a:gd name="T50" fmla="*/ 646 w 929"/>
                <a:gd name="T51" fmla="*/ 308 h 462"/>
                <a:gd name="T52" fmla="*/ 720 w 929"/>
                <a:gd name="T53" fmla="*/ 290 h 462"/>
                <a:gd name="T54" fmla="*/ 762 w 929"/>
                <a:gd name="T55" fmla="*/ 260 h 462"/>
                <a:gd name="T56" fmla="*/ 800 w 929"/>
                <a:gd name="T57" fmla="*/ 200 h 462"/>
                <a:gd name="T58" fmla="*/ 802 w 929"/>
                <a:gd name="T59" fmla="*/ 154 h 462"/>
                <a:gd name="T60" fmla="*/ 802 w 929"/>
                <a:gd name="T61" fmla="*/ 124 h 462"/>
                <a:gd name="T62" fmla="*/ 832 w 929"/>
                <a:gd name="T63" fmla="*/ 90 h 462"/>
                <a:gd name="T64" fmla="*/ 876 w 929"/>
                <a:gd name="T65" fmla="*/ 94 h 462"/>
                <a:gd name="T66" fmla="*/ 922 w 929"/>
                <a:gd name="T67" fmla="*/ 52 h 462"/>
                <a:gd name="T68" fmla="*/ 888 w 929"/>
                <a:gd name="T69" fmla="*/ 56 h 462"/>
                <a:gd name="T70" fmla="*/ 848 w 929"/>
                <a:gd name="T71" fmla="*/ 46 h 462"/>
                <a:gd name="T72" fmla="*/ 794 w 929"/>
                <a:gd name="T73" fmla="*/ 22 h 462"/>
                <a:gd name="T74" fmla="*/ 642 w 929"/>
                <a:gd name="T75" fmla="*/ 26 h 462"/>
                <a:gd name="T76" fmla="*/ 584 w 929"/>
                <a:gd name="T77" fmla="*/ 38 h 462"/>
                <a:gd name="T78" fmla="*/ 556 w 929"/>
                <a:gd name="T79" fmla="*/ 38 h 462"/>
                <a:gd name="T80" fmla="*/ 516 w 929"/>
                <a:gd name="T81" fmla="*/ 54 h 462"/>
                <a:gd name="T82" fmla="*/ 478 w 929"/>
                <a:gd name="T83" fmla="*/ 30 h 462"/>
                <a:gd name="T84" fmla="*/ 432 w 929"/>
                <a:gd name="T85" fmla="*/ 40 h 462"/>
                <a:gd name="T86" fmla="*/ 366 w 929"/>
                <a:gd name="T87" fmla="*/ 52 h 462"/>
                <a:gd name="T88" fmla="*/ 410 w 929"/>
                <a:gd name="T89" fmla="*/ 38 h 462"/>
                <a:gd name="T90" fmla="*/ 352 w 929"/>
                <a:gd name="T91" fmla="*/ 8 h 462"/>
                <a:gd name="T92" fmla="*/ 334 w 929"/>
                <a:gd name="T93" fmla="*/ 2 h 462"/>
                <a:gd name="T94" fmla="*/ 314 w 929"/>
                <a:gd name="T95" fmla="*/ 8 h 462"/>
                <a:gd name="T96" fmla="*/ 240 w 929"/>
                <a:gd name="T97" fmla="*/ 16 h 462"/>
                <a:gd name="T98" fmla="*/ 160 w 929"/>
                <a:gd name="T99" fmla="*/ 28 h 462"/>
                <a:gd name="T100" fmla="*/ 108 w 929"/>
                <a:gd name="T101" fmla="*/ 26 h 462"/>
                <a:gd name="T102" fmla="*/ 114 w 929"/>
                <a:gd name="T103" fmla="*/ 68 h 462"/>
                <a:gd name="T104" fmla="*/ 104 w 929"/>
                <a:gd name="T105" fmla="*/ 52 h 462"/>
                <a:gd name="T106" fmla="*/ 60 w 929"/>
                <a:gd name="T107" fmla="*/ 42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2" name="Freeform 30"/>
            <p:cNvSpPr>
              <a:spLocks/>
            </p:cNvSpPr>
            <p:nvPr/>
          </p:nvSpPr>
          <p:spPr bwMode="ltGray">
            <a:xfrm>
              <a:off x="2009" y="2135"/>
              <a:ext cx="39" cy="24"/>
            </a:xfrm>
            <a:custGeom>
              <a:avLst/>
              <a:gdLst>
                <a:gd name="T0" fmla="*/ 34 w 52"/>
                <a:gd name="T1" fmla="*/ 0 h 32"/>
                <a:gd name="T2" fmla="*/ 8 w 52"/>
                <a:gd name="T3" fmla="*/ 20 h 32"/>
                <a:gd name="T4" fmla="*/ 24 w 52"/>
                <a:gd name="T5" fmla="*/ 32 h 32"/>
                <a:gd name="T6" fmla="*/ 42 w 52"/>
                <a:gd name="T7" fmla="*/ 30 h 32"/>
                <a:gd name="T8" fmla="*/ 34 w 52"/>
                <a:gd name="T9" fmla="*/ 0 h 32"/>
              </a:gdLst>
              <a:ahLst/>
              <a:cxnLst>
                <a:cxn ang="0">
                  <a:pos x="T0" y="T1"/>
                </a:cxn>
                <a:cxn ang="0">
                  <a:pos x="T2" y="T3"/>
                </a:cxn>
                <a:cxn ang="0">
                  <a:pos x="T4" y="T5"/>
                </a:cxn>
                <a:cxn ang="0">
                  <a:pos x="T6" y="T7"/>
                </a:cxn>
                <a:cxn ang="0">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3" name="Freeform 31"/>
            <p:cNvSpPr>
              <a:spLocks/>
            </p:cNvSpPr>
            <p:nvPr/>
          </p:nvSpPr>
          <p:spPr bwMode="ltGray">
            <a:xfrm>
              <a:off x="2292" y="2201"/>
              <a:ext cx="128" cy="54"/>
            </a:xfrm>
            <a:custGeom>
              <a:avLst/>
              <a:gdLst>
                <a:gd name="T0" fmla="*/ 102 w 172"/>
                <a:gd name="T1" fmla="*/ 8 h 72"/>
                <a:gd name="T2" fmla="*/ 66 w 172"/>
                <a:gd name="T3" fmla="*/ 4 h 72"/>
                <a:gd name="T4" fmla="*/ 54 w 172"/>
                <a:gd name="T5" fmla="*/ 0 h 72"/>
                <a:gd name="T6" fmla="*/ 0 w 172"/>
                <a:gd name="T7" fmla="*/ 28 h 72"/>
                <a:gd name="T8" fmla="*/ 28 w 172"/>
                <a:gd name="T9" fmla="*/ 40 h 72"/>
                <a:gd name="T10" fmla="*/ 42 w 172"/>
                <a:gd name="T11" fmla="*/ 60 h 72"/>
                <a:gd name="T12" fmla="*/ 66 w 172"/>
                <a:gd name="T13" fmla="*/ 68 h 72"/>
                <a:gd name="T14" fmla="*/ 78 w 172"/>
                <a:gd name="T15" fmla="*/ 72 h 72"/>
                <a:gd name="T16" fmla="*/ 130 w 172"/>
                <a:gd name="T17" fmla="*/ 60 h 72"/>
                <a:gd name="T18" fmla="*/ 172 w 172"/>
                <a:gd name="T19" fmla="*/ 44 h 72"/>
                <a:gd name="T20" fmla="*/ 148 w 172"/>
                <a:gd name="T21" fmla="*/ 18 h 72"/>
                <a:gd name="T22" fmla="*/ 136 w 172"/>
                <a:gd name="T23" fmla="*/ 4 h 72"/>
                <a:gd name="T24" fmla="*/ 102 w 172"/>
                <a:gd name="T25" fmla="*/ 8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4" name="Freeform 32"/>
            <p:cNvSpPr>
              <a:spLocks/>
            </p:cNvSpPr>
            <p:nvPr/>
          </p:nvSpPr>
          <p:spPr bwMode="ltGray">
            <a:xfrm>
              <a:off x="2393" y="2038"/>
              <a:ext cx="39" cy="24"/>
            </a:xfrm>
            <a:custGeom>
              <a:avLst/>
              <a:gdLst>
                <a:gd name="T0" fmla="*/ 34 w 52"/>
                <a:gd name="T1" fmla="*/ 0 h 32"/>
                <a:gd name="T2" fmla="*/ 8 w 52"/>
                <a:gd name="T3" fmla="*/ 20 h 32"/>
                <a:gd name="T4" fmla="*/ 24 w 52"/>
                <a:gd name="T5" fmla="*/ 32 h 32"/>
                <a:gd name="T6" fmla="*/ 42 w 52"/>
                <a:gd name="T7" fmla="*/ 30 h 32"/>
                <a:gd name="T8" fmla="*/ 34 w 52"/>
                <a:gd name="T9" fmla="*/ 0 h 32"/>
              </a:gdLst>
              <a:ahLst/>
              <a:cxnLst>
                <a:cxn ang="0">
                  <a:pos x="T0" y="T1"/>
                </a:cxn>
                <a:cxn ang="0">
                  <a:pos x="T2" y="T3"/>
                </a:cxn>
                <a:cxn ang="0">
                  <a:pos x="T4" y="T5"/>
                </a:cxn>
                <a:cxn ang="0">
                  <a:pos x="T6" y="T7"/>
                </a:cxn>
                <a:cxn ang="0">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5" name="Freeform 33"/>
            <p:cNvSpPr>
              <a:spLocks/>
            </p:cNvSpPr>
            <p:nvPr/>
          </p:nvSpPr>
          <p:spPr bwMode="ltGray">
            <a:xfrm>
              <a:off x="2662" y="2006"/>
              <a:ext cx="155" cy="63"/>
            </a:xfrm>
            <a:custGeom>
              <a:avLst/>
              <a:gdLst>
                <a:gd name="T0" fmla="*/ 191 w 206"/>
                <a:gd name="T1" fmla="*/ 7 h 85"/>
                <a:gd name="T2" fmla="*/ 103 w 206"/>
                <a:gd name="T3" fmla="*/ 9 h 85"/>
                <a:gd name="T4" fmla="*/ 109 w 206"/>
                <a:gd name="T5" fmla="*/ 25 h 85"/>
                <a:gd name="T6" fmla="*/ 107 w 206"/>
                <a:gd name="T7" fmla="*/ 33 h 85"/>
                <a:gd name="T8" fmla="*/ 89 w 206"/>
                <a:gd name="T9" fmla="*/ 27 h 85"/>
                <a:gd name="T10" fmla="*/ 77 w 206"/>
                <a:gd name="T11" fmla="*/ 19 h 85"/>
                <a:gd name="T12" fmla="*/ 23 w 206"/>
                <a:gd name="T13" fmla="*/ 27 h 85"/>
                <a:gd name="T14" fmla="*/ 31 w 206"/>
                <a:gd name="T15" fmla="*/ 49 h 85"/>
                <a:gd name="T16" fmla="*/ 55 w 206"/>
                <a:gd name="T17" fmla="*/ 53 h 85"/>
                <a:gd name="T18" fmla="*/ 75 w 206"/>
                <a:gd name="T19" fmla="*/ 73 h 85"/>
                <a:gd name="T20" fmla="*/ 89 w 206"/>
                <a:gd name="T21" fmla="*/ 85 h 85"/>
                <a:gd name="T22" fmla="*/ 109 w 206"/>
                <a:gd name="T23" fmla="*/ 67 h 85"/>
                <a:gd name="T24" fmla="*/ 121 w 206"/>
                <a:gd name="T25" fmla="*/ 59 h 85"/>
                <a:gd name="T26" fmla="*/ 127 w 206"/>
                <a:gd name="T27" fmla="*/ 47 h 85"/>
                <a:gd name="T28" fmla="*/ 167 w 206"/>
                <a:gd name="T29" fmla="*/ 35 h 85"/>
                <a:gd name="T30" fmla="*/ 187 w 206"/>
                <a:gd name="T31" fmla="*/ 31 h 85"/>
                <a:gd name="T32" fmla="*/ 199 w 206"/>
                <a:gd name="T33" fmla="*/ 27 h 85"/>
                <a:gd name="T34" fmla="*/ 191 w 206"/>
                <a:gd name="T35" fmla="*/ 7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6" name="Freeform 34"/>
            <p:cNvSpPr>
              <a:spLocks/>
            </p:cNvSpPr>
            <p:nvPr/>
          </p:nvSpPr>
          <p:spPr bwMode="ltGray">
            <a:xfrm>
              <a:off x="2759" y="2039"/>
              <a:ext cx="48" cy="21"/>
            </a:xfrm>
            <a:custGeom>
              <a:avLst/>
              <a:gdLst>
                <a:gd name="T0" fmla="*/ 36 w 64"/>
                <a:gd name="T1" fmla="*/ 6 h 28"/>
                <a:gd name="T2" fmla="*/ 8 w 64"/>
                <a:gd name="T3" fmla="*/ 4 h 28"/>
                <a:gd name="T4" fmla="*/ 24 w 64"/>
                <a:gd name="T5" fmla="*/ 28 h 28"/>
                <a:gd name="T6" fmla="*/ 54 w 64"/>
                <a:gd name="T7" fmla="*/ 14 h 28"/>
                <a:gd name="T8" fmla="*/ 36 w 64"/>
                <a:gd name="T9" fmla="*/ 6 h 28"/>
              </a:gdLst>
              <a:ahLst/>
              <a:cxnLst>
                <a:cxn ang="0">
                  <a:pos x="T0" y="T1"/>
                </a:cxn>
                <a:cxn ang="0">
                  <a:pos x="T2" y="T3"/>
                </a:cxn>
                <a:cxn ang="0">
                  <a:pos x="T4" y="T5"/>
                </a:cxn>
                <a:cxn ang="0">
                  <a:pos x="T6" y="T7"/>
                </a:cxn>
                <a:cxn ang="0">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7" name="Freeform 35"/>
            <p:cNvSpPr>
              <a:spLocks/>
            </p:cNvSpPr>
            <p:nvPr/>
          </p:nvSpPr>
          <p:spPr bwMode="ltGray">
            <a:xfrm>
              <a:off x="2467" y="2311"/>
              <a:ext cx="109" cy="132"/>
            </a:xfrm>
            <a:custGeom>
              <a:avLst/>
              <a:gdLst>
                <a:gd name="T0" fmla="*/ 24 w 146"/>
                <a:gd name="T1" fmla="*/ 19 h 176"/>
                <a:gd name="T2" fmla="*/ 0 w 146"/>
                <a:gd name="T3" fmla="*/ 25 h 176"/>
                <a:gd name="T4" fmla="*/ 14 w 146"/>
                <a:gd name="T5" fmla="*/ 43 h 176"/>
                <a:gd name="T6" fmla="*/ 34 w 146"/>
                <a:gd name="T7" fmla="*/ 87 h 176"/>
                <a:gd name="T8" fmla="*/ 52 w 146"/>
                <a:gd name="T9" fmla="*/ 91 h 176"/>
                <a:gd name="T10" fmla="*/ 50 w 146"/>
                <a:gd name="T11" fmla="*/ 107 h 176"/>
                <a:gd name="T12" fmla="*/ 28 w 146"/>
                <a:gd name="T13" fmla="*/ 113 h 176"/>
                <a:gd name="T14" fmla="*/ 16 w 146"/>
                <a:gd name="T15" fmla="*/ 131 h 176"/>
                <a:gd name="T16" fmla="*/ 18 w 146"/>
                <a:gd name="T17" fmla="*/ 137 h 176"/>
                <a:gd name="T18" fmla="*/ 30 w 146"/>
                <a:gd name="T19" fmla="*/ 141 h 176"/>
                <a:gd name="T20" fmla="*/ 18 w 146"/>
                <a:gd name="T21" fmla="*/ 169 h 176"/>
                <a:gd name="T22" fmla="*/ 20 w 146"/>
                <a:gd name="T23" fmla="*/ 175 h 176"/>
                <a:gd name="T24" fmla="*/ 34 w 146"/>
                <a:gd name="T25" fmla="*/ 171 h 176"/>
                <a:gd name="T26" fmla="*/ 58 w 146"/>
                <a:gd name="T27" fmla="*/ 169 h 176"/>
                <a:gd name="T28" fmla="*/ 92 w 146"/>
                <a:gd name="T29" fmla="*/ 171 h 176"/>
                <a:gd name="T30" fmla="*/ 110 w 146"/>
                <a:gd name="T31" fmla="*/ 169 h 176"/>
                <a:gd name="T32" fmla="*/ 122 w 146"/>
                <a:gd name="T33" fmla="*/ 165 h 176"/>
                <a:gd name="T34" fmla="*/ 128 w 146"/>
                <a:gd name="T35" fmla="*/ 141 h 176"/>
                <a:gd name="T36" fmla="*/ 146 w 146"/>
                <a:gd name="T37" fmla="*/ 133 h 176"/>
                <a:gd name="T38" fmla="*/ 110 w 146"/>
                <a:gd name="T39" fmla="*/ 109 h 176"/>
                <a:gd name="T40" fmla="*/ 88 w 146"/>
                <a:gd name="T41" fmla="*/ 83 h 176"/>
                <a:gd name="T42" fmla="*/ 82 w 146"/>
                <a:gd name="T43" fmla="*/ 69 h 176"/>
                <a:gd name="T44" fmla="*/ 64 w 146"/>
                <a:gd name="T45" fmla="*/ 61 h 176"/>
                <a:gd name="T46" fmla="*/ 86 w 146"/>
                <a:gd name="T47" fmla="*/ 45 h 176"/>
                <a:gd name="T48" fmla="*/ 64 w 146"/>
                <a:gd name="T49" fmla="*/ 31 h 176"/>
                <a:gd name="T50" fmla="*/ 70 w 146"/>
                <a:gd name="T51" fmla="*/ 13 h 176"/>
                <a:gd name="T52" fmla="*/ 46 w 146"/>
                <a:gd name="T53" fmla="*/ 1 h 176"/>
                <a:gd name="T54" fmla="*/ 30 w 146"/>
                <a:gd name="T55" fmla="*/ 9 h 176"/>
                <a:gd name="T56" fmla="*/ 24 w 146"/>
                <a:gd name="T57" fmla="*/ 1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8" name="Freeform 36"/>
            <p:cNvSpPr>
              <a:spLocks/>
            </p:cNvSpPr>
            <p:nvPr/>
          </p:nvSpPr>
          <p:spPr bwMode="ltGray">
            <a:xfrm>
              <a:off x="2413" y="2359"/>
              <a:ext cx="69" cy="68"/>
            </a:xfrm>
            <a:custGeom>
              <a:avLst/>
              <a:gdLst>
                <a:gd name="T0" fmla="*/ 58 w 92"/>
                <a:gd name="T1" fmla="*/ 6 h 92"/>
                <a:gd name="T2" fmla="*/ 82 w 92"/>
                <a:gd name="T3" fmla="*/ 8 h 92"/>
                <a:gd name="T4" fmla="*/ 92 w 92"/>
                <a:gd name="T5" fmla="*/ 26 h 92"/>
                <a:gd name="T6" fmla="*/ 78 w 92"/>
                <a:gd name="T7" fmla="*/ 48 h 92"/>
                <a:gd name="T8" fmla="*/ 46 w 92"/>
                <a:gd name="T9" fmla="*/ 76 h 92"/>
                <a:gd name="T10" fmla="*/ 18 w 92"/>
                <a:gd name="T11" fmla="*/ 92 h 92"/>
                <a:gd name="T12" fmla="*/ 8 w 92"/>
                <a:gd name="T13" fmla="*/ 72 h 92"/>
                <a:gd name="T14" fmla="*/ 20 w 92"/>
                <a:gd name="T15" fmla="*/ 64 h 92"/>
                <a:gd name="T16" fmla="*/ 14 w 92"/>
                <a:gd name="T17" fmla="*/ 46 h 92"/>
                <a:gd name="T18" fmla="*/ 40 w 92"/>
                <a:gd name="T19" fmla="*/ 28 h 92"/>
                <a:gd name="T20" fmla="*/ 58 w 92"/>
                <a:gd name="T21" fmla="*/ 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89" name="Freeform 37"/>
            <p:cNvSpPr>
              <a:spLocks/>
            </p:cNvSpPr>
            <p:nvPr/>
          </p:nvSpPr>
          <p:spPr bwMode="ltGray">
            <a:xfrm>
              <a:off x="4099" y="3502"/>
              <a:ext cx="474" cy="495"/>
            </a:xfrm>
            <a:custGeom>
              <a:avLst/>
              <a:gdLst>
                <a:gd name="T0" fmla="*/ 212 w 633"/>
                <a:gd name="T1" fmla="*/ 11 h 660"/>
                <a:gd name="T2" fmla="*/ 176 w 633"/>
                <a:gd name="T3" fmla="*/ 19 h 660"/>
                <a:gd name="T4" fmla="*/ 144 w 633"/>
                <a:gd name="T5" fmla="*/ 51 h 660"/>
                <a:gd name="T6" fmla="*/ 104 w 633"/>
                <a:gd name="T7" fmla="*/ 59 h 660"/>
                <a:gd name="T8" fmla="*/ 84 w 633"/>
                <a:gd name="T9" fmla="*/ 75 h 660"/>
                <a:gd name="T10" fmla="*/ 68 w 633"/>
                <a:gd name="T11" fmla="*/ 115 h 660"/>
                <a:gd name="T12" fmla="*/ 36 w 633"/>
                <a:gd name="T13" fmla="*/ 167 h 660"/>
                <a:gd name="T14" fmla="*/ 0 w 633"/>
                <a:gd name="T15" fmla="*/ 179 h 660"/>
                <a:gd name="T16" fmla="*/ 72 w 633"/>
                <a:gd name="T17" fmla="*/ 323 h 660"/>
                <a:gd name="T18" fmla="*/ 120 w 633"/>
                <a:gd name="T19" fmla="*/ 427 h 660"/>
                <a:gd name="T20" fmla="*/ 144 w 633"/>
                <a:gd name="T21" fmla="*/ 443 h 660"/>
                <a:gd name="T22" fmla="*/ 168 w 633"/>
                <a:gd name="T23" fmla="*/ 451 h 660"/>
                <a:gd name="T24" fmla="*/ 228 w 633"/>
                <a:gd name="T25" fmla="*/ 431 h 660"/>
                <a:gd name="T26" fmla="*/ 252 w 633"/>
                <a:gd name="T27" fmla="*/ 423 h 660"/>
                <a:gd name="T28" fmla="*/ 300 w 633"/>
                <a:gd name="T29" fmla="*/ 451 h 660"/>
                <a:gd name="T30" fmla="*/ 324 w 633"/>
                <a:gd name="T31" fmla="*/ 527 h 660"/>
                <a:gd name="T32" fmla="*/ 336 w 633"/>
                <a:gd name="T33" fmla="*/ 523 h 660"/>
                <a:gd name="T34" fmla="*/ 344 w 633"/>
                <a:gd name="T35" fmla="*/ 511 h 660"/>
                <a:gd name="T36" fmla="*/ 368 w 633"/>
                <a:gd name="T37" fmla="*/ 547 h 660"/>
                <a:gd name="T38" fmla="*/ 404 w 633"/>
                <a:gd name="T39" fmla="*/ 571 h 660"/>
                <a:gd name="T40" fmla="*/ 436 w 633"/>
                <a:gd name="T41" fmla="*/ 603 h 660"/>
                <a:gd name="T42" fmla="*/ 444 w 633"/>
                <a:gd name="T43" fmla="*/ 615 h 660"/>
                <a:gd name="T44" fmla="*/ 456 w 633"/>
                <a:gd name="T45" fmla="*/ 623 h 660"/>
                <a:gd name="T46" fmla="*/ 484 w 633"/>
                <a:gd name="T47" fmla="*/ 655 h 660"/>
                <a:gd name="T48" fmla="*/ 492 w 633"/>
                <a:gd name="T49" fmla="*/ 631 h 660"/>
                <a:gd name="T50" fmla="*/ 540 w 633"/>
                <a:gd name="T51" fmla="*/ 659 h 660"/>
                <a:gd name="T52" fmla="*/ 588 w 633"/>
                <a:gd name="T53" fmla="*/ 655 h 660"/>
                <a:gd name="T54" fmla="*/ 616 w 633"/>
                <a:gd name="T55" fmla="*/ 531 h 660"/>
                <a:gd name="T56" fmla="*/ 632 w 633"/>
                <a:gd name="T57" fmla="*/ 463 h 660"/>
                <a:gd name="T58" fmla="*/ 620 w 633"/>
                <a:gd name="T59" fmla="*/ 367 h 660"/>
                <a:gd name="T60" fmla="*/ 536 w 633"/>
                <a:gd name="T61" fmla="*/ 271 h 660"/>
                <a:gd name="T62" fmla="*/ 528 w 633"/>
                <a:gd name="T63" fmla="*/ 235 h 660"/>
                <a:gd name="T64" fmla="*/ 460 w 633"/>
                <a:gd name="T65" fmla="*/ 179 h 660"/>
                <a:gd name="T66" fmla="*/ 472 w 633"/>
                <a:gd name="T67" fmla="*/ 155 h 660"/>
                <a:gd name="T68" fmla="*/ 456 w 633"/>
                <a:gd name="T69" fmla="*/ 131 h 660"/>
                <a:gd name="T70" fmla="*/ 416 w 633"/>
                <a:gd name="T71" fmla="*/ 79 h 660"/>
                <a:gd name="T72" fmla="*/ 392 w 633"/>
                <a:gd name="T73" fmla="*/ 31 h 660"/>
                <a:gd name="T74" fmla="*/ 388 w 633"/>
                <a:gd name="T75" fmla="*/ 19 h 660"/>
                <a:gd name="T76" fmla="*/ 364 w 633"/>
                <a:gd name="T77" fmla="*/ 151 h 660"/>
                <a:gd name="T78" fmla="*/ 324 w 633"/>
                <a:gd name="T79" fmla="*/ 115 h 660"/>
                <a:gd name="T80" fmla="*/ 292 w 633"/>
                <a:gd name="T81" fmla="*/ 111 h 660"/>
                <a:gd name="T82" fmla="*/ 272 w 633"/>
                <a:gd name="T83" fmla="*/ 87 h 660"/>
                <a:gd name="T84" fmla="*/ 264 w 633"/>
                <a:gd name="T85" fmla="*/ 63 h 660"/>
                <a:gd name="T86" fmla="*/ 276 w 633"/>
                <a:gd name="T87" fmla="*/ 55 h 660"/>
                <a:gd name="T88" fmla="*/ 240 w 633"/>
                <a:gd name="T89" fmla="*/ 19 h 660"/>
                <a:gd name="T90" fmla="*/ 216 w 633"/>
                <a:gd name="T91" fmla="*/ 11 h 660"/>
                <a:gd name="T92" fmla="*/ 204 w 633"/>
                <a:gd name="T93" fmla="*/ 7 h 660"/>
                <a:gd name="T94" fmla="*/ 212 w 633"/>
                <a:gd name="T95" fmla="*/ 11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0" name="Freeform 38"/>
            <p:cNvSpPr>
              <a:spLocks/>
            </p:cNvSpPr>
            <p:nvPr/>
          </p:nvSpPr>
          <p:spPr bwMode="ltGray">
            <a:xfrm>
              <a:off x="4246" y="3241"/>
              <a:ext cx="319" cy="210"/>
            </a:xfrm>
            <a:custGeom>
              <a:avLst/>
              <a:gdLst>
                <a:gd name="T0" fmla="*/ 84 w 426"/>
                <a:gd name="T1" fmla="*/ 60 h 280"/>
                <a:gd name="T2" fmla="*/ 68 w 426"/>
                <a:gd name="T3" fmla="*/ 36 h 280"/>
                <a:gd name="T4" fmla="*/ 64 w 426"/>
                <a:gd name="T5" fmla="*/ 16 h 280"/>
                <a:gd name="T6" fmla="*/ 52 w 426"/>
                <a:gd name="T7" fmla="*/ 12 h 280"/>
                <a:gd name="T8" fmla="*/ 16 w 426"/>
                <a:gd name="T9" fmla="*/ 16 h 280"/>
                <a:gd name="T10" fmla="*/ 44 w 426"/>
                <a:gd name="T11" fmla="*/ 40 h 280"/>
                <a:gd name="T12" fmla="*/ 48 w 426"/>
                <a:gd name="T13" fmla="*/ 52 h 280"/>
                <a:gd name="T14" fmla="*/ 24 w 426"/>
                <a:gd name="T15" fmla="*/ 68 h 280"/>
                <a:gd name="T16" fmla="*/ 88 w 426"/>
                <a:gd name="T17" fmla="*/ 92 h 280"/>
                <a:gd name="T18" fmla="*/ 124 w 426"/>
                <a:gd name="T19" fmla="*/ 112 h 280"/>
                <a:gd name="T20" fmla="*/ 128 w 426"/>
                <a:gd name="T21" fmla="*/ 124 h 280"/>
                <a:gd name="T22" fmla="*/ 140 w 426"/>
                <a:gd name="T23" fmla="*/ 132 h 280"/>
                <a:gd name="T24" fmla="*/ 148 w 426"/>
                <a:gd name="T25" fmla="*/ 156 h 280"/>
                <a:gd name="T26" fmla="*/ 132 w 426"/>
                <a:gd name="T27" fmla="*/ 196 h 280"/>
                <a:gd name="T28" fmla="*/ 180 w 426"/>
                <a:gd name="T29" fmla="*/ 188 h 280"/>
                <a:gd name="T30" fmla="*/ 192 w 426"/>
                <a:gd name="T31" fmla="*/ 216 h 280"/>
                <a:gd name="T32" fmla="*/ 216 w 426"/>
                <a:gd name="T33" fmla="*/ 224 h 280"/>
                <a:gd name="T34" fmla="*/ 228 w 426"/>
                <a:gd name="T35" fmla="*/ 228 h 280"/>
                <a:gd name="T36" fmla="*/ 252 w 426"/>
                <a:gd name="T37" fmla="*/ 224 h 280"/>
                <a:gd name="T38" fmla="*/ 276 w 426"/>
                <a:gd name="T39" fmla="*/ 196 h 280"/>
                <a:gd name="T40" fmla="*/ 336 w 426"/>
                <a:gd name="T41" fmla="*/ 252 h 280"/>
                <a:gd name="T42" fmla="*/ 364 w 426"/>
                <a:gd name="T43" fmla="*/ 280 h 280"/>
                <a:gd name="T44" fmla="*/ 360 w 426"/>
                <a:gd name="T45" fmla="*/ 224 h 280"/>
                <a:gd name="T46" fmla="*/ 336 w 426"/>
                <a:gd name="T47" fmla="*/ 200 h 280"/>
                <a:gd name="T48" fmla="*/ 372 w 426"/>
                <a:gd name="T49" fmla="*/ 168 h 280"/>
                <a:gd name="T50" fmla="*/ 408 w 426"/>
                <a:gd name="T51" fmla="*/ 156 h 280"/>
                <a:gd name="T52" fmla="*/ 420 w 426"/>
                <a:gd name="T53" fmla="*/ 152 h 280"/>
                <a:gd name="T54" fmla="*/ 424 w 426"/>
                <a:gd name="T55" fmla="*/ 140 h 280"/>
                <a:gd name="T56" fmla="*/ 356 w 426"/>
                <a:gd name="T57" fmla="*/ 148 h 280"/>
                <a:gd name="T58" fmla="*/ 304 w 426"/>
                <a:gd name="T59" fmla="*/ 140 h 280"/>
                <a:gd name="T60" fmla="*/ 300 w 426"/>
                <a:gd name="T61" fmla="*/ 128 h 280"/>
                <a:gd name="T62" fmla="*/ 292 w 426"/>
                <a:gd name="T63" fmla="*/ 116 h 280"/>
                <a:gd name="T64" fmla="*/ 220 w 426"/>
                <a:gd name="T65" fmla="*/ 80 h 280"/>
                <a:gd name="T66" fmla="*/ 160 w 426"/>
                <a:gd name="T67" fmla="*/ 60 h 280"/>
                <a:gd name="T68" fmla="*/ 136 w 426"/>
                <a:gd name="T69" fmla="*/ 52 h 280"/>
                <a:gd name="T70" fmla="*/ 80 w 426"/>
                <a:gd name="T71" fmla="*/ 52 h 280"/>
                <a:gd name="T72" fmla="*/ 68 w 426"/>
                <a:gd name="T73" fmla="*/ 32 h 280"/>
                <a:gd name="T74" fmla="*/ 68 w 426"/>
                <a:gd name="T75"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algn="ctr" rotWithShape="0">
                      <a:srgbClr val="FFFFFF">
                        <a:alpha val="50000"/>
                      </a:srgbClr>
                    </a:outerShdw>
                  </a:effectLst>
                </a14:hiddenEffects>
              </a:ext>
            </a:extLst>
          </p:spPr>
          <p:txBody>
            <a:bodyPr/>
            <a:lstStyle/>
            <a:p>
              <a:endParaRPr lang="en-US">
                <a:solidFill>
                  <a:srgbClr val="002060"/>
                </a:solidFill>
              </a:endParaRPr>
            </a:p>
          </p:txBody>
        </p:sp>
        <p:sp>
          <p:nvSpPr>
            <p:cNvPr id="1098791" name="Freeform 39"/>
            <p:cNvSpPr>
              <a:spLocks/>
            </p:cNvSpPr>
            <p:nvPr/>
          </p:nvSpPr>
          <p:spPr bwMode="ltGray">
            <a:xfrm>
              <a:off x="4255" y="3243"/>
              <a:ext cx="311" cy="211"/>
            </a:xfrm>
            <a:custGeom>
              <a:avLst/>
              <a:gdLst>
                <a:gd name="T0" fmla="*/ 0 w 416"/>
                <a:gd name="T1" fmla="*/ 1 h 282"/>
                <a:gd name="T2" fmla="*/ 20 w 416"/>
                <a:gd name="T3" fmla="*/ 37 h 282"/>
                <a:gd name="T4" fmla="*/ 28 w 416"/>
                <a:gd name="T5" fmla="*/ 49 h 282"/>
                <a:gd name="T6" fmla="*/ 84 w 416"/>
                <a:gd name="T7" fmla="*/ 89 h 282"/>
                <a:gd name="T8" fmla="*/ 120 w 416"/>
                <a:gd name="T9" fmla="*/ 113 h 282"/>
                <a:gd name="T10" fmla="*/ 132 w 416"/>
                <a:gd name="T11" fmla="*/ 121 h 282"/>
                <a:gd name="T12" fmla="*/ 136 w 416"/>
                <a:gd name="T13" fmla="*/ 169 h 282"/>
                <a:gd name="T14" fmla="*/ 116 w 416"/>
                <a:gd name="T15" fmla="*/ 201 h 282"/>
                <a:gd name="T16" fmla="*/ 136 w 416"/>
                <a:gd name="T17" fmla="*/ 197 h 282"/>
                <a:gd name="T18" fmla="*/ 148 w 416"/>
                <a:gd name="T19" fmla="*/ 189 h 282"/>
                <a:gd name="T20" fmla="*/ 160 w 416"/>
                <a:gd name="T21" fmla="*/ 201 h 282"/>
                <a:gd name="T22" fmla="*/ 184 w 416"/>
                <a:gd name="T23" fmla="*/ 217 h 282"/>
                <a:gd name="T24" fmla="*/ 208 w 416"/>
                <a:gd name="T25" fmla="*/ 233 h 282"/>
                <a:gd name="T26" fmla="*/ 240 w 416"/>
                <a:gd name="T27" fmla="*/ 221 h 282"/>
                <a:gd name="T28" fmla="*/ 248 w 416"/>
                <a:gd name="T29" fmla="*/ 197 h 282"/>
                <a:gd name="T30" fmla="*/ 268 w 416"/>
                <a:gd name="T31" fmla="*/ 201 h 282"/>
                <a:gd name="T32" fmla="*/ 292 w 416"/>
                <a:gd name="T33" fmla="*/ 209 h 282"/>
                <a:gd name="T34" fmla="*/ 340 w 416"/>
                <a:gd name="T35" fmla="*/ 281 h 282"/>
                <a:gd name="T36" fmla="*/ 356 w 416"/>
                <a:gd name="T37" fmla="*/ 277 h 282"/>
                <a:gd name="T38" fmla="*/ 352 w 416"/>
                <a:gd name="T39" fmla="*/ 253 h 282"/>
                <a:gd name="T40" fmla="*/ 316 w 416"/>
                <a:gd name="T41" fmla="*/ 197 h 282"/>
                <a:gd name="T42" fmla="*/ 360 w 416"/>
                <a:gd name="T43" fmla="*/ 173 h 282"/>
                <a:gd name="T44" fmla="*/ 408 w 416"/>
                <a:gd name="T45" fmla="*/ 145 h 282"/>
                <a:gd name="T46" fmla="*/ 409 w 416"/>
                <a:gd name="T47" fmla="*/ 120 h 282"/>
                <a:gd name="T48" fmla="*/ 367 w 416"/>
                <a:gd name="T49" fmla="*/ 138 h 282"/>
                <a:gd name="T50" fmla="*/ 308 w 416"/>
                <a:gd name="T51" fmla="*/ 137 h 282"/>
                <a:gd name="T52" fmla="*/ 264 w 416"/>
                <a:gd name="T53" fmla="*/ 97 h 282"/>
                <a:gd name="T54" fmla="*/ 180 w 416"/>
                <a:gd name="T55" fmla="*/ 61 h 282"/>
                <a:gd name="T56" fmla="*/ 132 w 416"/>
                <a:gd name="T57" fmla="*/ 33 h 282"/>
                <a:gd name="T58" fmla="*/ 92 w 416"/>
                <a:gd name="T59" fmla="*/ 41 h 282"/>
                <a:gd name="T60" fmla="*/ 76 w 416"/>
                <a:gd name="T61" fmla="*/ 57 h 282"/>
                <a:gd name="T62" fmla="*/ 56 w 416"/>
                <a:gd name="T63" fmla="*/ 17 h 282"/>
                <a:gd name="T64" fmla="*/ 0 w 416"/>
                <a:gd name="T65" fmla="*/ 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2" name="Freeform 40"/>
            <p:cNvSpPr>
              <a:spLocks/>
            </p:cNvSpPr>
            <p:nvPr/>
          </p:nvSpPr>
          <p:spPr bwMode="ltGray">
            <a:xfrm>
              <a:off x="4485" y="4013"/>
              <a:ext cx="45" cy="58"/>
            </a:xfrm>
            <a:custGeom>
              <a:avLst/>
              <a:gdLst>
                <a:gd name="T0" fmla="*/ 32 w 60"/>
                <a:gd name="T1" fmla="*/ 18 h 78"/>
                <a:gd name="T2" fmla="*/ 0 w 60"/>
                <a:gd name="T3" fmla="*/ 18 h 78"/>
                <a:gd name="T4" fmla="*/ 20 w 60"/>
                <a:gd name="T5" fmla="*/ 42 h 78"/>
                <a:gd name="T6" fmla="*/ 28 w 60"/>
                <a:gd name="T7" fmla="*/ 66 h 78"/>
                <a:gd name="T8" fmla="*/ 32 w 60"/>
                <a:gd name="T9" fmla="*/ 78 h 78"/>
                <a:gd name="T10" fmla="*/ 60 w 60"/>
                <a:gd name="T11" fmla="*/ 50 h 78"/>
                <a:gd name="T12" fmla="*/ 32 w 60"/>
                <a:gd name="T13" fmla="*/ 18 h 78"/>
              </a:gdLst>
              <a:ahLst/>
              <a:cxnLst>
                <a:cxn ang="0">
                  <a:pos x="T0" y="T1"/>
                </a:cxn>
                <a:cxn ang="0">
                  <a:pos x="T2" y="T3"/>
                </a:cxn>
                <a:cxn ang="0">
                  <a:pos x="T4" y="T5"/>
                </a:cxn>
                <a:cxn ang="0">
                  <a:pos x="T6" y="T7"/>
                </a:cxn>
                <a:cxn ang="0">
                  <a:pos x="T8" y="T9"/>
                </a:cxn>
                <a:cxn ang="0">
                  <a:pos x="T10" y="T11"/>
                </a:cxn>
                <a:cxn ang="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3" name="Freeform 41"/>
            <p:cNvSpPr>
              <a:spLocks/>
            </p:cNvSpPr>
            <p:nvPr/>
          </p:nvSpPr>
          <p:spPr bwMode="ltGray">
            <a:xfrm>
              <a:off x="4621" y="3923"/>
              <a:ext cx="164" cy="85"/>
            </a:xfrm>
            <a:custGeom>
              <a:avLst/>
              <a:gdLst>
                <a:gd name="T0" fmla="*/ 47 w 219"/>
                <a:gd name="T1" fmla="*/ 73 h 113"/>
                <a:gd name="T2" fmla="*/ 39 w 219"/>
                <a:gd name="T3" fmla="*/ 61 h 113"/>
                <a:gd name="T4" fmla="*/ 15 w 219"/>
                <a:gd name="T5" fmla="*/ 69 h 113"/>
                <a:gd name="T6" fmla="*/ 39 w 219"/>
                <a:gd name="T7" fmla="*/ 113 h 113"/>
                <a:gd name="T8" fmla="*/ 123 w 219"/>
                <a:gd name="T9" fmla="*/ 89 h 113"/>
                <a:gd name="T10" fmla="*/ 147 w 219"/>
                <a:gd name="T11" fmla="*/ 73 h 113"/>
                <a:gd name="T12" fmla="*/ 171 w 219"/>
                <a:gd name="T13" fmla="*/ 65 h 113"/>
                <a:gd name="T14" fmla="*/ 219 w 219"/>
                <a:gd name="T15" fmla="*/ 19 h 113"/>
                <a:gd name="T16" fmla="*/ 210 w 219"/>
                <a:gd name="T17" fmla="*/ 0 h 113"/>
                <a:gd name="T18" fmla="*/ 179 w 219"/>
                <a:gd name="T19" fmla="*/ 17 h 113"/>
                <a:gd name="T20" fmla="*/ 107 w 219"/>
                <a:gd name="T21" fmla="*/ 41 h 113"/>
                <a:gd name="T22" fmla="*/ 83 w 219"/>
                <a:gd name="T23" fmla="*/ 45 h 113"/>
                <a:gd name="T24" fmla="*/ 59 w 219"/>
                <a:gd name="T25" fmla="*/ 53 h 113"/>
                <a:gd name="T26" fmla="*/ 47 w 219"/>
                <a:gd name="T27" fmla="*/ 7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4" name="Freeform 42"/>
            <p:cNvSpPr>
              <a:spLocks/>
            </p:cNvSpPr>
            <p:nvPr/>
          </p:nvSpPr>
          <p:spPr bwMode="ltGray">
            <a:xfrm>
              <a:off x="4791" y="3873"/>
              <a:ext cx="104" cy="92"/>
            </a:xfrm>
            <a:custGeom>
              <a:avLst/>
              <a:gdLst>
                <a:gd name="T0" fmla="*/ 12 w 139"/>
                <a:gd name="T1" fmla="*/ 60 h 122"/>
                <a:gd name="T2" fmla="*/ 8 w 139"/>
                <a:gd name="T3" fmla="*/ 84 h 122"/>
                <a:gd name="T4" fmla="*/ 0 w 139"/>
                <a:gd name="T5" fmla="*/ 108 h 122"/>
                <a:gd name="T6" fmla="*/ 36 w 139"/>
                <a:gd name="T7" fmla="*/ 116 h 122"/>
                <a:gd name="T8" fmla="*/ 52 w 139"/>
                <a:gd name="T9" fmla="*/ 96 h 122"/>
                <a:gd name="T10" fmla="*/ 124 w 139"/>
                <a:gd name="T11" fmla="*/ 68 h 122"/>
                <a:gd name="T12" fmla="*/ 136 w 139"/>
                <a:gd name="T13" fmla="*/ 44 h 122"/>
                <a:gd name="T14" fmla="*/ 112 w 139"/>
                <a:gd name="T15" fmla="*/ 28 h 122"/>
                <a:gd name="T16" fmla="*/ 100 w 139"/>
                <a:gd name="T17" fmla="*/ 20 h 122"/>
                <a:gd name="T18" fmla="*/ 64 w 139"/>
                <a:gd name="T19" fmla="*/ 12 h 122"/>
                <a:gd name="T20" fmla="*/ 52 w 139"/>
                <a:gd name="T21" fmla="*/ 36 h 122"/>
                <a:gd name="T22" fmla="*/ 12 w 139"/>
                <a:gd name="T23" fmla="*/ 6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5" name="Freeform 43"/>
            <p:cNvSpPr>
              <a:spLocks/>
            </p:cNvSpPr>
            <p:nvPr/>
          </p:nvSpPr>
          <p:spPr bwMode="ltGray">
            <a:xfrm>
              <a:off x="4846" y="3832"/>
              <a:ext cx="37" cy="26"/>
            </a:xfrm>
            <a:custGeom>
              <a:avLst/>
              <a:gdLst>
                <a:gd name="T0" fmla="*/ 29 w 49"/>
                <a:gd name="T1" fmla="*/ 0 h 35"/>
                <a:gd name="T2" fmla="*/ 8 w 49"/>
                <a:gd name="T3" fmla="*/ 11 h 35"/>
                <a:gd name="T4" fmla="*/ 24 w 49"/>
                <a:gd name="T5" fmla="*/ 35 h 35"/>
                <a:gd name="T6" fmla="*/ 39 w 49"/>
                <a:gd name="T7" fmla="*/ 26 h 35"/>
                <a:gd name="T8" fmla="*/ 29 w 49"/>
                <a:gd name="T9" fmla="*/ 0 h 35"/>
              </a:gdLst>
              <a:ahLst/>
              <a:cxnLst>
                <a:cxn ang="0">
                  <a:pos x="T0" y="T1"/>
                </a:cxn>
                <a:cxn ang="0">
                  <a:pos x="T2" y="T3"/>
                </a:cxn>
                <a:cxn ang="0">
                  <a:pos x="T4" y="T5"/>
                </a:cxn>
                <a:cxn ang="0">
                  <a:pos x="T6" y="T7"/>
                </a:cxn>
                <a:cxn ang="0">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6" name="Freeform 44"/>
            <p:cNvSpPr>
              <a:spLocks/>
            </p:cNvSpPr>
            <p:nvPr/>
          </p:nvSpPr>
          <p:spPr bwMode="ltGray">
            <a:xfrm>
              <a:off x="3123" y="3346"/>
              <a:ext cx="123" cy="201"/>
            </a:xfrm>
            <a:custGeom>
              <a:avLst/>
              <a:gdLst>
                <a:gd name="T0" fmla="*/ 128 w 164"/>
                <a:gd name="T1" fmla="*/ 0 h 268"/>
                <a:gd name="T2" fmla="*/ 104 w 164"/>
                <a:gd name="T3" fmla="*/ 28 h 268"/>
                <a:gd name="T4" fmla="*/ 88 w 164"/>
                <a:gd name="T5" fmla="*/ 64 h 268"/>
                <a:gd name="T6" fmla="*/ 36 w 164"/>
                <a:gd name="T7" fmla="*/ 84 h 268"/>
                <a:gd name="T8" fmla="*/ 28 w 164"/>
                <a:gd name="T9" fmla="*/ 96 h 268"/>
                <a:gd name="T10" fmla="*/ 16 w 164"/>
                <a:gd name="T11" fmla="*/ 100 h 268"/>
                <a:gd name="T12" fmla="*/ 20 w 164"/>
                <a:gd name="T13" fmla="*/ 132 h 268"/>
                <a:gd name="T14" fmla="*/ 28 w 164"/>
                <a:gd name="T15" fmla="*/ 156 h 268"/>
                <a:gd name="T16" fmla="*/ 0 w 164"/>
                <a:gd name="T17" fmla="*/ 200 h 268"/>
                <a:gd name="T18" fmla="*/ 28 w 164"/>
                <a:gd name="T19" fmla="*/ 260 h 268"/>
                <a:gd name="T20" fmla="*/ 52 w 164"/>
                <a:gd name="T21" fmla="*/ 268 h 268"/>
                <a:gd name="T22" fmla="*/ 88 w 164"/>
                <a:gd name="T23" fmla="*/ 216 h 268"/>
                <a:gd name="T24" fmla="*/ 104 w 164"/>
                <a:gd name="T25" fmla="*/ 192 h 268"/>
                <a:gd name="T26" fmla="*/ 128 w 164"/>
                <a:gd name="T27" fmla="*/ 116 h 268"/>
                <a:gd name="T28" fmla="*/ 140 w 164"/>
                <a:gd name="T29" fmla="*/ 76 h 268"/>
                <a:gd name="T30" fmla="*/ 164 w 164"/>
                <a:gd name="T31" fmla="*/ 72 h 268"/>
                <a:gd name="T32" fmla="*/ 128 w 164"/>
                <a:gd name="T33" fmla="*/ 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7" name="Freeform 45"/>
            <p:cNvSpPr>
              <a:spLocks/>
            </p:cNvSpPr>
            <p:nvPr/>
          </p:nvSpPr>
          <p:spPr bwMode="ltGray">
            <a:xfrm>
              <a:off x="3655" y="3034"/>
              <a:ext cx="49" cy="61"/>
            </a:xfrm>
            <a:custGeom>
              <a:avLst/>
              <a:gdLst>
                <a:gd name="T0" fmla="*/ 29 w 66"/>
                <a:gd name="T1" fmla="*/ 0 h 81"/>
                <a:gd name="T2" fmla="*/ 25 w 66"/>
                <a:gd name="T3" fmla="*/ 60 h 81"/>
                <a:gd name="T4" fmla="*/ 29 w 66"/>
                <a:gd name="T5" fmla="*/ 76 h 81"/>
                <a:gd name="T6" fmla="*/ 41 w 66"/>
                <a:gd name="T7" fmla="*/ 80 h 81"/>
                <a:gd name="T8" fmla="*/ 57 w 66"/>
                <a:gd name="T9" fmla="*/ 76 h 81"/>
                <a:gd name="T10" fmla="*/ 29 w 66"/>
                <a:gd name="T11" fmla="*/ 0 h 81"/>
              </a:gdLst>
              <a:ahLst/>
              <a:cxnLst>
                <a:cxn ang="0">
                  <a:pos x="T0" y="T1"/>
                </a:cxn>
                <a:cxn ang="0">
                  <a:pos x="T2" y="T3"/>
                </a:cxn>
                <a:cxn ang="0">
                  <a:pos x="T4" y="T5"/>
                </a:cxn>
                <a:cxn ang="0">
                  <a:pos x="T6" y="T7"/>
                </a:cxn>
                <a:cxn ang="0">
                  <a:pos x="T8" y="T9"/>
                </a:cxn>
                <a:cxn ang="0">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8" name="Freeform 46"/>
            <p:cNvSpPr>
              <a:spLocks/>
            </p:cNvSpPr>
            <p:nvPr/>
          </p:nvSpPr>
          <p:spPr bwMode="ltGray">
            <a:xfrm>
              <a:off x="3988" y="3100"/>
              <a:ext cx="111" cy="183"/>
            </a:xfrm>
            <a:custGeom>
              <a:avLst/>
              <a:gdLst>
                <a:gd name="T0" fmla="*/ 96 w 148"/>
                <a:gd name="T1" fmla="*/ 0 h 244"/>
                <a:gd name="T2" fmla="*/ 60 w 148"/>
                <a:gd name="T3" fmla="*/ 84 h 244"/>
                <a:gd name="T4" fmla="*/ 36 w 148"/>
                <a:gd name="T5" fmla="*/ 92 h 244"/>
                <a:gd name="T6" fmla="*/ 12 w 148"/>
                <a:gd name="T7" fmla="*/ 108 h 244"/>
                <a:gd name="T8" fmla="*/ 40 w 148"/>
                <a:gd name="T9" fmla="*/ 188 h 244"/>
                <a:gd name="T10" fmla="*/ 52 w 148"/>
                <a:gd name="T11" fmla="*/ 224 h 244"/>
                <a:gd name="T12" fmla="*/ 60 w 148"/>
                <a:gd name="T13" fmla="*/ 236 h 244"/>
                <a:gd name="T14" fmla="*/ 84 w 148"/>
                <a:gd name="T15" fmla="*/ 244 h 244"/>
                <a:gd name="T16" fmla="*/ 96 w 148"/>
                <a:gd name="T17" fmla="*/ 196 h 244"/>
                <a:gd name="T18" fmla="*/ 124 w 148"/>
                <a:gd name="T19" fmla="*/ 168 h 244"/>
                <a:gd name="T20" fmla="*/ 112 w 148"/>
                <a:gd name="T21" fmla="*/ 68 h 244"/>
                <a:gd name="T22" fmla="*/ 140 w 148"/>
                <a:gd name="T23" fmla="*/ 48 h 244"/>
                <a:gd name="T24" fmla="*/ 112 w 148"/>
                <a:gd name="T25" fmla="*/ 20 h 244"/>
                <a:gd name="T26" fmla="*/ 96 w 148"/>
                <a:gd name="T2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799" name="Freeform 47"/>
            <p:cNvSpPr>
              <a:spLocks/>
            </p:cNvSpPr>
            <p:nvPr/>
          </p:nvSpPr>
          <p:spPr bwMode="ltGray">
            <a:xfrm>
              <a:off x="3894" y="3043"/>
              <a:ext cx="72" cy="137"/>
            </a:xfrm>
            <a:custGeom>
              <a:avLst/>
              <a:gdLst>
                <a:gd name="T0" fmla="*/ 48 w 96"/>
                <a:gd name="T1" fmla="*/ 2 h 183"/>
                <a:gd name="T2" fmla="*/ 51 w 96"/>
                <a:gd name="T3" fmla="*/ 35 h 183"/>
                <a:gd name="T4" fmla="*/ 60 w 96"/>
                <a:gd name="T5" fmla="*/ 62 h 183"/>
                <a:gd name="T6" fmla="*/ 62 w 96"/>
                <a:gd name="T7" fmla="*/ 92 h 183"/>
                <a:gd name="T8" fmla="*/ 68 w 96"/>
                <a:gd name="T9" fmla="*/ 105 h 183"/>
                <a:gd name="T10" fmla="*/ 71 w 96"/>
                <a:gd name="T11" fmla="*/ 126 h 183"/>
                <a:gd name="T12" fmla="*/ 57 w 96"/>
                <a:gd name="T13" fmla="*/ 93 h 183"/>
                <a:gd name="T14" fmla="*/ 35 w 96"/>
                <a:gd name="T15" fmla="*/ 78 h 183"/>
                <a:gd name="T16" fmla="*/ 5 w 96"/>
                <a:gd name="T17" fmla="*/ 83 h 183"/>
                <a:gd name="T18" fmla="*/ 8 w 96"/>
                <a:gd name="T19" fmla="*/ 102 h 183"/>
                <a:gd name="T20" fmla="*/ 41 w 96"/>
                <a:gd name="T21" fmla="*/ 114 h 183"/>
                <a:gd name="T22" fmla="*/ 57 w 96"/>
                <a:gd name="T23" fmla="*/ 135 h 183"/>
                <a:gd name="T24" fmla="*/ 71 w 96"/>
                <a:gd name="T25" fmla="*/ 135 h 183"/>
                <a:gd name="T26" fmla="*/ 78 w 96"/>
                <a:gd name="T27" fmla="*/ 150 h 183"/>
                <a:gd name="T28" fmla="*/ 96 w 96"/>
                <a:gd name="T29" fmla="*/ 179 h 183"/>
                <a:gd name="T30" fmla="*/ 81 w 96"/>
                <a:gd name="T31" fmla="*/ 126 h 183"/>
                <a:gd name="T32" fmla="*/ 80 w 96"/>
                <a:gd name="T33" fmla="*/ 93 h 183"/>
                <a:gd name="T34" fmla="*/ 71 w 96"/>
                <a:gd name="T35" fmla="*/ 63 h 183"/>
                <a:gd name="T36" fmla="*/ 63 w 96"/>
                <a:gd name="T37" fmla="*/ 41 h 183"/>
                <a:gd name="T38" fmla="*/ 57 w 96"/>
                <a:gd name="T39" fmla="*/ 20 h 183"/>
                <a:gd name="T40" fmla="*/ 48 w 96"/>
                <a:gd name="T41" fmla="*/ 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0" name="Freeform 48"/>
            <p:cNvSpPr>
              <a:spLocks/>
            </p:cNvSpPr>
            <p:nvPr/>
          </p:nvSpPr>
          <p:spPr bwMode="ltGray">
            <a:xfrm>
              <a:off x="3943" y="3153"/>
              <a:ext cx="40" cy="131"/>
            </a:xfrm>
            <a:custGeom>
              <a:avLst/>
              <a:gdLst>
                <a:gd name="T0" fmla="*/ 6 w 54"/>
                <a:gd name="T1" fmla="*/ 0 h 175"/>
                <a:gd name="T2" fmla="*/ 0 w 54"/>
                <a:gd name="T3" fmla="*/ 25 h 175"/>
                <a:gd name="T4" fmla="*/ 9 w 54"/>
                <a:gd name="T5" fmla="*/ 54 h 175"/>
                <a:gd name="T6" fmla="*/ 18 w 54"/>
                <a:gd name="T7" fmla="*/ 94 h 175"/>
                <a:gd name="T8" fmla="*/ 34 w 54"/>
                <a:gd name="T9" fmla="*/ 129 h 175"/>
                <a:gd name="T10" fmla="*/ 54 w 54"/>
                <a:gd name="T11" fmla="*/ 175 h 175"/>
                <a:gd name="T12" fmla="*/ 40 w 54"/>
                <a:gd name="T13" fmla="*/ 115 h 175"/>
                <a:gd name="T14" fmla="*/ 34 w 54"/>
                <a:gd name="T15" fmla="*/ 93 h 175"/>
                <a:gd name="T16" fmla="*/ 28 w 54"/>
                <a:gd name="T17" fmla="*/ 61 h 175"/>
                <a:gd name="T18" fmla="*/ 25 w 54"/>
                <a:gd name="T19" fmla="*/ 46 h 175"/>
                <a:gd name="T20" fmla="*/ 16 w 54"/>
                <a:gd name="T21" fmla="*/ 37 h 175"/>
                <a:gd name="T22" fmla="*/ 6 w 54"/>
                <a:gd name="T23" fmla="*/ 0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1" name="Freeform 49"/>
            <p:cNvSpPr>
              <a:spLocks/>
            </p:cNvSpPr>
            <p:nvPr/>
          </p:nvSpPr>
          <p:spPr bwMode="ltGray">
            <a:xfrm>
              <a:off x="3988" y="3290"/>
              <a:ext cx="65" cy="54"/>
            </a:xfrm>
            <a:custGeom>
              <a:avLst/>
              <a:gdLst>
                <a:gd name="T0" fmla="*/ 2 w 86"/>
                <a:gd name="T1" fmla="*/ 0 h 73"/>
                <a:gd name="T2" fmla="*/ 8 w 86"/>
                <a:gd name="T3" fmla="*/ 34 h 73"/>
                <a:gd name="T4" fmla="*/ 23 w 86"/>
                <a:gd name="T5" fmla="*/ 43 h 73"/>
                <a:gd name="T6" fmla="*/ 48 w 86"/>
                <a:gd name="T7" fmla="*/ 49 h 73"/>
                <a:gd name="T8" fmla="*/ 62 w 86"/>
                <a:gd name="T9" fmla="*/ 57 h 73"/>
                <a:gd name="T10" fmla="*/ 74 w 86"/>
                <a:gd name="T11" fmla="*/ 66 h 73"/>
                <a:gd name="T12" fmla="*/ 86 w 86"/>
                <a:gd name="T13" fmla="*/ 69 h 73"/>
                <a:gd name="T14" fmla="*/ 72 w 86"/>
                <a:gd name="T15" fmla="*/ 39 h 73"/>
                <a:gd name="T16" fmla="*/ 63 w 86"/>
                <a:gd name="T17" fmla="*/ 22 h 73"/>
                <a:gd name="T18" fmla="*/ 36 w 86"/>
                <a:gd name="T19" fmla="*/ 24 h 73"/>
                <a:gd name="T20" fmla="*/ 24 w 86"/>
                <a:gd name="T21" fmla="*/ 19 h 73"/>
                <a:gd name="T22" fmla="*/ 6 w 86"/>
                <a:gd name="T23" fmla="*/ 0 h 73"/>
                <a:gd name="T24" fmla="*/ 2 w 86"/>
                <a:gd name="T25"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2" name="Freeform 50"/>
            <p:cNvSpPr>
              <a:spLocks/>
            </p:cNvSpPr>
            <p:nvPr/>
          </p:nvSpPr>
          <p:spPr bwMode="ltGray">
            <a:xfrm>
              <a:off x="4092" y="3195"/>
              <a:ext cx="83" cy="117"/>
            </a:xfrm>
            <a:custGeom>
              <a:avLst/>
              <a:gdLst>
                <a:gd name="T0" fmla="*/ 98 w 111"/>
                <a:gd name="T1" fmla="*/ 0 h 156"/>
                <a:gd name="T2" fmla="*/ 75 w 111"/>
                <a:gd name="T3" fmla="*/ 10 h 156"/>
                <a:gd name="T4" fmla="*/ 23 w 111"/>
                <a:gd name="T5" fmla="*/ 15 h 156"/>
                <a:gd name="T6" fmla="*/ 14 w 111"/>
                <a:gd name="T7" fmla="*/ 33 h 156"/>
                <a:gd name="T8" fmla="*/ 11 w 111"/>
                <a:gd name="T9" fmla="*/ 61 h 156"/>
                <a:gd name="T10" fmla="*/ 14 w 111"/>
                <a:gd name="T11" fmla="*/ 75 h 156"/>
                <a:gd name="T12" fmla="*/ 3 w 111"/>
                <a:gd name="T13" fmla="*/ 88 h 156"/>
                <a:gd name="T14" fmla="*/ 14 w 111"/>
                <a:gd name="T15" fmla="*/ 109 h 156"/>
                <a:gd name="T16" fmla="*/ 23 w 111"/>
                <a:gd name="T17" fmla="*/ 124 h 156"/>
                <a:gd name="T18" fmla="*/ 15 w 111"/>
                <a:gd name="T19" fmla="*/ 144 h 156"/>
                <a:gd name="T20" fmla="*/ 24 w 111"/>
                <a:gd name="T21" fmla="*/ 156 h 156"/>
                <a:gd name="T22" fmla="*/ 42 w 111"/>
                <a:gd name="T23" fmla="*/ 144 h 156"/>
                <a:gd name="T24" fmla="*/ 50 w 111"/>
                <a:gd name="T25" fmla="*/ 93 h 156"/>
                <a:gd name="T26" fmla="*/ 56 w 111"/>
                <a:gd name="T27" fmla="*/ 126 h 156"/>
                <a:gd name="T28" fmla="*/ 65 w 111"/>
                <a:gd name="T29" fmla="*/ 145 h 156"/>
                <a:gd name="T30" fmla="*/ 62 w 111"/>
                <a:gd name="T31" fmla="*/ 112 h 156"/>
                <a:gd name="T32" fmla="*/ 72 w 111"/>
                <a:gd name="T33" fmla="*/ 73 h 156"/>
                <a:gd name="T34" fmla="*/ 69 w 111"/>
                <a:gd name="T35" fmla="*/ 51 h 156"/>
                <a:gd name="T36" fmla="*/ 54 w 111"/>
                <a:gd name="T37" fmla="*/ 60 h 156"/>
                <a:gd name="T38" fmla="*/ 35 w 111"/>
                <a:gd name="T39" fmla="*/ 54 h 156"/>
                <a:gd name="T40" fmla="*/ 41 w 111"/>
                <a:gd name="T41" fmla="*/ 36 h 156"/>
                <a:gd name="T42" fmla="*/ 62 w 111"/>
                <a:gd name="T43" fmla="*/ 34 h 156"/>
                <a:gd name="T44" fmla="*/ 78 w 111"/>
                <a:gd name="T45" fmla="*/ 39 h 156"/>
                <a:gd name="T46" fmla="*/ 98 w 111"/>
                <a:gd name="T47" fmla="*/ 30 h 156"/>
                <a:gd name="T48" fmla="*/ 111 w 111"/>
                <a:gd name="T49" fmla="*/ 13 h 156"/>
                <a:gd name="T50" fmla="*/ 98 w 111"/>
                <a:gd name="T5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3" name="Freeform 51"/>
            <p:cNvSpPr>
              <a:spLocks/>
            </p:cNvSpPr>
            <p:nvPr/>
          </p:nvSpPr>
          <p:spPr bwMode="ltGray">
            <a:xfrm>
              <a:off x="4064" y="2777"/>
              <a:ext cx="22" cy="71"/>
            </a:xfrm>
            <a:custGeom>
              <a:avLst/>
              <a:gdLst>
                <a:gd name="T0" fmla="*/ 12 w 30"/>
                <a:gd name="T1" fmla="*/ 0 h 94"/>
                <a:gd name="T2" fmla="*/ 0 w 30"/>
                <a:gd name="T3" fmla="*/ 16 h 94"/>
                <a:gd name="T4" fmla="*/ 6 w 30"/>
                <a:gd name="T5" fmla="*/ 37 h 94"/>
                <a:gd name="T6" fmla="*/ 1 w 30"/>
                <a:gd name="T7" fmla="*/ 61 h 94"/>
                <a:gd name="T8" fmla="*/ 16 w 30"/>
                <a:gd name="T9" fmla="*/ 94 h 94"/>
                <a:gd name="T10" fmla="*/ 30 w 30"/>
                <a:gd name="T11" fmla="*/ 82 h 94"/>
                <a:gd name="T12" fmla="*/ 22 w 30"/>
                <a:gd name="T13" fmla="*/ 61 h 94"/>
                <a:gd name="T14" fmla="*/ 12 w 30"/>
                <a:gd name="T15" fmla="*/ 0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4" name="Freeform 52"/>
            <p:cNvSpPr>
              <a:spLocks/>
            </p:cNvSpPr>
            <p:nvPr/>
          </p:nvSpPr>
          <p:spPr bwMode="ltGray">
            <a:xfrm>
              <a:off x="4078" y="2896"/>
              <a:ext cx="61" cy="118"/>
            </a:xfrm>
            <a:custGeom>
              <a:avLst/>
              <a:gdLst>
                <a:gd name="T0" fmla="*/ 12 w 81"/>
                <a:gd name="T1" fmla="*/ 2 h 158"/>
                <a:gd name="T2" fmla="*/ 0 w 81"/>
                <a:gd name="T3" fmla="*/ 20 h 158"/>
                <a:gd name="T4" fmla="*/ 8 w 81"/>
                <a:gd name="T5" fmla="*/ 49 h 158"/>
                <a:gd name="T6" fmla="*/ 6 w 81"/>
                <a:gd name="T7" fmla="*/ 107 h 158"/>
                <a:gd name="T8" fmla="*/ 17 w 81"/>
                <a:gd name="T9" fmla="*/ 103 h 158"/>
                <a:gd name="T10" fmla="*/ 20 w 81"/>
                <a:gd name="T11" fmla="*/ 115 h 158"/>
                <a:gd name="T12" fmla="*/ 29 w 81"/>
                <a:gd name="T13" fmla="*/ 122 h 158"/>
                <a:gd name="T14" fmla="*/ 38 w 81"/>
                <a:gd name="T15" fmla="*/ 140 h 158"/>
                <a:gd name="T16" fmla="*/ 48 w 81"/>
                <a:gd name="T17" fmla="*/ 128 h 158"/>
                <a:gd name="T18" fmla="*/ 65 w 81"/>
                <a:gd name="T19" fmla="*/ 134 h 158"/>
                <a:gd name="T20" fmla="*/ 63 w 81"/>
                <a:gd name="T21" fmla="*/ 109 h 158"/>
                <a:gd name="T22" fmla="*/ 48 w 81"/>
                <a:gd name="T23" fmla="*/ 104 h 158"/>
                <a:gd name="T24" fmla="*/ 39 w 81"/>
                <a:gd name="T25" fmla="*/ 91 h 158"/>
                <a:gd name="T26" fmla="*/ 33 w 81"/>
                <a:gd name="T27" fmla="*/ 73 h 158"/>
                <a:gd name="T28" fmla="*/ 41 w 81"/>
                <a:gd name="T29" fmla="*/ 53 h 158"/>
                <a:gd name="T30" fmla="*/ 35 w 81"/>
                <a:gd name="T31" fmla="*/ 35 h 158"/>
                <a:gd name="T32" fmla="*/ 42 w 81"/>
                <a:gd name="T33" fmla="*/ 20 h 158"/>
                <a:gd name="T34" fmla="*/ 29 w 81"/>
                <a:gd name="T35" fmla="*/ 4 h 158"/>
                <a:gd name="T36" fmla="*/ 18 w 81"/>
                <a:gd name="T37" fmla="*/ 7 h 158"/>
                <a:gd name="T38" fmla="*/ 12 w 81"/>
                <a:gd name="T39" fmla="*/ 2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5" name="Freeform 53"/>
            <p:cNvSpPr>
              <a:spLocks/>
            </p:cNvSpPr>
            <p:nvPr/>
          </p:nvSpPr>
          <p:spPr bwMode="ltGray">
            <a:xfrm>
              <a:off x="4121" y="3052"/>
              <a:ext cx="64" cy="79"/>
            </a:xfrm>
            <a:custGeom>
              <a:avLst/>
              <a:gdLst>
                <a:gd name="T0" fmla="*/ 52 w 85"/>
                <a:gd name="T1" fmla="*/ 0 h 105"/>
                <a:gd name="T2" fmla="*/ 44 w 85"/>
                <a:gd name="T3" fmla="*/ 18 h 105"/>
                <a:gd name="T4" fmla="*/ 32 w 85"/>
                <a:gd name="T5" fmla="*/ 30 h 105"/>
                <a:gd name="T6" fmla="*/ 16 w 85"/>
                <a:gd name="T7" fmla="*/ 35 h 105"/>
                <a:gd name="T8" fmla="*/ 8 w 85"/>
                <a:gd name="T9" fmla="*/ 48 h 105"/>
                <a:gd name="T10" fmla="*/ 4 w 85"/>
                <a:gd name="T11" fmla="*/ 74 h 105"/>
                <a:gd name="T12" fmla="*/ 13 w 85"/>
                <a:gd name="T13" fmla="*/ 71 h 105"/>
                <a:gd name="T14" fmla="*/ 25 w 85"/>
                <a:gd name="T15" fmla="*/ 62 h 105"/>
                <a:gd name="T16" fmla="*/ 34 w 85"/>
                <a:gd name="T17" fmla="*/ 69 h 105"/>
                <a:gd name="T18" fmla="*/ 58 w 85"/>
                <a:gd name="T19" fmla="*/ 99 h 105"/>
                <a:gd name="T20" fmla="*/ 71 w 85"/>
                <a:gd name="T21" fmla="*/ 72 h 105"/>
                <a:gd name="T22" fmla="*/ 85 w 85"/>
                <a:gd name="T23" fmla="*/ 68 h 105"/>
                <a:gd name="T24" fmla="*/ 74 w 85"/>
                <a:gd name="T25" fmla="*/ 39 h 105"/>
                <a:gd name="T26" fmla="*/ 52 w 85"/>
                <a:gd name="T27"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6" name="Freeform 54"/>
            <p:cNvSpPr>
              <a:spLocks/>
            </p:cNvSpPr>
            <p:nvPr/>
          </p:nvSpPr>
          <p:spPr bwMode="ltGray">
            <a:xfrm>
              <a:off x="4197" y="3193"/>
              <a:ext cx="29" cy="49"/>
            </a:xfrm>
            <a:custGeom>
              <a:avLst/>
              <a:gdLst>
                <a:gd name="T0" fmla="*/ 6 w 38"/>
                <a:gd name="T1" fmla="*/ 27 h 66"/>
                <a:gd name="T2" fmla="*/ 26 w 38"/>
                <a:gd name="T3" fmla="*/ 66 h 66"/>
                <a:gd name="T4" fmla="*/ 30 w 38"/>
                <a:gd name="T5" fmla="*/ 52 h 66"/>
                <a:gd name="T6" fmla="*/ 38 w 38"/>
                <a:gd name="T7" fmla="*/ 40 h 66"/>
                <a:gd name="T8" fmla="*/ 30 w 38"/>
                <a:gd name="T9" fmla="*/ 25 h 66"/>
                <a:gd name="T10" fmla="*/ 20 w 38"/>
                <a:gd name="T11" fmla="*/ 13 h 66"/>
                <a:gd name="T12" fmla="*/ 11 w 38"/>
                <a:gd name="T13" fmla="*/ 1 h 66"/>
                <a:gd name="T14" fmla="*/ 2 w 38"/>
                <a:gd name="T15" fmla="*/ 12 h 66"/>
                <a:gd name="T16" fmla="*/ 6 w 38"/>
                <a:gd name="T17" fmla="*/ 2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7" name="Freeform 55"/>
            <p:cNvSpPr>
              <a:spLocks/>
            </p:cNvSpPr>
            <p:nvPr/>
          </p:nvSpPr>
          <p:spPr bwMode="ltGray">
            <a:xfrm>
              <a:off x="4181" y="3275"/>
              <a:ext cx="18" cy="17"/>
            </a:xfrm>
            <a:custGeom>
              <a:avLst/>
              <a:gdLst>
                <a:gd name="T0" fmla="*/ 0 w 24"/>
                <a:gd name="T1" fmla="*/ 0 h 23"/>
                <a:gd name="T2" fmla="*/ 6 w 24"/>
                <a:gd name="T3" fmla="*/ 23 h 23"/>
                <a:gd name="T4" fmla="*/ 24 w 24"/>
                <a:gd name="T5" fmla="*/ 11 h 23"/>
                <a:gd name="T6" fmla="*/ 0 w 24"/>
                <a:gd name="T7" fmla="*/ 0 h 23"/>
              </a:gdLst>
              <a:ahLst/>
              <a:cxnLst>
                <a:cxn ang="0">
                  <a:pos x="T0" y="T1"/>
                </a:cxn>
                <a:cxn ang="0">
                  <a:pos x="T2" y="T3"/>
                </a:cxn>
                <a:cxn ang="0">
                  <a:pos x="T4" y="T5"/>
                </a:cxn>
                <a:cxn ang="0">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8" name="Freeform 56"/>
            <p:cNvSpPr>
              <a:spLocks/>
            </p:cNvSpPr>
            <p:nvPr/>
          </p:nvSpPr>
          <p:spPr bwMode="ltGray">
            <a:xfrm>
              <a:off x="4208" y="3265"/>
              <a:ext cx="45" cy="37"/>
            </a:xfrm>
            <a:custGeom>
              <a:avLst/>
              <a:gdLst>
                <a:gd name="T0" fmla="*/ 9 w 60"/>
                <a:gd name="T1" fmla="*/ 0 h 49"/>
                <a:gd name="T2" fmla="*/ 0 w 60"/>
                <a:gd name="T3" fmla="*/ 18 h 49"/>
                <a:gd name="T4" fmla="*/ 28 w 60"/>
                <a:gd name="T5" fmla="*/ 33 h 49"/>
                <a:gd name="T6" fmla="*/ 42 w 60"/>
                <a:gd name="T7" fmla="*/ 46 h 49"/>
                <a:gd name="T8" fmla="*/ 60 w 60"/>
                <a:gd name="T9" fmla="*/ 42 h 49"/>
                <a:gd name="T10" fmla="*/ 49 w 60"/>
                <a:gd name="T11" fmla="*/ 24 h 49"/>
                <a:gd name="T12" fmla="*/ 28 w 60"/>
                <a:gd name="T13" fmla="*/ 3 h 49"/>
                <a:gd name="T14" fmla="*/ 19 w 60"/>
                <a:gd name="T15" fmla="*/ 16 h 49"/>
                <a:gd name="T16" fmla="*/ 9 w 60"/>
                <a:gd name="T1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09" name="Freeform 57"/>
            <p:cNvSpPr>
              <a:spLocks/>
            </p:cNvSpPr>
            <p:nvPr/>
          </p:nvSpPr>
          <p:spPr bwMode="ltGray">
            <a:xfrm>
              <a:off x="4277" y="3335"/>
              <a:ext cx="24" cy="33"/>
            </a:xfrm>
            <a:custGeom>
              <a:avLst/>
              <a:gdLst>
                <a:gd name="T0" fmla="*/ 28 w 32"/>
                <a:gd name="T1" fmla="*/ 0 h 44"/>
                <a:gd name="T2" fmla="*/ 10 w 32"/>
                <a:gd name="T3" fmla="*/ 11 h 44"/>
                <a:gd name="T4" fmla="*/ 12 w 32"/>
                <a:gd name="T5" fmla="*/ 32 h 44"/>
                <a:gd name="T6" fmla="*/ 24 w 32"/>
                <a:gd name="T7" fmla="*/ 36 h 44"/>
                <a:gd name="T8" fmla="*/ 28 w 32"/>
                <a:gd name="T9" fmla="*/ 0 h 44"/>
              </a:gdLst>
              <a:ahLst/>
              <a:cxnLst>
                <a:cxn ang="0">
                  <a:pos x="T0" y="T1"/>
                </a:cxn>
                <a:cxn ang="0">
                  <a:pos x="T2" y="T3"/>
                </a:cxn>
                <a:cxn ang="0">
                  <a:pos x="T4" y="T5"/>
                </a:cxn>
                <a:cxn ang="0">
                  <a:pos x="T6" y="T7"/>
                </a:cxn>
                <a:cxn ang="0">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0" name="Freeform 58"/>
            <p:cNvSpPr>
              <a:spLocks/>
            </p:cNvSpPr>
            <p:nvPr/>
          </p:nvSpPr>
          <p:spPr bwMode="ltGray">
            <a:xfrm>
              <a:off x="4544" y="3293"/>
              <a:ext cx="46" cy="47"/>
            </a:xfrm>
            <a:custGeom>
              <a:avLst/>
              <a:gdLst>
                <a:gd name="T0" fmla="*/ 7 w 61"/>
                <a:gd name="T1" fmla="*/ 0 h 63"/>
                <a:gd name="T2" fmla="*/ 0 w 61"/>
                <a:gd name="T3" fmla="*/ 14 h 63"/>
                <a:gd name="T4" fmla="*/ 24 w 61"/>
                <a:gd name="T5" fmla="*/ 35 h 63"/>
                <a:gd name="T6" fmla="*/ 36 w 61"/>
                <a:gd name="T7" fmla="*/ 54 h 63"/>
                <a:gd name="T8" fmla="*/ 46 w 61"/>
                <a:gd name="T9" fmla="*/ 63 h 63"/>
                <a:gd name="T10" fmla="*/ 61 w 61"/>
                <a:gd name="T11" fmla="*/ 56 h 63"/>
                <a:gd name="T12" fmla="*/ 33 w 61"/>
                <a:gd name="T13" fmla="*/ 17 h 63"/>
                <a:gd name="T14" fmla="*/ 7 w 61"/>
                <a:gd name="T15" fmla="*/ 0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1" name="Freeform 59"/>
            <p:cNvSpPr>
              <a:spLocks/>
            </p:cNvSpPr>
            <p:nvPr/>
          </p:nvSpPr>
          <p:spPr bwMode="ltGray">
            <a:xfrm>
              <a:off x="4147" y="3352"/>
              <a:ext cx="46" cy="50"/>
            </a:xfrm>
            <a:custGeom>
              <a:avLst/>
              <a:gdLst>
                <a:gd name="T0" fmla="*/ 28 w 61"/>
                <a:gd name="T1" fmla="*/ 7 h 67"/>
                <a:gd name="T2" fmla="*/ 30 w 61"/>
                <a:gd name="T3" fmla="*/ 34 h 67"/>
                <a:gd name="T4" fmla="*/ 16 w 61"/>
                <a:gd name="T5" fmla="*/ 43 h 67"/>
                <a:gd name="T6" fmla="*/ 22 w 61"/>
                <a:gd name="T7" fmla="*/ 67 h 67"/>
                <a:gd name="T8" fmla="*/ 48 w 61"/>
                <a:gd name="T9" fmla="*/ 58 h 67"/>
                <a:gd name="T10" fmla="*/ 60 w 61"/>
                <a:gd name="T11" fmla="*/ 47 h 67"/>
                <a:gd name="T12" fmla="*/ 51 w 61"/>
                <a:gd name="T13" fmla="*/ 28 h 67"/>
                <a:gd name="T14" fmla="*/ 57 w 61"/>
                <a:gd name="T15" fmla="*/ 14 h 67"/>
                <a:gd name="T16" fmla="*/ 55 w 61"/>
                <a:gd name="T17" fmla="*/ 2 h 67"/>
                <a:gd name="T18" fmla="*/ 46 w 61"/>
                <a:gd name="T19" fmla="*/ 4 h 67"/>
                <a:gd name="T20" fmla="*/ 51 w 61"/>
                <a:gd name="T21" fmla="*/ 5 h 67"/>
                <a:gd name="T22" fmla="*/ 49 w 61"/>
                <a:gd name="T23" fmla="*/ 16 h 67"/>
                <a:gd name="T24" fmla="*/ 43 w 61"/>
                <a:gd name="T25" fmla="*/ 23 h 67"/>
                <a:gd name="T26" fmla="*/ 28 w 61"/>
                <a:gd name="T27" fmla="*/ 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2" name="Freeform 60"/>
            <p:cNvSpPr>
              <a:spLocks/>
            </p:cNvSpPr>
            <p:nvPr/>
          </p:nvSpPr>
          <p:spPr bwMode="ltGray">
            <a:xfrm>
              <a:off x="4098" y="3371"/>
              <a:ext cx="32" cy="27"/>
            </a:xfrm>
            <a:custGeom>
              <a:avLst/>
              <a:gdLst>
                <a:gd name="T0" fmla="*/ 21 w 43"/>
                <a:gd name="T1" fmla="*/ 3 h 36"/>
                <a:gd name="T2" fmla="*/ 6 w 43"/>
                <a:gd name="T3" fmla="*/ 6 h 36"/>
                <a:gd name="T4" fmla="*/ 33 w 43"/>
                <a:gd name="T5" fmla="*/ 36 h 36"/>
                <a:gd name="T6" fmla="*/ 42 w 43"/>
                <a:gd name="T7" fmla="*/ 30 h 36"/>
                <a:gd name="T8" fmla="*/ 21 w 43"/>
                <a:gd name="T9" fmla="*/ 3 h 36"/>
              </a:gdLst>
              <a:ahLst/>
              <a:cxnLst>
                <a:cxn ang="0">
                  <a:pos x="T0" y="T1"/>
                </a:cxn>
                <a:cxn ang="0">
                  <a:pos x="T2" y="T3"/>
                </a:cxn>
                <a:cxn ang="0">
                  <a:pos x="T4" y="T5"/>
                </a:cxn>
                <a:cxn ang="0">
                  <a:pos x="T6" y="T7"/>
                </a:cxn>
                <a:cxn ang="0">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3" name="Freeform 61"/>
            <p:cNvSpPr>
              <a:spLocks/>
            </p:cNvSpPr>
            <p:nvPr/>
          </p:nvSpPr>
          <p:spPr bwMode="ltGray">
            <a:xfrm>
              <a:off x="4077" y="3342"/>
              <a:ext cx="24" cy="31"/>
            </a:xfrm>
            <a:custGeom>
              <a:avLst/>
              <a:gdLst>
                <a:gd name="T0" fmla="*/ 21 w 32"/>
                <a:gd name="T1" fmla="*/ 0 h 41"/>
                <a:gd name="T2" fmla="*/ 0 w 32"/>
                <a:gd name="T3" fmla="*/ 26 h 41"/>
                <a:gd name="T4" fmla="*/ 16 w 32"/>
                <a:gd name="T5" fmla="*/ 24 h 41"/>
                <a:gd name="T6" fmla="*/ 19 w 32"/>
                <a:gd name="T7" fmla="*/ 29 h 41"/>
                <a:gd name="T8" fmla="*/ 16 w 32"/>
                <a:gd name="T9" fmla="*/ 35 h 41"/>
                <a:gd name="T10" fmla="*/ 30 w 32"/>
                <a:gd name="T11" fmla="*/ 21 h 41"/>
                <a:gd name="T12" fmla="*/ 24 w 32"/>
                <a:gd name="T13" fmla="*/ 9 h 41"/>
                <a:gd name="T14" fmla="*/ 21 w 32"/>
                <a:gd name="T15" fmla="*/ 0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4" name="Freeform 62"/>
            <p:cNvSpPr>
              <a:spLocks/>
            </p:cNvSpPr>
            <p:nvPr/>
          </p:nvSpPr>
          <p:spPr bwMode="ltGray">
            <a:xfrm>
              <a:off x="4111" y="3353"/>
              <a:ext cx="34" cy="24"/>
            </a:xfrm>
            <a:custGeom>
              <a:avLst/>
              <a:gdLst>
                <a:gd name="T0" fmla="*/ 21 w 45"/>
                <a:gd name="T1" fmla="*/ 0 h 32"/>
                <a:gd name="T2" fmla="*/ 0 w 45"/>
                <a:gd name="T3" fmla="*/ 7 h 32"/>
                <a:gd name="T4" fmla="*/ 27 w 45"/>
                <a:gd name="T5" fmla="*/ 31 h 32"/>
                <a:gd name="T6" fmla="*/ 45 w 45"/>
                <a:gd name="T7" fmla="*/ 24 h 32"/>
                <a:gd name="T8" fmla="*/ 22 w 45"/>
                <a:gd name="T9" fmla="*/ 10 h 32"/>
                <a:gd name="T10" fmla="*/ 21 w 45"/>
                <a:gd name="T11" fmla="*/ 0 h 32"/>
              </a:gdLst>
              <a:ahLst/>
              <a:cxnLst>
                <a:cxn ang="0">
                  <a:pos x="T0" y="T1"/>
                </a:cxn>
                <a:cxn ang="0">
                  <a:pos x="T2" y="T3"/>
                </a:cxn>
                <a:cxn ang="0">
                  <a:pos x="T4" y="T5"/>
                </a:cxn>
                <a:cxn ang="0">
                  <a:pos x="T6" y="T7"/>
                </a:cxn>
                <a:cxn ang="0">
                  <a:pos x="T8" y="T9"/>
                </a:cxn>
                <a:cxn ang="0">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5" name="Freeform 63"/>
            <p:cNvSpPr>
              <a:spLocks/>
            </p:cNvSpPr>
            <p:nvPr/>
          </p:nvSpPr>
          <p:spPr bwMode="ltGray">
            <a:xfrm>
              <a:off x="4062" y="3021"/>
              <a:ext cx="27" cy="55"/>
            </a:xfrm>
            <a:custGeom>
              <a:avLst/>
              <a:gdLst>
                <a:gd name="T0" fmla="*/ 30 w 35"/>
                <a:gd name="T1" fmla="*/ 0 h 74"/>
                <a:gd name="T2" fmla="*/ 21 w 35"/>
                <a:gd name="T3" fmla="*/ 15 h 74"/>
                <a:gd name="T4" fmla="*/ 9 w 35"/>
                <a:gd name="T5" fmla="*/ 36 h 74"/>
                <a:gd name="T6" fmla="*/ 0 w 35"/>
                <a:gd name="T7" fmla="*/ 59 h 74"/>
                <a:gd name="T8" fmla="*/ 8 w 35"/>
                <a:gd name="T9" fmla="*/ 74 h 74"/>
                <a:gd name="T10" fmla="*/ 20 w 35"/>
                <a:gd name="T11" fmla="*/ 59 h 74"/>
                <a:gd name="T12" fmla="*/ 35 w 35"/>
                <a:gd name="T13" fmla="*/ 32 h 74"/>
                <a:gd name="T14" fmla="*/ 30 w 3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6" name="Freeform 64"/>
            <p:cNvSpPr>
              <a:spLocks/>
            </p:cNvSpPr>
            <p:nvPr/>
          </p:nvSpPr>
          <p:spPr bwMode="ltGray">
            <a:xfrm>
              <a:off x="4113" y="3012"/>
              <a:ext cx="19" cy="55"/>
            </a:xfrm>
            <a:custGeom>
              <a:avLst/>
              <a:gdLst>
                <a:gd name="T0" fmla="*/ 13 w 25"/>
                <a:gd name="T1" fmla="*/ 7 h 73"/>
                <a:gd name="T2" fmla="*/ 4 w 25"/>
                <a:gd name="T3" fmla="*/ 8 h 73"/>
                <a:gd name="T4" fmla="*/ 0 w 25"/>
                <a:gd name="T5" fmla="*/ 22 h 73"/>
                <a:gd name="T6" fmla="*/ 15 w 25"/>
                <a:gd name="T7" fmla="*/ 41 h 73"/>
                <a:gd name="T8" fmla="*/ 25 w 25"/>
                <a:gd name="T9" fmla="*/ 56 h 73"/>
                <a:gd name="T10" fmla="*/ 16 w 25"/>
                <a:gd name="T11" fmla="*/ 20 h 73"/>
                <a:gd name="T12" fmla="*/ 13 w 25"/>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7" name="Freeform 65"/>
            <p:cNvSpPr>
              <a:spLocks/>
            </p:cNvSpPr>
            <p:nvPr/>
          </p:nvSpPr>
          <p:spPr bwMode="ltGray">
            <a:xfrm>
              <a:off x="4135" y="2995"/>
              <a:ext cx="10" cy="25"/>
            </a:xfrm>
            <a:custGeom>
              <a:avLst/>
              <a:gdLst>
                <a:gd name="T0" fmla="*/ 11 w 14"/>
                <a:gd name="T1" fmla="*/ 0 h 33"/>
                <a:gd name="T2" fmla="*/ 1 w 14"/>
                <a:gd name="T3" fmla="*/ 10 h 33"/>
                <a:gd name="T4" fmla="*/ 11 w 14"/>
                <a:gd name="T5" fmla="*/ 25 h 33"/>
                <a:gd name="T6" fmla="*/ 11 w 14"/>
                <a:gd name="T7" fmla="*/ 0 h 33"/>
              </a:gdLst>
              <a:ahLst/>
              <a:cxnLst>
                <a:cxn ang="0">
                  <a:pos x="T0" y="T1"/>
                </a:cxn>
                <a:cxn ang="0">
                  <a:pos x="T2" y="T3"/>
                </a:cxn>
                <a:cxn ang="0">
                  <a:pos x="T4" y="T5"/>
                </a:cxn>
                <a:cxn ang="0">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8" name="Freeform 66"/>
            <p:cNvSpPr>
              <a:spLocks/>
            </p:cNvSpPr>
            <p:nvPr/>
          </p:nvSpPr>
          <p:spPr bwMode="ltGray">
            <a:xfrm>
              <a:off x="4145" y="3007"/>
              <a:ext cx="21" cy="48"/>
            </a:xfrm>
            <a:custGeom>
              <a:avLst/>
              <a:gdLst>
                <a:gd name="T0" fmla="*/ 5 w 28"/>
                <a:gd name="T1" fmla="*/ 0 h 64"/>
                <a:gd name="T2" fmla="*/ 11 w 28"/>
                <a:gd name="T3" fmla="*/ 14 h 64"/>
                <a:gd name="T4" fmla="*/ 20 w 28"/>
                <a:gd name="T5" fmla="*/ 21 h 64"/>
                <a:gd name="T6" fmla="*/ 8 w 28"/>
                <a:gd name="T7" fmla="*/ 39 h 64"/>
                <a:gd name="T8" fmla="*/ 0 w 28"/>
                <a:gd name="T9" fmla="*/ 56 h 64"/>
                <a:gd name="T10" fmla="*/ 11 w 28"/>
                <a:gd name="T11" fmla="*/ 57 h 64"/>
                <a:gd name="T12" fmla="*/ 26 w 28"/>
                <a:gd name="T13" fmla="*/ 26 h 64"/>
                <a:gd name="T14" fmla="*/ 5 w 28"/>
                <a:gd name="T15" fmla="*/ 0 h 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19" name="Freeform 67"/>
            <p:cNvSpPr>
              <a:spLocks/>
            </p:cNvSpPr>
            <p:nvPr/>
          </p:nvSpPr>
          <p:spPr bwMode="ltGray">
            <a:xfrm>
              <a:off x="3876" y="3076"/>
              <a:ext cx="12" cy="27"/>
            </a:xfrm>
            <a:custGeom>
              <a:avLst/>
              <a:gdLst>
                <a:gd name="T0" fmla="*/ 14 w 16"/>
                <a:gd name="T1" fmla="*/ 3 h 36"/>
                <a:gd name="T2" fmla="*/ 0 w 16"/>
                <a:gd name="T3" fmla="*/ 7 h 36"/>
                <a:gd name="T4" fmla="*/ 8 w 16"/>
                <a:gd name="T5" fmla="*/ 22 h 36"/>
                <a:gd name="T6" fmla="*/ 14 w 16"/>
                <a:gd name="T7" fmla="*/ 3 h 36"/>
              </a:gdLst>
              <a:ahLst/>
              <a:cxnLst>
                <a:cxn ang="0">
                  <a:pos x="T0" y="T1"/>
                </a:cxn>
                <a:cxn ang="0">
                  <a:pos x="T2" y="T3"/>
                </a:cxn>
                <a:cxn ang="0">
                  <a:pos x="T4" y="T5"/>
                </a:cxn>
                <a:cxn ang="0">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0" name="Freeform 68"/>
            <p:cNvSpPr>
              <a:spLocks/>
            </p:cNvSpPr>
            <p:nvPr/>
          </p:nvSpPr>
          <p:spPr bwMode="ltGray">
            <a:xfrm>
              <a:off x="3866" y="3053"/>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1" name="Freeform 69"/>
            <p:cNvSpPr>
              <a:spLocks/>
            </p:cNvSpPr>
            <p:nvPr/>
          </p:nvSpPr>
          <p:spPr bwMode="ltGray">
            <a:xfrm>
              <a:off x="3862" y="3035"/>
              <a:ext cx="12" cy="14"/>
            </a:xfrm>
            <a:custGeom>
              <a:avLst/>
              <a:gdLst>
                <a:gd name="T0" fmla="*/ 10 w 16"/>
                <a:gd name="T1" fmla="*/ 5 h 19"/>
                <a:gd name="T2" fmla="*/ 0 w 16"/>
                <a:gd name="T3" fmla="*/ 10 h 19"/>
                <a:gd name="T4" fmla="*/ 12 w 16"/>
                <a:gd name="T5" fmla="*/ 19 h 19"/>
                <a:gd name="T6" fmla="*/ 10 w 16"/>
                <a:gd name="T7" fmla="*/ 5 h 19"/>
              </a:gdLst>
              <a:ahLst/>
              <a:cxnLst>
                <a:cxn ang="0">
                  <a:pos x="T0" y="T1"/>
                </a:cxn>
                <a:cxn ang="0">
                  <a:pos x="T2" y="T3"/>
                </a:cxn>
                <a:cxn ang="0">
                  <a:pos x="T4" y="T5"/>
                </a:cxn>
                <a:cxn ang="0">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2" name="Freeform 70"/>
            <p:cNvSpPr>
              <a:spLocks/>
            </p:cNvSpPr>
            <p:nvPr/>
          </p:nvSpPr>
          <p:spPr bwMode="ltGray">
            <a:xfrm>
              <a:off x="3850" y="2995"/>
              <a:ext cx="11" cy="19"/>
            </a:xfrm>
            <a:custGeom>
              <a:avLst/>
              <a:gdLst>
                <a:gd name="T0" fmla="*/ 6 w 14"/>
                <a:gd name="T1" fmla="*/ 0 h 25"/>
                <a:gd name="T2" fmla="*/ 0 w 14"/>
                <a:gd name="T3" fmla="*/ 13 h 25"/>
                <a:gd name="T4" fmla="*/ 12 w 14"/>
                <a:gd name="T5" fmla="*/ 24 h 25"/>
                <a:gd name="T6" fmla="*/ 6 w 14"/>
                <a:gd name="T7" fmla="*/ 0 h 25"/>
              </a:gdLst>
              <a:ahLst/>
              <a:cxnLst>
                <a:cxn ang="0">
                  <a:pos x="T0" y="T1"/>
                </a:cxn>
                <a:cxn ang="0">
                  <a:pos x="T2" y="T3"/>
                </a:cxn>
                <a:cxn ang="0">
                  <a:pos x="T4" y="T5"/>
                </a:cxn>
                <a:cxn ang="0">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3" name="Freeform 71"/>
            <p:cNvSpPr>
              <a:spLocks/>
            </p:cNvSpPr>
            <p:nvPr/>
          </p:nvSpPr>
          <p:spPr bwMode="ltGray">
            <a:xfrm>
              <a:off x="3852" y="3020"/>
              <a:ext cx="16" cy="13"/>
            </a:xfrm>
            <a:custGeom>
              <a:avLst/>
              <a:gdLst>
                <a:gd name="T0" fmla="*/ 13 w 22"/>
                <a:gd name="T1" fmla="*/ 0 h 18"/>
                <a:gd name="T2" fmla="*/ 19 w 22"/>
                <a:gd name="T3" fmla="*/ 18 h 18"/>
                <a:gd name="T4" fmla="*/ 14 w 22"/>
                <a:gd name="T5" fmla="*/ 6 h 18"/>
                <a:gd name="T6" fmla="*/ 13 w 22"/>
                <a:gd name="T7" fmla="*/ 0 h 18"/>
              </a:gdLst>
              <a:ahLst/>
              <a:cxnLst>
                <a:cxn ang="0">
                  <a:pos x="T0" y="T1"/>
                </a:cxn>
                <a:cxn ang="0">
                  <a:pos x="T2" y="T3"/>
                </a:cxn>
                <a:cxn ang="0">
                  <a:pos x="T4" y="T5"/>
                </a:cxn>
                <a:cxn ang="0">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4" name="Freeform 72"/>
            <p:cNvSpPr>
              <a:spLocks/>
            </p:cNvSpPr>
            <p:nvPr/>
          </p:nvSpPr>
          <p:spPr bwMode="ltGray">
            <a:xfrm>
              <a:off x="4688" y="3643"/>
              <a:ext cx="45" cy="60"/>
            </a:xfrm>
            <a:custGeom>
              <a:avLst/>
              <a:gdLst>
                <a:gd name="T0" fmla="*/ 10 w 60"/>
                <a:gd name="T1" fmla="*/ 7 h 81"/>
                <a:gd name="T2" fmla="*/ 3 w 60"/>
                <a:gd name="T3" fmla="*/ 18 h 81"/>
                <a:gd name="T4" fmla="*/ 15 w 60"/>
                <a:gd name="T5" fmla="*/ 39 h 81"/>
                <a:gd name="T6" fmla="*/ 27 w 60"/>
                <a:gd name="T7" fmla="*/ 54 h 81"/>
                <a:gd name="T8" fmla="*/ 40 w 60"/>
                <a:gd name="T9" fmla="*/ 63 h 81"/>
                <a:gd name="T10" fmla="*/ 51 w 60"/>
                <a:gd name="T11" fmla="*/ 81 h 81"/>
                <a:gd name="T12" fmla="*/ 52 w 60"/>
                <a:gd name="T13" fmla="*/ 57 h 81"/>
                <a:gd name="T14" fmla="*/ 43 w 60"/>
                <a:gd name="T15" fmla="*/ 37 h 81"/>
                <a:gd name="T16" fmla="*/ 25 w 60"/>
                <a:gd name="T17" fmla="*/ 18 h 81"/>
                <a:gd name="T18" fmla="*/ 10 w 60"/>
                <a:gd name="T19"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5" name="Freeform 73"/>
            <p:cNvSpPr>
              <a:spLocks/>
            </p:cNvSpPr>
            <p:nvPr/>
          </p:nvSpPr>
          <p:spPr bwMode="ltGray">
            <a:xfrm>
              <a:off x="4919" y="3594"/>
              <a:ext cx="53" cy="46"/>
            </a:xfrm>
            <a:custGeom>
              <a:avLst/>
              <a:gdLst>
                <a:gd name="T0" fmla="*/ 28 w 71"/>
                <a:gd name="T1" fmla="*/ 23 h 61"/>
                <a:gd name="T2" fmla="*/ 13 w 71"/>
                <a:gd name="T3" fmla="*/ 32 h 61"/>
                <a:gd name="T4" fmla="*/ 1 w 71"/>
                <a:gd name="T5" fmla="*/ 44 h 61"/>
                <a:gd name="T6" fmla="*/ 13 w 71"/>
                <a:gd name="T7" fmla="*/ 59 h 61"/>
                <a:gd name="T8" fmla="*/ 28 w 71"/>
                <a:gd name="T9" fmla="*/ 44 h 61"/>
                <a:gd name="T10" fmla="*/ 40 w 71"/>
                <a:gd name="T11" fmla="*/ 23 h 61"/>
                <a:gd name="T12" fmla="*/ 55 w 71"/>
                <a:gd name="T13" fmla="*/ 0 h 61"/>
                <a:gd name="T14" fmla="*/ 71 w 71"/>
                <a:gd name="T15" fmla="*/ 11 h 61"/>
                <a:gd name="T16" fmla="*/ 35 w 71"/>
                <a:gd name="T17" fmla="*/ 23 h 61"/>
                <a:gd name="T18" fmla="*/ 28 w 71"/>
                <a:gd name="T19" fmla="*/ 23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6" name="Freeform 74"/>
            <p:cNvSpPr>
              <a:spLocks/>
            </p:cNvSpPr>
            <p:nvPr/>
          </p:nvSpPr>
          <p:spPr bwMode="ltGray">
            <a:xfrm>
              <a:off x="4759" y="3569"/>
              <a:ext cx="17" cy="23"/>
            </a:xfrm>
            <a:custGeom>
              <a:avLst/>
              <a:gdLst>
                <a:gd name="T0" fmla="*/ 9 w 23"/>
                <a:gd name="T1" fmla="*/ 0 h 30"/>
                <a:gd name="T2" fmla="*/ 0 w 23"/>
                <a:gd name="T3" fmla="*/ 14 h 30"/>
                <a:gd name="T4" fmla="*/ 12 w 23"/>
                <a:gd name="T5" fmla="*/ 30 h 30"/>
                <a:gd name="T6" fmla="*/ 9 w 23"/>
                <a:gd name="T7" fmla="*/ 0 h 30"/>
              </a:gdLst>
              <a:ahLst/>
              <a:cxnLst>
                <a:cxn ang="0">
                  <a:pos x="T0" y="T1"/>
                </a:cxn>
                <a:cxn ang="0">
                  <a:pos x="T2" y="T3"/>
                </a:cxn>
                <a:cxn ang="0">
                  <a:pos x="T4" y="T5"/>
                </a:cxn>
                <a:cxn ang="0">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7" name="Freeform 75"/>
            <p:cNvSpPr>
              <a:spLocks/>
            </p:cNvSpPr>
            <p:nvPr/>
          </p:nvSpPr>
          <p:spPr bwMode="ltGray">
            <a:xfrm>
              <a:off x="4751" y="3547"/>
              <a:ext cx="20" cy="17"/>
            </a:xfrm>
            <a:custGeom>
              <a:avLst/>
              <a:gdLst>
                <a:gd name="T0" fmla="*/ 19 w 26"/>
                <a:gd name="T1" fmla="*/ 0 h 23"/>
                <a:gd name="T2" fmla="*/ 0 w 26"/>
                <a:gd name="T3" fmla="*/ 14 h 23"/>
                <a:gd name="T4" fmla="*/ 21 w 26"/>
                <a:gd name="T5" fmla="*/ 20 h 23"/>
                <a:gd name="T6" fmla="*/ 19 w 26"/>
                <a:gd name="T7" fmla="*/ 0 h 23"/>
              </a:gdLst>
              <a:ahLst/>
              <a:cxnLst>
                <a:cxn ang="0">
                  <a:pos x="T0" y="T1"/>
                </a:cxn>
                <a:cxn ang="0">
                  <a:pos x="T2" y="T3"/>
                </a:cxn>
                <a:cxn ang="0">
                  <a:pos x="T4" y="T5"/>
                </a:cxn>
                <a:cxn ang="0">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8" name="Freeform 76"/>
            <p:cNvSpPr>
              <a:spLocks/>
            </p:cNvSpPr>
            <p:nvPr/>
          </p:nvSpPr>
          <p:spPr bwMode="ltGray">
            <a:xfrm>
              <a:off x="4598" y="3353"/>
              <a:ext cx="24" cy="33"/>
            </a:xfrm>
            <a:custGeom>
              <a:avLst/>
              <a:gdLst>
                <a:gd name="T0" fmla="*/ 28 w 32"/>
                <a:gd name="T1" fmla="*/ 0 h 44"/>
                <a:gd name="T2" fmla="*/ 10 w 32"/>
                <a:gd name="T3" fmla="*/ 11 h 44"/>
                <a:gd name="T4" fmla="*/ 12 w 32"/>
                <a:gd name="T5" fmla="*/ 32 h 44"/>
                <a:gd name="T6" fmla="*/ 24 w 32"/>
                <a:gd name="T7" fmla="*/ 36 h 44"/>
                <a:gd name="T8" fmla="*/ 28 w 32"/>
                <a:gd name="T9" fmla="*/ 0 h 44"/>
              </a:gdLst>
              <a:ahLst/>
              <a:cxnLst>
                <a:cxn ang="0">
                  <a:pos x="T0" y="T1"/>
                </a:cxn>
                <a:cxn ang="0">
                  <a:pos x="T2" y="T3"/>
                </a:cxn>
                <a:cxn ang="0">
                  <a:pos x="T4" y="T5"/>
                </a:cxn>
                <a:cxn ang="0">
                  <a:pos x="T6" y="T7"/>
                </a:cxn>
                <a:cxn ang="0">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29" name="Freeform 77"/>
            <p:cNvSpPr>
              <a:spLocks/>
            </p:cNvSpPr>
            <p:nvPr/>
          </p:nvSpPr>
          <p:spPr bwMode="ltGray">
            <a:xfrm>
              <a:off x="4632" y="3396"/>
              <a:ext cx="26" cy="33"/>
            </a:xfrm>
            <a:custGeom>
              <a:avLst/>
              <a:gdLst>
                <a:gd name="T0" fmla="*/ 30 w 34"/>
                <a:gd name="T1" fmla="*/ 0 h 44"/>
                <a:gd name="T2" fmla="*/ 10 w 34"/>
                <a:gd name="T3" fmla="*/ 9 h 44"/>
                <a:gd name="T4" fmla="*/ 14 w 34"/>
                <a:gd name="T5" fmla="*/ 32 h 44"/>
                <a:gd name="T6" fmla="*/ 26 w 34"/>
                <a:gd name="T7" fmla="*/ 36 h 44"/>
                <a:gd name="T8" fmla="*/ 30 w 34"/>
                <a:gd name="T9" fmla="*/ 0 h 44"/>
              </a:gdLst>
              <a:ahLst/>
              <a:cxnLst>
                <a:cxn ang="0">
                  <a:pos x="T0" y="T1"/>
                </a:cxn>
                <a:cxn ang="0">
                  <a:pos x="T2" y="T3"/>
                </a:cxn>
                <a:cxn ang="0">
                  <a:pos x="T4" y="T5"/>
                </a:cxn>
                <a:cxn ang="0">
                  <a:pos x="T6" y="T7"/>
                </a:cxn>
                <a:cxn ang="0">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0" name="Freeform 78"/>
            <p:cNvSpPr>
              <a:spLocks/>
            </p:cNvSpPr>
            <p:nvPr/>
          </p:nvSpPr>
          <p:spPr bwMode="ltGray">
            <a:xfrm>
              <a:off x="4659" y="3459"/>
              <a:ext cx="28" cy="28"/>
            </a:xfrm>
            <a:custGeom>
              <a:avLst/>
              <a:gdLst>
                <a:gd name="T0" fmla="*/ 34 w 38"/>
                <a:gd name="T1" fmla="*/ 2 h 37"/>
                <a:gd name="T2" fmla="*/ 10 w 38"/>
                <a:gd name="T3" fmla="*/ 2 h 37"/>
                <a:gd name="T4" fmla="*/ 14 w 38"/>
                <a:gd name="T5" fmla="*/ 25 h 37"/>
                <a:gd name="T6" fmla="*/ 26 w 38"/>
                <a:gd name="T7" fmla="*/ 29 h 37"/>
                <a:gd name="T8" fmla="*/ 34 w 38"/>
                <a:gd name="T9" fmla="*/ 2 h 37"/>
              </a:gdLst>
              <a:ahLst/>
              <a:cxnLst>
                <a:cxn ang="0">
                  <a:pos x="T0" y="T1"/>
                </a:cxn>
                <a:cxn ang="0">
                  <a:pos x="T2" y="T3"/>
                </a:cxn>
                <a:cxn ang="0">
                  <a:pos x="T4" y="T5"/>
                </a:cxn>
                <a:cxn ang="0">
                  <a:pos x="T6" y="T7"/>
                </a:cxn>
                <a:cxn ang="0">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1" name="Freeform 79"/>
            <p:cNvSpPr>
              <a:spLocks/>
            </p:cNvSpPr>
            <p:nvPr/>
          </p:nvSpPr>
          <p:spPr bwMode="ltGray">
            <a:xfrm>
              <a:off x="4693" y="3449"/>
              <a:ext cx="28" cy="26"/>
            </a:xfrm>
            <a:custGeom>
              <a:avLst/>
              <a:gdLst>
                <a:gd name="T0" fmla="*/ 34 w 38"/>
                <a:gd name="T1" fmla="*/ 2 h 34"/>
                <a:gd name="T2" fmla="*/ 10 w 38"/>
                <a:gd name="T3" fmla="*/ 2 h 34"/>
                <a:gd name="T4" fmla="*/ 16 w 38"/>
                <a:gd name="T5" fmla="*/ 22 h 34"/>
                <a:gd name="T6" fmla="*/ 27 w 38"/>
                <a:gd name="T7" fmla="*/ 22 h 34"/>
                <a:gd name="T8" fmla="*/ 34 w 38"/>
                <a:gd name="T9" fmla="*/ 2 h 34"/>
              </a:gdLst>
              <a:ahLst/>
              <a:cxnLst>
                <a:cxn ang="0">
                  <a:pos x="T0" y="T1"/>
                </a:cxn>
                <a:cxn ang="0">
                  <a:pos x="T2" y="T3"/>
                </a:cxn>
                <a:cxn ang="0">
                  <a:pos x="T4" y="T5"/>
                </a:cxn>
                <a:cxn ang="0">
                  <a:pos x="T6" y="T7"/>
                </a:cxn>
                <a:cxn ang="0">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2" name="Freeform 80"/>
            <p:cNvSpPr>
              <a:spLocks/>
            </p:cNvSpPr>
            <p:nvPr/>
          </p:nvSpPr>
          <p:spPr bwMode="ltGray">
            <a:xfrm>
              <a:off x="4683" y="3413"/>
              <a:ext cx="26" cy="20"/>
            </a:xfrm>
            <a:custGeom>
              <a:avLst/>
              <a:gdLst>
                <a:gd name="T0" fmla="*/ 31 w 35"/>
                <a:gd name="T1" fmla="*/ 1 h 27"/>
                <a:gd name="T2" fmla="*/ 10 w 35"/>
                <a:gd name="T3" fmla="*/ 2 h 27"/>
                <a:gd name="T4" fmla="*/ 13 w 35"/>
                <a:gd name="T5" fmla="*/ 15 h 27"/>
                <a:gd name="T6" fmla="*/ 25 w 35"/>
                <a:gd name="T7" fmla="*/ 19 h 27"/>
                <a:gd name="T8" fmla="*/ 31 w 35"/>
                <a:gd name="T9" fmla="*/ 1 h 27"/>
              </a:gdLst>
              <a:ahLst/>
              <a:cxnLst>
                <a:cxn ang="0">
                  <a:pos x="T0" y="T1"/>
                </a:cxn>
                <a:cxn ang="0">
                  <a:pos x="T2" y="T3"/>
                </a:cxn>
                <a:cxn ang="0">
                  <a:pos x="T4" y="T5"/>
                </a:cxn>
                <a:cxn ang="0">
                  <a:pos x="T6" y="T7"/>
                </a:cxn>
                <a:cxn ang="0">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3" name="Freeform 81"/>
            <p:cNvSpPr>
              <a:spLocks/>
            </p:cNvSpPr>
            <p:nvPr/>
          </p:nvSpPr>
          <p:spPr bwMode="ltGray">
            <a:xfrm>
              <a:off x="4657" y="3388"/>
              <a:ext cx="26" cy="35"/>
            </a:xfrm>
            <a:custGeom>
              <a:avLst/>
              <a:gdLst>
                <a:gd name="T0" fmla="*/ 28 w 35"/>
                <a:gd name="T1" fmla="*/ 16 h 47"/>
                <a:gd name="T2" fmla="*/ 19 w 35"/>
                <a:gd name="T3" fmla="*/ 2 h 47"/>
                <a:gd name="T4" fmla="*/ 10 w 35"/>
                <a:gd name="T5" fmla="*/ 25 h 47"/>
                <a:gd name="T6" fmla="*/ 19 w 35"/>
                <a:gd name="T7" fmla="*/ 35 h 47"/>
                <a:gd name="T8" fmla="*/ 27 w 35"/>
                <a:gd name="T9" fmla="*/ 29 h 47"/>
                <a:gd name="T10" fmla="*/ 28 w 35"/>
                <a:gd name="T11" fmla="*/ 16 h 47"/>
              </a:gdLst>
              <a:ahLst/>
              <a:cxnLst>
                <a:cxn ang="0">
                  <a:pos x="T0" y="T1"/>
                </a:cxn>
                <a:cxn ang="0">
                  <a:pos x="T2" y="T3"/>
                </a:cxn>
                <a:cxn ang="0">
                  <a:pos x="T4" y="T5"/>
                </a:cxn>
                <a:cxn ang="0">
                  <a:pos x="T6" y="T7"/>
                </a:cxn>
                <a:cxn ang="0">
                  <a:pos x="T8" y="T9"/>
                </a:cxn>
                <a:cxn ang="0">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4" name="Freeform 82"/>
            <p:cNvSpPr>
              <a:spLocks/>
            </p:cNvSpPr>
            <p:nvPr/>
          </p:nvSpPr>
          <p:spPr bwMode="ltGray">
            <a:xfrm>
              <a:off x="4625" y="3372"/>
              <a:ext cx="24" cy="26"/>
            </a:xfrm>
            <a:custGeom>
              <a:avLst/>
              <a:gdLst>
                <a:gd name="T0" fmla="*/ 22 w 32"/>
                <a:gd name="T1" fmla="*/ 10 h 35"/>
                <a:gd name="T2" fmla="*/ 10 w 32"/>
                <a:gd name="T3" fmla="*/ 2 h 35"/>
                <a:gd name="T4" fmla="*/ 12 w 32"/>
                <a:gd name="T5" fmla="*/ 23 h 35"/>
                <a:gd name="T6" fmla="*/ 24 w 32"/>
                <a:gd name="T7" fmla="*/ 27 h 35"/>
                <a:gd name="T8" fmla="*/ 22 w 32"/>
                <a:gd name="T9" fmla="*/ 10 h 35"/>
              </a:gdLst>
              <a:ahLst/>
              <a:cxnLst>
                <a:cxn ang="0">
                  <a:pos x="T0" y="T1"/>
                </a:cxn>
                <a:cxn ang="0">
                  <a:pos x="T2" y="T3"/>
                </a:cxn>
                <a:cxn ang="0">
                  <a:pos x="T4" y="T5"/>
                </a:cxn>
                <a:cxn ang="0">
                  <a:pos x="T6" y="T7"/>
                </a:cxn>
                <a:cxn ang="0">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5" name="Freeform 83"/>
            <p:cNvSpPr>
              <a:spLocks/>
            </p:cNvSpPr>
            <p:nvPr/>
          </p:nvSpPr>
          <p:spPr bwMode="ltGray">
            <a:xfrm>
              <a:off x="4665" y="3425"/>
              <a:ext cx="24" cy="26"/>
            </a:xfrm>
            <a:custGeom>
              <a:avLst/>
              <a:gdLst>
                <a:gd name="T0" fmla="*/ 22 w 32"/>
                <a:gd name="T1" fmla="*/ 10 h 35"/>
                <a:gd name="T2" fmla="*/ 10 w 32"/>
                <a:gd name="T3" fmla="*/ 2 h 35"/>
                <a:gd name="T4" fmla="*/ 12 w 32"/>
                <a:gd name="T5" fmla="*/ 23 h 35"/>
                <a:gd name="T6" fmla="*/ 24 w 32"/>
                <a:gd name="T7" fmla="*/ 27 h 35"/>
                <a:gd name="T8" fmla="*/ 22 w 32"/>
                <a:gd name="T9" fmla="*/ 10 h 35"/>
              </a:gdLst>
              <a:ahLst/>
              <a:cxnLst>
                <a:cxn ang="0">
                  <a:pos x="T0" y="T1"/>
                </a:cxn>
                <a:cxn ang="0">
                  <a:pos x="T2" y="T3"/>
                </a:cxn>
                <a:cxn ang="0">
                  <a:pos x="T4" y="T5"/>
                </a:cxn>
                <a:cxn ang="0">
                  <a:pos x="T6" y="T7"/>
                </a:cxn>
                <a:cxn ang="0">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6" name="Freeform 84"/>
            <p:cNvSpPr>
              <a:spLocks/>
            </p:cNvSpPr>
            <p:nvPr/>
          </p:nvSpPr>
          <p:spPr bwMode="ltGray">
            <a:xfrm>
              <a:off x="3055" y="2051"/>
              <a:ext cx="141" cy="108"/>
            </a:xfrm>
            <a:custGeom>
              <a:avLst/>
              <a:gdLst>
                <a:gd name="T0" fmla="*/ 171 w 189"/>
                <a:gd name="T1" fmla="*/ 4 h 144"/>
                <a:gd name="T2" fmla="*/ 185 w 189"/>
                <a:gd name="T3" fmla="*/ 4 h 144"/>
                <a:gd name="T4" fmla="*/ 189 w 189"/>
                <a:gd name="T5" fmla="*/ 16 h 144"/>
                <a:gd name="T6" fmla="*/ 187 w 189"/>
                <a:gd name="T7" fmla="*/ 24 h 144"/>
                <a:gd name="T8" fmla="*/ 131 w 189"/>
                <a:gd name="T9" fmla="*/ 44 h 144"/>
                <a:gd name="T10" fmla="*/ 109 w 189"/>
                <a:gd name="T11" fmla="*/ 58 h 144"/>
                <a:gd name="T12" fmla="*/ 97 w 189"/>
                <a:gd name="T13" fmla="*/ 62 h 144"/>
                <a:gd name="T14" fmla="*/ 71 w 189"/>
                <a:gd name="T15" fmla="*/ 82 h 144"/>
                <a:gd name="T16" fmla="*/ 75 w 189"/>
                <a:gd name="T17" fmla="*/ 92 h 144"/>
                <a:gd name="T18" fmla="*/ 83 w 189"/>
                <a:gd name="T19" fmla="*/ 116 h 144"/>
                <a:gd name="T20" fmla="*/ 107 w 189"/>
                <a:gd name="T21" fmla="*/ 126 h 144"/>
                <a:gd name="T22" fmla="*/ 93 w 189"/>
                <a:gd name="T23" fmla="*/ 140 h 144"/>
                <a:gd name="T24" fmla="*/ 83 w 189"/>
                <a:gd name="T25" fmla="*/ 130 h 144"/>
                <a:gd name="T26" fmla="*/ 71 w 189"/>
                <a:gd name="T27" fmla="*/ 134 h 144"/>
                <a:gd name="T28" fmla="*/ 21 w 189"/>
                <a:gd name="T29" fmla="*/ 122 h 144"/>
                <a:gd name="T30" fmla="*/ 19 w 189"/>
                <a:gd name="T31" fmla="*/ 106 h 144"/>
                <a:gd name="T32" fmla="*/ 47 w 189"/>
                <a:gd name="T33" fmla="*/ 90 h 144"/>
                <a:gd name="T34" fmla="*/ 51 w 189"/>
                <a:gd name="T35" fmla="*/ 76 h 144"/>
                <a:gd name="T36" fmla="*/ 47 w 189"/>
                <a:gd name="T37" fmla="*/ 64 h 144"/>
                <a:gd name="T38" fmla="*/ 73 w 189"/>
                <a:gd name="T39" fmla="*/ 46 h 144"/>
                <a:gd name="T40" fmla="*/ 97 w 189"/>
                <a:gd name="T41" fmla="*/ 36 h 144"/>
                <a:gd name="T42" fmla="*/ 113 w 189"/>
                <a:gd name="T43" fmla="*/ 24 h 144"/>
                <a:gd name="T44" fmla="*/ 171 w 189"/>
                <a:gd name="T45" fmla="*/ 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7" name="Freeform 85"/>
            <p:cNvSpPr>
              <a:spLocks/>
            </p:cNvSpPr>
            <p:nvPr/>
          </p:nvSpPr>
          <p:spPr bwMode="ltGray">
            <a:xfrm>
              <a:off x="3139" y="2155"/>
              <a:ext cx="40" cy="12"/>
            </a:xfrm>
            <a:custGeom>
              <a:avLst/>
              <a:gdLst>
                <a:gd name="T0" fmla="*/ 24 w 53"/>
                <a:gd name="T1" fmla="*/ 0 h 17"/>
                <a:gd name="T2" fmla="*/ 12 w 53"/>
                <a:gd name="T3" fmla="*/ 2 h 17"/>
                <a:gd name="T4" fmla="*/ 32 w 53"/>
                <a:gd name="T5" fmla="*/ 16 h 17"/>
                <a:gd name="T6" fmla="*/ 44 w 53"/>
                <a:gd name="T7" fmla="*/ 14 h 17"/>
                <a:gd name="T8" fmla="*/ 24 w 53"/>
                <a:gd name="T9" fmla="*/ 0 h 17"/>
              </a:gdLst>
              <a:ahLst/>
              <a:cxnLst>
                <a:cxn ang="0">
                  <a:pos x="T0" y="T1"/>
                </a:cxn>
                <a:cxn ang="0">
                  <a:pos x="T2" y="T3"/>
                </a:cxn>
                <a:cxn ang="0">
                  <a:pos x="T4" y="T5"/>
                </a:cxn>
                <a:cxn ang="0">
                  <a:pos x="T6" y="T7"/>
                </a:cxn>
                <a:cxn ang="0">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8" name="Freeform 86"/>
            <p:cNvSpPr>
              <a:spLocks/>
            </p:cNvSpPr>
            <p:nvPr/>
          </p:nvSpPr>
          <p:spPr bwMode="ltGray">
            <a:xfrm>
              <a:off x="3344" y="1999"/>
              <a:ext cx="42" cy="28"/>
            </a:xfrm>
            <a:custGeom>
              <a:avLst/>
              <a:gdLst>
                <a:gd name="T0" fmla="*/ 57 w 57"/>
                <a:gd name="T1" fmla="*/ 4 h 37"/>
                <a:gd name="T2" fmla="*/ 25 w 57"/>
                <a:gd name="T3" fmla="*/ 24 h 37"/>
                <a:gd name="T4" fmla="*/ 11 w 57"/>
                <a:gd name="T5" fmla="*/ 34 h 37"/>
                <a:gd name="T6" fmla="*/ 9 w 57"/>
                <a:gd name="T7" fmla="*/ 4 h 37"/>
                <a:gd name="T8" fmla="*/ 21 w 57"/>
                <a:gd name="T9" fmla="*/ 0 h 37"/>
                <a:gd name="T10" fmla="*/ 57 w 57"/>
                <a:gd name="T11" fmla="*/ 4 h 37"/>
              </a:gdLst>
              <a:ahLst/>
              <a:cxnLst>
                <a:cxn ang="0">
                  <a:pos x="T0" y="T1"/>
                </a:cxn>
                <a:cxn ang="0">
                  <a:pos x="T2" y="T3"/>
                </a:cxn>
                <a:cxn ang="0">
                  <a:pos x="T4" y="T5"/>
                </a:cxn>
                <a:cxn ang="0">
                  <a:pos x="T6" y="T7"/>
                </a:cxn>
                <a:cxn ang="0">
                  <a:pos x="T8" y="T9"/>
                </a:cxn>
                <a:cxn ang="0">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39" name="Freeform 87"/>
            <p:cNvSpPr>
              <a:spLocks/>
            </p:cNvSpPr>
            <p:nvPr/>
          </p:nvSpPr>
          <p:spPr bwMode="ltGray">
            <a:xfrm>
              <a:off x="3374" y="2012"/>
              <a:ext cx="50" cy="20"/>
            </a:xfrm>
            <a:custGeom>
              <a:avLst/>
              <a:gdLst>
                <a:gd name="T0" fmla="*/ 29 w 68"/>
                <a:gd name="T1" fmla="*/ 0 h 26"/>
                <a:gd name="T2" fmla="*/ 11 w 68"/>
                <a:gd name="T3" fmla="*/ 6 h 26"/>
                <a:gd name="T4" fmla="*/ 57 w 68"/>
                <a:gd name="T5" fmla="*/ 26 h 26"/>
                <a:gd name="T6" fmla="*/ 63 w 68"/>
                <a:gd name="T7" fmla="*/ 24 h 26"/>
                <a:gd name="T8" fmla="*/ 29 w 68"/>
                <a:gd name="T9" fmla="*/ 0 h 26"/>
              </a:gdLst>
              <a:ahLst/>
              <a:cxnLst>
                <a:cxn ang="0">
                  <a:pos x="T0" y="T1"/>
                </a:cxn>
                <a:cxn ang="0">
                  <a:pos x="T2" y="T3"/>
                </a:cxn>
                <a:cxn ang="0">
                  <a:pos x="T4" y="T5"/>
                </a:cxn>
                <a:cxn ang="0">
                  <a:pos x="T6" y="T7"/>
                </a:cxn>
                <a:cxn ang="0">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0" name="Freeform 88"/>
            <p:cNvSpPr>
              <a:spLocks/>
            </p:cNvSpPr>
            <p:nvPr/>
          </p:nvSpPr>
          <p:spPr bwMode="ltGray">
            <a:xfrm>
              <a:off x="3428" y="2015"/>
              <a:ext cx="50" cy="32"/>
            </a:xfrm>
            <a:custGeom>
              <a:avLst/>
              <a:gdLst>
                <a:gd name="T0" fmla="*/ 50 w 66"/>
                <a:gd name="T1" fmla="*/ 9 h 43"/>
                <a:gd name="T2" fmla="*/ 26 w 66"/>
                <a:gd name="T3" fmla="*/ 9 h 43"/>
                <a:gd name="T4" fmla="*/ 10 w 66"/>
                <a:gd name="T5" fmla="*/ 9 h 43"/>
                <a:gd name="T6" fmla="*/ 8 w 66"/>
                <a:gd name="T7" fmla="*/ 35 h 43"/>
                <a:gd name="T8" fmla="*/ 32 w 66"/>
                <a:gd name="T9" fmla="*/ 43 h 43"/>
                <a:gd name="T10" fmla="*/ 62 w 66"/>
                <a:gd name="T11" fmla="*/ 27 h 43"/>
                <a:gd name="T12" fmla="*/ 50 w 66"/>
                <a:gd name="T13" fmla="*/ 9 h 43"/>
              </a:gdLst>
              <a:ahLst/>
              <a:cxnLst>
                <a:cxn ang="0">
                  <a:pos x="T0" y="T1"/>
                </a:cxn>
                <a:cxn ang="0">
                  <a:pos x="T2" y="T3"/>
                </a:cxn>
                <a:cxn ang="0">
                  <a:pos x="T4" y="T5"/>
                </a:cxn>
                <a:cxn ang="0">
                  <a:pos x="T6" y="T7"/>
                </a:cxn>
                <a:cxn ang="0">
                  <a:pos x="T8" y="T9"/>
                </a:cxn>
                <a:cxn ang="0">
                  <a:pos x="T10" y="T11"/>
                </a:cxn>
                <a:cxn ang="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1" name="Freeform 89"/>
            <p:cNvSpPr>
              <a:spLocks/>
            </p:cNvSpPr>
            <p:nvPr/>
          </p:nvSpPr>
          <p:spPr bwMode="ltGray">
            <a:xfrm>
              <a:off x="3777" y="2042"/>
              <a:ext cx="88" cy="31"/>
            </a:xfrm>
            <a:custGeom>
              <a:avLst/>
              <a:gdLst>
                <a:gd name="T0" fmla="*/ 14 w 117"/>
                <a:gd name="T1" fmla="*/ 0 h 41"/>
                <a:gd name="T2" fmla="*/ 8 w 117"/>
                <a:gd name="T3" fmla="*/ 16 h 41"/>
                <a:gd name="T4" fmla="*/ 50 w 117"/>
                <a:gd name="T5" fmla="*/ 30 h 41"/>
                <a:gd name="T6" fmla="*/ 76 w 117"/>
                <a:gd name="T7" fmla="*/ 36 h 41"/>
                <a:gd name="T8" fmla="*/ 112 w 117"/>
                <a:gd name="T9" fmla="*/ 22 h 41"/>
                <a:gd name="T10" fmla="*/ 78 w 117"/>
                <a:gd name="T11" fmla="*/ 4 h 41"/>
                <a:gd name="T12" fmla="*/ 14 w 117"/>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2" name="Freeform 90"/>
            <p:cNvSpPr>
              <a:spLocks/>
            </p:cNvSpPr>
            <p:nvPr/>
          </p:nvSpPr>
          <p:spPr bwMode="ltGray">
            <a:xfrm>
              <a:off x="3867" y="2041"/>
              <a:ext cx="46" cy="24"/>
            </a:xfrm>
            <a:custGeom>
              <a:avLst/>
              <a:gdLst>
                <a:gd name="T0" fmla="*/ 32 w 62"/>
                <a:gd name="T1" fmla="*/ 4 h 32"/>
                <a:gd name="T2" fmla="*/ 62 w 62"/>
                <a:gd name="T3" fmla="*/ 10 h 32"/>
                <a:gd name="T4" fmla="*/ 30 w 62"/>
                <a:gd name="T5" fmla="*/ 32 h 32"/>
                <a:gd name="T6" fmla="*/ 6 w 62"/>
                <a:gd name="T7" fmla="*/ 22 h 32"/>
                <a:gd name="T8" fmla="*/ 32 w 62"/>
                <a:gd name="T9" fmla="*/ 4 h 32"/>
              </a:gdLst>
              <a:ahLst/>
              <a:cxnLst>
                <a:cxn ang="0">
                  <a:pos x="T0" y="T1"/>
                </a:cxn>
                <a:cxn ang="0">
                  <a:pos x="T2" y="T3"/>
                </a:cxn>
                <a:cxn ang="0">
                  <a:pos x="T4" y="T5"/>
                </a:cxn>
                <a:cxn ang="0">
                  <a:pos x="T6" y="T7"/>
                </a:cxn>
                <a:cxn ang="0">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3" name="Freeform 91"/>
            <p:cNvSpPr>
              <a:spLocks/>
            </p:cNvSpPr>
            <p:nvPr/>
          </p:nvSpPr>
          <p:spPr bwMode="ltGray">
            <a:xfrm>
              <a:off x="3846" y="2070"/>
              <a:ext cx="37" cy="17"/>
            </a:xfrm>
            <a:custGeom>
              <a:avLst/>
              <a:gdLst>
                <a:gd name="T0" fmla="*/ 20 w 49"/>
                <a:gd name="T1" fmla="*/ 1 h 23"/>
                <a:gd name="T2" fmla="*/ 6 w 49"/>
                <a:gd name="T3" fmla="*/ 5 h 23"/>
                <a:gd name="T4" fmla="*/ 38 w 49"/>
                <a:gd name="T5" fmla="*/ 23 h 23"/>
                <a:gd name="T6" fmla="*/ 20 w 49"/>
                <a:gd name="T7" fmla="*/ 1 h 23"/>
              </a:gdLst>
              <a:ahLst/>
              <a:cxnLst>
                <a:cxn ang="0">
                  <a:pos x="T0" y="T1"/>
                </a:cxn>
                <a:cxn ang="0">
                  <a:pos x="T2" y="T3"/>
                </a:cxn>
                <a:cxn ang="0">
                  <a:pos x="T4" y="T5"/>
                </a:cxn>
                <a:cxn ang="0">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4" name="Freeform 92"/>
            <p:cNvSpPr>
              <a:spLocks/>
            </p:cNvSpPr>
            <p:nvPr/>
          </p:nvSpPr>
          <p:spPr bwMode="ltGray">
            <a:xfrm>
              <a:off x="4098" y="2294"/>
              <a:ext cx="76" cy="114"/>
            </a:xfrm>
            <a:custGeom>
              <a:avLst/>
              <a:gdLst>
                <a:gd name="T0" fmla="*/ 6 w 102"/>
                <a:gd name="T1" fmla="*/ 0 h 152"/>
                <a:gd name="T2" fmla="*/ 0 w 102"/>
                <a:gd name="T3" fmla="*/ 18 h 152"/>
                <a:gd name="T4" fmla="*/ 14 w 102"/>
                <a:gd name="T5" fmla="*/ 42 h 152"/>
                <a:gd name="T6" fmla="*/ 32 w 102"/>
                <a:gd name="T7" fmla="*/ 72 h 152"/>
                <a:gd name="T8" fmla="*/ 36 w 102"/>
                <a:gd name="T9" fmla="*/ 104 h 152"/>
                <a:gd name="T10" fmla="*/ 80 w 102"/>
                <a:gd name="T11" fmla="*/ 152 h 152"/>
                <a:gd name="T12" fmla="*/ 86 w 102"/>
                <a:gd name="T13" fmla="*/ 124 h 152"/>
                <a:gd name="T14" fmla="*/ 74 w 102"/>
                <a:gd name="T15" fmla="*/ 102 h 152"/>
                <a:gd name="T16" fmla="*/ 62 w 102"/>
                <a:gd name="T17" fmla="*/ 92 h 152"/>
                <a:gd name="T18" fmla="*/ 52 w 102"/>
                <a:gd name="T19" fmla="*/ 74 h 152"/>
                <a:gd name="T20" fmla="*/ 42 w 102"/>
                <a:gd name="T21" fmla="*/ 44 h 152"/>
                <a:gd name="T22" fmla="*/ 4 w 102"/>
                <a:gd name="T23" fmla="*/ 12 h 152"/>
                <a:gd name="T24" fmla="*/ 6 w 102"/>
                <a:gd name="T25"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5" name="Freeform 93"/>
            <p:cNvSpPr>
              <a:spLocks/>
            </p:cNvSpPr>
            <p:nvPr/>
          </p:nvSpPr>
          <p:spPr bwMode="ltGray">
            <a:xfrm>
              <a:off x="4159" y="2412"/>
              <a:ext cx="55" cy="78"/>
            </a:xfrm>
            <a:custGeom>
              <a:avLst/>
              <a:gdLst>
                <a:gd name="T0" fmla="*/ 64 w 74"/>
                <a:gd name="T1" fmla="*/ 22 h 103"/>
                <a:gd name="T2" fmla="*/ 74 w 74"/>
                <a:gd name="T3" fmla="*/ 40 h 103"/>
                <a:gd name="T4" fmla="*/ 30 w 74"/>
                <a:gd name="T5" fmla="*/ 84 h 103"/>
                <a:gd name="T6" fmla="*/ 32 w 74"/>
                <a:gd name="T7" fmla="*/ 100 h 103"/>
                <a:gd name="T8" fmla="*/ 20 w 74"/>
                <a:gd name="T9" fmla="*/ 94 h 103"/>
                <a:gd name="T10" fmla="*/ 6 w 74"/>
                <a:gd name="T11" fmla="*/ 84 h 103"/>
                <a:gd name="T12" fmla="*/ 0 w 74"/>
                <a:gd name="T13" fmla="*/ 82 h 103"/>
                <a:gd name="T14" fmla="*/ 10 w 74"/>
                <a:gd name="T15" fmla="*/ 58 h 103"/>
                <a:gd name="T16" fmla="*/ 12 w 74"/>
                <a:gd name="T17" fmla="*/ 52 h 103"/>
                <a:gd name="T18" fmla="*/ 2 w 74"/>
                <a:gd name="T19" fmla="*/ 24 h 103"/>
                <a:gd name="T20" fmla="*/ 4 w 74"/>
                <a:gd name="T21" fmla="*/ 14 h 103"/>
                <a:gd name="T22" fmla="*/ 26 w 74"/>
                <a:gd name="T23" fmla="*/ 22 h 103"/>
                <a:gd name="T24" fmla="*/ 36 w 74"/>
                <a:gd name="T25" fmla="*/ 36 h 103"/>
                <a:gd name="T26" fmla="*/ 64 w 74"/>
                <a:gd name="T27" fmla="*/ 2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6" name="Freeform 94"/>
            <p:cNvSpPr>
              <a:spLocks/>
            </p:cNvSpPr>
            <p:nvPr/>
          </p:nvSpPr>
          <p:spPr bwMode="ltGray">
            <a:xfrm>
              <a:off x="4123" y="2492"/>
              <a:ext cx="109" cy="189"/>
            </a:xfrm>
            <a:custGeom>
              <a:avLst/>
              <a:gdLst>
                <a:gd name="T0" fmla="*/ 82 w 146"/>
                <a:gd name="T1" fmla="*/ 100 h 252"/>
                <a:gd name="T2" fmla="*/ 66 w 146"/>
                <a:gd name="T3" fmla="*/ 106 h 252"/>
                <a:gd name="T4" fmla="*/ 64 w 146"/>
                <a:gd name="T5" fmla="*/ 132 h 252"/>
                <a:gd name="T6" fmla="*/ 22 w 146"/>
                <a:gd name="T7" fmla="*/ 146 h 252"/>
                <a:gd name="T8" fmla="*/ 8 w 146"/>
                <a:gd name="T9" fmla="*/ 168 h 252"/>
                <a:gd name="T10" fmla="*/ 20 w 146"/>
                <a:gd name="T11" fmla="*/ 182 h 252"/>
                <a:gd name="T12" fmla="*/ 8 w 146"/>
                <a:gd name="T13" fmla="*/ 198 h 252"/>
                <a:gd name="T14" fmla="*/ 24 w 146"/>
                <a:gd name="T15" fmla="*/ 252 h 252"/>
                <a:gd name="T16" fmla="*/ 28 w 146"/>
                <a:gd name="T17" fmla="*/ 214 h 252"/>
                <a:gd name="T18" fmla="*/ 22 w 146"/>
                <a:gd name="T19" fmla="*/ 192 h 252"/>
                <a:gd name="T20" fmla="*/ 42 w 146"/>
                <a:gd name="T21" fmla="*/ 176 h 252"/>
                <a:gd name="T22" fmla="*/ 52 w 146"/>
                <a:gd name="T23" fmla="*/ 158 h 252"/>
                <a:gd name="T24" fmla="*/ 66 w 146"/>
                <a:gd name="T25" fmla="*/ 174 h 252"/>
                <a:gd name="T26" fmla="*/ 44 w 146"/>
                <a:gd name="T27" fmla="*/ 190 h 252"/>
                <a:gd name="T28" fmla="*/ 56 w 146"/>
                <a:gd name="T29" fmla="*/ 200 h 252"/>
                <a:gd name="T30" fmla="*/ 68 w 146"/>
                <a:gd name="T31" fmla="*/ 178 h 252"/>
                <a:gd name="T32" fmla="*/ 84 w 146"/>
                <a:gd name="T33" fmla="*/ 184 h 252"/>
                <a:gd name="T34" fmla="*/ 104 w 146"/>
                <a:gd name="T35" fmla="*/ 148 h 252"/>
                <a:gd name="T36" fmla="*/ 114 w 146"/>
                <a:gd name="T37" fmla="*/ 156 h 252"/>
                <a:gd name="T38" fmla="*/ 136 w 146"/>
                <a:gd name="T39" fmla="*/ 148 h 252"/>
                <a:gd name="T40" fmla="*/ 146 w 146"/>
                <a:gd name="T41" fmla="*/ 130 h 252"/>
                <a:gd name="T42" fmla="*/ 142 w 146"/>
                <a:gd name="T43" fmla="*/ 110 h 252"/>
                <a:gd name="T44" fmla="*/ 134 w 146"/>
                <a:gd name="T45" fmla="*/ 98 h 252"/>
                <a:gd name="T46" fmla="*/ 122 w 146"/>
                <a:gd name="T47" fmla="*/ 40 h 252"/>
                <a:gd name="T48" fmla="*/ 94 w 146"/>
                <a:gd name="T49" fmla="*/ 0 h 252"/>
                <a:gd name="T50" fmla="*/ 78 w 146"/>
                <a:gd name="T51" fmla="*/ 12 h 252"/>
                <a:gd name="T52" fmla="*/ 96 w 146"/>
                <a:gd name="T53" fmla="*/ 34 h 252"/>
                <a:gd name="T54" fmla="*/ 96 w 146"/>
                <a:gd name="T55" fmla="*/ 64 h 252"/>
                <a:gd name="T56" fmla="*/ 82 w 146"/>
                <a:gd name="T57" fmla="*/ 10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7" name="Freeform 95"/>
            <p:cNvSpPr>
              <a:spLocks/>
            </p:cNvSpPr>
            <p:nvPr/>
          </p:nvSpPr>
          <p:spPr bwMode="ltGray">
            <a:xfrm>
              <a:off x="3062" y="1988"/>
              <a:ext cx="52" cy="30"/>
            </a:xfrm>
            <a:custGeom>
              <a:avLst/>
              <a:gdLst>
                <a:gd name="T0" fmla="*/ 59 w 70"/>
                <a:gd name="T1" fmla="*/ 0 h 40"/>
                <a:gd name="T2" fmla="*/ 65 w 70"/>
                <a:gd name="T3" fmla="*/ 20 h 40"/>
                <a:gd name="T4" fmla="*/ 41 w 70"/>
                <a:gd name="T5" fmla="*/ 24 h 40"/>
                <a:gd name="T6" fmla="*/ 31 w 70"/>
                <a:gd name="T7" fmla="*/ 40 h 40"/>
                <a:gd name="T8" fmla="*/ 7 w 70"/>
                <a:gd name="T9" fmla="*/ 38 h 40"/>
                <a:gd name="T10" fmla="*/ 1 w 70"/>
                <a:gd name="T11" fmla="*/ 36 h 40"/>
                <a:gd name="T12" fmla="*/ 33 w 70"/>
                <a:gd name="T13" fmla="*/ 20 h 40"/>
                <a:gd name="T14" fmla="*/ 59 w 70"/>
                <a:gd name="T15" fmla="*/ 0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8" name="Freeform 96"/>
            <p:cNvSpPr>
              <a:spLocks/>
            </p:cNvSpPr>
            <p:nvPr/>
          </p:nvSpPr>
          <p:spPr bwMode="ltGray">
            <a:xfrm>
              <a:off x="2955" y="1997"/>
              <a:ext cx="19" cy="22"/>
            </a:xfrm>
            <a:custGeom>
              <a:avLst/>
              <a:gdLst>
                <a:gd name="T0" fmla="*/ 18 w 26"/>
                <a:gd name="T1" fmla="*/ 0 h 29"/>
                <a:gd name="T2" fmla="*/ 0 w 26"/>
                <a:gd name="T3" fmla="*/ 18 h 29"/>
                <a:gd name="T4" fmla="*/ 18 w 26"/>
                <a:gd name="T5" fmla="*/ 26 h 29"/>
                <a:gd name="T6" fmla="*/ 18 w 26"/>
                <a:gd name="T7" fmla="*/ 0 h 29"/>
              </a:gdLst>
              <a:ahLst/>
              <a:cxnLst>
                <a:cxn ang="0">
                  <a:pos x="T0" y="T1"/>
                </a:cxn>
                <a:cxn ang="0">
                  <a:pos x="T2" y="T3"/>
                </a:cxn>
                <a:cxn ang="0">
                  <a:pos x="T4" y="T5"/>
                </a:cxn>
                <a:cxn ang="0">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49" name="Freeform 97"/>
            <p:cNvSpPr>
              <a:spLocks/>
            </p:cNvSpPr>
            <p:nvPr/>
          </p:nvSpPr>
          <p:spPr bwMode="ltGray">
            <a:xfrm>
              <a:off x="2979" y="1996"/>
              <a:ext cx="37" cy="27"/>
            </a:xfrm>
            <a:custGeom>
              <a:avLst/>
              <a:gdLst>
                <a:gd name="T0" fmla="*/ 14 w 49"/>
                <a:gd name="T1" fmla="*/ 6 h 36"/>
                <a:gd name="T2" fmla="*/ 0 w 49"/>
                <a:gd name="T3" fmla="*/ 18 h 36"/>
                <a:gd name="T4" fmla="*/ 6 w 49"/>
                <a:gd name="T5" fmla="*/ 32 h 36"/>
                <a:gd name="T6" fmla="*/ 18 w 49"/>
                <a:gd name="T7" fmla="*/ 36 h 36"/>
                <a:gd name="T8" fmla="*/ 40 w 49"/>
                <a:gd name="T9" fmla="*/ 26 h 36"/>
                <a:gd name="T10" fmla="*/ 14 w 49"/>
                <a:gd name="T11" fmla="*/ 6 h 36"/>
              </a:gdLst>
              <a:ahLst/>
              <a:cxnLst>
                <a:cxn ang="0">
                  <a:pos x="T0" y="T1"/>
                </a:cxn>
                <a:cxn ang="0">
                  <a:pos x="T2" y="T3"/>
                </a:cxn>
                <a:cxn ang="0">
                  <a:pos x="T4" y="T5"/>
                </a:cxn>
                <a:cxn ang="0">
                  <a:pos x="T6" y="T7"/>
                </a:cxn>
                <a:cxn ang="0">
                  <a:pos x="T8" y="T9"/>
                </a:cxn>
                <a:cxn ang="0">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0" name="Freeform 98"/>
            <p:cNvSpPr>
              <a:spLocks/>
            </p:cNvSpPr>
            <p:nvPr/>
          </p:nvSpPr>
          <p:spPr bwMode="ltGray">
            <a:xfrm>
              <a:off x="3040" y="1987"/>
              <a:ext cx="20" cy="16"/>
            </a:xfrm>
            <a:custGeom>
              <a:avLst/>
              <a:gdLst>
                <a:gd name="T0" fmla="*/ 11 w 27"/>
                <a:gd name="T1" fmla="*/ 0 h 22"/>
                <a:gd name="T2" fmla="*/ 3 w 27"/>
                <a:gd name="T3" fmla="*/ 12 h 22"/>
                <a:gd name="T4" fmla="*/ 19 w 27"/>
                <a:gd name="T5" fmla="*/ 22 h 22"/>
                <a:gd name="T6" fmla="*/ 11 w 27"/>
                <a:gd name="T7" fmla="*/ 0 h 22"/>
              </a:gdLst>
              <a:ahLst/>
              <a:cxnLst>
                <a:cxn ang="0">
                  <a:pos x="T0" y="T1"/>
                </a:cxn>
                <a:cxn ang="0">
                  <a:pos x="T2" y="T3"/>
                </a:cxn>
                <a:cxn ang="0">
                  <a:pos x="T4" y="T5"/>
                </a:cxn>
                <a:cxn ang="0">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1" name="Freeform 99"/>
            <p:cNvSpPr>
              <a:spLocks/>
            </p:cNvSpPr>
            <p:nvPr/>
          </p:nvSpPr>
          <p:spPr bwMode="ltGray">
            <a:xfrm>
              <a:off x="3022" y="2005"/>
              <a:ext cx="15" cy="13"/>
            </a:xfrm>
            <a:custGeom>
              <a:avLst/>
              <a:gdLst>
                <a:gd name="T0" fmla="*/ 11 w 20"/>
                <a:gd name="T1" fmla="*/ 0 h 18"/>
                <a:gd name="T2" fmla="*/ 9 w 20"/>
                <a:gd name="T3" fmla="*/ 18 h 18"/>
                <a:gd name="T4" fmla="*/ 11 w 20"/>
                <a:gd name="T5" fmla="*/ 0 h 18"/>
              </a:gdLst>
              <a:ahLst/>
              <a:cxnLst>
                <a:cxn ang="0">
                  <a:pos x="T0" y="T1"/>
                </a:cxn>
                <a:cxn ang="0">
                  <a:pos x="T2" y="T3"/>
                </a:cxn>
                <a:cxn ang="0">
                  <a:pos x="T4" y="T5"/>
                </a:cxn>
              </a:cxnLst>
              <a:rect l="0" t="0" r="r" b="b"/>
              <a:pathLst>
                <a:path w="20" h="18">
                  <a:moveTo>
                    <a:pt x="11" y="0"/>
                  </a:moveTo>
                  <a:cubicBezTo>
                    <a:pt x="1" y="14"/>
                    <a:pt x="0" y="9"/>
                    <a:pt x="9" y="18"/>
                  </a:cubicBezTo>
                  <a:cubicBezTo>
                    <a:pt x="20" y="14"/>
                    <a:pt x="16" y="18"/>
                    <a:pt x="11"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2" name="Freeform 100"/>
            <p:cNvSpPr>
              <a:spLocks/>
            </p:cNvSpPr>
            <p:nvPr/>
          </p:nvSpPr>
          <p:spPr bwMode="ltGray">
            <a:xfrm>
              <a:off x="4162" y="2021"/>
              <a:ext cx="18" cy="33"/>
            </a:xfrm>
            <a:custGeom>
              <a:avLst/>
              <a:gdLst>
                <a:gd name="T0" fmla="*/ 24 w 24"/>
                <a:gd name="T1" fmla="*/ 0 h 44"/>
                <a:gd name="T2" fmla="*/ 8 w 24"/>
                <a:gd name="T3" fmla="*/ 16 h 44"/>
                <a:gd name="T4" fmla="*/ 0 w 24"/>
                <a:gd name="T5" fmla="*/ 34 h 44"/>
                <a:gd name="T6" fmla="*/ 16 w 24"/>
                <a:gd name="T7" fmla="*/ 40 h 44"/>
                <a:gd name="T8" fmla="*/ 24 w 24"/>
                <a:gd name="T9" fmla="*/ 0 h 44"/>
              </a:gdLst>
              <a:ahLst/>
              <a:cxnLst>
                <a:cxn ang="0">
                  <a:pos x="T0" y="T1"/>
                </a:cxn>
                <a:cxn ang="0">
                  <a:pos x="T2" y="T3"/>
                </a:cxn>
                <a:cxn ang="0">
                  <a:pos x="T4" y="T5"/>
                </a:cxn>
                <a:cxn ang="0">
                  <a:pos x="T6" y="T7"/>
                </a:cxn>
                <a:cxn ang="0">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3" name="Freeform 101"/>
            <p:cNvSpPr>
              <a:spLocks/>
            </p:cNvSpPr>
            <p:nvPr/>
          </p:nvSpPr>
          <p:spPr bwMode="ltGray">
            <a:xfrm>
              <a:off x="3278" y="3473"/>
              <a:ext cx="31" cy="18"/>
            </a:xfrm>
            <a:custGeom>
              <a:avLst/>
              <a:gdLst>
                <a:gd name="T0" fmla="*/ 30 w 41"/>
                <a:gd name="T1" fmla="*/ 0 h 24"/>
                <a:gd name="T2" fmla="*/ 26 w 41"/>
                <a:gd name="T3" fmla="*/ 24 h 24"/>
                <a:gd name="T4" fmla="*/ 30 w 41"/>
                <a:gd name="T5" fmla="*/ 0 h 24"/>
              </a:gdLst>
              <a:ahLst/>
              <a:cxnLst>
                <a:cxn ang="0">
                  <a:pos x="T0" y="T1"/>
                </a:cxn>
                <a:cxn ang="0">
                  <a:pos x="T2" y="T3"/>
                </a:cxn>
                <a:cxn ang="0">
                  <a:pos x="T4" y="T5"/>
                </a:cxn>
              </a:cxnLst>
              <a:rect l="0" t="0" r="r" b="b"/>
              <a:pathLst>
                <a:path w="41" h="24">
                  <a:moveTo>
                    <a:pt x="30" y="0"/>
                  </a:moveTo>
                  <a:cubicBezTo>
                    <a:pt x="4" y="4"/>
                    <a:pt x="0" y="17"/>
                    <a:pt x="26" y="24"/>
                  </a:cubicBezTo>
                  <a:cubicBezTo>
                    <a:pt x="41" y="19"/>
                    <a:pt x="38" y="10"/>
                    <a:pt x="30"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4" name="Freeform 102"/>
            <p:cNvSpPr>
              <a:spLocks/>
            </p:cNvSpPr>
            <p:nvPr/>
          </p:nvSpPr>
          <p:spPr bwMode="ltGray">
            <a:xfrm>
              <a:off x="3318" y="3466"/>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5" name="Freeform 103"/>
            <p:cNvSpPr>
              <a:spLocks/>
            </p:cNvSpPr>
            <p:nvPr/>
          </p:nvSpPr>
          <p:spPr bwMode="ltGray">
            <a:xfrm>
              <a:off x="3251" y="3312"/>
              <a:ext cx="9"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6" name="Freeform 104"/>
            <p:cNvSpPr>
              <a:spLocks/>
            </p:cNvSpPr>
            <p:nvPr/>
          </p:nvSpPr>
          <p:spPr bwMode="ltGray">
            <a:xfrm>
              <a:off x="3311" y="3239"/>
              <a:ext cx="11" cy="19"/>
            </a:xfrm>
            <a:custGeom>
              <a:avLst/>
              <a:gdLst>
                <a:gd name="T0" fmla="*/ 6 w 14"/>
                <a:gd name="T1" fmla="*/ 0 h 25"/>
                <a:gd name="T2" fmla="*/ 0 w 14"/>
                <a:gd name="T3" fmla="*/ 13 h 25"/>
                <a:gd name="T4" fmla="*/ 12 w 14"/>
                <a:gd name="T5" fmla="*/ 24 h 25"/>
                <a:gd name="T6" fmla="*/ 6 w 14"/>
                <a:gd name="T7" fmla="*/ 0 h 25"/>
              </a:gdLst>
              <a:ahLst/>
              <a:cxnLst>
                <a:cxn ang="0">
                  <a:pos x="T0" y="T1"/>
                </a:cxn>
                <a:cxn ang="0">
                  <a:pos x="T2" y="T3"/>
                </a:cxn>
                <a:cxn ang="0">
                  <a:pos x="T4" y="T5"/>
                </a:cxn>
                <a:cxn ang="0">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7" name="Freeform 105"/>
            <p:cNvSpPr>
              <a:spLocks/>
            </p:cNvSpPr>
            <p:nvPr/>
          </p:nvSpPr>
          <p:spPr bwMode="ltGray">
            <a:xfrm>
              <a:off x="3287" y="3238"/>
              <a:ext cx="11" cy="19"/>
            </a:xfrm>
            <a:custGeom>
              <a:avLst/>
              <a:gdLst>
                <a:gd name="T0" fmla="*/ 6 w 14"/>
                <a:gd name="T1" fmla="*/ 0 h 25"/>
                <a:gd name="T2" fmla="*/ 0 w 14"/>
                <a:gd name="T3" fmla="*/ 13 h 25"/>
                <a:gd name="T4" fmla="*/ 12 w 14"/>
                <a:gd name="T5" fmla="*/ 24 h 25"/>
                <a:gd name="T6" fmla="*/ 6 w 14"/>
                <a:gd name="T7" fmla="*/ 0 h 25"/>
              </a:gdLst>
              <a:ahLst/>
              <a:cxnLst>
                <a:cxn ang="0">
                  <a:pos x="T0" y="T1"/>
                </a:cxn>
                <a:cxn ang="0">
                  <a:pos x="T2" y="T3"/>
                </a:cxn>
                <a:cxn ang="0">
                  <a:pos x="T4" y="T5"/>
                </a:cxn>
                <a:cxn ang="0">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8" name="Freeform 106"/>
            <p:cNvSpPr>
              <a:spLocks/>
            </p:cNvSpPr>
            <p:nvPr/>
          </p:nvSpPr>
          <p:spPr bwMode="ltGray">
            <a:xfrm>
              <a:off x="3276" y="3260"/>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59" name="Freeform 107"/>
            <p:cNvSpPr>
              <a:spLocks/>
            </p:cNvSpPr>
            <p:nvPr/>
          </p:nvSpPr>
          <p:spPr bwMode="ltGray">
            <a:xfrm>
              <a:off x="3251" y="3294"/>
              <a:ext cx="9"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60" name="Freeform 108"/>
            <p:cNvSpPr>
              <a:spLocks/>
            </p:cNvSpPr>
            <p:nvPr/>
          </p:nvSpPr>
          <p:spPr bwMode="ltGray">
            <a:xfrm>
              <a:off x="3270" y="3281"/>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61" name="Freeform 109"/>
            <p:cNvSpPr>
              <a:spLocks/>
            </p:cNvSpPr>
            <p:nvPr/>
          </p:nvSpPr>
          <p:spPr bwMode="ltGray">
            <a:xfrm>
              <a:off x="2537" y="2293"/>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62" name="Freeform 110"/>
            <p:cNvSpPr>
              <a:spLocks/>
            </p:cNvSpPr>
            <p:nvPr/>
          </p:nvSpPr>
          <p:spPr bwMode="ltGray">
            <a:xfrm>
              <a:off x="2476" y="2259"/>
              <a:ext cx="10" cy="15"/>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sp>
          <p:nvSpPr>
            <p:cNvPr id="1098863" name="Freeform 111"/>
            <p:cNvSpPr>
              <a:spLocks/>
            </p:cNvSpPr>
            <p:nvPr/>
          </p:nvSpPr>
          <p:spPr bwMode="ltGray">
            <a:xfrm>
              <a:off x="2238" y="2042"/>
              <a:ext cx="2060" cy="1644"/>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41 h 1644"/>
                <a:gd name="T10" fmla="*/ 146 w 2060"/>
                <a:gd name="T11" fmla="*/ 1059 h 1644"/>
                <a:gd name="T12" fmla="*/ 308 w 2060"/>
                <a:gd name="T13" fmla="*/ 1041 h 1644"/>
                <a:gd name="T14" fmla="*/ 396 w 2060"/>
                <a:gd name="T15" fmla="*/ 1138 h 1644"/>
                <a:gd name="T16" fmla="*/ 452 w 2060"/>
                <a:gd name="T17" fmla="*/ 1447 h 1644"/>
                <a:gd name="T18" fmla="*/ 497 w 2060"/>
                <a:gd name="T19" fmla="*/ 1628 h 1644"/>
                <a:gd name="T20" fmla="*/ 704 w 2060"/>
                <a:gd name="T21" fmla="*/ 1574 h 1644"/>
                <a:gd name="T22" fmla="*/ 817 w 2060"/>
                <a:gd name="T23" fmla="*/ 1380 h 1644"/>
                <a:gd name="T24" fmla="*/ 885 w 2060"/>
                <a:gd name="T25" fmla="*/ 1153 h 1644"/>
                <a:gd name="T26" fmla="*/ 998 w 2060"/>
                <a:gd name="T27" fmla="*/ 999 h 1644"/>
                <a:gd name="T28" fmla="*/ 796 w 2060"/>
                <a:gd name="T29" fmla="*/ 856 h 1644"/>
                <a:gd name="T30" fmla="*/ 817 w 2060"/>
                <a:gd name="T31" fmla="*/ 819 h 1644"/>
                <a:gd name="T32" fmla="*/ 1003 w 2060"/>
                <a:gd name="T33" fmla="*/ 916 h 1644"/>
                <a:gd name="T34" fmla="*/ 1098 w 2060"/>
                <a:gd name="T35" fmla="*/ 792 h 1644"/>
                <a:gd name="T36" fmla="*/ 1046 w 2060"/>
                <a:gd name="T37" fmla="*/ 763 h 1644"/>
                <a:gd name="T38" fmla="*/ 929 w 2060"/>
                <a:gd name="T39" fmla="*/ 716 h 1644"/>
                <a:gd name="T40" fmla="*/ 1141 w 2060"/>
                <a:gd name="T41" fmla="*/ 761 h 1644"/>
                <a:gd name="T42" fmla="*/ 1296 w 2060"/>
                <a:gd name="T43" fmla="*/ 852 h 1644"/>
                <a:gd name="T44" fmla="*/ 1373 w 2060"/>
                <a:gd name="T45" fmla="*/ 1033 h 1644"/>
                <a:gd name="T46" fmla="*/ 1608 w 2060"/>
                <a:gd name="T47" fmla="*/ 847 h 1644"/>
                <a:gd name="T48" fmla="*/ 1704 w 2060"/>
                <a:gd name="T49" fmla="*/ 1030 h 1644"/>
                <a:gd name="T50" fmla="*/ 1707 w 2060"/>
                <a:gd name="T51" fmla="*/ 874 h 1644"/>
                <a:gd name="T52" fmla="*/ 1759 w 2060"/>
                <a:gd name="T53" fmla="*/ 800 h 1644"/>
                <a:gd name="T54" fmla="*/ 1783 w 2060"/>
                <a:gd name="T55" fmla="*/ 544 h 1644"/>
                <a:gd name="T56" fmla="*/ 1824 w 2060"/>
                <a:gd name="T57" fmla="*/ 528 h 1644"/>
                <a:gd name="T58" fmla="*/ 1844 w 2060"/>
                <a:gd name="T59" fmla="*/ 427 h 1644"/>
                <a:gd name="T60" fmla="*/ 1805 w 2060"/>
                <a:gd name="T61" fmla="*/ 226 h 1644"/>
                <a:gd name="T62" fmla="*/ 1899 w 2060"/>
                <a:gd name="T63" fmla="*/ 108 h 1644"/>
                <a:gd name="T64" fmla="*/ 1947 w 2060"/>
                <a:gd name="T65" fmla="*/ 209 h 1644"/>
                <a:gd name="T66" fmla="*/ 1943 w 2060"/>
                <a:gd name="T67" fmla="*/ 123 h 1644"/>
                <a:gd name="T68" fmla="*/ 1975 w 2060"/>
                <a:gd name="T69" fmla="*/ 51 h 1644"/>
                <a:gd name="T70" fmla="*/ 2038 w 2060"/>
                <a:gd name="T71" fmla="*/ 0 h 1644"/>
                <a:gd name="T72" fmla="*/ 1820 w 2060"/>
                <a:gd name="T73" fmla="*/ 63 h 1644"/>
                <a:gd name="T74" fmla="*/ 1583 w 2060"/>
                <a:gd name="T75" fmla="*/ 83 h 1644"/>
                <a:gd name="T76" fmla="*/ 1349 w 2060"/>
                <a:gd name="T77" fmla="*/ 30 h 1644"/>
                <a:gd name="T78" fmla="*/ 1132 w 2060"/>
                <a:gd name="T79" fmla="*/ 65 h 1644"/>
                <a:gd name="T80" fmla="*/ 1040 w 2060"/>
                <a:gd name="T81" fmla="*/ 170 h 1644"/>
                <a:gd name="T82" fmla="*/ 926 w 2060"/>
                <a:gd name="T83" fmla="*/ 137 h 1644"/>
                <a:gd name="T84" fmla="*/ 758 w 2060"/>
                <a:gd name="T85" fmla="*/ 183 h 1644"/>
                <a:gd name="T86" fmla="*/ 667 w 2060"/>
                <a:gd name="T87" fmla="*/ 140 h 1644"/>
                <a:gd name="T88" fmla="*/ 364 w 2060"/>
                <a:gd name="T89" fmla="*/ 248 h 1644"/>
                <a:gd name="T90" fmla="*/ 535 w 2060"/>
                <a:gd name="T91" fmla="*/ 213 h 1644"/>
                <a:gd name="T92" fmla="*/ 638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92 w 2060"/>
                <a:gd name="T109" fmla="*/ 548 h 1644"/>
                <a:gd name="T110" fmla="*/ 686 w 2060"/>
                <a:gd name="T111" fmla="*/ 470 h 1644"/>
                <a:gd name="T112" fmla="*/ 772 w 2060"/>
                <a:gd name="T113" fmla="*/ 480 h 1644"/>
                <a:gd name="T114" fmla="*/ 639 w 2060"/>
                <a:gd name="T115" fmla="*/ 598 h 1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FFFFF"/>
            </a:solidFill>
            <a:ln w="12700" cap="flat" cmpd="sng">
              <a:solidFill>
                <a:srgbClr val="F8F8F8"/>
              </a:solidFill>
              <a:prstDash val="solid"/>
              <a:round/>
              <a:headEnd type="none" w="med" len="med"/>
              <a:tailEnd type="none" w="med" len="med"/>
            </a:ln>
            <a:effectLst/>
            <a:extLst>
              <a:ext uri="{AF507438-7753-43e0-B8FC-AC1667EBCBE1}">
                <a14:hiddenEffects xmlns:a14="http://schemas.microsoft.com/office/drawing/2010/main" xmlns="">
                  <a:effectLst>
                    <a:outerShdw dist="17961" dir="2700000" algn="ctr" rotWithShape="0">
                      <a:srgbClr val="FFFFFF">
                        <a:alpha val="50000"/>
                      </a:srgbClr>
                    </a:outerShdw>
                  </a:effectLst>
                </a14:hiddenEffects>
              </a:ext>
            </a:extLst>
          </p:spPr>
          <p:txBody>
            <a:bodyPr/>
            <a:lstStyle/>
            <a:p>
              <a:endParaRPr lang="en-US">
                <a:solidFill>
                  <a:srgbClr val="002060"/>
                </a:solidFill>
              </a:endParaRPr>
            </a:p>
          </p:txBody>
        </p:sp>
      </p:grpSp>
      <p:sp>
        <p:nvSpPr>
          <p:cNvPr id="113" name="Rectangle 23"/>
          <p:cNvSpPr txBox="1">
            <a:spLocks noChangeArrowheads="1"/>
          </p:cNvSpPr>
          <p:nvPr/>
        </p:nvSpPr>
        <p:spPr bwMode="black">
          <a:xfrm>
            <a:off x="532561" y="1656519"/>
            <a:ext cx="8111310" cy="46109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a:buChar char="•"/>
            </a:pPr>
            <a:r>
              <a:rPr lang="vi-VN" altLang="en-US" sz="2400" dirty="0">
                <a:solidFill>
                  <a:srgbClr val="002060"/>
                </a:solidFill>
              </a:rPr>
              <a:t>Nhận thức sâu sắc về thời cơ và thách thức do hội nhập kinh tế quốc tế mang lại</a:t>
            </a:r>
            <a:endParaRPr lang="en-US" altLang="en-US" sz="2400" dirty="0">
              <a:solidFill>
                <a:srgbClr val="002060"/>
              </a:solidFill>
            </a:endParaRPr>
          </a:p>
          <a:p>
            <a:pPr algn="just">
              <a:buFont typeface="Arial"/>
              <a:buChar char="•"/>
            </a:pPr>
            <a:r>
              <a:rPr lang="vi-VN" altLang="en-US" sz="2400" dirty="0">
                <a:solidFill>
                  <a:srgbClr val="002060"/>
                </a:solidFill>
                <a:sym typeface="Wingdings" panose="05000000000000000000" pitchFamily="2" charset="2"/>
              </a:rPr>
              <a:t>Xây dựng chiến lược và lộ trình hội nhập kinh tế phù hợp</a:t>
            </a:r>
            <a:endParaRPr lang="en-US" altLang="en-US" sz="2400" dirty="0">
              <a:solidFill>
                <a:srgbClr val="002060"/>
              </a:solidFill>
              <a:sym typeface="Wingdings" panose="05000000000000000000" pitchFamily="2" charset="2"/>
            </a:endParaRPr>
          </a:p>
          <a:p>
            <a:pPr algn="just">
              <a:buFont typeface="Arial"/>
              <a:buChar char="•"/>
            </a:pP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Tích</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cực</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chủ</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động</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tham</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gia</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vào</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các</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liên</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kết</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kinh</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tế</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quốc</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tế</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và</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thực</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hiện</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đầy</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đủ</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các</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cam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kết</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của</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Việt</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Nam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trong</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các</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liên</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kết</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kinh</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tế</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quốc</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tế</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và</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khu</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vực</a:t>
            </a:r>
            <a:endPar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endParaRPr>
          </a:p>
          <a:p>
            <a:pPr algn="just">
              <a:buFont typeface="Arial"/>
              <a:buChar char="•"/>
            </a:pP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Hoàn</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thiện</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thể</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chế</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kinh</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tế</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và</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luật</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pháp</a:t>
            </a:r>
            <a:endPar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endParaRPr>
          </a:p>
          <a:p>
            <a:pPr algn="just">
              <a:buFont typeface="Arial"/>
              <a:buChar char="•"/>
            </a:pP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Nâng</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cao</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năng</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lực</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cạnh</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tranh</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quốc</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tế</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của</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nền</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kinh</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tế</a:t>
            </a:r>
            <a:endPar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endParaRPr>
          </a:p>
          <a:p>
            <a:pPr algn="just">
              <a:buFont typeface="Arial"/>
              <a:buChar char="•"/>
            </a:pP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Xây</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dựng</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nền</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kinh</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tế</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độc</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lập</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tự</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chủ</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của</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2400" dirty="0" err="1">
                <a:solidFill>
                  <a:srgbClr val="002060"/>
                </a:solidFill>
                <a:latin typeface="Arial" panose="020B0604020202020204" pitchFamily="34" charset="0"/>
                <a:cs typeface="Arial" panose="020B0604020202020204" pitchFamily="34" charset="0"/>
                <a:sym typeface="Wingdings" panose="05000000000000000000" pitchFamily="2" charset="2"/>
              </a:rPr>
              <a:t>Việt</a:t>
            </a:r>
            <a:r>
              <a:rPr lang="en-US" altLang="en-US" sz="2400" dirty="0">
                <a:solidFill>
                  <a:srgbClr val="002060"/>
                </a:solidFill>
                <a:latin typeface="Arial" panose="020B0604020202020204" pitchFamily="34" charset="0"/>
                <a:cs typeface="Arial" panose="020B0604020202020204" pitchFamily="34" charset="0"/>
                <a:sym typeface="Wingdings" panose="05000000000000000000" pitchFamily="2" charset="2"/>
              </a:rPr>
              <a:t> Nam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558</TotalTime>
  <Words>3338</Words>
  <Application>Microsoft Office PowerPoint</Application>
  <PresentationFormat>On-screen Show (4:3)</PresentationFormat>
  <Paragraphs>245</Paragraphs>
  <Slides>41</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Arial (Body)</vt:lpstr>
      <vt:lpstr>Calibri</vt:lpstr>
      <vt:lpstr>Calibri Light</vt:lpstr>
      <vt:lpstr>SVN-Transformer</vt:lpstr>
      <vt:lpstr>Symbol</vt:lpstr>
      <vt:lpstr>Times New Roman</vt:lpstr>
      <vt:lpstr>Wingdings</vt:lpstr>
      <vt:lpstr>Office Theme</vt:lpstr>
      <vt:lpstr>PowerPoint Presentation</vt:lpstr>
      <vt:lpstr>Nội dung Chương 6</vt:lpstr>
      <vt:lpstr>6.1. CÔNG NGHIỆP HOÁ, HIỆN ĐẠI HOÁ  Ở VIỆT NAM</vt:lpstr>
      <vt:lpstr>Khái quát về CM Công nghiệp</vt:lpstr>
      <vt:lpstr>Khái quát về CM Công nghiệp</vt:lpstr>
      <vt:lpstr>Khái quát về CM Công nghiệp</vt:lpstr>
      <vt:lpstr>Khái quát về CM Công nghiệp</vt:lpstr>
      <vt:lpstr>Khái quát về CM Công nghiệp</vt:lpstr>
      <vt:lpstr>Khái quát về CM Công nghiệp</vt:lpstr>
      <vt:lpstr>Khái quát về CM Công nghiệp</vt:lpstr>
      <vt:lpstr>THÚC ĐẨY SỰ PHÁT TRIỂN CỦA  LỰC LƯỢNG SẢN XUẤT</vt:lpstr>
      <vt:lpstr>THÚC ĐẨY QUÁ TRÌNH HOÀN THIỆN  QUAN HỆ SẢN XUẤT</vt:lpstr>
      <vt:lpstr>THÚC ĐẨY QUÁ TRÌNH ĐỔI MỚI  PHƯƠNG THỨC QUẢN TRỊ PHÁT TRIỂN</vt:lpstr>
      <vt:lpstr>Khái quát về Công nghiệp hóa</vt:lpstr>
      <vt:lpstr>Các mô hình CNH tiêu biểu trên TG</vt:lpstr>
      <vt:lpstr>Mô hình CNH cổ điển</vt:lpstr>
      <vt:lpstr>Mô hình CNH kiểu Liên Xô (cũ)</vt:lpstr>
      <vt:lpstr>Mô hình CNH kiểu Nhật Bản và  các nước NICS</vt:lpstr>
      <vt:lpstr>Các con đường tiếp thu và  phát triển KHCN</vt:lpstr>
      <vt:lpstr>6.1. CÔNG NGHIỆP HOÁ, HIỆN ĐẠI HOÁ  Ở VIỆT NAM</vt:lpstr>
      <vt:lpstr>Tính tất yếu khách quan của CNH, HĐH ở Việt Nam</vt:lpstr>
      <vt:lpstr>Đặc điểm CNH, HĐH  ở Việt Nam</vt:lpstr>
      <vt:lpstr>Nội dung CNH, HĐH ở Việt Nam</vt:lpstr>
      <vt:lpstr>PowerPoint Presentation</vt:lpstr>
      <vt:lpstr>PowerPoint Presentation</vt:lpstr>
      <vt:lpstr>PowerPoint Presentation</vt:lpstr>
      <vt:lpstr>6.1. CÔNG NGHIỆP HOÁ, HIỆN ĐẠI HOÁ  Ở VIỆT NAM</vt:lpstr>
      <vt:lpstr>Phương thức thích ứng của VN đối với  CÁCH MẠNG CÔNG NGHIỆP 4.0</vt:lpstr>
      <vt:lpstr>Nội dung Chương 6</vt:lpstr>
      <vt:lpstr>6.2. HỘI NHẬP KINH TẾ QUỐC TẾ  CỦA VIỆT NAM</vt:lpstr>
      <vt:lpstr>Khái niệm hội nhập kinh tế quốc tế</vt:lpstr>
      <vt:lpstr>Tính tất yếu khách quan của hội nhập KTQT</vt:lpstr>
      <vt:lpstr>Xu thế khách quan trong bối cảnh toàn cầu hóa</vt:lpstr>
      <vt:lpstr>Phương thức phát triển của các nước đang và kém phát triển hiện nay</vt:lpstr>
      <vt:lpstr>Nội dung hội nhập kinh tế quốc tế</vt:lpstr>
      <vt:lpstr>Nội dung Hội nhập kinh tế quốc tế</vt:lpstr>
      <vt:lpstr>Nội dung Hội nhập kinh tế quốc tế</vt:lpstr>
      <vt:lpstr>Tác động của HNKTQT đến Việt Nam</vt:lpstr>
      <vt:lpstr>Tác động của hội nhập KTQT đến Việt Nam</vt:lpstr>
      <vt:lpstr>Quan điểm hội nhập KTQT của Việt Nam</vt:lpstr>
      <vt:lpstr>Phương hướng nâng cao hiệu quả  hội nhập KTQT của Việt Nam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CÁCH MẠNG CÔNG NGHIỆP VÀ HỘI NHẬP KINH TẾ QUỐC TẾ TRONG PHÁT TRIỂN CỦA VIỆT NAM</dc:title>
  <dc:creator>Windows User</dc:creator>
  <cp:lastModifiedBy>toannguyen141601@gmail.com</cp:lastModifiedBy>
  <cp:revision>80</cp:revision>
  <dcterms:created xsi:type="dcterms:W3CDTF">2019-10-24T01:13:47Z</dcterms:created>
  <dcterms:modified xsi:type="dcterms:W3CDTF">2024-01-07T01:27:43Z</dcterms:modified>
</cp:coreProperties>
</file>