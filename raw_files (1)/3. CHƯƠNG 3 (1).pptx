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0"/>
  </p:notesMasterIdLst>
  <p:handoutMasterIdLst>
    <p:handoutMasterId r:id="rId81"/>
  </p:handoutMasterIdLst>
  <p:sldIdLst>
    <p:sldId id="495" r:id="rId2"/>
    <p:sldId id="496" r:id="rId3"/>
    <p:sldId id="441" r:id="rId4"/>
    <p:sldId id="497" r:id="rId5"/>
    <p:sldId id="498" r:id="rId6"/>
    <p:sldId id="499" r:id="rId7"/>
    <p:sldId id="500" r:id="rId8"/>
    <p:sldId id="501" r:id="rId9"/>
    <p:sldId id="338" r:id="rId10"/>
    <p:sldId id="339" r:id="rId11"/>
    <p:sldId id="340" r:id="rId12"/>
    <p:sldId id="259" r:id="rId13"/>
    <p:sldId id="502" r:id="rId14"/>
    <p:sldId id="525" r:id="rId15"/>
    <p:sldId id="526" r:id="rId16"/>
    <p:sldId id="527" r:id="rId17"/>
    <p:sldId id="528" r:id="rId18"/>
    <p:sldId id="529" r:id="rId19"/>
    <p:sldId id="530" r:id="rId20"/>
    <p:sldId id="531" r:id="rId21"/>
    <p:sldId id="532" r:id="rId22"/>
    <p:sldId id="533" r:id="rId23"/>
    <p:sldId id="534" r:id="rId24"/>
    <p:sldId id="287" r:id="rId25"/>
    <p:sldId id="288" r:id="rId26"/>
    <p:sldId id="289" r:id="rId27"/>
    <p:sldId id="290" r:id="rId28"/>
    <p:sldId id="291" r:id="rId29"/>
    <p:sldId id="292" r:id="rId30"/>
    <p:sldId id="295" r:id="rId31"/>
    <p:sldId id="296" r:id="rId32"/>
    <p:sldId id="297" r:id="rId33"/>
    <p:sldId id="298" r:id="rId34"/>
    <p:sldId id="299" r:id="rId35"/>
    <p:sldId id="435" r:id="rId36"/>
    <p:sldId id="436" r:id="rId37"/>
    <p:sldId id="437" r:id="rId38"/>
    <p:sldId id="300" r:id="rId39"/>
    <p:sldId id="301" r:id="rId40"/>
    <p:sldId id="302" r:id="rId41"/>
    <p:sldId id="438" r:id="rId42"/>
    <p:sldId id="439" r:id="rId43"/>
    <p:sldId id="303" r:id="rId44"/>
    <p:sldId id="304" r:id="rId45"/>
    <p:sldId id="524" r:id="rId46"/>
    <p:sldId id="535" r:id="rId47"/>
    <p:sldId id="536" r:id="rId48"/>
    <p:sldId id="537" r:id="rId49"/>
    <p:sldId id="308" r:id="rId50"/>
    <p:sldId id="538" r:id="rId51"/>
    <p:sldId id="539" r:id="rId52"/>
    <p:sldId id="440" r:id="rId53"/>
    <p:sldId id="540" r:id="rId54"/>
    <p:sldId id="541" r:id="rId55"/>
    <p:sldId id="542" r:id="rId56"/>
    <p:sldId id="543" r:id="rId57"/>
    <p:sldId id="316" r:id="rId58"/>
    <p:sldId id="317" r:id="rId59"/>
    <p:sldId id="544" r:id="rId60"/>
    <p:sldId id="545" r:id="rId61"/>
    <p:sldId id="546" r:id="rId62"/>
    <p:sldId id="547" r:id="rId63"/>
    <p:sldId id="548" r:id="rId64"/>
    <p:sldId id="549" r:id="rId65"/>
    <p:sldId id="550" r:id="rId66"/>
    <p:sldId id="551" r:id="rId67"/>
    <p:sldId id="326" r:id="rId68"/>
    <p:sldId id="327" r:id="rId69"/>
    <p:sldId id="328" r:id="rId70"/>
    <p:sldId id="329" r:id="rId71"/>
    <p:sldId id="434" r:id="rId72"/>
    <p:sldId id="331" r:id="rId73"/>
    <p:sldId id="332" r:id="rId74"/>
    <p:sldId id="333" r:id="rId75"/>
    <p:sldId id="334" r:id="rId76"/>
    <p:sldId id="335" r:id="rId77"/>
    <p:sldId id="336" r:id="rId78"/>
    <p:sldId id="337" r:id="rId79"/>
  </p:sldIdLst>
  <p:sldSz cx="18288000" cy="13716000"/>
  <p:notesSz cx="6858000" cy="9144000"/>
  <p:defaultTextStyle>
    <a:defPPr>
      <a:defRPr lang="en-US"/>
    </a:defPPr>
    <a:lvl1pPr marL="0" algn="l" defTabSz="1219261" rtl="0" eaLnBrk="1" latinLnBrk="0" hangingPunct="1">
      <a:defRPr sz="4800" kern="1200">
        <a:solidFill>
          <a:schemeClr val="tx1"/>
        </a:solidFill>
        <a:latin typeface="+mn-lt"/>
        <a:ea typeface="+mn-ea"/>
        <a:cs typeface="+mn-cs"/>
      </a:defRPr>
    </a:lvl1pPr>
    <a:lvl2pPr marL="1219261" algn="l" defTabSz="1219261" rtl="0" eaLnBrk="1" latinLnBrk="0" hangingPunct="1">
      <a:defRPr sz="4800" kern="1200">
        <a:solidFill>
          <a:schemeClr val="tx1"/>
        </a:solidFill>
        <a:latin typeface="+mn-lt"/>
        <a:ea typeface="+mn-ea"/>
        <a:cs typeface="+mn-cs"/>
      </a:defRPr>
    </a:lvl2pPr>
    <a:lvl3pPr marL="2438522" algn="l" defTabSz="1219261" rtl="0" eaLnBrk="1" latinLnBrk="0" hangingPunct="1">
      <a:defRPr sz="4800" kern="1200">
        <a:solidFill>
          <a:schemeClr val="tx1"/>
        </a:solidFill>
        <a:latin typeface="+mn-lt"/>
        <a:ea typeface="+mn-ea"/>
        <a:cs typeface="+mn-cs"/>
      </a:defRPr>
    </a:lvl3pPr>
    <a:lvl4pPr marL="3657783" algn="l" defTabSz="1219261" rtl="0" eaLnBrk="1" latinLnBrk="0" hangingPunct="1">
      <a:defRPr sz="4800" kern="1200">
        <a:solidFill>
          <a:schemeClr val="tx1"/>
        </a:solidFill>
        <a:latin typeface="+mn-lt"/>
        <a:ea typeface="+mn-ea"/>
        <a:cs typeface="+mn-cs"/>
      </a:defRPr>
    </a:lvl4pPr>
    <a:lvl5pPr marL="4877044" algn="l" defTabSz="1219261" rtl="0" eaLnBrk="1" latinLnBrk="0" hangingPunct="1">
      <a:defRPr sz="4800" kern="1200">
        <a:solidFill>
          <a:schemeClr val="tx1"/>
        </a:solidFill>
        <a:latin typeface="+mn-lt"/>
        <a:ea typeface="+mn-ea"/>
        <a:cs typeface="+mn-cs"/>
      </a:defRPr>
    </a:lvl5pPr>
    <a:lvl6pPr marL="6096305" algn="l" defTabSz="1219261" rtl="0" eaLnBrk="1" latinLnBrk="0" hangingPunct="1">
      <a:defRPr sz="4800" kern="1200">
        <a:solidFill>
          <a:schemeClr val="tx1"/>
        </a:solidFill>
        <a:latin typeface="+mn-lt"/>
        <a:ea typeface="+mn-ea"/>
        <a:cs typeface="+mn-cs"/>
      </a:defRPr>
    </a:lvl6pPr>
    <a:lvl7pPr marL="7315566" algn="l" defTabSz="1219261" rtl="0" eaLnBrk="1" latinLnBrk="0" hangingPunct="1">
      <a:defRPr sz="4800" kern="1200">
        <a:solidFill>
          <a:schemeClr val="tx1"/>
        </a:solidFill>
        <a:latin typeface="+mn-lt"/>
        <a:ea typeface="+mn-ea"/>
        <a:cs typeface="+mn-cs"/>
      </a:defRPr>
    </a:lvl7pPr>
    <a:lvl8pPr marL="8534827" algn="l" defTabSz="1219261" rtl="0" eaLnBrk="1" latinLnBrk="0" hangingPunct="1">
      <a:defRPr sz="4800" kern="1200">
        <a:solidFill>
          <a:schemeClr val="tx1"/>
        </a:solidFill>
        <a:latin typeface="+mn-lt"/>
        <a:ea typeface="+mn-ea"/>
        <a:cs typeface="+mn-cs"/>
      </a:defRPr>
    </a:lvl8pPr>
    <a:lvl9pPr marL="9754088" algn="l" defTabSz="1219261" rtl="0" eaLnBrk="1" latinLnBrk="0" hangingPunct="1">
      <a:defRPr sz="4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448" userDrawn="1">
          <p15:clr>
            <a:srgbClr val="A4A3A4"/>
          </p15:clr>
        </p15:guide>
        <p15:guide id="2" pos="57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A8D709"/>
    <a:srgbClr val="1E3453"/>
    <a:srgbClr val="EB332C"/>
    <a:srgbClr val="613D9C"/>
    <a:srgbClr val="203D53"/>
    <a:srgbClr val="497492"/>
    <a:srgbClr val="4D6D92"/>
    <a:srgbClr val="192632"/>
    <a:srgbClr val="2C415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6102" autoAdjust="0"/>
    <p:restoredTop sz="86410" autoAdjust="0"/>
  </p:normalViewPr>
  <p:slideViewPr>
    <p:cSldViewPr snapToObjects="1" showGuides="1">
      <p:cViewPr varScale="1">
        <p:scale>
          <a:sx n="43" d="100"/>
          <a:sy n="43" d="100"/>
        </p:scale>
        <p:origin x="437" y="86"/>
      </p:cViewPr>
      <p:guideLst>
        <p:guide orient="horz" pos="8448"/>
        <p:guide pos="5760"/>
      </p:guideLst>
    </p:cSldViewPr>
  </p:slideViewPr>
  <p:outlineViewPr>
    <p:cViewPr>
      <p:scale>
        <a:sx n="33" d="100"/>
        <a:sy n="33" d="100"/>
      </p:scale>
      <p:origin x="0" y="-168"/>
    </p:cViewPr>
  </p:outlineViewPr>
  <p:notesTextViewPr>
    <p:cViewPr>
      <p:scale>
        <a:sx n="3" d="2"/>
        <a:sy n="3" d="2"/>
      </p:scale>
      <p:origin x="0" y="0"/>
    </p:cViewPr>
  </p:notesTextViewPr>
  <p:sorterViewPr>
    <p:cViewPr>
      <p:scale>
        <a:sx n="24" d="100"/>
        <a:sy n="24" d="100"/>
      </p:scale>
      <p:origin x="0" y="0"/>
    </p:cViewPr>
  </p:sorterViewPr>
  <p:notesViewPr>
    <p:cSldViewPr snapToObjects="1">
      <p:cViewPr varScale="1">
        <p:scale>
          <a:sx n="58" d="100"/>
          <a:sy n="58" d="100"/>
        </p:scale>
        <p:origin x="2544"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86"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annguyen141601@gmail.com" userId="d93b6337fa10e7e9" providerId="LiveId" clId="{F91D0941-C107-4420-9C59-6FF3A484E85C}"/>
    <pc:docChg chg="undo custSel delSld modSld">
      <pc:chgData name="toannguyen141601@gmail.com" userId="d93b6337fa10e7e9" providerId="LiveId" clId="{F91D0941-C107-4420-9C59-6FF3A484E85C}" dt="2024-01-07T01:22:47.251" v="378" actId="20577"/>
      <pc:docMkLst>
        <pc:docMk/>
      </pc:docMkLst>
      <pc:sldChg chg="modSp mod">
        <pc:chgData name="toannguyen141601@gmail.com" userId="d93b6337fa10e7e9" providerId="LiveId" clId="{F91D0941-C107-4420-9C59-6FF3A484E85C}" dt="2024-01-07T01:22:47.251" v="378" actId="20577"/>
        <pc:sldMkLst>
          <pc:docMk/>
          <pc:sldMk cId="3553053859" sldId="495"/>
        </pc:sldMkLst>
        <pc:spChg chg="mod">
          <ac:chgData name="toannguyen141601@gmail.com" userId="d93b6337fa10e7e9" providerId="LiveId" clId="{F91D0941-C107-4420-9C59-6FF3A484E85C}" dt="2024-01-07T01:06:57.698" v="25" actId="20577"/>
          <ac:spMkLst>
            <pc:docMk/>
            <pc:sldMk cId="3553053859" sldId="495"/>
            <ac:spMk id="9" creationId="{00000000-0000-0000-0000-000000000000}"/>
          </ac:spMkLst>
        </pc:spChg>
        <pc:spChg chg="mod">
          <ac:chgData name="toannguyen141601@gmail.com" userId="d93b6337fa10e7e9" providerId="LiveId" clId="{F91D0941-C107-4420-9C59-6FF3A484E85C}" dt="2024-01-07T01:22:47.251" v="378" actId="20577"/>
          <ac:spMkLst>
            <pc:docMk/>
            <pc:sldMk cId="3553053859" sldId="495"/>
            <ac:spMk id="10" creationId="{68A76BCF-0667-4340-B15C-B9A232FF9AF0}"/>
          </ac:spMkLst>
        </pc:spChg>
      </pc:sldChg>
      <pc:sldChg chg="addSp modSp">
        <pc:chgData name="toannguyen141601@gmail.com" userId="d93b6337fa10e7e9" providerId="LiveId" clId="{F91D0941-C107-4420-9C59-6FF3A484E85C}" dt="2024-01-07T01:08:30.956" v="64" actId="1076"/>
        <pc:sldMkLst>
          <pc:docMk/>
          <pc:sldMk cId="1078148407" sldId="499"/>
        </pc:sldMkLst>
        <pc:spChg chg="mod">
          <ac:chgData name="toannguyen141601@gmail.com" userId="d93b6337fa10e7e9" providerId="LiveId" clId="{F91D0941-C107-4420-9C59-6FF3A484E85C}" dt="2024-01-07T01:08:30.956" v="64" actId="1076"/>
          <ac:spMkLst>
            <pc:docMk/>
            <pc:sldMk cId="1078148407" sldId="499"/>
            <ac:spMk id="16" creationId="{00000000-0000-0000-0000-000000000000}"/>
          </ac:spMkLst>
        </pc:spChg>
        <pc:picChg chg="add mod">
          <ac:chgData name="toannguyen141601@gmail.com" userId="d93b6337fa10e7e9" providerId="LiveId" clId="{F91D0941-C107-4420-9C59-6FF3A484E85C}" dt="2024-01-07T01:08:25.673" v="63"/>
          <ac:picMkLst>
            <pc:docMk/>
            <pc:sldMk cId="1078148407" sldId="499"/>
            <ac:picMk id="2" creationId="{D96FEE00-F5FA-BAFC-1B7A-59ACBAD3C979}"/>
          </ac:picMkLst>
        </pc:picChg>
      </pc:sldChg>
      <pc:sldChg chg="addSp modSp">
        <pc:chgData name="toannguyen141601@gmail.com" userId="d93b6337fa10e7e9" providerId="LiveId" clId="{F91D0941-C107-4420-9C59-6FF3A484E85C}" dt="2024-01-07T01:09:43.323" v="94" actId="1076"/>
        <pc:sldMkLst>
          <pc:docMk/>
          <pc:sldMk cId="1340267528" sldId="504"/>
        </pc:sldMkLst>
        <pc:spChg chg="mod">
          <ac:chgData name="toannguyen141601@gmail.com" userId="d93b6337fa10e7e9" providerId="LiveId" clId="{F91D0941-C107-4420-9C59-6FF3A484E85C}" dt="2024-01-07T01:09:43.323" v="94" actId="1076"/>
          <ac:spMkLst>
            <pc:docMk/>
            <pc:sldMk cId="1340267528" sldId="504"/>
            <ac:spMk id="11" creationId="{00000000-0000-0000-0000-000000000000}"/>
          </ac:spMkLst>
        </pc:spChg>
        <pc:picChg chg="add mod">
          <ac:chgData name="toannguyen141601@gmail.com" userId="d93b6337fa10e7e9" providerId="LiveId" clId="{F91D0941-C107-4420-9C59-6FF3A484E85C}" dt="2024-01-07T01:09:38.618" v="93"/>
          <ac:picMkLst>
            <pc:docMk/>
            <pc:sldMk cId="1340267528" sldId="504"/>
            <ac:picMk id="2" creationId="{4017F372-16C6-020C-BB2B-E3DA8E3AB102}"/>
          </ac:picMkLst>
        </pc:picChg>
      </pc:sldChg>
      <pc:sldChg chg="addSp modSp">
        <pc:chgData name="toannguyen141601@gmail.com" userId="d93b6337fa10e7e9" providerId="LiveId" clId="{F91D0941-C107-4420-9C59-6FF3A484E85C}" dt="2024-01-07T01:09:54.313" v="96" actId="1076"/>
        <pc:sldMkLst>
          <pc:docMk/>
          <pc:sldMk cId="3450750686" sldId="505"/>
        </pc:sldMkLst>
        <pc:spChg chg="mod">
          <ac:chgData name="toannguyen141601@gmail.com" userId="d93b6337fa10e7e9" providerId="LiveId" clId="{F91D0941-C107-4420-9C59-6FF3A484E85C}" dt="2024-01-07T01:09:54.313" v="96" actId="1076"/>
          <ac:spMkLst>
            <pc:docMk/>
            <pc:sldMk cId="3450750686" sldId="505"/>
            <ac:spMk id="16" creationId="{00000000-0000-0000-0000-000000000000}"/>
          </ac:spMkLst>
        </pc:spChg>
        <pc:spChg chg="mod">
          <ac:chgData name="toannguyen141601@gmail.com" userId="d93b6337fa10e7e9" providerId="LiveId" clId="{F91D0941-C107-4420-9C59-6FF3A484E85C}" dt="2024-01-07T01:09:54.313" v="96" actId="1076"/>
          <ac:spMkLst>
            <pc:docMk/>
            <pc:sldMk cId="3450750686" sldId="505"/>
            <ac:spMk id="17" creationId="{00000000-0000-0000-0000-000000000000}"/>
          </ac:spMkLst>
        </pc:spChg>
        <pc:picChg chg="add mod">
          <ac:chgData name="toannguyen141601@gmail.com" userId="d93b6337fa10e7e9" providerId="LiveId" clId="{F91D0941-C107-4420-9C59-6FF3A484E85C}" dt="2024-01-07T01:09:46.041" v="95"/>
          <ac:picMkLst>
            <pc:docMk/>
            <pc:sldMk cId="3450750686" sldId="505"/>
            <ac:picMk id="2" creationId="{6A5C996F-A514-9A2A-FBE5-3F91234C22E7}"/>
          </ac:picMkLst>
        </pc:picChg>
      </pc:sldChg>
      <pc:sldChg chg="addSp modSp mod">
        <pc:chgData name="toannguyen141601@gmail.com" userId="d93b6337fa10e7e9" providerId="LiveId" clId="{F91D0941-C107-4420-9C59-6FF3A484E85C}" dt="2024-01-07T01:10:03.813" v="101" actId="1038"/>
        <pc:sldMkLst>
          <pc:docMk/>
          <pc:sldMk cId="3005691821" sldId="506"/>
        </pc:sldMkLst>
        <pc:spChg chg="mod">
          <ac:chgData name="toannguyen141601@gmail.com" userId="d93b6337fa10e7e9" providerId="LiveId" clId="{F91D0941-C107-4420-9C59-6FF3A484E85C}" dt="2024-01-07T01:10:03.813" v="101" actId="1038"/>
          <ac:spMkLst>
            <pc:docMk/>
            <pc:sldMk cId="3005691821" sldId="506"/>
            <ac:spMk id="35" creationId="{00000000-0000-0000-0000-000000000000}"/>
          </ac:spMkLst>
        </pc:spChg>
        <pc:spChg chg="mod">
          <ac:chgData name="toannguyen141601@gmail.com" userId="d93b6337fa10e7e9" providerId="LiveId" clId="{F91D0941-C107-4420-9C59-6FF3A484E85C}" dt="2024-01-07T01:10:00.901" v="98" actId="1076"/>
          <ac:spMkLst>
            <pc:docMk/>
            <pc:sldMk cId="3005691821" sldId="506"/>
            <ac:spMk id="36" creationId="{00000000-0000-0000-0000-000000000000}"/>
          </ac:spMkLst>
        </pc:spChg>
        <pc:picChg chg="add mod">
          <ac:chgData name="toannguyen141601@gmail.com" userId="d93b6337fa10e7e9" providerId="LiveId" clId="{F91D0941-C107-4420-9C59-6FF3A484E85C}" dt="2024-01-07T01:09:57.836" v="97"/>
          <ac:picMkLst>
            <pc:docMk/>
            <pc:sldMk cId="3005691821" sldId="506"/>
            <ac:picMk id="2" creationId="{7DB1C264-D4B2-8625-36EF-14D5AB664F90}"/>
          </ac:picMkLst>
        </pc:picChg>
      </pc:sldChg>
      <pc:sldChg chg="addSp modSp">
        <pc:chgData name="toannguyen141601@gmail.com" userId="d93b6337fa10e7e9" providerId="LiveId" clId="{F91D0941-C107-4420-9C59-6FF3A484E85C}" dt="2024-01-07T01:10:31.225" v="117" actId="1036"/>
        <pc:sldMkLst>
          <pc:docMk/>
          <pc:sldMk cId="2124447243" sldId="507"/>
        </pc:sldMkLst>
        <pc:spChg chg="mod">
          <ac:chgData name="toannguyen141601@gmail.com" userId="d93b6337fa10e7e9" providerId="LiveId" clId="{F91D0941-C107-4420-9C59-6FF3A484E85C}" dt="2024-01-07T01:10:31.225" v="117" actId="1036"/>
          <ac:spMkLst>
            <pc:docMk/>
            <pc:sldMk cId="2124447243" sldId="507"/>
            <ac:spMk id="2" creationId="{00000000-0000-0000-0000-000000000000}"/>
          </ac:spMkLst>
        </pc:spChg>
        <pc:spChg chg="mod">
          <ac:chgData name="toannguyen141601@gmail.com" userId="d93b6337fa10e7e9" providerId="LiveId" clId="{F91D0941-C107-4420-9C59-6FF3A484E85C}" dt="2024-01-07T01:10:31.225" v="117" actId="1036"/>
          <ac:spMkLst>
            <pc:docMk/>
            <pc:sldMk cId="2124447243" sldId="507"/>
            <ac:spMk id="18" creationId="{00000000-0000-0000-0000-000000000000}"/>
          </ac:spMkLst>
        </pc:spChg>
        <pc:spChg chg="mod">
          <ac:chgData name="toannguyen141601@gmail.com" userId="d93b6337fa10e7e9" providerId="LiveId" clId="{F91D0941-C107-4420-9C59-6FF3A484E85C}" dt="2024-01-07T01:10:31.225" v="117" actId="1036"/>
          <ac:spMkLst>
            <pc:docMk/>
            <pc:sldMk cId="2124447243" sldId="507"/>
            <ac:spMk id="26" creationId="{00000000-0000-0000-0000-000000000000}"/>
          </ac:spMkLst>
        </pc:spChg>
        <pc:spChg chg="mod">
          <ac:chgData name="toannguyen141601@gmail.com" userId="d93b6337fa10e7e9" providerId="LiveId" clId="{F91D0941-C107-4420-9C59-6FF3A484E85C}" dt="2024-01-07T01:10:31.225" v="117" actId="1036"/>
          <ac:spMkLst>
            <pc:docMk/>
            <pc:sldMk cId="2124447243" sldId="507"/>
            <ac:spMk id="27" creationId="{00000000-0000-0000-0000-000000000000}"/>
          </ac:spMkLst>
        </pc:spChg>
        <pc:graphicFrameChg chg="mod">
          <ac:chgData name="toannguyen141601@gmail.com" userId="d93b6337fa10e7e9" providerId="LiveId" clId="{F91D0941-C107-4420-9C59-6FF3A484E85C}" dt="2024-01-07T01:10:31.225" v="117" actId="1036"/>
          <ac:graphicFrameMkLst>
            <pc:docMk/>
            <pc:sldMk cId="2124447243" sldId="507"/>
            <ac:graphicFrameMk id="19" creationId="{00000000-0000-0000-0000-000000000000}"/>
          </ac:graphicFrameMkLst>
        </pc:graphicFrameChg>
        <pc:picChg chg="add mod">
          <ac:chgData name="toannguyen141601@gmail.com" userId="d93b6337fa10e7e9" providerId="LiveId" clId="{F91D0941-C107-4420-9C59-6FF3A484E85C}" dt="2024-01-07T01:10:26.395" v="105"/>
          <ac:picMkLst>
            <pc:docMk/>
            <pc:sldMk cId="2124447243" sldId="507"/>
            <ac:picMk id="3" creationId="{7F0ECABD-EC48-FD69-117D-D19066DA3AA1}"/>
          </ac:picMkLst>
        </pc:picChg>
      </pc:sldChg>
      <pc:sldChg chg="del">
        <pc:chgData name="toannguyen141601@gmail.com" userId="d93b6337fa10e7e9" providerId="LiveId" clId="{F91D0941-C107-4420-9C59-6FF3A484E85C}" dt="2024-01-07T01:11:40.121" v="140" actId="47"/>
        <pc:sldMkLst>
          <pc:docMk/>
          <pc:sldMk cId="3131552175" sldId="512"/>
        </pc:sldMkLst>
      </pc:sldChg>
      <pc:sldChg chg="addSp modSp">
        <pc:chgData name="toannguyen141601@gmail.com" userId="d93b6337fa10e7e9" providerId="LiveId" clId="{F91D0941-C107-4420-9C59-6FF3A484E85C}" dt="2024-01-07T01:15:37.234" v="226" actId="1076"/>
        <pc:sldMkLst>
          <pc:docMk/>
          <pc:sldMk cId="1883188056" sldId="523"/>
        </pc:sldMkLst>
        <pc:spChg chg="mod">
          <ac:chgData name="toannguyen141601@gmail.com" userId="d93b6337fa10e7e9" providerId="LiveId" clId="{F91D0941-C107-4420-9C59-6FF3A484E85C}" dt="2024-01-07T01:15:37.234" v="226" actId="1076"/>
          <ac:spMkLst>
            <pc:docMk/>
            <pc:sldMk cId="1883188056" sldId="523"/>
            <ac:spMk id="17" creationId="{00000000-0000-0000-0000-000000000000}"/>
          </ac:spMkLst>
        </pc:spChg>
        <pc:picChg chg="add mod">
          <ac:chgData name="toannguyen141601@gmail.com" userId="d93b6337fa10e7e9" providerId="LiveId" clId="{F91D0941-C107-4420-9C59-6FF3A484E85C}" dt="2024-01-07T01:15:32.685" v="225"/>
          <ac:picMkLst>
            <pc:docMk/>
            <pc:sldMk cId="1883188056" sldId="523"/>
            <ac:picMk id="2" creationId="{1664FAE6-F4AC-67FE-B1FD-CB326184B66B}"/>
          </ac:picMkLst>
        </pc:picChg>
      </pc:sldChg>
      <pc:sldChg chg="addSp modSp">
        <pc:chgData name="toannguyen141601@gmail.com" userId="d93b6337fa10e7e9" providerId="LiveId" clId="{F91D0941-C107-4420-9C59-6FF3A484E85C}" dt="2024-01-07T01:12:04.826" v="170" actId="1076"/>
        <pc:sldMkLst>
          <pc:docMk/>
          <pc:sldMk cId="1525116293" sldId="524"/>
        </pc:sldMkLst>
        <pc:spChg chg="mod">
          <ac:chgData name="toannguyen141601@gmail.com" userId="d93b6337fa10e7e9" providerId="LiveId" clId="{F91D0941-C107-4420-9C59-6FF3A484E85C}" dt="2024-01-07T01:12:04.826" v="170" actId="1076"/>
          <ac:spMkLst>
            <pc:docMk/>
            <pc:sldMk cId="1525116293" sldId="524"/>
            <ac:spMk id="17" creationId="{00000000-0000-0000-0000-000000000000}"/>
          </ac:spMkLst>
        </pc:spChg>
        <pc:picChg chg="add mod">
          <ac:chgData name="toannguyen141601@gmail.com" userId="d93b6337fa10e7e9" providerId="LiveId" clId="{F91D0941-C107-4420-9C59-6FF3A484E85C}" dt="2024-01-07T01:12:00.618" v="169"/>
          <ac:picMkLst>
            <pc:docMk/>
            <pc:sldMk cId="1525116293" sldId="524"/>
            <ac:picMk id="3" creationId="{AD91DED3-8143-749F-D52F-74C6D5F940AC}"/>
          </ac:picMkLst>
        </pc:picChg>
      </pc:sldChg>
      <pc:sldChg chg="addSp modSp">
        <pc:chgData name="toannguyen141601@gmail.com" userId="d93b6337fa10e7e9" providerId="LiveId" clId="{F91D0941-C107-4420-9C59-6FF3A484E85C}" dt="2024-01-07T01:15:41.307" v="228" actId="1076"/>
        <pc:sldMkLst>
          <pc:docMk/>
          <pc:sldMk cId="2763381356" sldId="526"/>
        </pc:sldMkLst>
        <pc:spChg chg="mod">
          <ac:chgData name="toannguyen141601@gmail.com" userId="d93b6337fa10e7e9" providerId="LiveId" clId="{F91D0941-C107-4420-9C59-6FF3A484E85C}" dt="2024-01-07T01:15:41.307" v="228" actId="1076"/>
          <ac:spMkLst>
            <pc:docMk/>
            <pc:sldMk cId="2763381356" sldId="526"/>
            <ac:spMk id="17" creationId="{00000000-0000-0000-0000-000000000000}"/>
          </ac:spMkLst>
        </pc:spChg>
        <pc:picChg chg="add mod">
          <ac:chgData name="toannguyen141601@gmail.com" userId="d93b6337fa10e7e9" providerId="LiveId" clId="{F91D0941-C107-4420-9C59-6FF3A484E85C}" dt="2024-01-07T01:15:38.921" v="227"/>
          <ac:picMkLst>
            <pc:docMk/>
            <pc:sldMk cId="2763381356" sldId="526"/>
            <ac:picMk id="2" creationId="{7C1006CB-4789-FDFB-AD1A-8A54F171ECAF}"/>
          </ac:picMkLst>
        </pc:picChg>
      </pc:sldChg>
      <pc:sldChg chg="addSp modSp">
        <pc:chgData name="toannguyen141601@gmail.com" userId="d93b6337fa10e7e9" providerId="LiveId" clId="{F91D0941-C107-4420-9C59-6FF3A484E85C}" dt="2024-01-07T01:15:49.121" v="232" actId="1076"/>
        <pc:sldMkLst>
          <pc:docMk/>
          <pc:sldMk cId="2808781579" sldId="527"/>
        </pc:sldMkLst>
        <pc:spChg chg="mod">
          <ac:chgData name="toannguyen141601@gmail.com" userId="d93b6337fa10e7e9" providerId="LiveId" clId="{F91D0941-C107-4420-9C59-6FF3A484E85C}" dt="2024-01-07T01:15:49.121" v="232" actId="1076"/>
          <ac:spMkLst>
            <pc:docMk/>
            <pc:sldMk cId="2808781579" sldId="527"/>
            <ac:spMk id="17" creationId="{00000000-0000-0000-0000-000000000000}"/>
          </ac:spMkLst>
        </pc:spChg>
        <pc:picChg chg="add mod">
          <ac:chgData name="toannguyen141601@gmail.com" userId="d93b6337fa10e7e9" providerId="LiveId" clId="{F91D0941-C107-4420-9C59-6FF3A484E85C}" dt="2024-01-07T01:15:46.390" v="231"/>
          <ac:picMkLst>
            <pc:docMk/>
            <pc:sldMk cId="2808781579" sldId="527"/>
            <ac:picMk id="2" creationId="{4F5C1F57-408B-620F-6BFB-7EC3D39C665B}"/>
          </ac:picMkLst>
        </pc:picChg>
      </pc:sldChg>
      <pc:sldChg chg="addSp modSp mod">
        <pc:chgData name="toannguyen141601@gmail.com" userId="d93b6337fa10e7e9" providerId="LiveId" clId="{F91D0941-C107-4420-9C59-6FF3A484E85C}" dt="2024-01-07T01:16:01.377" v="264"/>
        <pc:sldMkLst>
          <pc:docMk/>
          <pc:sldMk cId="1962593880" sldId="529"/>
        </pc:sldMkLst>
        <pc:spChg chg="mod">
          <ac:chgData name="toannguyen141601@gmail.com" userId="d93b6337fa10e7e9" providerId="LiveId" clId="{F91D0941-C107-4420-9C59-6FF3A484E85C}" dt="2024-01-07T01:15:59.137" v="263" actId="1036"/>
          <ac:spMkLst>
            <pc:docMk/>
            <pc:sldMk cId="1962593880" sldId="529"/>
            <ac:spMk id="4" creationId="{00000000-0000-0000-0000-000000000000}"/>
          </ac:spMkLst>
        </pc:spChg>
        <pc:spChg chg="mod">
          <ac:chgData name="toannguyen141601@gmail.com" userId="d93b6337fa10e7e9" providerId="LiveId" clId="{F91D0941-C107-4420-9C59-6FF3A484E85C}" dt="2024-01-07T01:15:59.137" v="263" actId="1036"/>
          <ac:spMkLst>
            <pc:docMk/>
            <pc:sldMk cId="1962593880" sldId="529"/>
            <ac:spMk id="5" creationId="{00000000-0000-0000-0000-000000000000}"/>
          </ac:spMkLst>
        </pc:spChg>
        <pc:spChg chg="mod">
          <ac:chgData name="toannguyen141601@gmail.com" userId="d93b6337fa10e7e9" providerId="LiveId" clId="{F91D0941-C107-4420-9C59-6FF3A484E85C}" dt="2024-01-07T01:15:59.137" v="263" actId="1036"/>
          <ac:spMkLst>
            <pc:docMk/>
            <pc:sldMk cId="1962593880" sldId="529"/>
            <ac:spMk id="6" creationId="{00000000-0000-0000-0000-000000000000}"/>
          </ac:spMkLst>
        </pc:spChg>
        <pc:spChg chg="mod">
          <ac:chgData name="toannguyen141601@gmail.com" userId="d93b6337fa10e7e9" providerId="LiveId" clId="{F91D0941-C107-4420-9C59-6FF3A484E85C}" dt="2024-01-07T01:15:59.137" v="263" actId="1036"/>
          <ac:spMkLst>
            <pc:docMk/>
            <pc:sldMk cId="1962593880" sldId="529"/>
            <ac:spMk id="7" creationId="{00000000-0000-0000-0000-000000000000}"/>
          </ac:spMkLst>
        </pc:spChg>
        <pc:spChg chg="mod">
          <ac:chgData name="toannguyen141601@gmail.com" userId="d93b6337fa10e7e9" providerId="LiveId" clId="{F91D0941-C107-4420-9C59-6FF3A484E85C}" dt="2024-01-07T01:15:59.137" v="263" actId="1036"/>
          <ac:spMkLst>
            <pc:docMk/>
            <pc:sldMk cId="1962593880" sldId="529"/>
            <ac:spMk id="8" creationId="{00000000-0000-0000-0000-000000000000}"/>
          </ac:spMkLst>
        </pc:spChg>
        <pc:spChg chg="mod">
          <ac:chgData name="toannguyen141601@gmail.com" userId="d93b6337fa10e7e9" providerId="LiveId" clId="{F91D0941-C107-4420-9C59-6FF3A484E85C}" dt="2024-01-07T01:15:59.137" v="263" actId="1036"/>
          <ac:spMkLst>
            <pc:docMk/>
            <pc:sldMk cId="1962593880" sldId="529"/>
            <ac:spMk id="9" creationId="{00000000-0000-0000-0000-000000000000}"/>
          </ac:spMkLst>
        </pc:spChg>
        <pc:spChg chg="mod">
          <ac:chgData name="toannguyen141601@gmail.com" userId="d93b6337fa10e7e9" providerId="LiveId" clId="{F91D0941-C107-4420-9C59-6FF3A484E85C}" dt="2024-01-07T01:15:59.137" v="263" actId="1036"/>
          <ac:spMkLst>
            <pc:docMk/>
            <pc:sldMk cId="1962593880" sldId="529"/>
            <ac:spMk id="48130" creationId="{00000000-0000-0000-0000-000000000000}"/>
          </ac:spMkLst>
        </pc:spChg>
        <pc:picChg chg="add mod">
          <ac:chgData name="toannguyen141601@gmail.com" userId="d93b6337fa10e7e9" providerId="LiveId" clId="{F91D0941-C107-4420-9C59-6FF3A484E85C}" dt="2024-01-07T01:16:01.377" v="264"/>
          <ac:picMkLst>
            <pc:docMk/>
            <pc:sldMk cId="1962593880" sldId="529"/>
            <ac:picMk id="2" creationId="{BF9A19E4-70C8-3825-1229-9A1DE61D6895}"/>
          </ac:picMkLst>
        </pc:picChg>
      </pc:sldChg>
      <pc:sldChg chg="addSp modSp">
        <pc:chgData name="toannguyen141601@gmail.com" userId="d93b6337fa10e7e9" providerId="LiveId" clId="{F91D0941-C107-4420-9C59-6FF3A484E85C}" dt="2024-01-07T01:16:07.606" v="266" actId="1076"/>
        <pc:sldMkLst>
          <pc:docMk/>
          <pc:sldMk cId="2639064470" sldId="530"/>
        </pc:sldMkLst>
        <pc:spChg chg="mod">
          <ac:chgData name="toannguyen141601@gmail.com" userId="d93b6337fa10e7e9" providerId="LiveId" clId="{F91D0941-C107-4420-9C59-6FF3A484E85C}" dt="2024-01-07T01:16:07.606" v="266" actId="1076"/>
          <ac:spMkLst>
            <pc:docMk/>
            <pc:sldMk cId="2639064470" sldId="530"/>
            <ac:spMk id="17" creationId="{00000000-0000-0000-0000-000000000000}"/>
          </ac:spMkLst>
        </pc:spChg>
        <pc:picChg chg="add mod">
          <ac:chgData name="toannguyen141601@gmail.com" userId="d93b6337fa10e7e9" providerId="LiveId" clId="{F91D0941-C107-4420-9C59-6FF3A484E85C}" dt="2024-01-07T01:16:03.348" v="265"/>
          <ac:picMkLst>
            <pc:docMk/>
            <pc:sldMk cId="2639064470" sldId="530"/>
            <ac:picMk id="2" creationId="{FB4A6101-B0D0-2660-21AA-94D53D3E984F}"/>
          </ac:picMkLst>
        </pc:picChg>
      </pc:sldChg>
      <pc:sldChg chg="addSp modSp">
        <pc:chgData name="toannguyen141601@gmail.com" userId="d93b6337fa10e7e9" providerId="LiveId" clId="{F91D0941-C107-4420-9C59-6FF3A484E85C}" dt="2024-01-07T01:16:11.942" v="268" actId="1076"/>
        <pc:sldMkLst>
          <pc:docMk/>
          <pc:sldMk cId="1759909624" sldId="531"/>
        </pc:sldMkLst>
        <pc:spChg chg="mod">
          <ac:chgData name="toannguyen141601@gmail.com" userId="d93b6337fa10e7e9" providerId="LiveId" clId="{F91D0941-C107-4420-9C59-6FF3A484E85C}" dt="2024-01-07T01:16:11.942" v="268" actId="1076"/>
          <ac:spMkLst>
            <pc:docMk/>
            <pc:sldMk cId="1759909624" sldId="531"/>
            <ac:spMk id="17" creationId="{00000000-0000-0000-0000-000000000000}"/>
          </ac:spMkLst>
        </pc:spChg>
        <pc:picChg chg="add mod">
          <ac:chgData name="toannguyen141601@gmail.com" userId="d93b6337fa10e7e9" providerId="LiveId" clId="{F91D0941-C107-4420-9C59-6FF3A484E85C}" dt="2024-01-07T01:16:09.681" v="267"/>
          <ac:picMkLst>
            <pc:docMk/>
            <pc:sldMk cId="1759909624" sldId="531"/>
            <ac:picMk id="2" creationId="{D9F96B97-DAE7-6AAD-AD8A-13802599A4C2}"/>
          </ac:picMkLst>
        </pc:picChg>
      </pc:sldChg>
      <pc:sldChg chg="addSp modSp">
        <pc:chgData name="toannguyen141601@gmail.com" userId="d93b6337fa10e7e9" providerId="LiveId" clId="{F91D0941-C107-4420-9C59-6FF3A484E85C}" dt="2024-01-07T01:16:43.843" v="281" actId="1076"/>
        <pc:sldMkLst>
          <pc:docMk/>
          <pc:sldMk cId="2194892412" sldId="537"/>
        </pc:sldMkLst>
        <pc:spChg chg="mod">
          <ac:chgData name="toannguyen141601@gmail.com" userId="d93b6337fa10e7e9" providerId="LiveId" clId="{F91D0941-C107-4420-9C59-6FF3A484E85C}" dt="2024-01-07T01:16:39.892" v="280" actId="1076"/>
          <ac:spMkLst>
            <pc:docMk/>
            <pc:sldMk cId="2194892412" sldId="537"/>
            <ac:spMk id="8" creationId="{00000000-0000-0000-0000-000000000000}"/>
          </ac:spMkLst>
        </pc:spChg>
        <pc:spChg chg="mod">
          <ac:chgData name="toannguyen141601@gmail.com" userId="d93b6337fa10e7e9" providerId="LiveId" clId="{F91D0941-C107-4420-9C59-6FF3A484E85C}" dt="2024-01-07T01:16:43.843" v="281" actId="1076"/>
          <ac:spMkLst>
            <pc:docMk/>
            <pc:sldMk cId="2194892412" sldId="537"/>
            <ac:spMk id="36" creationId="{00000000-0000-0000-0000-000000000000}"/>
          </ac:spMkLst>
        </pc:spChg>
        <pc:picChg chg="add mod">
          <ac:chgData name="toannguyen141601@gmail.com" userId="d93b6337fa10e7e9" providerId="LiveId" clId="{F91D0941-C107-4420-9C59-6FF3A484E85C}" dt="2024-01-07T01:16:32.680" v="279"/>
          <ac:picMkLst>
            <pc:docMk/>
            <pc:sldMk cId="2194892412" sldId="537"/>
            <ac:picMk id="2" creationId="{4305355C-D6CF-9F76-17A8-A7480251A489}"/>
          </ac:picMkLst>
        </pc:picChg>
      </pc:sldChg>
      <pc:sldChg chg="addSp modSp">
        <pc:chgData name="toannguyen141601@gmail.com" userId="d93b6337fa10e7e9" providerId="LiveId" clId="{F91D0941-C107-4420-9C59-6FF3A484E85C}" dt="2024-01-07T01:16:50.681" v="283" actId="1076"/>
        <pc:sldMkLst>
          <pc:docMk/>
          <pc:sldMk cId="3230808867" sldId="540"/>
        </pc:sldMkLst>
        <pc:spChg chg="mod">
          <ac:chgData name="toannguyen141601@gmail.com" userId="d93b6337fa10e7e9" providerId="LiveId" clId="{F91D0941-C107-4420-9C59-6FF3A484E85C}" dt="2024-01-07T01:16:50.681" v="283" actId="1076"/>
          <ac:spMkLst>
            <pc:docMk/>
            <pc:sldMk cId="3230808867" sldId="540"/>
            <ac:spMk id="18" creationId="{00000000-0000-0000-0000-000000000000}"/>
          </ac:spMkLst>
        </pc:spChg>
        <pc:picChg chg="add mod">
          <ac:chgData name="toannguyen141601@gmail.com" userId="d93b6337fa10e7e9" providerId="LiveId" clId="{F91D0941-C107-4420-9C59-6FF3A484E85C}" dt="2024-01-07T01:16:47.121" v="282"/>
          <ac:picMkLst>
            <pc:docMk/>
            <pc:sldMk cId="3230808867" sldId="540"/>
            <ac:picMk id="4" creationId="{52C7869F-B4CA-E569-CE40-47C6F5F38B36}"/>
          </ac:picMkLst>
        </pc:picChg>
      </pc:sldChg>
      <pc:sldChg chg="addSp modSp">
        <pc:chgData name="toannguyen141601@gmail.com" userId="d93b6337fa10e7e9" providerId="LiveId" clId="{F91D0941-C107-4420-9C59-6FF3A484E85C}" dt="2024-01-07T01:17:06.525" v="289" actId="1076"/>
        <pc:sldMkLst>
          <pc:docMk/>
          <pc:sldMk cId="3089026889" sldId="541"/>
        </pc:sldMkLst>
        <pc:spChg chg="mod">
          <ac:chgData name="toannguyen141601@gmail.com" userId="d93b6337fa10e7e9" providerId="LiveId" clId="{F91D0941-C107-4420-9C59-6FF3A484E85C}" dt="2024-01-07T01:17:06.525" v="289" actId="1076"/>
          <ac:spMkLst>
            <pc:docMk/>
            <pc:sldMk cId="3089026889" sldId="541"/>
            <ac:spMk id="13" creationId="{00000000-0000-0000-0000-000000000000}"/>
          </ac:spMkLst>
        </pc:spChg>
        <pc:picChg chg="add mod">
          <ac:chgData name="toannguyen141601@gmail.com" userId="d93b6337fa10e7e9" providerId="LiveId" clId="{F91D0941-C107-4420-9C59-6FF3A484E85C}" dt="2024-01-07T01:17:03.213" v="288"/>
          <ac:picMkLst>
            <pc:docMk/>
            <pc:sldMk cId="3089026889" sldId="541"/>
            <ac:picMk id="2" creationId="{90CA4849-B3CC-6DD1-74EF-9F3663FF9C31}"/>
          </ac:picMkLst>
        </pc:picChg>
      </pc:sldChg>
      <pc:sldChg chg="addSp modSp">
        <pc:chgData name="toannguyen141601@gmail.com" userId="d93b6337fa10e7e9" providerId="LiveId" clId="{F91D0941-C107-4420-9C59-6FF3A484E85C}" dt="2024-01-07T01:17:11.938" v="291" actId="1076"/>
        <pc:sldMkLst>
          <pc:docMk/>
          <pc:sldMk cId="797171658" sldId="542"/>
        </pc:sldMkLst>
        <pc:spChg chg="mod">
          <ac:chgData name="toannguyen141601@gmail.com" userId="d93b6337fa10e7e9" providerId="LiveId" clId="{F91D0941-C107-4420-9C59-6FF3A484E85C}" dt="2024-01-07T01:17:11.938" v="291" actId="1076"/>
          <ac:spMkLst>
            <pc:docMk/>
            <pc:sldMk cId="797171658" sldId="542"/>
            <ac:spMk id="13" creationId="{00000000-0000-0000-0000-000000000000}"/>
          </ac:spMkLst>
        </pc:spChg>
        <pc:picChg chg="add mod">
          <ac:chgData name="toannguyen141601@gmail.com" userId="d93b6337fa10e7e9" providerId="LiveId" clId="{F91D0941-C107-4420-9C59-6FF3A484E85C}" dt="2024-01-07T01:17:10.346" v="290"/>
          <ac:picMkLst>
            <pc:docMk/>
            <pc:sldMk cId="797171658" sldId="542"/>
            <ac:picMk id="2" creationId="{D05C78A3-85EE-9115-58CB-F1D076FF66B2}"/>
          </ac:picMkLst>
        </pc:picChg>
      </pc:sldChg>
      <pc:sldChg chg="addSp modSp">
        <pc:chgData name="toannguyen141601@gmail.com" userId="d93b6337fa10e7e9" providerId="LiveId" clId="{F91D0941-C107-4420-9C59-6FF3A484E85C}" dt="2024-01-07T01:17:21.605" v="322"/>
        <pc:sldMkLst>
          <pc:docMk/>
          <pc:sldMk cId="1525501094" sldId="545"/>
        </pc:sldMkLst>
        <pc:picChg chg="add mod">
          <ac:chgData name="toannguyen141601@gmail.com" userId="d93b6337fa10e7e9" providerId="LiveId" clId="{F91D0941-C107-4420-9C59-6FF3A484E85C}" dt="2024-01-07T01:17:21.605" v="322"/>
          <ac:picMkLst>
            <pc:docMk/>
            <pc:sldMk cId="1525501094" sldId="545"/>
            <ac:picMk id="2" creationId="{B015D20A-1DD7-7538-7B23-138BE557746C}"/>
          </ac:picMkLst>
        </pc:picChg>
      </pc:sldChg>
      <pc:sldChg chg="addSp modSp">
        <pc:chgData name="toannguyen141601@gmail.com" userId="d93b6337fa10e7e9" providerId="LiveId" clId="{F91D0941-C107-4420-9C59-6FF3A484E85C}" dt="2024-01-07T01:17:22.716" v="323"/>
        <pc:sldMkLst>
          <pc:docMk/>
          <pc:sldMk cId="157601275" sldId="546"/>
        </pc:sldMkLst>
        <pc:picChg chg="add mod">
          <ac:chgData name="toannguyen141601@gmail.com" userId="d93b6337fa10e7e9" providerId="LiveId" clId="{F91D0941-C107-4420-9C59-6FF3A484E85C}" dt="2024-01-07T01:17:22.716" v="323"/>
          <ac:picMkLst>
            <pc:docMk/>
            <pc:sldMk cId="157601275" sldId="546"/>
            <ac:picMk id="2" creationId="{6EC19D83-D8FE-1EB4-ED4C-655553156960}"/>
          </ac:picMkLst>
        </pc:picChg>
      </pc:sldChg>
      <pc:sldChg chg="addSp modSp">
        <pc:chgData name="toannguyen141601@gmail.com" userId="d93b6337fa10e7e9" providerId="LiveId" clId="{F91D0941-C107-4420-9C59-6FF3A484E85C}" dt="2024-01-07T01:17:23.920" v="324"/>
        <pc:sldMkLst>
          <pc:docMk/>
          <pc:sldMk cId="2604261661" sldId="547"/>
        </pc:sldMkLst>
        <pc:picChg chg="add mod">
          <ac:chgData name="toannguyen141601@gmail.com" userId="d93b6337fa10e7e9" providerId="LiveId" clId="{F91D0941-C107-4420-9C59-6FF3A484E85C}" dt="2024-01-07T01:17:23.920" v="324"/>
          <ac:picMkLst>
            <pc:docMk/>
            <pc:sldMk cId="2604261661" sldId="547"/>
            <ac:picMk id="2" creationId="{7A6A5620-E953-62DE-6316-44065C76FBDB}"/>
          </ac:picMkLst>
        </pc:picChg>
      </pc:sldChg>
      <pc:sldChg chg="addSp modSp">
        <pc:chgData name="toannguyen141601@gmail.com" userId="d93b6337fa10e7e9" providerId="LiveId" clId="{F91D0941-C107-4420-9C59-6FF3A484E85C}" dt="2024-01-07T01:17:25.166" v="325"/>
        <pc:sldMkLst>
          <pc:docMk/>
          <pc:sldMk cId="704145294" sldId="548"/>
        </pc:sldMkLst>
        <pc:picChg chg="add mod">
          <ac:chgData name="toannguyen141601@gmail.com" userId="d93b6337fa10e7e9" providerId="LiveId" clId="{F91D0941-C107-4420-9C59-6FF3A484E85C}" dt="2024-01-07T01:17:25.166" v="325"/>
          <ac:picMkLst>
            <pc:docMk/>
            <pc:sldMk cId="704145294" sldId="548"/>
            <ac:picMk id="2" creationId="{B945643C-92BD-AFE4-7BB2-7E5FB0354FBB}"/>
          </ac:picMkLst>
        </pc:picChg>
      </pc:sldChg>
      <pc:sldChg chg="addSp modSp mod">
        <pc:chgData name="toannguyen141601@gmail.com" userId="d93b6337fa10e7e9" providerId="LiveId" clId="{F91D0941-C107-4420-9C59-6FF3A484E85C}" dt="2024-01-07T01:07:09.837" v="27" actId="1076"/>
        <pc:sldMkLst>
          <pc:docMk/>
          <pc:sldMk cId="2214820160" sldId="549"/>
        </pc:sldMkLst>
        <pc:picChg chg="add mod">
          <ac:chgData name="toannguyen141601@gmail.com" userId="d93b6337fa10e7e9" providerId="LiveId" clId="{F91D0941-C107-4420-9C59-6FF3A484E85C}" dt="2024-01-07T01:07:09.837" v="27" actId="1076"/>
          <ac:picMkLst>
            <pc:docMk/>
            <pc:sldMk cId="2214820160" sldId="549"/>
            <ac:picMk id="2" creationId="{09DBC94F-5CA1-AA9E-CD46-047865E6F71E}"/>
          </ac:picMkLst>
        </pc:picChg>
      </pc:sldChg>
      <pc:sldChg chg="addSp modSp mod">
        <pc:chgData name="toannguyen141601@gmail.com" userId="d93b6337fa10e7e9" providerId="LiveId" clId="{F91D0941-C107-4420-9C59-6FF3A484E85C}" dt="2024-01-07T01:08:51.714" v="66" actId="1076"/>
        <pc:sldMkLst>
          <pc:docMk/>
          <pc:sldMk cId="1107087419" sldId="569"/>
        </pc:sldMkLst>
        <pc:spChg chg="mod">
          <ac:chgData name="toannguyen141601@gmail.com" userId="d93b6337fa10e7e9" providerId="LiveId" clId="{F91D0941-C107-4420-9C59-6FF3A484E85C}" dt="2024-01-07T01:08:51.714" v="66" actId="1076"/>
          <ac:spMkLst>
            <pc:docMk/>
            <pc:sldMk cId="1107087419" sldId="569"/>
            <ac:spMk id="6" creationId="{00000000-0000-0000-0000-000000000000}"/>
          </ac:spMkLst>
        </pc:spChg>
        <pc:picChg chg="add mod">
          <ac:chgData name="toannguyen141601@gmail.com" userId="d93b6337fa10e7e9" providerId="LiveId" clId="{F91D0941-C107-4420-9C59-6FF3A484E85C}" dt="2024-01-07T01:08:47.999" v="65"/>
          <ac:picMkLst>
            <pc:docMk/>
            <pc:sldMk cId="1107087419" sldId="569"/>
            <ac:picMk id="2" creationId="{DB0DC6AD-54E5-C28C-3F13-9928E9AE242E}"/>
          </ac:picMkLst>
        </pc:picChg>
      </pc:sldChg>
      <pc:sldChg chg="addSp modSp mod">
        <pc:chgData name="toannguyen141601@gmail.com" userId="d93b6337fa10e7e9" providerId="LiveId" clId="{F91D0941-C107-4420-9C59-6FF3A484E85C}" dt="2024-01-07T01:09:23.840" v="76" actId="1076"/>
        <pc:sldMkLst>
          <pc:docMk/>
          <pc:sldMk cId="3194801587" sldId="573"/>
        </pc:sldMkLst>
        <pc:spChg chg="mod">
          <ac:chgData name="toannguyen141601@gmail.com" userId="d93b6337fa10e7e9" providerId="LiveId" clId="{F91D0941-C107-4420-9C59-6FF3A484E85C}" dt="2024-01-07T01:09:23.840" v="76" actId="1076"/>
          <ac:spMkLst>
            <pc:docMk/>
            <pc:sldMk cId="3194801587" sldId="573"/>
            <ac:spMk id="5" creationId="{00000000-0000-0000-0000-000000000000}"/>
          </ac:spMkLst>
        </pc:spChg>
        <pc:picChg chg="add mod">
          <ac:chgData name="toannguyen141601@gmail.com" userId="d93b6337fa10e7e9" providerId="LiveId" clId="{F91D0941-C107-4420-9C59-6FF3A484E85C}" dt="2024-01-07T01:09:19.675" v="75"/>
          <ac:picMkLst>
            <pc:docMk/>
            <pc:sldMk cId="3194801587" sldId="573"/>
            <ac:picMk id="2" creationId="{A9191199-310D-BC5C-E6BB-10448BD16B26}"/>
          </ac:picMkLst>
        </pc:picChg>
      </pc:sldChg>
      <pc:sldChg chg="addSp modSp">
        <pc:chgData name="toannguyen141601@gmail.com" userId="d93b6337fa10e7e9" providerId="LiveId" clId="{F91D0941-C107-4420-9C59-6FF3A484E85C}" dt="2024-01-07T01:08:22.529" v="62" actId="1076"/>
        <pc:sldMkLst>
          <pc:docMk/>
          <pc:sldMk cId="23127739" sldId="574"/>
        </pc:sldMkLst>
        <pc:spChg chg="mod">
          <ac:chgData name="toannguyen141601@gmail.com" userId="d93b6337fa10e7e9" providerId="LiveId" clId="{F91D0941-C107-4420-9C59-6FF3A484E85C}" dt="2024-01-07T01:08:22.529" v="62" actId="1076"/>
          <ac:spMkLst>
            <pc:docMk/>
            <pc:sldMk cId="23127739" sldId="574"/>
            <ac:spMk id="304161" creationId="{00000000-0000-0000-0000-000000000000}"/>
          </ac:spMkLst>
        </pc:spChg>
        <pc:picChg chg="add mod">
          <ac:chgData name="toannguyen141601@gmail.com" userId="d93b6337fa10e7e9" providerId="LiveId" clId="{F91D0941-C107-4420-9C59-6FF3A484E85C}" dt="2024-01-07T01:08:13.017" v="61"/>
          <ac:picMkLst>
            <pc:docMk/>
            <pc:sldMk cId="23127739" sldId="574"/>
            <ac:picMk id="2" creationId="{7571B02E-9A10-590B-D4BC-C2FE6B351B86}"/>
          </ac:picMkLst>
        </pc:picChg>
      </pc:sldChg>
      <pc:sldChg chg="addSp modSp del mod">
        <pc:chgData name="toannguyen141601@gmail.com" userId="d93b6337fa10e7e9" providerId="LiveId" clId="{F91D0941-C107-4420-9C59-6FF3A484E85C}" dt="2024-01-07T01:08:02.921" v="60" actId="47"/>
        <pc:sldMkLst>
          <pc:docMk/>
          <pc:sldMk cId="37118600" sldId="575"/>
        </pc:sldMkLst>
        <pc:spChg chg="mod">
          <ac:chgData name="toannguyen141601@gmail.com" userId="d93b6337fa10e7e9" providerId="LiveId" clId="{F91D0941-C107-4420-9C59-6FF3A484E85C}" dt="2024-01-07T01:07:52.977" v="58" actId="1036"/>
          <ac:spMkLst>
            <pc:docMk/>
            <pc:sldMk cId="37118600" sldId="575"/>
            <ac:spMk id="10" creationId="{00000000-0000-0000-0000-000000000000}"/>
          </ac:spMkLst>
        </pc:spChg>
        <pc:spChg chg="mod">
          <ac:chgData name="toannguyen141601@gmail.com" userId="d93b6337fa10e7e9" providerId="LiveId" clId="{F91D0941-C107-4420-9C59-6FF3A484E85C}" dt="2024-01-07T01:07:52.977" v="58" actId="1036"/>
          <ac:spMkLst>
            <pc:docMk/>
            <pc:sldMk cId="37118600" sldId="575"/>
            <ac:spMk id="288774" creationId="{00000000-0000-0000-0000-000000000000}"/>
          </ac:spMkLst>
        </pc:spChg>
        <pc:picChg chg="add mod">
          <ac:chgData name="toannguyen141601@gmail.com" userId="d93b6337fa10e7e9" providerId="LiveId" clId="{F91D0941-C107-4420-9C59-6FF3A484E85C}" dt="2024-01-07T01:07:43.477" v="47"/>
          <ac:picMkLst>
            <pc:docMk/>
            <pc:sldMk cId="37118600" sldId="575"/>
            <ac:picMk id="2" creationId="{0CF0EA4F-C043-6547-D765-BA878768BE3D}"/>
          </ac:picMkLst>
        </pc:picChg>
        <pc:picChg chg="mod">
          <ac:chgData name="toannguyen141601@gmail.com" userId="d93b6337fa10e7e9" providerId="LiveId" clId="{F91D0941-C107-4420-9C59-6FF3A484E85C}" dt="2024-01-07T01:07:58.819" v="59" actId="14100"/>
          <ac:picMkLst>
            <pc:docMk/>
            <pc:sldMk cId="37118600" sldId="575"/>
            <ac:picMk id="5" creationId="{00000000-0000-0000-0000-000000000000}"/>
          </ac:picMkLst>
        </pc:picChg>
      </pc:sldChg>
      <pc:sldChg chg="addSp modSp mod">
        <pc:chgData name="toannguyen141601@gmail.com" userId="d93b6337fa10e7e9" providerId="LiveId" clId="{F91D0941-C107-4420-9C59-6FF3A484E85C}" dt="2024-01-07T01:07:38.307" v="46" actId="14100"/>
        <pc:sldMkLst>
          <pc:docMk/>
          <pc:sldMk cId="4033328480" sldId="577"/>
        </pc:sldMkLst>
        <pc:graphicFrameChg chg="mod modGraphic">
          <ac:chgData name="toannguyen141601@gmail.com" userId="d93b6337fa10e7e9" providerId="LiveId" clId="{F91D0941-C107-4420-9C59-6FF3A484E85C}" dt="2024-01-07T01:07:38.307" v="46" actId="14100"/>
          <ac:graphicFrameMkLst>
            <pc:docMk/>
            <pc:sldMk cId="4033328480" sldId="577"/>
            <ac:graphicFrameMk id="3" creationId="{00000000-0000-0000-0000-000000000000}"/>
          </ac:graphicFrameMkLst>
        </pc:graphicFrameChg>
        <pc:picChg chg="add mod">
          <ac:chgData name="toannguyen141601@gmail.com" userId="d93b6337fa10e7e9" providerId="LiveId" clId="{F91D0941-C107-4420-9C59-6FF3A484E85C}" dt="2024-01-07T01:07:33.963" v="45"/>
          <ac:picMkLst>
            <pc:docMk/>
            <pc:sldMk cId="4033328480" sldId="577"/>
            <ac:picMk id="2" creationId="{D2EAEA7D-9A71-05D2-4AFE-4A2FDD84AEFC}"/>
          </ac:picMkLst>
        </pc:picChg>
      </pc:sldChg>
      <pc:sldChg chg="addSp modSp mod">
        <pc:chgData name="toannguyen141601@gmail.com" userId="d93b6337fa10e7e9" providerId="LiveId" clId="{F91D0941-C107-4420-9C59-6FF3A484E85C}" dt="2024-01-07T01:08:59.525" v="68" actId="1076"/>
        <pc:sldMkLst>
          <pc:docMk/>
          <pc:sldMk cId="311808305" sldId="578"/>
        </pc:sldMkLst>
        <pc:spChg chg="mod">
          <ac:chgData name="toannguyen141601@gmail.com" userId="d93b6337fa10e7e9" providerId="LiveId" clId="{F91D0941-C107-4420-9C59-6FF3A484E85C}" dt="2024-01-07T01:08:59.525" v="68" actId="1076"/>
          <ac:spMkLst>
            <pc:docMk/>
            <pc:sldMk cId="311808305" sldId="578"/>
            <ac:spMk id="6" creationId="{00000000-0000-0000-0000-000000000000}"/>
          </ac:spMkLst>
        </pc:spChg>
        <pc:picChg chg="add mod">
          <ac:chgData name="toannguyen141601@gmail.com" userId="d93b6337fa10e7e9" providerId="LiveId" clId="{F91D0941-C107-4420-9C59-6FF3A484E85C}" dt="2024-01-07T01:08:53.579" v="67"/>
          <ac:picMkLst>
            <pc:docMk/>
            <pc:sldMk cId="311808305" sldId="578"/>
            <ac:picMk id="2" creationId="{9A8D2A2B-80B9-7D3C-228E-4909AD99C48E}"/>
          </ac:picMkLst>
        </pc:picChg>
      </pc:sldChg>
      <pc:sldChg chg="addSp modSp mod">
        <pc:chgData name="toannguyen141601@gmail.com" userId="d93b6337fa10e7e9" providerId="LiveId" clId="{F91D0941-C107-4420-9C59-6FF3A484E85C}" dt="2024-01-07T01:09:05.375" v="70" actId="1076"/>
        <pc:sldMkLst>
          <pc:docMk/>
          <pc:sldMk cId="1795820610" sldId="579"/>
        </pc:sldMkLst>
        <pc:spChg chg="mod">
          <ac:chgData name="toannguyen141601@gmail.com" userId="d93b6337fa10e7e9" providerId="LiveId" clId="{F91D0941-C107-4420-9C59-6FF3A484E85C}" dt="2024-01-07T01:09:05.375" v="70" actId="1076"/>
          <ac:spMkLst>
            <pc:docMk/>
            <pc:sldMk cId="1795820610" sldId="579"/>
            <ac:spMk id="6" creationId="{00000000-0000-0000-0000-000000000000}"/>
          </ac:spMkLst>
        </pc:spChg>
        <pc:picChg chg="add mod">
          <ac:chgData name="toannguyen141601@gmail.com" userId="d93b6337fa10e7e9" providerId="LiveId" clId="{F91D0941-C107-4420-9C59-6FF3A484E85C}" dt="2024-01-07T01:09:03.243" v="69"/>
          <ac:picMkLst>
            <pc:docMk/>
            <pc:sldMk cId="1795820610" sldId="579"/>
            <ac:picMk id="2" creationId="{6FC52B6F-AFA9-C041-ABF6-8B117DF81875}"/>
          </ac:picMkLst>
        </pc:picChg>
      </pc:sldChg>
      <pc:sldChg chg="addSp modSp mod">
        <pc:chgData name="toannguyen141601@gmail.com" userId="d93b6337fa10e7e9" providerId="LiveId" clId="{F91D0941-C107-4420-9C59-6FF3A484E85C}" dt="2024-01-07T01:09:10.340" v="72" actId="1076"/>
        <pc:sldMkLst>
          <pc:docMk/>
          <pc:sldMk cId="459138590" sldId="580"/>
        </pc:sldMkLst>
        <pc:spChg chg="mod">
          <ac:chgData name="toannguyen141601@gmail.com" userId="d93b6337fa10e7e9" providerId="LiveId" clId="{F91D0941-C107-4420-9C59-6FF3A484E85C}" dt="2024-01-07T01:09:10.340" v="72" actId="1076"/>
          <ac:spMkLst>
            <pc:docMk/>
            <pc:sldMk cId="459138590" sldId="580"/>
            <ac:spMk id="6" creationId="{00000000-0000-0000-0000-000000000000}"/>
          </ac:spMkLst>
        </pc:spChg>
        <pc:picChg chg="add mod">
          <ac:chgData name="toannguyen141601@gmail.com" userId="d93b6337fa10e7e9" providerId="LiveId" clId="{F91D0941-C107-4420-9C59-6FF3A484E85C}" dt="2024-01-07T01:09:07.539" v="71"/>
          <ac:picMkLst>
            <pc:docMk/>
            <pc:sldMk cId="459138590" sldId="580"/>
            <ac:picMk id="3" creationId="{BEBE34B4-B860-BA6C-18BC-928C739FD32B}"/>
          </ac:picMkLst>
        </pc:picChg>
      </pc:sldChg>
      <pc:sldChg chg="addSp modSp mod">
        <pc:chgData name="toannguyen141601@gmail.com" userId="d93b6337fa10e7e9" providerId="LiveId" clId="{F91D0941-C107-4420-9C59-6FF3A484E85C}" dt="2024-01-07T01:09:18.019" v="74" actId="1076"/>
        <pc:sldMkLst>
          <pc:docMk/>
          <pc:sldMk cId="202100233" sldId="581"/>
        </pc:sldMkLst>
        <pc:spChg chg="mod">
          <ac:chgData name="toannguyen141601@gmail.com" userId="d93b6337fa10e7e9" providerId="LiveId" clId="{F91D0941-C107-4420-9C59-6FF3A484E85C}" dt="2024-01-07T01:09:18.019" v="74" actId="1076"/>
          <ac:spMkLst>
            <pc:docMk/>
            <pc:sldMk cId="202100233" sldId="581"/>
            <ac:spMk id="6" creationId="{00000000-0000-0000-0000-000000000000}"/>
          </ac:spMkLst>
        </pc:spChg>
        <pc:picChg chg="add mod">
          <ac:chgData name="toannguyen141601@gmail.com" userId="d93b6337fa10e7e9" providerId="LiveId" clId="{F91D0941-C107-4420-9C59-6FF3A484E85C}" dt="2024-01-07T01:09:16.056" v="73"/>
          <ac:picMkLst>
            <pc:docMk/>
            <pc:sldMk cId="202100233" sldId="581"/>
            <ac:picMk id="2" creationId="{A52D1834-DBB9-6F8E-888F-5BB0C4719B0D}"/>
          </ac:picMkLst>
        </pc:picChg>
      </pc:sldChg>
      <pc:sldChg chg="addSp modSp mod">
        <pc:chgData name="toannguyen141601@gmail.com" userId="d93b6337fa10e7e9" providerId="LiveId" clId="{F91D0941-C107-4420-9C59-6FF3A484E85C}" dt="2024-01-07T01:10:22.647" v="104" actId="1076"/>
        <pc:sldMkLst>
          <pc:docMk/>
          <pc:sldMk cId="556250192" sldId="582"/>
        </pc:sldMkLst>
        <pc:spChg chg="mod">
          <ac:chgData name="toannguyen141601@gmail.com" userId="d93b6337fa10e7e9" providerId="LiveId" clId="{F91D0941-C107-4420-9C59-6FF3A484E85C}" dt="2024-01-07T01:10:22.647" v="104" actId="1076"/>
          <ac:spMkLst>
            <pc:docMk/>
            <pc:sldMk cId="556250192" sldId="582"/>
            <ac:spMk id="35" creationId="{00000000-0000-0000-0000-000000000000}"/>
          </ac:spMkLst>
        </pc:spChg>
        <pc:spChg chg="mod">
          <ac:chgData name="toannguyen141601@gmail.com" userId="d93b6337fa10e7e9" providerId="LiveId" clId="{F91D0941-C107-4420-9C59-6FF3A484E85C}" dt="2024-01-07T01:10:20.422" v="103" actId="1076"/>
          <ac:spMkLst>
            <pc:docMk/>
            <pc:sldMk cId="556250192" sldId="582"/>
            <ac:spMk id="36" creationId="{00000000-0000-0000-0000-000000000000}"/>
          </ac:spMkLst>
        </pc:spChg>
        <pc:picChg chg="add mod">
          <ac:chgData name="toannguyen141601@gmail.com" userId="d93b6337fa10e7e9" providerId="LiveId" clId="{F91D0941-C107-4420-9C59-6FF3A484E85C}" dt="2024-01-07T01:10:12.737" v="102"/>
          <ac:picMkLst>
            <pc:docMk/>
            <pc:sldMk cId="556250192" sldId="582"/>
            <ac:picMk id="3" creationId="{389EFBEB-0045-1108-D762-30C881FD3793}"/>
          </ac:picMkLst>
        </pc:picChg>
      </pc:sldChg>
      <pc:sldChg chg="addSp modSp">
        <pc:chgData name="toannguyen141601@gmail.com" userId="d93b6337fa10e7e9" providerId="LiveId" clId="{F91D0941-C107-4420-9C59-6FF3A484E85C}" dt="2024-01-07T01:16:55.679" v="285" actId="1076"/>
        <pc:sldMkLst>
          <pc:docMk/>
          <pc:sldMk cId="53534688" sldId="587"/>
        </pc:sldMkLst>
        <pc:spChg chg="mod">
          <ac:chgData name="toannguyen141601@gmail.com" userId="d93b6337fa10e7e9" providerId="LiveId" clId="{F91D0941-C107-4420-9C59-6FF3A484E85C}" dt="2024-01-07T01:16:55.679" v="285" actId="1076"/>
          <ac:spMkLst>
            <pc:docMk/>
            <pc:sldMk cId="53534688" sldId="587"/>
            <ac:spMk id="18" creationId="{00000000-0000-0000-0000-000000000000}"/>
          </ac:spMkLst>
        </pc:spChg>
        <pc:picChg chg="add mod">
          <ac:chgData name="toannguyen141601@gmail.com" userId="d93b6337fa10e7e9" providerId="LiveId" clId="{F91D0941-C107-4420-9C59-6FF3A484E85C}" dt="2024-01-07T01:16:53.005" v="284"/>
          <ac:picMkLst>
            <pc:docMk/>
            <pc:sldMk cId="53534688" sldId="587"/>
            <ac:picMk id="2" creationId="{516C5357-8D90-2F51-114E-848C14AC26A0}"/>
          </ac:picMkLst>
        </pc:picChg>
      </pc:sldChg>
      <pc:sldChg chg="addSp modSp">
        <pc:chgData name="toannguyen141601@gmail.com" userId="d93b6337fa10e7e9" providerId="LiveId" clId="{F91D0941-C107-4420-9C59-6FF3A484E85C}" dt="2024-01-07T01:17:01.268" v="287" actId="1076"/>
        <pc:sldMkLst>
          <pc:docMk/>
          <pc:sldMk cId="2935096633" sldId="588"/>
        </pc:sldMkLst>
        <pc:spChg chg="mod">
          <ac:chgData name="toannguyen141601@gmail.com" userId="d93b6337fa10e7e9" providerId="LiveId" clId="{F91D0941-C107-4420-9C59-6FF3A484E85C}" dt="2024-01-07T01:17:01.268" v="287" actId="1076"/>
          <ac:spMkLst>
            <pc:docMk/>
            <pc:sldMk cId="2935096633" sldId="588"/>
            <ac:spMk id="18" creationId="{00000000-0000-0000-0000-000000000000}"/>
          </ac:spMkLst>
        </pc:spChg>
        <pc:picChg chg="add mod">
          <ac:chgData name="toannguyen141601@gmail.com" userId="d93b6337fa10e7e9" providerId="LiveId" clId="{F91D0941-C107-4420-9C59-6FF3A484E85C}" dt="2024-01-07T01:16:57.810" v="286"/>
          <ac:picMkLst>
            <pc:docMk/>
            <pc:sldMk cId="2935096633" sldId="588"/>
            <ac:picMk id="3" creationId="{C817639D-AE1F-5E04-9B2D-3D5A3147F6BD}"/>
          </ac:picMkLst>
        </pc:picChg>
      </pc:sldChg>
      <pc:sldChg chg="addSp modSp mod">
        <pc:chgData name="toannguyen141601@gmail.com" userId="d93b6337fa10e7e9" providerId="LiveId" clId="{F91D0941-C107-4420-9C59-6FF3A484E85C}" dt="2024-01-07T01:07:25.068" v="44" actId="1036"/>
        <pc:sldMkLst>
          <pc:docMk/>
          <pc:sldMk cId="4856909" sldId="598"/>
        </pc:sldMkLst>
        <pc:spChg chg="mod">
          <ac:chgData name="toannguyen141601@gmail.com" userId="d93b6337fa10e7e9" providerId="LiveId" clId="{F91D0941-C107-4420-9C59-6FF3A484E85C}" dt="2024-01-07T01:07:25.068" v="44" actId="1036"/>
          <ac:spMkLst>
            <pc:docMk/>
            <pc:sldMk cId="4856909" sldId="598"/>
            <ac:spMk id="20"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1"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2"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3"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4"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5"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6"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7"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8"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29"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38"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39"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44"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45"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46" creationId="{00000000-0000-0000-0000-000000000000}"/>
          </ac:spMkLst>
        </pc:spChg>
        <pc:spChg chg="mod">
          <ac:chgData name="toannguyen141601@gmail.com" userId="d93b6337fa10e7e9" providerId="LiveId" clId="{F91D0941-C107-4420-9C59-6FF3A484E85C}" dt="2024-01-07T01:07:25.068" v="44" actId="1036"/>
          <ac:spMkLst>
            <pc:docMk/>
            <pc:sldMk cId="4856909" sldId="598"/>
            <ac:spMk id="8194" creationId="{00000000-0000-0000-0000-000000000000}"/>
          </ac:spMkLst>
        </pc:spChg>
        <pc:grpChg chg="mod">
          <ac:chgData name="toannguyen141601@gmail.com" userId="d93b6337fa10e7e9" providerId="LiveId" clId="{F91D0941-C107-4420-9C59-6FF3A484E85C}" dt="2024-01-07T01:07:25.068" v="44" actId="1036"/>
          <ac:grpSpMkLst>
            <pc:docMk/>
            <pc:sldMk cId="4856909" sldId="598"/>
            <ac:grpSpMk id="40" creationId="{00000000-0000-0000-0000-000000000000}"/>
          </ac:grpSpMkLst>
        </pc:grpChg>
        <pc:picChg chg="add mod">
          <ac:chgData name="toannguyen141601@gmail.com" userId="d93b6337fa10e7e9" providerId="LiveId" clId="{F91D0941-C107-4420-9C59-6FF3A484E85C}" dt="2024-01-07T01:07:14.196" v="28"/>
          <ac:picMkLst>
            <pc:docMk/>
            <pc:sldMk cId="4856909" sldId="598"/>
            <ac:picMk id="2" creationId="{6665CE5C-483D-0591-E046-F6638EB4ACE5}"/>
          </ac:picMkLst>
        </pc:picChg>
      </pc:sldChg>
      <pc:sldChg chg="addSp modSp mod">
        <pc:chgData name="toannguyen141601@gmail.com" userId="d93b6337fa10e7e9" providerId="LiveId" clId="{F91D0941-C107-4420-9C59-6FF3A484E85C}" dt="2024-01-07T01:09:35.517" v="92" actId="1036"/>
        <pc:sldMkLst>
          <pc:docMk/>
          <pc:sldMk cId="1572865083" sldId="602"/>
        </pc:sldMkLst>
        <pc:spChg chg="mod">
          <ac:chgData name="toannguyen141601@gmail.com" userId="d93b6337fa10e7e9" providerId="LiveId" clId="{F91D0941-C107-4420-9C59-6FF3A484E85C}" dt="2024-01-07T01:09:35.517" v="92" actId="1036"/>
          <ac:spMkLst>
            <pc:docMk/>
            <pc:sldMk cId="1572865083" sldId="602"/>
            <ac:spMk id="20"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1"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2"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3"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4"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5"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6"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7"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8"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29"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38"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39"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44"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45"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46" creationId="{00000000-0000-0000-0000-000000000000}"/>
          </ac:spMkLst>
        </pc:spChg>
        <pc:spChg chg="mod">
          <ac:chgData name="toannguyen141601@gmail.com" userId="d93b6337fa10e7e9" providerId="LiveId" clId="{F91D0941-C107-4420-9C59-6FF3A484E85C}" dt="2024-01-07T01:09:35.517" v="92" actId="1036"/>
          <ac:spMkLst>
            <pc:docMk/>
            <pc:sldMk cId="1572865083" sldId="602"/>
            <ac:spMk id="8194" creationId="{00000000-0000-0000-0000-000000000000}"/>
          </ac:spMkLst>
        </pc:spChg>
        <pc:grpChg chg="mod">
          <ac:chgData name="toannguyen141601@gmail.com" userId="d93b6337fa10e7e9" providerId="LiveId" clId="{F91D0941-C107-4420-9C59-6FF3A484E85C}" dt="2024-01-07T01:09:35.517" v="92" actId="1036"/>
          <ac:grpSpMkLst>
            <pc:docMk/>
            <pc:sldMk cId="1572865083" sldId="602"/>
            <ac:grpSpMk id="40" creationId="{00000000-0000-0000-0000-000000000000}"/>
          </ac:grpSpMkLst>
        </pc:grpChg>
        <pc:picChg chg="add mod">
          <ac:chgData name="toannguyen141601@gmail.com" userId="d93b6337fa10e7e9" providerId="LiveId" clId="{F91D0941-C107-4420-9C59-6FF3A484E85C}" dt="2024-01-07T01:09:27.697" v="77"/>
          <ac:picMkLst>
            <pc:docMk/>
            <pc:sldMk cId="1572865083" sldId="602"/>
            <ac:picMk id="2" creationId="{679A16B2-C163-83FE-4B36-D2A211F74EE1}"/>
          </ac:picMkLst>
        </pc:picChg>
      </pc:sldChg>
      <pc:sldChg chg="addSp modSp">
        <pc:chgData name="toannguyen141601@gmail.com" userId="d93b6337fa10e7e9" providerId="LiveId" clId="{F91D0941-C107-4420-9C59-6FF3A484E85C}" dt="2024-01-07T01:10:54.681" v="125" actId="1076"/>
        <pc:sldMkLst>
          <pc:docMk/>
          <pc:sldMk cId="1297642320" sldId="603"/>
        </pc:sldMkLst>
        <pc:spChg chg="mod">
          <ac:chgData name="toannguyen141601@gmail.com" userId="d93b6337fa10e7e9" providerId="LiveId" clId="{F91D0941-C107-4420-9C59-6FF3A484E85C}" dt="2024-01-07T01:10:54.681" v="125" actId="1076"/>
          <ac:spMkLst>
            <pc:docMk/>
            <pc:sldMk cId="1297642320" sldId="603"/>
            <ac:spMk id="14" creationId="{00000000-0000-0000-0000-000000000000}"/>
          </ac:spMkLst>
        </pc:spChg>
        <pc:picChg chg="add mod">
          <ac:chgData name="toannguyen141601@gmail.com" userId="d93b6337fa10e7e9" providerId="LiveId" clId="{F91D0941-C107-4420-9C59-6FF3A484E85C}" dt="2024-01-07T01:10:52.267" v="124"/>
          <ac:picMkLst>
            <pc:docMk/>
            <pc:sldMk cId="1297642320" sldId="603"/>
            <ac:picMk id="2" creationId="{A6738857-DA61-E844-9228-9B5120D11571}"/>
          </ac:picMkLst>
        </pc:picChg>
      </pc:sldChg>
      <pc:sldChg chg="addSp modSp">
        <pc:chgData name="toannguyen141601@gmail.com" userId="d93b6337fa10e7e9" providerId="LiveId" clId="{F91D0941-C107-4420-9C59-6FF3A484E85C}" dt="2024-01-07T01:10:59.553" v="127" actId="1076"/>
        <pc:sldMkLst>
          <pc:docMk/>
          <pc:sldMk cId="1644301755" sldId="604"/>
        </pc:sldMkLst>
        <pc:spChg chg="mod">
          <ac:chgData name="toannguyen141601@gmail.com" userId="d93b6337fa10e7e9" providerId="LiveId" clId="{F91D0941-C107-4420-9C59-6FF3A484E85C}" dt="2024-01-07T01:10:59.553" v="127" actId="1076"/>
          <ac:spMkLst>
            <pc:docMk/>
            <pc:sldMk cId="1644301755" sldId="604"/>
            <ac:spMk id="14" creationId="{00000000-0000-0000-0000-000000000000}"/>
          </ac:spMkLst>
        </pc:spChg>
        <pc:picChg chg="add mod">
          <ac:chgData name="toannguyen141601@gmail.com" userId="d93b6337fa10e7e9" providerId="LiveId" clId="{F91D0941-C107-4420-9C59-6FF3A484E85C}" dt="2024-01-07T01:10:56.280" v="126"/>
          <ac:picMkLst>
            <pc:docMk/>
            <pc:sldMk cId="1644301755" sldId="604"/>
            <ac:picMk id="2" creationId="{6613C9BC-BC1D-6F9C-A70A-8EFAF36E0696}"/>
          </ac:picMkLst>
        </pc:picChg>
      </pc:sldChg>
      <pc:sldChg chg="addSp modSp">
        <pc:chgData name="toannguyen141601@gmail.com" userId="d93b6337fa10e7e9" providerId="LiveId" clId="{F91D0941-C107-4420-9C59-6FF3A484E85C}" dt="2024-01-07T01:11:04.017" v="129" actId="1076"/>
        <pc:sldMkLst>
          <pc:docMk/>
          <pc:sldMk cId="1811654608" sldId="606"/>
        </pc:sldMkLst>
        <pc:spChg chg="mod">
          <ac:chgData name="toannguyen141601@gmail.com" userId="d93b6337fa10e7e9" providerId="LiveId" clId="{F91D0941-C107-4420-9C59-6FF3A484E85C}" dt="2024-01-07T01:11:04.017" v="129" actId="1076"/>
          <ac:spMkLst>
            <pc:docMk/>
            <pc:sldMk cId="1811654608" sldId="606"/>
            <ac:spMk id="23" creationId="{00000000-0000-0000-0000-000000000000}"/>
          </ac:spMkLst>
        </pc:spChg>
        <pc:picChg chg="add mod">
          <ac:chgData name="toannguyen141601@gmail.com" userId="d93b6337fa10e7e9" providerId="LiveId" clId="{F91D0941-C107-4420-9C59-6FF3A484E85C}" dt="2024-01-07T01:11:01.719" v="128"/>
          <ac:picMkLst>
            <pc:docMk/>
            <pc:sldMk cId="1811654608" sldId="606"/>
            <ac:picMk id="2" creationId="{433F2200-C2A8-5D02-9332-F7DF348D2041}"/>
          </ac:picMkLst>
        </pc:picChg>
      </pc:sldChg>
      <pc:sldChg chg="addSp modSp">
        <pc:chgData name="toannguyen141601@gmail.com" userId="d93b6337fa10e7e9" providerId="LiveId" clId="{F91D0941-C107-4420-9C59-6FF3A484E85C}" dt="2024-01-07T01:11:07.354" v="131" actId="1076"/>
        <pc:sldMkLst>
          <pc:docMk/>
          <pc:sldMk cId="1135492872" sldId="607"/>
        </pc:sldMkLst>
        <pc:spChg chg="mod">
          <ac:chgData name="toannguyen141601@gmail.com" userId="d93b6337fa10e7e9" providerId="LiveId" clId="{F91D0941-C107-4420-9C59-6FF3A484E85C}" dt="2024-01-07T01:11:07.354" v="131" actId="1076"/>
          <ac:spMkLst>
            <pc:docMk/>
            <pc:sldMk cId="1135492872" sldId="607"/>
            <ac:spMk id="23" creationId="{00000000-0000-0000-0000-000000000000}"/>
          </ac:spMkLst>
        </pc:spChg>
        <pc:picChg chg="add mod">
          <ac:chgData name="toannguyen141601@gmail.com" userId="d93b6337fa10e7e9" providerId="LiveId" clId="{F91D0941-C107-4420-9C59-6FF3A484E85C}" dt="2024-01-07T01:11:05.433" v="130"/>
          <ac:picMkLst>
            <pc:docMk/>
            <pc:sldMk cId="1135492872" sldId="607"/>
            <ac:picMk id="2" creationId="{B1BF1FE0-4F19-E53C-58D6-9444A14B5176}"/>
          </ac:picMkLst>
        </pc:picChg>
      </pc:sldChg>
      <pc:sldChg chg="addSp modSp">
        <pc:chgData name="toannguyen141601@gmail.com" userId="d93b6337fa10e7e9" providerId="LiveId" clId="{F91D0941-C107-4420-9C59-6FF3A484E85C}" dt="2024-01-07T01:11:21.025" v="135" actId="1076"/>
        <pc:sldMkLst>
          <pc:docMk/>
          <pc:sldMk cId="633205064" sldId="608"/>
        </pc:sldMkLst>
        <pc:spChg chg="mod">
          <ac:chgData name="toannguyen141601@gmail.com" userId="d93b6337fa10e7e9" providerId="LiveId" clId="{F91D0941-C107-4420-9C59-6FF3A484E85C}" dt="2024-01-07T01:11:21.025" v="135" actId="1076"/>
          <ac:spMkLst>
            <pc:docMk/>
            <pc:sldMk cId="633205064" sldId="608"/>
            <ac:spMk id="23" creationId="{00000000-0000-0000-0000-000000000000}"/>
          </ac:spMkLst>
        </pc:spChg>
        <pc:picChg chg="add mod">
          <ac:chgData name="toannguyen141601@gmail.com" userId="d93b6337fa10e7e9" providerId="LiveId" clId="{F91D0941-C107-4420-9C59-6FF3A484E85C}" dt="2024-01-07T01:11:18.945" v="134"/>
          <ac:picMkLst>
            <pc:docMk/>
            <pc:sldMk cId="633205064" sldId="608"/>
            <ac:picMk id="2" creationId="{756789D6-A1DC-29E3-D0F2-9C7661C0A043}"/>
          </ac:picMkLst>
        </pc:picChg>
      </pc:sldChg>
      <pc:sldChg chg="addSp modSp">
        <pc:chgData name="toannguyen141601@gmail.com" userId="d93b6337fa10e7e9" providerId="LiveId" clId="{F91D0941-C107-4420-9C59-6FF3A484E85C}" dt="2024-01-07T01:11:26.937" v="137" actId="1076"/>
        <pc:sldMkLst>
          <pc:docMk/>
          <pc:sldMk cId="1321383459" sldId="609"/>
        </pc:sldMkLst>
        <pc:spChg chg="mod">
          <ac:chgData name="toannguyen141601@gmail.com" userId="d93b6337fa10e7e9" providerId="LiveId" clId="{F91D0941-C107-4420-9C59-6FF3A484E85C}" dt="2024-01-07T01:11:26.937" v="137" actId="1076"/>
          <ac:spMkLst>
            <pc:docMk/>
            <pc:sldMk cId="1321383459" sldId="609"/>
            <ac:spMk id="20" creationId="{00000000-0000-0000-0000-000000000000}"/>
          </ac:spMkLst>
        </pc:spChg>
        <pc:picChg chg="add mod">
          <ac:chgData name="toannguyen141601@gmail.com" userId="d93b6337fa10e7e9" providerId="LiveId" clId="{F91D0941-C107-4420-9C59-6FF3A484E85C}" dt="2024-01-07T01:11:24.250" v="136"/>
          <ac:picMkLst>
            <pc:docMk/>
            <pc:sldMk cId="1321383459" sldId="609"/>
            <ac:picMk id="2" creationId="{AF178685-C38C-738C-C3EF-799ACDF7773D}"/>
          </ac:picMkLst>
        </pc:picChg>
      </pc:sldChg>
      <pc:sldChg chg="addSp modSp">
        <pc:chgData name="toannguyen141601@gmail.com" userId="d93b6337fa10e7e9" providerId="LiveId" clId="{F91D0941-C107-4420-9C59-6FF3A484E85C}" dt="2024-01-07T01:11:30.650" v="139" actId="1076"/>
        <pc:sldMkLst>
          <pc:docMk/>
          <pc:sldMk cId="581395436" sldId="611"/>
        </pc:sldMkLst>
        <pc:spChg chg="mod">
          <ac:chgData name="toannguyen141601@gmail.com" userId="d93b6337fa10e7e9" providerId="LiveId" clId="{F91D0941-C107-4420-9C59-6FF3A484E85C}" dt="2024-01-07T01:11:30.650" v="139" actId="1076"/>
          <ac:spMkLst>
            <pc:docMk/>
            <pc:sldMk cId="581395436" sldId="611"/>
            <ac:spMk id="17" creationId="{00000000-0000-0000-0000-000000000000}"/>
          </ac:spMkLst>
        </pc:spChg>
        <pc:picChg chg="add mod">
          <ac:chgData name="toannguyen141601@gmail.com" userId="d93b6337fa10e7e9" providerId="LiveId" clId="{F91D0941-C107-4420-9C59-6FF3A484E85C}" dt="2024-01-07T01:11:28.298" v="138"/>
          <ac:picMkLst>
            <pc:docMk/>
            <pc:sldMk cId="581395436" sldId="611"/>
            <ac:picMk id="3" creationId="{A9DFB567-3D03-2092-4DCD-F43C0BE74ED0}"/>
          </ac:picMkLst>
        </pc:picChg>
      </pc:sldChg>
      <pc:sldChg chg="addSp modSp mod">
        <pc:chgData name="toannguyen141601@gmail.com" userId="d93b6337fa10e7e9" providerId="LiveId" clId="{F91D0941-C107-4420-9C59-6FF3A484E85C}" dt="2024-01-07T01:11:55.625" v="168"/>
        <pc:sldMkLst>
          <pc:docMk/>
          <pc:sldMk cId="3075972049" sldId="612"/>
        </pc:sldMkLst>
        <pc:spChg chg="mod">
          <ac:chgData name="toannguyen141601@gmail.com" userId="d93b6337fa10e7e9" providerId="LiveId" clId="{F91D0941-C107-4420-9C59-6FF3A484E85C}" dt="2024-01-07T01:11:53.697" v="167" actId="1036"/>
          <ac:spMkLst>
            <pc:docMk/>
            <pc:sldMk cId="3075972049" sldId="612"/>
            <ac:spMk id="20"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1"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2"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3"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4"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5"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6"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7"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8"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29"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38"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39"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44"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45"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46" creationId="{00000000-0000-0000-0000-000000000000}"/>
          </ac:spMkLst>
        </pc:spChg>
        <pc:spChg chg="mod">
          <ac:chgData name="toannguyen141601@gmail.com" userId="d93b6337fa10e7e9" providerId="LiveId" clId="{F91D0941-C107-4420-9C59-6FF3A484E85C}" dt="2024-01-07T01:11:53.697" v="167" actId="1036"/>
          <ac:spMkLst>
            <pc:docMk/>
            <pc:sldMk cId="3075972049" sldId="612"/>
            <ac:spMk id="8194" creationId="{00000000-0000-0000-0000-000000000000}"/>
          </ac:spMkLst>
        </pc:spChg>
        <pc:grpChg chg="mod">
          <ac:chgData name="toannguyen141601@gmail.com" userId="d93b6337fa10e7e9" providerId="LiveId" clId="{F91D0941-C107-4420-9C59-6FF3A484E85C}" dt="2024-01-07T01:11:53.697" v="167" actId="1036"/>
          <ac:grpSpMkLst>
            <pc:docMk/>
            <pc:sldMk cId="3075972049" sldId="612"/>
            <ac:grpSpMk id="40" creationId="{00000000-0000-0000-0000-000000000000}"/>
          </ac:grpSpMkLst>
        </pc:grpChg>
        <pc:picChg chg="add mod">
          <ac:chgData name="toannguyen141601@gmail.com" userId="d93b6337fa10e7e9" providerId="LiveId" clId="{F91D0941-C107-4420-9C59-6FF3A484E85C}" dt="2024-01-07T01:11:55.625" v="168"/>
          <ac:picMkLst>
            <pc:docMk/>
            <pc:sldMk cId="3075972049" sldId="612"/>
            <ac:picMk id="2" creationId="{E5D1C242-35E1-9ABE-0F2F-095DF2ED5FB5}"/>
          </ac:picMkLst>
        </pc:picChg>
      </pc:sldChg>
      <pc:sldChg chg="addSp modSp">
        <pc:chgData name="toannguyen141601@gmail.com" userId="d93b6337fa10e7e9" providerId="LiveId" clId="{F91D0941-C107-4420-9C59-6FF3A484E85C}" dt="2024-01-07T01:12:29.823" v="180" actId="1076"/>
        <pc:sldMkLst>
          <pc:docMk/>
          <pc:sldMk cId="393728937" sldId="613"/>
        </pc:sldMkLst>
        <pc:spChg chg="mod">
          <ac:chgData name="toannguyen141601@gmail.com" userId="d93b6337fa10e7e9" providerId="LiveId" clId="{F91D0941-C107-4420-9C59-6FF3A484E85C}" dt="2024-01-07T01:12:29.823" v="180" actId="1076"/>
          <ac:spMkLst>
            <pc:docMk/>
            <pc:sldMk cId="393728937" sldId="613"/>
            <ac:spMk id="17" creationId="{00000000-0000-0000-0000-000000000000}"/>
          </ac:spMkLst>
        </pc:spChg>
        <pc:picChg chg="add mod">
          <ac:chgData name="toannguyen141601@gmail.com" userId="d93b6337fa10e7e9" providerId="LiveId" clId="{F91D0941-C107-4420-9C59-6FF3A484E85C}" dt="2024-01-07T01:12:27.496" v="179"/>
          <ac:picMkLst>
            <pc:docMk/>
            <pc:sldMk cId="393728937" sldId="613"/>
            <ac:picMk id="2" creationId="{2BC8BEA5-3D70-34F7-0F7E-2181190C5ABB}"/>
          </ac:picMkLst>
        </pc:picChg>
      </pc:sldChg>
      <pc:sldChg chg="addSp modSp">
        <pc:chgData name="toannguyen141601@gmail.com" userId="d93b6337fa10e7e9" providerId="LiveId" clId="{F91D0941-C107-4420-9C59-6FF3A484E85C}" dt="2024-01-07T01:12:09.222" v="172" actId="1076"/>
        <pc:sldMkLst>
          <pc:docMk/>
          <pc:sldMk cId="343055921" sldId="614"/>
        </pc:sldMkLst>
        <pc:spChg chg="mod">
          <ac:chgData name="toannguyen141601@gmail.com" userId="d93b6337fa10e7e9" providerId="LiveId" clId="{F91D0941-C107-4420-9C59-6FF3A484E85C}" dt="2024-01-07T01:12:09.222" v="172" actId="1076"/>
          <ac:spMkLst>
            <pc:docMk/>
            <pc:sldMk cId="343055921" sldId="614"/>
            <ac:spMk id="17" creationId="{00000000-0000-0000-0000-000000000000}"/>
          </ac:spMkLst>
        </pc:spChg>
        <pc:picChg chg="add mod">
          <ac:chgData name="toannguyen141601@gmail.com" userId="d93b6337fa10e7e9" providerId="LiveId" clId="{F91D0941-C107-4420-9C59-6FF3A484E85C}" dt="2024-01-07T01:12:06.840" v="171"/>
          <ac:picMkLst>
            <pc:docMk/>
            <pc:sldMk cId="343055921" sldId="614"/>
            <ac:picMk id="3" creationId="{96C024D6-089C-C89F-3E13-2892FCA20452}"/>
          </ac:picMkLst>
        </pc:picChg>
      </pc:sldChg>
      <pc:sldChg chg="addSp modSp">
        <pc:chgData name="toannguyen141601@gmail.com" userId="d93b6337fa10e7e9" providerId="LiveId" clId="{F91D0941-C107-4420-9C59-6FF3A484E85C}" dt="2024-01-07T01:12:15.532" v="174" actId="1076"/>
        <pc:sldMkLst>
          <pc:docMk/>
          <pc:sldMk cId="3657053556" sldId="615"/>
        </pc:sldMkLst>
        <pc:spChg chg="mod">
          <ac:chgData name="toannguyen141601@gmail.com" userId="d93b6337fa10e7e9" providerId="LiveId" clId="{F91D0941-C107-4420-9C59-6FF3A484E85C}" dt="2024-01-07T01:12:15.532" v="174" actId="1076"/>
          <ac:spMkLst>
            <pc:docMk/>
            <pc:sldMk cId="3657053556" sldId="615"/>
            <ac:spMk id="17" creationId="{00000000-0000-0000-0000-000000000000}"/>
          </ac:spMkLst>
        </pc:spChg>
        <pc:picChg chg="add mod">
          <ac:chgData name="toannguyen141601@gmail.com" userId="d93b6337fa10e7e9" providerId="LiveId" clId="{F91D0941-C107-4420-9C59-6FF3A484E85C}" dt="2024-01-07T01:12:11.764" v="173"/>
          <ac:picMkLst>
            <pc:docMk/>
            <pc:sldMk cId="3657053556" sldId="615"/>
            <ac:picMk id="3" creationId="{22DC6EAF-B0DC-304D-4AC3-B4255794321F}"/>
          </ac:picMkLst>
        </pc:picChg>
      </pc:sldChg>
      <pc:sldChg chg="addSp modSp">
        <pc:chgData name="toannguyen141601@gmail.com" userId="d93b6337fa10e7e9" providerId="LiveId" clId="{F91D0941-C107-4420-9C59-6FF3A484E85C}" dt="2024-01-07T01:12:20.057" v="176" actId="1076"/>
        <pc:sldMkLst>
          <pc:docMk/>
          <pc:sldMk cId="1541464430" sldId="616"/>
        </pc:sldMkLst>
        <pc:spChg chg="mod">
          <ac:chgData name="toannguyen141601@gmail.com" userId="d93b6337fa10e7e9" providerId="LiveId" clId="{F91D0941-C107-4420-9C59-6FF3A484E85C}" dt="2024-01-07T01:12:20.057" v="176" actId="1076"/>
          <ac:spMkLst>
            <pc:docMk/>
            <pc:sldMk cId="1541464430" sldId="616"/>
            <ac:spMk id="17" creationId="{00000000-0000-0000-0000-000000000000}"/>
          </ac:spMkLst>
        </pc:spChg>
        <pc:picChg chg="add mod">
          <ac:chgData name="toannguyen141601@gmail.com" userId="d93b6337fa10e7e9" providerId="LiveId" clId="{F91D0941-C107-4420-9C59-6FF3A484E85C}" dt="2024-01-07T01:12:17.677" v="175"/>
          <ac:picMkLst>
            <pc:docMk/>
            <pc:sldMk cId="1541464430" sldId="616"/>
            <ac:picMk id="9" creationId="{D5F8BC0D-8BA5-C8A1-E966-FD7C95AB4E67}"/>
          </ac:picMkLst>
        </pc:picChg>
      </pc:sldChg>
      <pc:sldChg chg="addSp modSp">
        <pc:chgData name="toannguyen141601@gmail.com" userId="d93b6337fa10e7e9" providerId="LiveId" clId="{F91D0941-C107-4420-9C59-6FF3A484E85C}" dt="2024-01-07T01:12:25.689" v="178" actId="1076"/>
        <pc:sldMkLst>
          <pc:docMk/>
          <pc:sldMk cId="1350655299" sldId="617"/>
        </pc:sldMkLst>
        <pc:spChg chg="mod">
          <ac:chgData name="toannguyen141601@gmail.com" userId="d93b6337fa10e7e9" providerId="LiveId" clId="{F91D0941-C107-4420-9C59-6FF3A484E85C}" dt="2024-01-07T01:12:25.689" v="178" actId="1076"/>
          <ac:spMkLst>
            <pc:docMk/>
            <pc:sldMk cId="1350655299" sldId="617"/>
            <ac:spMk id="17" creationId="{00000000-0000-0000-0000-000000000000}"/>
          </ac:spMkLst>
        </pc:spChg>
        <pc:picChg chg="add mod">
          <ac:chgData name="toannguyen141601@gmail.com" userId="d93b6337fa10e7e9" providerId="LiveId" clId="{F91D0941-C107-4420-9C59-6FF3A484E85C}" dt="2024-01-07T01:12:22.403" v="177"/>
          <ac:picMkLst>
            <pc:docMk/>
            <pc:sldMk cId="1350655299" sldId="617"/>
            <ac:picMk id="8" creationId="{AFFF026E-55E2-C34E-8E71-84AE49B0840C}"/>
          </ac:picMkLst>
        </pc:picChg>
      </pc:sldChg>
      <pc:sldChg chg="addSp modSp">
        <pc:chgData name="toannguyen141601@gmail.com" userId="d93b6337fa10e7e9" providerId="LiveId" clId="{F91D0941-C107-4420-9C59-6FF3A484E85C}" dt="2024-01-07T01:12:35.462" v="182" actId="1076"/>
        <pc:sldMkLst>
          <pc:docMk/>
          <pc:sldMk cId="4026348324" sldId="621"/>
        </pc:sldMkLst>
        <pc:spChg chg="mod">
          <ac:chgData name="toannguyen141601@gmail.com" userId="d93b6337fa10e7e9" providerId="LiveId" clId="{F91D0941-C107-4420-9C59-6FF3A484E85C}" dt="2024-01-07T01:12:35.462" v="182" actId="1076"/>
          <ac:spMkLst>
            <pc:docMk/>
            <pc:sldMk cId="4026348324" sldId="621"/>
            <ac:spMk id="17" creationId="{00000000-0000-0000-0000-000000000000}"/>
          </ac:spMkLst>
        </pc:spChg>
        <pc:picChg chg="add mod">
          <ac:chgData name="toannguyen141601@gmail.com" userId="d93b6337fa10e7e9" providerId="LiveId" clId="{F91D0941-C107-4420-9C59-6FF3A484E85C}" dt="2024-01-07T01:12:32.497" v="181"/>
          <ac:picMkLst>
            <pc:docMk/>
            <pc:sldMk cId="4026348324" sldId="621"/>
            <ac:picMk id="2" creationId="{8931F395-44AF-F136-AFBC-3CD104FC7BD5}"/>
          </ac:picMkLst>
        </pc:picChg>
      </pc:sldChg>
      <pc:sldChg chg="addSp modSp">
        <pc:chgData name="toannguyen141601@gmail.com" userId="d93b6337fa10e7e9" providerId="LiveId" clId="{F91D0941-C107-4420-9C59-6FF3A484E85C}" dt="2024-01-07T01:12:41.984" v="184" actId="1076"/>
        <pc:sldMkLst>
          <pc:docMk/>
          <pc:sldMk cId="1013145740" sldId="622"/>
        </pc:sldMkLst>
        <pc:spChg chg="mod">
          <ac:chgData name="toannguyen141601@gmail.com" userId="d93b6337fa10e7e9" providerId="LiveId" clId="{F91D0941-C107-4420-9C59-6FF3A484E85C}" dt="2024-01-07T01:12:41.984" v="184" actId="1076"/>
          <ac:spMkLst>
            <pc:docMk/>
            <pc:sldMk cId="1013145740" sldId="622"/>
            <ac:spMk id="17" creationId="{00000000-0000-0000-0000-000000000000}"/>
          </ac:spMkLst>
        </pc:spChg>
        <pc:picChg chg="add mod">
          <ac:chgData name="toannguyen141601@gmail.com" userId="d93b6337fa10e7e9" providerId="LiveId" clId="{F91D0941-C107-4420-9C59-6FF3A484E85C}" dt="2024-01-07T01:12:37.772" v="183"/>
          <ac:picMkLst>
            <pc:docMk/>
            <pc:sldMk cId="1013145740" sldId="622"/>
            <ac:picMk id="2" creationId="{5E741FF0-1AA3-FB4A-A927-38C69CE96659}"/>
          </ac:picMkLst>
        </pc:picChg>
      </pc:sldChg>
      <pc:sldChg chg="addSp modSp">
        <pc:chgData name="toannguyen141601@gmail.com" userId="d93b6337fa10e7e9" providerId="LiveId" clId="{F91D0941-C107-4420-9C59-6FF3A484E85C}" dt="2024-01-07T01:14:54.680" v="188" actId="1076"/>
        <pc:sldMkLst>
          <pc:docMk/>
          <pc:sldMk cId="1521575546" sldId="623"/>
        </pc:sldMkLst>
        <pc:spChg chg="mod">
          <ac:chgData name="toannguyen141601@gmail.com" userId="d93b6337fa10e7e9" providerId="LiveId" clId="{F91D0941-C107-4420-9C59-6FF3A484E85C}" dt="2024-01-07T01:14:54.680" v="188" actId="1076"/>
          <ac:spMkLst>
            <pc:docMk/>
            <pc:sldMk cId="1521575546" sldId="623"/>
            <ac:spMk id="17" creationId="{00000000-0000-0000-0000-000000000000}"/>
          </ac:spMkLst>
        </pc:spChg>
        <pc:picChg chg="add mod">
          <ac:chgData name="toannguyen141601@gmail.com" userId="d93b6337fa10e7e9" providerId="LiveId" clId="{F91D0941-C107-4420-9C59-6FF3A484E85C}" dt="2024-01-07T01:14:52.755" v="187"/>
          <ac:picMkLst>
            <pc:docMk/>
            <pc:sldMk cId="1521575546" sldId="623"/>
            <ac:picMk id="2" creationId="{53D0E1DB-F492-4BFF-9AB1-E7E1DECF97FF}"/>
          </ac:picMkLst>
        </pc:picChg>
      </pc:sldChg>
      <pc:sldChg chg="addSp modSp">
        <pc:chgData name="toannguyen141601@gmail.com" userId="d93b6337fa10e7e9" providerId="LiveId" clId="{F91D0941-C107-4420-9C59-6FF3A484E85C}" dt="2024-01-07T01:14:51.264" v="186" actId="1076"/>
        <pc:sldMkLst>
          <pc:docMk/>
          <pc:sldMk cId="620271406" sldId="624"/>
        </pc:sldMkLst>
        <pc:spChg chg="mod">
          <ac:chgData name="toannguyen141601@gmail.com" userId="d93b6337fa10e7e9" providerId="LiveId" clId="{F91D0941-C107-4420-9C59-6FF3A484E85C}" dt="2024-01-07T01:14:51.264" v="186" actId="1076"/>
          <ac:spMkLst>
            <pc:docMk/>
            <pc:sldMk cId="620271406" sldId="624"/>
            <ac:spMk id="17" creationId="{00000000-0000-0000-0000-000000000000}"/>
          </ac:spMkLst>
        </pc:spChg>
        <pc:picChg chg="add mod">
          <ac:chgData name="toannguyen141601@gmail.com" userId="d93b6337fa10e7e9" providerId="LiveId" clId="{F91D0941-C107-4420-9C59-6FF3A484E85C}" dt="2024-01-07T01:14:49.307" v="185"/>
          <ac:picMkLst>
            <pc:docMk/>
            <pc:sldMk cId="620271406" sldId="624"/>
            <ac:picMk id="3" creationId="{F142A86F-8B9C-8AED-E0E2-6794EF3005B4}"/>
          </ac:picMkLst>
        </pc:picChg>
      </pc:sldChg>
      <pc:sldChg chg="addSp modSp">
        <pc:chgData name="toannguyen141601@gmail.com" userId="d93b6337fa10e7e9" providerId="LiveId" clId="{F91D0941-C107-4420-9C59-6FF3A484E85C}" dt="2024-01-07T01:14:58.325" v="190" actId="1076"/>
        <pc:sldMkLst>
          <pc:docMk/>
          <pc:sldMk cId="2342089916" sldId="625"/>
        </pc:sldMkLst>
        <pc:spChg chg="mod">
          <ac:chgData name="toannguyen141601@gmail.com" userId="d93b6337fa10e7e9" providerId="LiveId" clId="{F91D0941-C107-4420-9C59-6FF3A484E85C}" dt="2024-01-07T01:14:58.325" v="190" actId="1076"/>
          <ac:spMkLst>
            <pc:docMk/>
            <pc:sldMk cId="2342089916" sldId="625"/>
            <ac:spMk id="17" creationId="{00000000-0000-0000-0000-000000000000}"/>
          </ac:spMkLst>
        </pc:spChg>
        <pc:picChg chg="add mod">
          <ac:chgData name="toannguyen141601@gmail.com" userId="d93b6337fa10e7e9" providerId="LiveId" clId="{F91D0941-C107-4420-9C59-6FF3A484E85C}" dt="2024-01-07T01:14:56.888" v="189"/>
          <ac:picMkLst>
            <pc:docMk/>
            <pc:sldMk cId="2342089916" sldId="625"/>
            <ac:picMk id="2" creationId="{C81821C5-3D42-4E21-EF0E-9E471708A70F}"/>
          </ac:picMkLst>
        </pc:picChg>
      </pc:sldChg>
      <pc:sldChg chg="addSp modSp">
        <pc:chgData name="toannguyen141601@gmail.com" userId="d93b6337fa10e7e9" providerId="LiveId" clId="{F91D0941-C107-4420-9C59-6FF3A484E85C}" dt="2024-01-07T01:15:03.690" v="192" actId="1076"/>
        <pc:sldMkLst>
          <pc:docMk/>
          <pc:sldMk cId="249664484" sldId="626"/>
        </pc:sldMkLst>
        <pc:spChg chg="mod">
          <ac:chgData name="toannguyen141601@gmail.com" userId="d93b6337fa10e7e9" providerId="LiveId" clId="{F91D0941-C107-4420-9C59-6FF3A484E85C}" dt="2024-01-07T01:15:03.690" v="192" actId="1076"/>
          <ac:spMkLst>
            <pc:docMk/>
            <pc:sldMk cId="249664484" sldId="626"/>
            <ac:spMk id="17" creationId="{00000000-0000-0000-0000-000000000000}"/>
          </ac:spMkLst>
        </pc:spChg>
        <pc:picChg chg="add mod">
          <ac:chgData name="toannguyen141601@gmail.com" userId="d93b6337fa10e7e9" providerId="LiveId" clId="{F91D0941-C107-4420-9C59-6FF3A484E85C}" dt="2024-01-07T01:15:00.179" v="191"/>
          <ac:picMkLst>
            <pc:docMk/>
            <pc:sldMk cId="249664484" sldId="626"/>
            <ac:picMk id="2" creationId="{C06EF026-E5C8-03AC-CBBB-CC2B92FF092F}"/>
          </ac:picMkLst>
        </pc:picChg>
      </pc:sldChg>
      <pc:sldChg chg="addSp modSp mod">
        <pc:chgData name="toannguyen141601@gmail.com" userId="d93b6337fa10e7e9" providerId="LiveId" clId="{F91D0941-C107-4420-9C59-6FF3A484E85C}" dt="2024-01-07T01:15:27.452" v="224" actId="1036"/>
        <pc:sldMkLst>
          <pc:docMk/>
          <pc:sldMk cId="806662796" sldId="627"/>
        </pc:sldMkLst>
        <pc:spChg chg="mod">
          <ac:chgData name="toannguyen141601@gmail.com" userId="d93b6337fa10e7e9" providerId="LiveId" clId="{F91D0941-C107-4420-9C59-6FF3A484E85C}" dt="2024-01-07T01:15:27.452" v="224" actId="1036"/>
          <ac:spMkLst>
            <pc:docMk/>
            <pc:sldMk cId="806662796" sldId="627"/>
            <ac:spMk id="20"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1"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2"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3"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4"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5"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6"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7"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8"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29"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38"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39"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44"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45"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46" creationId="{00000000-0000-0000-0000-000000000000}"/>
          </ac:spMkLst>
        </pc:spChg>
        <pc:spChg chg="mod">
          <ac:chgData name="toannguyen141601@gmail.com" userId="d93b6337fa10e7e9" providerId="LiveId" clId="{F91D0941-C107-4420-9C59-6FF3A484E85C}" dt="2024-01-07T01:15:27.452" v="224" actId="1036"/>
          <ac:spMkLst>
            <pc:docMk/>
            <pc:sldMk cId="806662796" sldId="627"/>
            <ac:spMk id="8194" creationId="{00000000-0000-0000-0000-000000000000}"/>
          </ac:spMkLst>
        </pc:spChg>
        <pc:grpChg chg="mod">
          <ac:chgData name="toannguyen141601@gmail.com" userId="d93b6337fa10e7e9" providerId="LiveId" clId="{F91D0941-C107-4420-9C59-6FF3A484E85C}" dt="2024-01-07T01:15:27.452" v="224" actId="1036"/>
          <ac:grpSpMkLst>
            <pc:docMk/>
            <pc:sldMk cId="806662796" sldId="627"/>
            <ac:grpSpMk id="40" creationId="{00000000-0000-0000-0000-000000000000}"/>
          </ac:grpSpMkLst>
        </pc:grpChg>
        <pc:picChg chg="add mod">
          <ac:chgData name="toannguyen141601@gmail.com" userId="d93b6337fa10e7e9" providerId="LiveId" clId="{F91D0941-C107-4420-9C59-6FF3A484E85C}" dt="2024-01-07T01:15:20.853" v="193"/>
          <ac:picMkLst>
            <pc:docMk/>
            <pc:sldMk cId="806662796" sldId="627"/>
            <ac:picMk id="2" creationId="{A0D936AE-BC7A-D2D0-59A2-CCBE1C247D7C}"/>
          </ac:picMkLst>
        </pc:picChg>
      </pc:sldChg>
      <pc:sldChg chg="addSp modSp">
        <pc:chgData name="toannguyen141601@gmail.com" userId="d93b6337fa10e7e9" providerId="LiveId" clId="{F91D0941-C107-4420-9C59-6FF3A484E85C}" dt="2024-01-07T01:15:45.150" v="230" actId="1076"/>
        <pc:sldMkLst>
          <pc:docMk/>
          <pc:sldMk cId="4137360559" sldId="628"/>
        </pc:sldMkLst>
        <pc:spChg chg="mod">
          <ac:chgData name="toannguyen141601@gmail.com" userId="d93b6337fa10e7e9" providerId="LiveId" clId="{F91D0941-C107-4420-9C59-6FF3A484E85C}" dt="2024-01-07T01:15:45.150" v="230" actId="1076"/>
          <ac:spMkLst>
            <pc:docMk/>
            <pc:sldMk cId="4137360559" sldId="628"/>
            <ac:spMk id="17" creationId="{00000000-0000-0000-0000-000000000000}"/>
          </ac:spMkLst>
        </pc:spChg>
        <pc:picChg chg="add mod">
          <ac:chgData name="toannguyen141601@gmail.com" userId="d93b6337fa10e7e9" providerId="LiveId" clId="{F91D0941-C107-4420-9C59-6FF3A484E85C}" dt="2024-01-07T01:15:43.321" v="229"/>
          <ac:picMkLst>
            <pc:docMk/>
            <pc:sldMk cId="4137360559" sldId="628"/>
            <ac:picMk id="2" creationId="{C8307963-4732-C07A-B2A9-A818155775B3}"/>
          </ac:picMkLst>
        </pc:picChg>
      </pc:sldChg>
      <pc:sldChg chg="addSp modSp">
        <pc:chgData name="toannguyen141601@gmail.com" userId="d93b6337fa10e7e9" providerId="LiveId" clId="{F91D0941-C107-4420-9C59-6FF3A484E85C}" dt="2024-01-07T01:15:51.076" v="233"/>
        <pc:sldMkLst>
          <pc:docMk/>
          <pc:sldMk cId="3418655650" sldId="629"/>
        </pc:sldMkLst>
        <pc:picChg chg="add mod">
          <ac:chgData name="toannguyen141601@gmail.com" userId="d93b6337fa10e7e9" providerId="LiveId" clId="{F91D0941-C107-4420-9C59-6FF3A484E85C}" dt="2024-01-07T01:15:51.076" v="233"/>
          <ac:picMkLst>
            <pc:docMk/>
            <pc:sldMk cId="3418655650" sldId="629"/>
            <ac:picMk id="2" creationId="{5F30C21E-0540-1365-E49F-AB6C7C86738E}"/>
          </ac:picMkLst>
        </pc:picChg>
      </pc:sldChg>
      <pc:sldChg chg="addSp modSp">
        <pc:chgData name="toannguyen141601@gmail.com" userId="d93b6337fa10e7e9" providerId="LiveId" clId="{F91D0941-C107-4420-9C59-6FF3A484E85C}" dt="2024-01-07T01:16:15.713" v="270" actId="1076"/>
        <pc:sldMkLst>
          <pc:docMk/>
          <pc:sldMk cId="3375634033" sldId="630"/>
        </pc:sldMkLst>
        <pc:spChg chg="mod">
          <ac:chgData name="toannguyen141601@gmail.com" userId="d93b6337fa10e7e9" providerId="LiveId" clId="{F91D0941-C107-4420-9C59-6FF3A484E85C}" dt="2024-01-07T01:16:15.713" v="270" actId="1076"/>
          <ac:spMkLst>
            <pc:docMk/>
            <pc:sldMk cId="3375634033" sldId="630"/>
            <ac:spMk id="17" creationId="{00000000-0000-0000-0000-000000000000}"/>
          </ac:spMkLst>
        </pc:spChg>
        <pc:picChg chg="add mod">
          <ac:chgData name="toannguyen141601@gmail.com" userId="d93b6337fa10e7e9" providerId="LiveId" clId="{F91D0941-C107-4420-9C59-6FF3A484E85C}" dt="2024-01-07T01:16:13.803" v="269"/>
          <ac:picMkLst>
            <pc:docMk/>
            <pc:sldMk cId="3375634033" sldId="630"/>
            <ac:picMk id="2" creationId="{B7876785-FF50-55E5-2A28-46E28E1DAFC7}"/>
          </ac:picMkLst>
        </pc:picChg>
      </pc:sldChg>
      <pc:sldChg chg="addSp modSp">
        <pc:chgData name="toannguyen141601@gmail.com" userId="d93b6337fa10e7e9" providerId="LiveId" clId="{F91D0941-C107-4420-9C59-6FF3A484E85C}" dt="2024-01-07T01:16:19.749" v="272" actId="1076"/>
        <pc:sldMkLst>
          <pc:docMk/>
          <pc:sldMk cId="843710200" sldId="631"/>
        </pc:sldMkLst>
        <pc:spChg chg="mod">
          <ac:chgData name="toannguyen141601@gmail.com" userId="d93b6337fa10e7e9" providerId="LiveId" clId="{F91D0941-C107-4420-9C59-6FF3A484E85C}" dt="2024-01-07T01:16:19.749" v="272" actId="1076"/>
          <ac:spMkLst>
            <pc:docMk/>
            <pc:sldMk cId="843710200" sldId="631"/>
            <ac:spMk id="17" creationId="{00000000-0000-0000-0000-000000000000}"/>
          </ac:spMkLst>
        </pc:spChg>
        <pc:picChg chg="add mod">
          <ac:chgData name="toannguyen141601@gmail.com" userId="d93b6337fa10e7e9" providerId="LiveId" clId="{F91D0941-C107-4420-9C59-6FF3A484E85C}" dt="2024-01-07T01:16:17.840" v="271"/>
          <ac:picMkLst>
            <pc:docMk/>
            <pc:sldMk cId="843710200" sldId="631"/>
            <ac:picMk id="2" creationId="{DC51E36C-E320-3586-34CA-61C5CF9651B4}"/>
          </ac:picMkLst>
        </pc:picChg>
      </pc:sldChg>
      <pc:sldChg chg="addSp modSp">
        <pc:chgData name="toannguyen141601@gmail.com" userId="d93b6337fa10e7e9" providerId="LiveId" clId="{F91D0941-C107-4420-9C59-6FF3A484E85C}" dt="2024-01-07T01:16:23.246" v="274" actId="1076"/>
        <pc:sldMkLst>
          <pc:docMk/>
          <pc:sldMk cId="493708585" sldId="632"/>
        </pc:sldMkLst>
        <pc:spChg chg="mod">
          <ac:chgData name="toannguyen141601@gmail.com" userId="d93b6337fa10e7e9" providerId="LiveId" clId="{F91D0941-C107-4420-9C59-6FF3A484E85C}" dt="2024-01-07T01:16:23.246" v="274" actId="1076"/>
          <ac:spMkLst>
            <pc:docMk/>
            <pc:sldMk cId="493708585" sldId="632"/>
            <ac:spMk id="17" creationId="{00000000-0000-0000-0000-000000000000}"/>
          </ac:spMkLst>
        </pc:spChg>
        <pc:picChg chg="add mod">
          <ac:chgData name="toannguyen141601@gmail.com" userId="d93b6337fa10e7e9" providerId="LiveId" clId="{F91D0941-C107-4420-9C59-6FF3A484E85C}" dt="2024-01-07T01:16:21.307" v="273"/>
          <ac:picMkLst>
            <pc:docMk/>
            <pc:sldMk cId="493708585" sldId="632"/>
            <ac:picMk id="2" creationId="{3A224966-514A-0213-0FD6-89759626CEA5}"/>
          </ac:picMkLst>
        </pc:picChg>
      </pc:sldChg>
      <pc:sldChg chg="addSp modSp">
        <pc:chgData name="toannguyen141601@gmail.com" userId="d93b6337fa10e7e9" providerId="LiveId" clId="{F91D0941-C107-4420-9C59-6FF3A484E85C}" dt="2024-01-07T01:16:26.760" v="276" actId="1076"/>
        <pc:sldMkLst>
          <pc:docMk/>
          <pc:sldMk cId="2050598029" sldId="633"/>
        </pc:sldMkLst>
        <pc:spChg chg="mod">
          <ac:chgData name="toannguyen141601@gmail.com" userId="d93b6337fa10e7e9" providerId="LiveId" clId="{F91D0941-C107-4420-9C59-6FF3A484E85C}" dt="2024-01-07T01:16:26.760" v="276" actId="1076"/>
          <ac:spMkLst>
            <pc:docMk/>
            <pc:sldMk cId="2050598029" sldId="633"/>
            <ac:spMk id="17" creationId="{00000000-0000-0000-0000-000000000000}"/>
          </ac:spMkLst>
        </pc:spChg>
        <pc:picChg chg="add mod">
          <ac:chgData name="toannguyen141601@gmail.com" userId="d93b6337fa10e7e9" providerId="LiveId" clId="{F91D0941-C107-4420-9C59-6FF3A484E85C}" dt="2024-01-07T01:16:25.323" v="275"/>
          <ac:picMkLst>
            <pc:docMk/>
            <pc:sldMk cId="2050598029" sldId="633"/>
            <ac:picMk id="2" creationId="{BBEEAE52-D49E-62BB-8D61-8CF85AF35431}"/>
          </ac:picMkLst>
        </pc:picChg>
      </pc:sldChg>
      <pc:sldChg chg="addSp modSp">
        <pc:chgData name="toannguyen141601@gmail.com" userId="d93b6337fa10e7e9" providerId="LiveId" clId="{F91D0941-C107-4420-9C59-6FF3A484E85C}" dt="2024-01-07T01:16:30.183" v="278" actId="1076"/>
        <pc:sldMkLst>
          <pc:docMk/>
          <pc:sldMk cId="4275223565" sldId="634"/>
        </pc:sldMkLst>
        <pc:spChg chg="mod">
          <ac:chgData name="toannguyen141601@gmail.com" userId="d93b6337fa10e7e9" providerId="LiveId" clId="{F91D0941-C107-4420-9C59-6FF3A484E85C}" dt="2024-01-07T01:16:30.183" v="278" actId="1076"/>
          <ac:spMkLst>
            <pc:docMk/>
            <pc:sldMk cId="4275223565" sldId="634"/>
            <ac:spMk id="17" creationId="{00000000-0000-0000-0000-000000000000}"/>
          </ac:spMkLst>
        </pc:spChg>
        <pc:picChg chg="add mod">
          <ac:chgData name="toannguyen141601@gmail.com" userId="d93b6337fa10e7e9" providerId="LiveId" clId="{F91D0941-C107-4420-9C59-6FF3A484E85C}" dt="2024-01-07T01:16:28.817" v="277"/>
          <ac:picMkLst>
            <pc:docMk/>
            <pc:sldMk cId="4275223565" sldId="634"/>
            <ac:picMk id="2" creationId="{886DCA37-D21A-E2F5-4CE8-BF9A785B43EF}"/>
          </ac:picMkLst>
        </pc:picChg>
      </pc:sldChg>
      <pc:sldChg chg="addSp modSp mod">
        <pc:chgData name="toannguyen141601@gmail.com" userId="d93b6337fa10e7e9" providerId="LiveId" clId="{F91D0941-C107-4420-9C59-6FF3A484E85C}" dt="2024-01-07T01:17:18.845" v="321"/>
        <pc:sldMkLst>
          <pc:docMk/>
          <pc:sldMk cId="4212828298" sldId="638"/>
        </pc:sldMkLst>
        <pc:spChg chg="mod">
          <ac:chgData name="toannguyen141601@gmail.com" userId="d93b6337fa10e7e9" providerId="LiveId" clId="{F91D0941-C107-4420-9C59-6FF3A484E85C}" dt="2024-01-07T01:17:18.109" v="320" actId="1036"/>
          <ac:spMkLst>
            <pc:docMk/>
            <pc:sldMk cId="4212828298" sldId="638"/>
            <ac:spMk id="4" creationId="{00000000-0000-0000-0000-000000000000}"/>
          </ac:spMkLst>
        </pc:spChg>
        <pc:spChg chg="mod">
          <ac:chgData name="toannguyen141601@gmail.com" userId="d93b6337fa10e7e9" providerId="LiveId" clId="{F91D0941-C107-4420-9C59-6FF3A484E85C}" dt="2024-01-07T01:17:18.109" v="320" actId="1036"/>
          <ac:spMkLst>
            <pc:docMk/>
            <pc:sldMk cId="4212828298" sldId="638"/>
            <ac:spMk id="5" creationId="{00000000-0000-0000-0000-000000000000}"/>
          </ac:spMkLst>
        </pc:spChg>
        <pc:spChg chg="mod">
          <ac:chgData name="toannguyen141601@gmail.com" userId="d93b6337fa10e7e9" providerId="LiveId" clId="{F91D0941-C107-4420-9C59-6FF3A484E85C}" dt="2024-01-07T01:17:18.109" v="320" actId="1036"/>
          <ac:spMkLst>
            <pc:docMk/>
            <pc:sldMk cId="4212828298" sldId="638"/>
            <ac:spMk id="6" creationId="{00000000-0000-0000-0000-000000000000}"/>
          </ac:spMkLst>
        </pc:spChg>
        <pc:spChg chg="mod">
          <ac:chgData name="toannguyen141601@gmail.com" userId="d93b6337fa10e7e9" providerId="LiveId" clId="{F91D0941-C107-4420-9C59-6FF3A484E85C}" dt="2024-01-07T01:17:18.109" v="320" actId="1036"/>
          <ac:spMkLst>
            <pc:docMk/>
            <pc:sldMk cId="4212828298" sldId="638"/>
            <ac:spMk id="7" creationId="{00000000-0000-0000-0000-000000000000}"/>
          </ac:spMkLst>
        </pc:spChg>
        <pc:spChg chg="mod">
          <ac:chgData name="toannguyen141601@gmail.com" userId="d93b6337fa10e7e9" providerId="LiveId" clId="{F91D0941-C107-4420-9C59-6FF3A484E85C}" dt="2024-01-07T01:17:18.109" v="320" actId="1036"/>
          <ac:spMkLst>
            <pc:docMk/>
            <pc:sldMk cId="4212828298" sldId="638"/>
            <ac:spMk id="8" creationId="{00000000-0000-0000-0000-000000000000}"/>
          </ac:spMkLst>
        </pc:spChg>
        <pc:spChg chg="mod">
          <ac:chgData name="toannguyen141601@gmail.com" userId="d93b6337fa10e7e9" providerId="LiveId" clId="{F91D0941-C107-4420-9C59-6FF3A484E85C}" dt="2024-01-07T01:17:18.109" v="320" actId="1036"/>
          <ac:spMkLst>
            <pc:docMk/>
            <pc:sldMk cId="4212828298" sldId="638"/>
            <ac:spMk id="9" creationId="{00000000-0000-0000-0000-000000000000}"/>
          </ac:spMkLst>
        </pc:spChg>
        <pc:spChg chg="mod">
          <ac:chgData name="toannguyen141601@gmail.com" userId="d93b6337fa10e7e9" providerId="LiveId" clId="{F91D0941-C107-4420-9C59-6FF3A484E85C}" dt="2024-01-07T01:17:18.109" v="320" actId="1036"/>
          <ac:spMkLst>
            <pc:docMk/>
            <pc:sldMk cId="4212828298" sldId="638"/>
            <ac:spMk id="48130" creationId="{00000000-0000-0000-0000-000000000000}"/>
          </ac:spMkLst>
        </pc:spChg>
        <pc:picChg chg="add mod">
          <ac:chgData name="toannguyen141601@gmail.com" userId="d93b6337fa10e7e9" providerId="LiveId" clId="{F91D0941-C107-4420-9C59-6FF3A484E85C}" dt="2024-01-07T01:17:18.845" v="321"/>
          <ac:picMkLst>
            <pc:docMk/>
            <pc:sldMk cId="4212828298" sldId="638"/>
            <ac:picMk id="2" creationId="{853BD611-3BA6-E38A-4EA9-8BB940D2C26E}"/>
          </ac:picMkLst>
        </pc:picChg>
      </pc:sldChg>
      <pc:sldChg chg="addSp delSp modSp">
        <pc:chgData name="toannguyen141601@gmail.com" userId="d93b6337fa10e7e9" providerId="LiveId" clId="{F91D0941-C107-4420-9C59-6FF3A484E85C}" dt="2024-01-07T01:11:17.382" v="133"/>
        <pc:sldMkLst>
          <pc:docMk/>
          <pc:sldMk cId="1795184882" sldId="647"/>
        </pc:sldMkLst>
        <pc:picChg chg="add del mod">
          <ac:chgData name="toannguyen141601@gmail.com" userId="d93b6337fa10e7e9" providerId="LiveId" clId="{F91D0941-C107-4420-9C59-6FF3A484E85C}" dt="2024-01-07T01:11:17.382" v="133"/>
          <ac:picMkLst>
            <pc:docMk/>
            <pc:sldMk cId="1795184882" sldId="647"/>
            <ac:picMk id="3" creationId="{C8CC06FC-CD6F-27CE-AC50-C8BD471B629F}"/>
          </ac:picMkLst>
        </pc:picChg>
      </pc:sldChg>
      <pc:sldChg chg="addSp modSp">
        <pc:chgData name="toannguyen141601@gmail.com" userId="d93b6337fa10e7e9" providerId="LiveId" clId="{F91D0941-C107-4420-9C59-6FF3A484E85C}" dt="2024-01-07T01:10:38.293" v="119" actId="1076"/>
        <pc:sldMkLst>
          <pc:docMk/>
          <pc:sldMk cId="1404309379" sldId="648"/>
        </pc:sldMkLst>
        <pc:spChg chg="mod">
          <ac:chgData name="toannguyen141601@gmail.com" userId="d93b6337fa10e7e9" providerId="LiveId" clId="{F91D0941-C107-4420-9C59-6FF3A484E85C}" dt="2024-01-07T01:10:38.293" v="119" actId="1076"/>
          <ac:spMkLst>
            <pc:docMk/>
            <pc:sldMk cId="1404309379" sldId="648"/>
            <ac:spMk id="6" creationId="{00000000-0000-0000-0000-000000000000}"/>
          </ac:spMkLst>
        </pc:spChg>
        <pc:picChg chg="add mod">
          <ac:chgData name="toannguyen141601@gmail.com" userId="d93b6337fa10e7e9" providerId="LiveId" clId="{F91D0941-C107-4420-9C59-6FF3A484E85C}" dt="2024-01-07T01:10:34.931" v="118"/>
          <ac:picMkLst>
            <pc:docMk/>
            <pc:sldMk cId="1404309379" sldId="648"/>
            <ac:picMk id="3" creationId="{B0E4B336-9D75-5346-D8C4-FF76BF795140}"/>
          </ac:picMkLst>
        </pc:picChg>
      </pc:sldChg>
      <pc:sldChg chg="addSp modSp">
        <pc:chgData name="toannguyen141601@gmail.com" userId="d93b6337fa10e7e9" providerId="LiveId" clId="{F91D0941-C107-4420-9C59-6FF3A484E85C}" dt="2024-01-07T01:10:45.433" v="121" actId="1076"/>
        <pc:sldMkLst>
          <pc:docMk/>
          <pc:sldMk cId="2279004171" sldId="649"/>
        </pc:sldMkLst>
        <pc:spChg chg="mod">
          <ac:chgData name="toannguyen141601@gmail.com" userId="d93b6337fa10e7e9" providerId="LiveId" clId="{F91D0941-C107-4420-9C59-6FF3A484E85C}" dt="2024-01-07T01:10:45.433" v="121" actId="1076"/>
          <ac:spMkLst>
            <pc:docMk/>
            <pc:sldMk cId="2279004171" sldId="649"/>
            <ac:spMk id="6" creationId="{00000000-0000-0000-0000-000000000000}"/>
          </ac:spMkLst>
        </pc:spChg>
        <pc:picChg chg="add mod">
          <ac:chgData name="toannguyen141601@gmail.com" userId="d93b6337fa10e7e9" providerId="LiveId" clId="{F91D0941-C107-4420-9C59-6FF3A484E85C}" dt="2024-01-07T01:10:41.856" v="120"/>
          <ac:picMkLst>
            <pc:docMk/>
            <pc:sldMk cId="2279004171" sldId="649"/>
            <ac:picMk id="3" creationId="{C6292625-B47D-6F34-698D-7E2A082ACDEE}"/>
          </ac:picMkLst>
        </pc:picChg>
      </pc:sldChg>
      <pc:sldChg chg="addSp modSp">
        <pc:chgData name="toannguyen141601@gmail.com" userId="d93b6337fa10e7e9" providerId="LiveId" clId="{F91D0941-C107-4420-9C59-6FF3A484E85C}" dt="2024-01-07T01:10:50.288" v="123" actId="1076"/>
        <pc:sldMkLst>
          <pc:docMk/>
          <pc:sldMk cId="3004367366" sldId="651"/>
        </pc:sldMkLst>
        <pc:spChg chg="mod">
          <ac:chgData name="toannguyen141601@gmail.com" userId="d93b6337fa10e7e9" providerId="LiveId" clId="{F91D0941-C107-4420-9C59-6FF3A484E85C}" dt="2024-01-07T01:10:50.288" v="123" actId="1076"/>
          <ac:spMkLst>
            <pc:docMk/>
            <pc:sldMk cId="3004367366" sldId="651"/>
            <ac:spMk id="15" creationId="{00000000-0000-0000-0000-000000000000}"/>
          </ac:spMkLst>
        </pc:spChg>
        <pc:picChg chg="add mod">
          <ac:chgData name="toannguyen141601@gmail.com" userId="d93b6337fa10e7e9" providerId="LiveId" clId="{F91D0941-C107-4420-9C59-6FF3A484E85C}" dt="2024-01-07T01:10:47.589" v="122"/>
          <ac:picMkLst>
            <pc:docMk/>
            <pc:sldMk cId="3004367366" sldId="651"/>
            <ac:picMk id="2" creationId="{2D87944C-6EB0-C926-2C10-4DE36BF12F0C}"/>
          </ac:picMkLst>
        </pc:picChg>
      </pc:sldChg>
    </pc:docChg>
  </pc:docChgLst>
</pc:chgInfo>
</file>

<file path=ppt/diagrams/_rels/data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image" Target="../media/image13.png"/></Relationships>
</file>

<file path=ppt/diagrams/_rels/drawing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BB26AD-1DD9-4F19-9CFD-8B780EC1EFB6}" type="doc">
      <dgm:prSet loTypeId="urn:microsoft.com/office/officeart/2008/layout/HorizontalMultiLevelHierarchy" loCatId="hierarchy" qsTypeId="urn:microsoft.com/office/officeart/2005/8/quickstyle/simple1" qsCatId="simple" csTypeId="urn:microsoft.com/office/officeart/2005/8/colors/accent0_1" csCatId="mainScheme" phldr="1"/>
      <dgm:spPr/>
      <dgm:t>
        <a:bodyPr/>
        <a:lstStyle/>
        <a:p>
          <a:endParaRPr lang="en-US"/>
        </a:p>
      </dgm:t>
    </dgm:pt>
    <dgm:pt modelId="{54B95B78-2D43-4403-9AFE-9C4074BFA0ED}">
      <dgm:prSet phldrT="[Text]"/>
      <dgm:spPr/>
      <dgm:t>
        <a:bodyPr/>
        <a:lstStyle/>
        <a:p>
          <a:r>
            <a:rPr lang="en-US"/>
            <a:t>TBSX</a:t>
          </a:r>
        </a:p>
      </dgm:t>
    </dgm:pt>
    <dgm:pt modelId="{31345ACD-0B78-4E1E-9AFF-0F780CB12E02}" type="parTrans" cxnId="{ED44D032-4C3A-4A8C-95A2-033F016B869C}">
      <dgm:prSet/>
      <dgm:spPr/>
      <dgm:t>
        <a:bodyPr/>
        <a:lstStyle/>
        <a:p>
          <a:endParaRPr lang="en-US"/>
        </a:p>
      </dgm:t>
    </dgm:pt>
    <dgm:pt modelId="{800BC30A-D6A8-440E-8F1D-BA7590245D9D}" type="sibTrans" cxnId="{ED44D032-4C3A-4A8C-95A2-033F016B869C}">
      <dgm:prSet/>
      <dgm:spPr/>
      <dgm:t>
        <a:bodyPr/>
        <a:lstStyle/>
        <a:p>
          <a:endParaRPr lang="en-US"/>
        </a:p>
      </dgm:t>
    </dgm:pt>
    <dgm:pt modelId="{DD0B84B1-B3AE-4D5B-9FE5-C75415D0F209}">
      <dgm:prSet phldrT="[Text]"/>
      <dgm:spPr/>
      <dgm:t>
        <a:bodyPr/>
        <a:lstStyle/>
        <a:p>
          <a:r>
            <a:rPr lang="en-US"/>
            <a:t>GT TLSX</a:t>
          </a:r>
        </a:p>
        <a:p>
          <a:r>
            <a:rPr lang="en-US"/>
            <a:t>(c)</a:t>
          </a:r>
        </a:p>
      </dgm:t>
    </dgm:pt>
    <dgm:pt modelId="{9E78D827-2094-40C8-8BC7-88E9DD2183B0}" type="parTrans" cxnId="{8DB0356E-ACBF-4F17-B966-E43D3E5C93A1}">
      <dgm:prSet/>
      <dgm:spPr/>
      <dgm:t>
        <a:bodyPr/>
        <a:lstStyle/>
        <a:p>
          <a:endParaRPr lang="en-US"/>
        </a:p>
      </dgm:t>
    </dgm:pt>
    <dgm:pt modelId="{B1701A7A-93A7-4D25-B222-0561DA220124}" type="sibTrans" cxnId="{8DB0356E-ACBF-4F17-B966-E43D3E5C93A1}">
      <dgm:prSet/>
      <dgm:spPr/>
      <dgm:t>
        <a:bodyPr/>
        <a:lstStyle/>
        <a:p>
          <a:endParaRPr lang="en-US"/>
        </a:p>
      </dgm:t>
    </dgm:pt>
    <dgm:pt modelId="{89CC6F18-CBDF-4DCF-98A3-F81EE826C167}">
      <dgm:prSet phldrT="[Text]"/>
      <dgm:spPr/>
      <dgm:t>
        <a:bodyPr/>
        <a:lstStyle/>
        <a:p>
          <a:r>
            <a:rPr lang="en-US"/>
            <a:t>GT MMTB,NX</a:t>
          </a:r>
        </a:p>
        <a:p>
          <a:r>
            <a:rPr lang="en-US"/>
            <a:t>(c</a:t>
          </a:r>
          <a:r>
            <a:rPr lang="en-US" baseline="-25000"/>
            <a:t>1</a:t>
          </a:r>
          <a:r>
            <a:rPr lang="en-US"/>
            <a:t>)</a:t>
          </a:r>
        </a:p>
      </dgm:t>
    </dgm:pt>
    <dgm:pt modelId="{107BED30-F9C1-4C23-862D-32E7C74B3415}" type="parTrans" cxnId="{F804DE59-740D-4466-BDC6-5283FE7D0D86}">
      <dgm:prSet/>
      <dgm:spPr/>
      <dgm:t>
        <a:bodyPr/>
        <a:lstStyle/>
        <a:p>
          <a:endParaRPr lang="en-US"/>
        </a:p>
      </dgm:t>
    </dgm:pt>
    <dgm:pt modelId="{F6136CF2-D9D4-478D-A20B-D6E7008CC196}" type="sibTrans" cxnId="{F804DE59-740D-4466-BDC6-5283FE7D0D86}">
      <dgm:prSet/>
      <dgm:spPr/>
      <dgm:t>
        <a:bodyPr/>
        <a:lstStyle/>
        <a:p>
          <a:endParaRPr lang="en-US"/>
        </a:p>
      </dgm:t>
    </dgm:pt>
    <dgm:pt modelId="{693F42C0-4BBA-49B2-8BB6-D3D9A10644FB}">
      <dgm:prSet phldrT="[Text]"/>
      <dgm:spPr/>
      <dgm:t>
        <a:bodyPr/>
        <a:lstStyle/>
        <a:p>
          <a:r>
            <a:rPr lang="en-US"/>
            <a:t>GT NNVL</a:t>
          </a:r>
        </a:p>
        <a:p>
          <a:r>
            <a:rPr lang="en-US"/>
            <a:t>(c</a:t>
          </a:r>
          <a:r>
            <a:rPr lang="en-US" baseline="-25000"/>
            <a:t>2)</a:t>
          </a:r>
          <a:endParaRPr lang="en-US"/>
        </a:p>
      </dgm:t>
    </dgm:pt>
    <dgm:pt modelId="{0288F0AE-4D77-48CC-9748-2337F30315F1}" type="parTrans" cxnId="{37DDA147-596B-417C-914D-55E9027A80AF}">
      <dgm:prSet/>
      <dgm:spPr/>
      <dgm:t>
        <a:bodyPr/>
        <a:lstStyle/>
        <a:p>
          <a:endParaRPr lang="en-US"/>
        </a:p>
      </dgm:t>
    </dgm:pt>
    <dgm:pt modelId="{C03D5AA0-877D-4830-9841-59598DCD527E}" type="sibTrans" cxnId="{37DDA147-596B-417C-914D-55E9027A80AF}">
      <dgm:prSet/>
      <dgm:spPr/>
      <dgm:t>
        <a:bodyPr/>
        <a:lstStyle/>
        <a:p>
          <a:endParaRPr lang="en-US"/>
        </a:p>
      </dgm:t>
    </dgm:pt>
    <dgm:pt modelId="{E44C7523-73C3-4CC9-B38F-B98C7EC80BE1}">
      <dgm:prSet phldrT="[Text]"/>
      <dgm:spPr/>
      <dgm:t>
        <a:bodyPr/>
        <a:lstStyle/>
        <a:p>
          <a:r>
            <a:rPr lang="en-US"/>
            <a:t>GT SLĐ</a:t>
          </a:r>
        </a:p>
        <a:p>
          <a:r>
            <a:rPr lang="en-US"/>
            <a:t>(v)</a:t>
          </a:r>
        </a:p>
      </dgm:t>
    </dgm:pt>
    <dgm:pt modelId="{59724F54-C218-4E59-A6E0-57B66060E62D}" type="parTrans" cxnId="{7A856362-C2DB-43C8-9409-22A41EA38CD7}">
      <dgm:prSet/>
      <dgm:spPr/>
      <dgm:t>
        <a:bodyPr/>
        <a:lstStyle/>
        <a:p>
          <a:endParaRPr lang="en-US"/>
        </a:p>
      </dgm:t>
    </dgm:pt>
    <dgm:pt modelId="{47F15F87-5095-4D97-9C5D-B78262E55CE2}" type="sibTrans" cxnId="{7A856362-C2DB-43C8-9409-22A41EA38CD7}">
      <dgm:prSet/>
      <dgm:spPr/>
      <dgm:t>
        <a:bodyPr/>
        <a:lstStyle/>
        <a:p>
          <a:endParaRPr lang="en-US"/>
        </a:p>
      </dgm:t>
    </dgm:pt>
    <dgm:pt modelId="{120230C1-3511-46CD-BF42-13D23558E246}" type="pres">
      <dgm:prSet presAssocID="{04BB26AD-1DD9-4F19-9CFD-8B780EC1EFB6}" presName="Name0" presStyleCnt="0">
        <dgm:presLayoutVars>
          <dgm:chPref val="1"/>
          <dgm:dir/>
          <dgm:animOne val="branch"/>
          <dgm:animLvl val="lvl"/>
          <dgm:resizeHandles val="exact"/>
        </dgm:presLayoutVars>
      </dgm:prSet>
      <dgm:spPr/>
    </dgm:pt>
    <dgm:pt modelId="{FDDE317A-D11A-431E-A601-1A5D0F6DBB0F}" type="pres">
      <dgm:prSet presAssocID="{54B95B78-2D43-4403-9AFE-9C4074BFA0ED}" presName="root1" presStyleCnt="0"/>
      <dgm:spPr/>
    </dgm:pt>
    <dgm:pt modelId="{CD90CD8D-C8C6-4EAC-B9CE-73627B09639E}" type="pres">
      <dgm:prSet presAssocID="{54B95B78-2D43-4403-9AFE-9C4074BFA0ED}" presName="LevelOneTextNode" presStyleLbl="node0" presStyleIdx="0" presStyleCnt="1">
        <dgm:presLayoutVars>
          <dgm:chPref val="3"/>
        </dgm:presLayoutVars>
      </dgm:prSet>
      <dgm:spPr/>
    </dgm:pt>
    <dgm:pt modelId="{125D403B-8DF0-449D-8D81-4D24E128FD2F}" type="pres">
      <dgm:prSet presAssocID="{54B95B78-2D43-4403-9AFE-9C4074BFA0ED}" presName="level2hierChild" presStyleCnt="0"/>
      <dgm:spPr/>
    </dgm:pt>
    <dgm:pt modelId="{9A2B1A9D-4BAE-4716-A66E-43F24C59A5A1}" type="pres">
      <dgm:prSet presAssocID="{9E78D827-2094-40C8-8BC7-88E9DD2183B0}" presName="conn2-1" presStyleLbl="parChTrans1D2" presStyleIdx="0" presStyleCnt="2"/>
      <dgm:spPr/>
    </dgm:pt>
    <dgm:pt modelId="{B4E8C805-C5E2-4325-9A4E-32CFD26E75CB}" type="pres">
      <dgm:prSet presAssocID="{9E78D827-2094-40C8-8BC7-88E9DD2183B0}" presName="connTx" presStyleLbl="parChTrans1D2" presStyleIdx="0" presStyleCnt="2"/>
      <dgm:spPr/>
    </dgm:pt>
    <dgm:pt modelId="{5207D130-C17C-40AA-8167-8C8F96FAD38A}" type="pres">
      <dgm:prSet presAssocID="{DD0B84B1-B3AE-4D5B-9FE5-C75415D0F209}" presName="root2" presStyleCnt="0"/>
      <dgm:spPr/>
    </dgm:pt>
    <dgm:pt modelId="{27FCF3B8-C147-4652-9549-95D6E143D2F8}" type="pres">
      <dgm:prSet presAssocID="{DD0B84B1-B3AE-4D5B-9FE5-C75415D0F209}" presName="LevelTwoTextNode" presStyleLbl="node2" presStyleIdx="0" presStyleCnt="2">
        <dgm:presLayoutVars>
          <dgm:chPref val="3"/>
        </dgm:presLayoutVars>
      </dgm:prSet>
      <dgm:spPr/>
    </dgm:pt>
    <dgm:pt modelId="{C6D9AA18-0A45-4193-8EB4-5F0E1E437044}" type="pres">
      <dgm:prSet presAssocID="{DD0B84B1-B3AE-4D5B-9FE5-C75415D0F209}" presName="level3hierChild" presStyleCnt="0"/>
      <dgm:spPr/>
    </dgm:pt>
    <dgm:pt modelId="{ED3D7601-83EE-46C5-A16F-084E10F0CA64}" type="pres">
      <dgm:prSet presAssocID="{107BED30-F9C1-4C23-862D-32E7C74B3415}" presName="conn2-1" presStyleLbl="parChTrans1D3" presStyleIdx="0" presStyleCnt="2"/>
      <dgm:spPr/>
    </dgm:pt>
    <dgm:pt modelId="{4368DF5E-F223-49EA-B332-60EB7CF1E151}" type="pres">
      <dgm:prSet presAssocID="{107BED30-F9C1-4C23-862D-32E7C74B3415}" presName="connTx" presStyleLbl="parChTrans1D3" presStyleIdx="0" presStyleCnt="2"/>
      <dgm:spPr/>
    </dgm:pt>
    <dgm:pt modelId="{C608DAFB-773E-4F85-9B8C-52FA88F4EF7C}" type="pres">
      <dgm:prSet presAssocID="{89CC6F18-CBDF-4DCF-98A3-F81EE826C167}" presName="root2" presStyleCnt="0"/>
      <dgm:spPr/>
    </dgm:pt>
    <dgm:pt modelId="{D4A0E8F8-D49B-4E28-A38D-8088A6E9952E}" type="pres">
      <dgm:prSet presAssocID="{89CC6F18-CBDF-4DCF-98A3-F81EE826C167}" presName="LevelTwoTextNode" presStyleLbl="node3" presStyleIdx="0" presStyleCnt="2">
        <dgm:presLayoutVars>
          <dgm:chPref val="3"/>
        </dgm:presLayoutVars>
      </dgm:prSet>
      <dgm:spPr/>
    </dgm:pt>
    <dgm:pt modelId="{3605350D-86A7-4CB3-AD70-0295D005D223}" type="pres">
      <dgm:prSet presAssocID="{89CC6F18-CBDF-4DCF-98A3-F81EE826C167}" presName="level3hierChild" presStyleCnt="0"/>
      <dgm:spPr/>
    </dgm:pt>
    <dgm:pt modelId="{7A44FBF6-FA7A-48F8-80EF-4A262E8AF7A8}" type="pres">
      <dgm:prSet presAssocID="{0288F0AE-4D77-48CC-9748-2337F30315F1}" presName="conn2-1" presStyleLbl="parChTrans1D3" presStyleIdx="1" presStyleCnt="2"/>
      <dgm:spPr/>
    </dgm:pt>
    <dgm:pt modelId="{7373E584-E3C4-48C5-8CB5-6EFE48B37625}" type="pres">
      <dgm:prSet presAssocID="{0288F0AE-4D77-48CC-9748-2337F30315F1}" presName="connTx" presStyleLbl="parChTrans1D3" presStyleIdx="1" presStyleCnt="2"/>
      <dgm:spPr/>
    </dgm:pt>
    <dgm:pt modelId="{FA0FFC17-211E-4883-AE56-9FBF875033C8}" type="pres">
      <dgm:prSet presAssocID="{693F42C0-4BBA-49B2-8BB6-D3D9A10644FB}" presName="root2" presStyleCnt="0"/>
      <dgm:spPr/>
    </dgm:pt>
    <dgm:pt modelId="{02BB3644-6935-42A0-8594-035DDFC588F8}" type="pres">
      <dgm:prSet presAssocID="{693F42C0-4BBA-49B2-8BB6-D3D9A10644FB}" presName="LevelTwoTextNode" presStyleLbl="node3" presStyleIdx="1" presStyleCnt="2">
        <dgm:presLayoutVars>
          <dgm:chPref val="3"/>
        </dgm:presLayoutVars>
      </dgm:prSet>
      <dgm:spPr/>
    </dgm:pt>
    <dgm:pt modelId="{322D7C85-77D4-43AD-8AC5-5818372A7D3F}" type="pres">
      <dgm:prSet presAssocID="{693F42C0-4BBA-49B2-8BB6-D3D9A10644FB}" presName="level3hierChild" presStyleCnt="0"/>
      <dgm:spPr/>
    </dgm:pt>
    <dgm:pt modelId="{8C833F80-5DB8-4C82-B5EE-96C9A317A7E0}" type="pres">
      <dgm:prSet presAssocID="{59724F54-C218-4E59-A6E0-57B66060E62D}" presName="conn2-1" presStyleLbl="parChTrans1D2" presStyleIdx="1" presStyleCnt="2"/>
      <dgm:spPr/>
    </dgm:pt>
    <dgm:pt modelId="{7FFE6DD9-DFDA-43F2-BECF-4943840C65C9}" type="pres">
      <dgm:prSet presAssocID="{59724F54-C218-4E59-A6E0-57B66060E62D}" presName="connTx" presStyleLbl="parChTrans1D2" presStyleIdx="1" presStyleCnt="2"/>
      <dgm:spPr/>
    </dgm:pt>
    <dgm:pt modelId="{596A5CD5-B25C-440E-87EF-E2AB7B316971}" type="pres">
      <dgm:prSet presAssocID="{E44C7523-73C3-4CC9-B38F-B98C7EC80BE1}" presName="root2" presStyleCnt="0"/>
      <dgm:spPr/>
    </dgm:pt>
    <dgm:pt modelId="{C413CE4B-E50E-47CD-A83B-28EF491F4B14}" type="pres">
      <dgm:prSet presAssocID="{E44C7523-73C3-4CC9-B38F-B98C7EC80BE1}" presName="LevelTwoTextNode" presStyleLbl="node2" presStyleIdx="1" presStyleCnt="2">
        <dgm:presLayoutVars>
          <dgm:chPref val="3"/>
        </dgm:presLayoutVars>
      </dgm:prSet>
      <dgm:spPr/>
    </dgm:pt>
    <dgm:pt modelId="{14DDD0A2-5BF2-43F7-A4B1-F656F6A21A3E}" type="pres">
      <dgm:prSet presAssocID="{E44C7523-73C3-4CC9-B38F-B98C7EC80BE1}" presName="level3hierChild" presStyleCnt="0"/>
      <dgm:spPr/>
    </dgm:pt>
  </dgm:ptLst>
  <dgm:cxnLst>
    <dgm:cxn modelId="{DBF10707-2EDE-4BEF-8D9B-574B27910F61}" type="presOf" srcId="{0288F0AE-4D77-48CC-9748-2337F30315F1}" destId="{7A44FBF6-FA7A-48F8-80EF-4A262E8AF7A8}" srcOrd="0" destOrd="0" presId="urn:microsoft.com/office/officeart/2008/layout/HorizontalMultiLevelHierarchy"/>
    <dgm:cxn modelId="{7E3DD81B-E555-45AD-AB2E-E16E4C34193A}" type="presOf" srcId="{59724F54-C218-4E59-A6E0-57B66060E62D}" destId="{8C833F80-5DB8-4C82-B5EE-96C9A317A7E0}" srcOrd="0" destOrd="0" presId="urn:microsoft.com/office/officeart/2008/layout/HorizontalMultiLevelHierarchy"/>
    <dgm:cxn modelId="{E3BCD621-454F-40F4-B335-E1E976FC6E25}" type="presOf" srcId="{9E78D827-2094-40C8-8BC7-88E9DD2183B0}" destId="{9A2B1A9D-4BAE-4716-A66E-43F24C59A5A1}" srcOrd="0" destOrd="0" presId="urn:microsoft.com/office/officeart/2008/layout/HorizontalMultiLevelHierarchy"/>
    <dgm:cxn modelId="{D5CFF22B-9947-4B5A-A5B0-142D8EF5F5CB}" type="presOf" srcId="{DD0B84B1-B3AE-4D5B-9FE5-C75415D0F209}" destId="{27FCF3B8-C147-4652-9549-95D6E143D2F8}" srcOrd="0" destOrd="0" presId="urn:microsoft.com/office/officeart/2008/layout/HorizontalMultiLevelHierarchy"/>
    <dgm:cxn modelId="{902C762C-77A5-445F-BEA4-80E32B891908}" type="presOf" srcId="{9E78D827-2094-40C8-8BC7-88E9DD2183B0}" destId="{B4E8C805-C5E2-4325-9A4E-32CFD26E75CB}" srcOrd="1" destOrd="0" presId="urn:microsoft.com/office/officeart/2008/layout/HorizontalMultiLevelHierarchy"/>
    <dgm:cxn modelId="{ED44D032-4C3A-4A8C-95A2-033F016B869C}" srcId="{04BB26AD-1DD9-4F19-9CFD-8B780EC1EFB6}" destId="{54B95B78-2D43-4403-9AFE-9C4074BFA0ED}" srcOrd="0" destOrd="0" parTransId="{31345ACD-0B78-4E1E-9AFF-0F780CB12E02}" sibTransId="{800BC30A-D6A8-440E-8F1D-BA7590245D9D}"/>
    <dgm:cxn modelId="{A2E20462-5259-4022-9ACE-39D061C1EE19}" type="presOf" srcId="{107BED30-F9C1-4C23-862D-32E7C74B3415}" destId="{4368DF5E-F223-49EA-B332-60EB7CF1E151}" srcOrd="1" destOrd="0" presId="urn:microsoft.com/office/officeart/2008/layout/HorizontalMultiLevelHierarchy"/>
    <dgm:cxn modelId="{7A856362-C2DB-43C8-9409-22A41EA38CD7}" srcId="{54B95B78-2D43-4403-9AFE-9C4074BFA0ED}" destId="{E44C7523-73C3-4CC9-B38F-B98C7EC80BE1}" srcOrd="1" destOrd="0" parTransId="{59724F54-C218-4E59-A6E0-57B66060E62D}" sibTransId="{47F15F87-5095-4D97-9C5D-B78262E55CE2}"/>
    <dgm:cxn modelId="{B92C1644-5DF1-4444-8740-617B115C1148}" type="presOf" srcId="{693F42C0-4BBA-49B2-8BB6-D3D9A10644FB}" destId="{02BB3644-6935-42A0-8594-035DDFC588F8}" srcOrd="0" destOrd="0" presId="urn:microsoft.com/office/officeart/2008/layout/HorizontalMultiLevelHierarchy"/>
    <dgm:cxn modelId="{37DDA147-596B-417C-914D-55E9027A80AF}" srcId="{DD0B84B1-B3AE-4D5B-9FE5-C75415D0F209}" destId="{693F42C0-4BBA-49B2-8BB6-D3D9A10644FB}" srcOrd="1" destOrd="0" parTransId="{0288F0AE-4D77-48CC-9748-2337F30315F1}" sibTransId="{C03D5AA0-877D-4830-9841-59598DCD527E}"/>
    <dgm:cxn modelId="{4E8F3E69-737C-4813-98E0-781DBAB8E3B2}" type="presOf" srcId="{E44C7523-73C3-4CC9-B38F-B98C7EC80BE1}" destId="{C413CE4B-E50E-47CD-A83B-28EF491F4B14}" srcOrd="0" destOrd="0" presId="urn:microsoft.com/office/officeart/2008/layout/HorizontalMultiLevelHierarchy"/>
    <dgm:cxn modelId="{DAC48849-8BD3-4C67-B101-F5BCAE22407D}" type="presOf" srcId="{0288F0AE-4D77-48CC-9748-2337F30315F1}" destId="{7373E584-E3C4-48C5-8CB5-6EFE48B37625}" srcOrd="1" destOrd="0" presId="urn:microsoft.com/office/officeart/2008/layout/HorizontalMultiLevelHierarchy"/>
    <dgm:cxn modelId="{8DB0356E-ACBF-4F17-B966-E43D3E5C93A1}" srcId="{54B95B78-2D43-4403-9AFE-9C4074BFA0ED}" destId="{DD0B84B1-B3AE-4D5B-9FE5-C75415D0F209}" srcOrd="0" destOrd="0" parTransId="{9E78D827-2094-40C8-8BC7-88E9DD2183B0}" sibTransId="{B1701A7A-93A7-4D25-B222-0561DA220124}"/>
    <dgm:cxn modelId="{EABBF456-5B35-431D-BABD-DD7189EF95C0}" type="presOf" srcId="{54B95B78-2D43-4403-9AFE-9C4074BFA0ED}" destId="{CD90CD8D-C8C6-4EAC-B9CE-73627B09639E}" srcOrd="0" destOrd="0" presId="urn:microsoft.com/office/officeart/2008/layout/HorizontalMultiLevelHierarchy"/>
    <dgm:cxn modelId="{F804DE59-740D-4466-BDC6-5283FE7D0D86}" srcId="{DD0B84B1-B3AE-4D5B-9FE5-C75415D0F209}" destId="{89CC6F18-CBDF-4DCF-98A3-F81EE826C167}" srcOrd="0" destOrd="0" parTransId="{107BED30-F9C1-4C23-862D-32E7C74B3415}" sibTransId="{F6136CF2-D9D4-478D-A20B-D6E7008CC196}"/>
    <dgm:cxn modelId="{01810A9B-4240-467A-BF33-57FC1EFA0C11}" type="presOf" srcId="{89CC6F18-CBDF-4DCF-98A3-F81EE826C167}" destId="{D4A0E8F8-D49B-4E28-A38D-8088A6E9952E}" srcOrd="0" destOrd="0" presId="urn:microsoft.com/office/officeart/2008/layout/HorizontalMultiLevelHierarchy"/>
    <dgm:cxn modelId="{BBDF55AB-387E-4B67-BD08-EB2913FD5082}" type="presOf" srcId="{04BB26AD-1DD9-4F19-9CFD-8B780EC1EFB6}" destId="{120230C1-3511-46CD-BF42-13D23558E246}" srcOrd="0" destOrd="0" presId="urn:microsoft.com/office/officeart/2008/layout/HorizontalMultiLevelHierarchy"/>
    <dgm:cxn modelId="{D93FE8D9-E333-4ABD-8E4E-B9D3660F9CA4}" type="presOf" srcId="{59724F54-C218-4E59-A6E0-57B66060E62D}" destId="{7FFE6DD9-DFDA-43F2-BECF-4943840C65C9}" srcOrd="1" destOrd="0" presId="urn:microsoft.com/office/officeart/2008/layout/HorizontalMultiLevelHierarchy"/>
    <dgm:cxn modelId="{254C65ED-041C-4996-B7F8-30EF08024A4C}" type="presOf" srcId="{107BED30-F9C1-4C23-862D-32E7C74B3415}" destId="{ED3D7601-83EE-46C5-A16F-084E10F0CA64}" srcOrd="0" destOrd="0" presId="urn:microsoft.com/office/officeart/2008/layout/HorizontalMultiLevelHierarchy"/>
    <dgm:cxn modelId="{79042EDF-24EE-463A-BBF0-DB2FF2BEA68D}" type="presParOf" srcId="{120230C1-3511-46CD-BF42-13D23558E246}" destId="{FDDE317A-D11A-431E-A601-1A5D0F6DBB0F}" srcOrd="0" destOrd="0" presId="urn:microsoft.com/office/officeart/2008/layout/HorizontalMultiLevelHierarchy"/>
    <dgm:cxn modelId="{89C69BD0-E134-4924-AACE-EC033E6E66FF}" type="presParOf" srcId="{FDDE317A-D11A-431E-A601-1A5D0F6DBB0F}" destId="{CD90CD8D-C8C6-4EAC-B9CE-73627B09639E}" srcOrd="0" destOrd="0" presId="urn:microsoft.com/office/officeart/2008/layout/HorizontalMultiLevelHierarchy"/>
    <dgm:cxn modelId="{BD26FE02-05FE-4918-A804-F10F34B87DD2}" type="presParOf" srcId="{FDDE317A-D11A-431E-A601-1A5D0F6DBB0F}" destId="{125D403B-8DF0-449D-8D81-4D24E128FD2F}" srcOrd="1" destOrd="0" presId="urn:microsoft.com/office/officeart/2008/layout/HorizontalMultiLevelHierarchy"/>
    <dgm:cxn modelId="{51A37138-2668-45F8-8A8B-7A3E5EC5E953}" type="presParOf" srcId="{125D403B-8DF0-449D-8D81-4D24E128FD2F}" destId="{9A2B1A9D-4BAE-4716-A66E-43F24C59A5A1}" srcOrd="0" destOrd="0" presId="urn:microsoft.com/office/officeart/2008/layout/HorizontalMultiLevelHierarchy"/>
    <dgm:cxn modelId="{4254F9C2-B35E-4EA8-98C9-21C0BD558E39}" type="presParOf" srcId="{9A2B1A9D-4BAE-4716-A66E-43F24C59A5A1}" destId="{B4E8C805-C5E2-4325-9A4E-32CFD26E75CB}" srcOrd="0" destOrd="0" presId="urn:microsoft.com/office/officeart/2008/layout/HorizontalMultiLevelHierarchy"/>
    <dgm:cxn modelId="{47A494BF-4583-4ABB-B262-919B6A7204DA}" type="presParOf" srcId="{125D403B-8DF0-449D-8D81-4D24E128FD2F}" destId="{5207D130-C17C-40AA-8167-8C8F96FAD38A}" srcOrd="1" destOrd="0" presId="urn:microsoft.com/office/officeart/2008/layout/HorizontalMultiLevelHierarchy"/>
    <dgm:cxn modelId="{A7A58C0D-1EC9-4A9E-90FC-E51F906DAABA}" type="presParOf" srcId="{5207D130-C17C-40AA-8167-8C8F96FAD38A}" destId="{27FCF3B8-C147-4652-9549-95D6E143D2F8}" srcOrd="0" destOrd="0" presId="urn:microsoft.com/office/officeart/2008/layout/HorizontalMultiLevelHierarchy"/>
    <dgm:cxn modelId="{D0A5FDA1-080D-45D4-AF20-9A43456156EC}" type="presParOf" srcId="{5207D130-C17C-40AA-8167-8C8F96FAD38A}" destId="{C6D9AA18-0A45-4193-8EB4-5F0E1E437044}" srcOrd="1" destOrd="0" presId="urn:microsoft.com/office/officeart/2008/layout/HorizontalMultiLevelHierarchy"/>
    <dgm:cxn modelId="{922E35A5-C163-46F4-AADB-8E2EC5A735B6}" type="presParOf" srcId="{C6D9AA18-0A45-4193-8EB4-5F0E1E437044}" destId="{ED3D7601-83EE-46C5-A16F-084E10F0CA64}" srcOrd="0" destOrd="0" presId="urn:microsoft.com/office/officeart/2008/layout/HorizontalMultiLevelHierarchy"/>
    <dgm:cxn modelId="{C2A41334-B8D6-49CC-A7AA-BF0B237279E5}" type="presParOf" srcId="{ED3D7601-83EE-46C5-A16F-084E10F0CA64}" destId="{4368DF5E-F223-49EA-B332-60EB7CF1E151}" srcOrd="0" destOrd="0" presId="urn:microsoft.com/office/officeart/2008/layout/HorizontalMultiLevelHierarchy"/>
    <dgm:cxn modelId="{DEDEA277-172A-45DF-8DEE-068E95F4FFB0}" type="presParOf" srcId="{C6D9AA18-0A45-4193-8EB4-5F0E1E437044}" destId="{C608DAFB-773E-4F85-9B8C-52FA88F4EF7C}" srcOrd="1" destOrd="0" presId="urn:microsoft.com/office/officeart/2008/layout/HorizontalMultiLevelHierarchy"/>
    <dgm:cxn modelId="{6151407D-8843-4D04-B841-1E1473BA9DE8}" type="presParOf" srcId="{C608DAFB-773E-4F85-9B8C-52FA88F4EF7C}" destId="{D4A0E8F8-D49B-4E28-A38D-8088A6E9952E}" srcOrd="0" destOrd="0" presId="urn:microsoft.com/office/officeart/2008/layout/HorizontalMultiLevelHierarchy"/>
    <dgm:cxn modelId="{E88A07C1-942A-4658-A305-64B0DC191E76}" type="presParOf" srcId="{C608DAFB-773E-4F85-9B8C-52FA88F4EF7C}" destId="{3605350D-86A7-4CB3-AD70-0295D005D223}" srcOrd="1" destOrd="0" presId="urn:microsoft.com/office/officeart/2008/layout/HorizontalMultiLevelHierarchy"/>
    <dgm:cxn modelId="{1AA638B6-0D38-4683-9995-DC45D6408640}" type="presParOf" srcId="{C6D9AA18-0A45-4193-8EB4-5F0E1E437044}" destId="{7A44FBF6-FA7A-48F8-80EF-4A262E8AF7A8}" srcOrd="2" destOrd="0" presId="urn:microsoft.com/office/officeart/2008/layout/HorizontalMultiLevelHierarchy"/>
    <dgm:cxn modelId="{145674B1-316D-4FCC-A1BA-467A605452FF}" type="presParOf" srcId="{7A44FBF6-FA7A-48F8-80EF-4A262E8AF7A8}" destId="{7373E584-E3C4-48C5-8CB5-6EFE48B37625}" srcOrd="0" destOrd="0" presId="urn:microsoft.com/office/officeart/2008/layout/HorizontalMultiLevelHierarchy"/>
    <dgm:cxn modelId="{0601F1A0-7D3B-43FF-9961-8E7ED82C5F4E}" type="presParOf" srcId="{C6D9AA18-0A45-4193-8EB4-5F0E1E437044}" destId="{FA0FFC17-211E-4883-AE56-9FBF875033C8}" srcOrd="3" destOrd="0" presId="urn:microsoft.com/office/officeart/2008/layout/HorizontalMultiLevelHierarchy"/>
    <dgm:cxn modelId="{B61AE8E8-BE8E-4F35-AA41-1EC20CD34091}" type="presParOf" srcId="{FA0FFC17-211E-4883-AE56-9FBF875033C8}" destId="{02BB3644-6935-42A0-8594-035DDFC588F8}" srcOrd="0" destOrd="0" presId="urn:microsoft.com/office/officeart/2008/layout/HorizontalMultiLevelHierarchy"/>
    <dgm:cxn modelId="{7217D75C-B6B9-4DB0-B496-85E78876BE54}" type="presParOf" srcId="{FA0FFC17-211E-4883-AE56-9FBF875033C8}" destId="{322D7C85-77D4-43AD-8AC5-5818372A7D3F}" srcOrd="1" destOrd="0" presId="urn:microsoft.com/office/officeart/2008/layout/HorizontalMultiLevelHierarchy"/>
    <dgm:cxn modelId="{950C37FF-E3F6-4923-A844-FA4C2A6206EA}" type="presParOf" srcId="{125D403B-8DF0-449D-8D81-4D24E128FD2F}" destId="{8C833F80-5DB8-4C82-B5EE-96C9A317A7E0}" srcOrd="2" destOrd="0" presId="urn:microsoft.com/office/officeart/2008/layout/HorizontalMultiLevelHierarchy"/>
    <dgm:cxn modelId="{416F18AB-0988-493D-8682-C73344FCED86}" type="presParOf" srcId="{8C833F80-5DB8-4C82-B5EE-96C9A317A7E0}" destId="{7FFE6DD9-DFDA-43F2-BECF-4943840C65C9}" srcOrd="0" destOrd="0" presId="urn:microsoft.com/office/officeart/2008/layout/HorizontalMultiLevelHierarchy"/>
    <dgm:cxn modelId="{8C0F95FF-3822-4E68-A9E2-EFD55B5D97B3}" type="presParOf" srcId="{125D403B-8DF0-449D-8D81-4D24E128FD2F}" destId="{596A5CD5-B25C-440E-87EF-E2AB7B316971}" srcOrd="3" destOrd="0" presId="urn:microsoft.com/office/officeart/2008/layout/HorizontalMultiLevelHierarchy"/>
    <dgm:cxn modelId="{6DC49FB8-BA97-446F-839B-6F2869420352}" type="presParOf" srcId="{596A5CD5-B25C-440E-87EF-E2AB7B316971}" destId="{C413CE4B-E50E-47CD-A83B-28EF491F4B14}" srcOrd="0" destOrd="0" presId="urn:microsoft.com/office/officeart/2008/layout/HorizontalMultiLevelHierarchy"/>
    <dgm:cxn modelId="{6EE683EF-F049-4661-866B-33B3D936BF84}" type="presParOf" srcId="{596A5CD5-B25C-440E-87EF-E2AB7B316971}" destId="{14DDD0A2-5BF2-43F7-A4B1-F656F6A21A3E}"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8B556A-83F3-48A6-B13D-2462A4F6F685}" type="doc">
      <dgm:prSet loTypeId="urn:microsoft.com/office/officeart/2005/8/layout/radial4" loCatId="relationship" qsTypeId="urn:microsoft.com/office/officeart/2005/8/quickstyle/simple1" qsCatId="simple" csTypeId="urn:microsoft.com/office/officeart/2005/8/colors/accent1_1" csCatId="accent1" phldr="1"/>
      <dgm:spPr/>
      <dgm:t>
        <a:bodyPr/>
        <a:lstStyle/>
        <a:p>
          <a:endParaRPr lang="en-US"/>
        </a:p>
      </dgm:t>
    </dgm:pt>
    <dgm:pt modelId="{98E301D0-8A90-44AE-91FC-3CD7CB250339}">
      <dgm:prSet phldrT="[Text]"/>
      <dgm:spPr/>
      <dgm:t>
        <a:bodyPr/>
        <a:lstStyle/>
        <a:p>
          <a:r>
            <a:rPr lang="en-US" dirty="0" err="1"/>
            <a:t>Quy</a:t>
          </a:r>
          <a:r>
            <a:rPr lang="en-US" dirty="0"/>
            <a:t> </a:t>
          </a:r>
          <a:r>
            <a:rPr lang="en-US" dirty="0" err="1"/>
            <a:t>mô</a:t>
          </a:r>
          <a:r>
            <a:rPr lang="en-US" dirty="0"/>
            <a:t> </a:t>
          </a:r>
          <a:r>
            <a:rPr lang="en-US" dirty="0" err="1"/>
            <a:t>của</a:t>
          </a:r>
          <a:r>
            <a:rPr lang="en-US" dirty="0"/>
            <a:t> </a:t>
          </a:r>
          <a:r>
            <a:rPr lang="en-US" dirty="0" err="1"/>
            <a:t>tích</a:t>
          </a:r>
          <a:r>
            <a:rPr lang="en-US" dirty="0"/>
            <a:t> </a:t>
          </a:r>
          <a:r>
            <a:rPr lang="en-US" dirty="0" err="1"/>
            <a:t>lũy</a:t>
          </a:r>
          <a:r>
            <a:rPr lang="en-US" dirty="0"/>
            <a:t> </a:t>
          </a:r>
          <a:r>
            <a:rPr lang="en-US" dirty="0" err="1"/>
            <a:t>tư</a:t>
          </a:r>
          <a:r>
            <a:rPr lang="en-US" dirty="0"/>
            <a:t> </a:t>
          </a:r>
          <a:r>
            <a:rPr lang="en-US" dirty="0" err="1"/>
            <a:t>bản</a:t>
          </a:r>
          <a:endParaRPr lang="en-US" dirty="0"/>
        </a:p>
      </dgm:t>
    </dgm:pt>
    <dgm:pt modelId="{48829FFA-1F1E-4FAA-B8D1-6F779C3A8296}" type="parTrans" cxnId="{7D69F809-957D-4767-A8B6-E8126A53886B}">
      <dgm:prSet/>
      <dgm:spPr/>
      <dgm:t>
        <a:bodyPr/>
        <a:lstStyle/>
        <a:p>
          <a:endParaRPr lang="en-US"/>
        </a:p>
      </dgm:t>
    </dgm:pt>
    <dgm:pt modelId="{4138FDB5-151E-45D8-9868-FE4D950D65AE}" type="sibTrans" cxnId="{7D69F809-957D-4767-A8B6-E8126A53886B}">
      <dgm:prSet/>
      <dgm:spPr/>
      <dgm:t>
        <a:bodyPr/>
        <a:lstStyle/>
        <a:p>
          <a:endParaRPr lang="en-US"/>
        </a:p>
      </dgm:t>
    </dgm:pt>
    <dgm:pt modelId="{52D50649-3E12-4AD0-90E4-38C2621514B4}">
      <dgm:prSet/>
      <dgm:spPr/>
      <dgm:t>
        <a:bodyPr/>
        <a:lstStyle/>
        <a:p>
          <a:r>
            <a:rPr lang="en-US" dirty="0"/>
            <a:t>Trình </a:t>
          </a:r>
          <a:r>
            <a:rPr lang="en-US" dirty="0" err="1"/>
            <a:t>độ</a:t>
          </a:r>
          <a:r>
            <a:rPr lang="en-US" dirty="0"/>
            <a:t> </a:t>
          </a:r>
          <a:r>
            <a:rPr lang="en-US" dirty="0" err="1"/>
            <a:t>bóc</a:t>
          </a:r>
          <a:r>
            <a:rPr lang="en-US" dirty="0"/>
            <a:t> </a:t>
          </a:r>
          <a:r>
            <a:rPr lang="en-US" dirty="0" err="1"/>
            <a:t>lột</a:t>
          </a:r>
          <a:r>
            <a:rPr lang="en-US" dirty="0"/>
            <a:t> (m’)</a:t>
          </a:r>
        </a:p>
      </dgm:t>
    </dgm:pt>
    <dgm:pt modelId="{064FE3F3-F7E8-4084-9132-78F2A31CAA7E}" type="parTrans" cxnId="{FF5526A2-25DB-49DC-A71B-18DCE2611BEE}">
      <dgm:prSet/>
      <dgm:spPr/>
      <dgm:t>
        <a:bodyPr/>
        <a:lstStyle/>
        <a:p>
          <a:endParaRPr lang="en-US"/>
        </a:p>
      </dgm:t>
    </dgm:pt>
    <dgm:pt modelId="{E6044173-5344-445A-A337-F9B4E40583A3}" type="sibTrans" cxnId="{FF5526A2-25DB-49DC-A71B-18DCE2611BEE}">
      <dgm:prSet/>
      <dgm:spPr/>
      <dgm:t>
        <a:bodyPr/>
        <a:lstStyle/>
        <a:p>
          <a:endParaRPr lang="en-US"/>
        </a:p>
      </dgm:t>
    </dgm:pt>
    <dgm:pt modelId="{11222D8B-34F0-4EEA-86FE-9025984CDE7D}">
      <dgm:prSet/>
      <dgm:spPr/>
      <dgm:t>
        <a:bodyPr/>
        <a:lstStyle/>
        <a:p>
          <a:r>
            <a:rPr lang="en-US" dirty="0" err="1"/>
            <a:t>Năng</a:t>
          </a:r>
          <a:r>
            <a:rPr lang="en-US" dirty="0"/>
            <a:t> </a:t>
          </a:r>
          <a:r>
            <a:rPr lang="en-US" dirty="0" err="1"/>
            <a:t>suất</a:t>
          </a:r>
          <a:r>
            <a:rPr lang="en-US" dirty="0"/>
            <a:t> </a:t>
          </a:r>
          <a:r>
            <a:rPr lang="en-US" dirty="0" err="1"/>
            <a:t>lao</a:t>
          </a:r>
          <a:r>
            <a:rPr lang="en-US" dirty="0"/>
            <a:t> </a:t>
          </a:r>
          <a:r>
            <a:rPr lang="en-US" dirty="0" err="1"/>
            <a:t>động</a:t>
          </a:r>
          <a:endParaRPr lang="en-US" dirty="0"/>
        </a:p>
      </dgm:t>
    </dgm:pt>
    <dgm:pt modelId="{F90AFF67-97FC-42C2-A2C7-7F98C33B3103}" type="parTrans" cxnId="{6B994DAB-F7E1-450D-B221-3C9AA39EAE30}">
      <dgm:prSet/>
      <dgm:spPr/>
      <dgm:t>
        <a:bodyPr/>
        <a:lstStyle/>
        <a:p>
          <a:endParaRPr lang="en-US"/>
        </a:p>
      </dgm:t>
    </dgm:pt>
    <dgm:pt modelId="{7432091D-8B47-4220-A874-717CA99F1A67}" type="sibTrans" cxnId="{6B994DAB-F7E1-450D-B221-3C9AA39EAE30}">
      <dgm:prSet/>
      <dgm:spPr/>
      <dgm:t>
        <a:bodyPr/>
        <a:lstStyle/>
        <a:p>
          <a:endParaRPr lang="en-US"/>
        </a:p>
      </dgm:t>
    </dgm:pt>
    <dgm:pt modelId="{0CC6498D-582A-4D42-9FCB-744752FD1A76}">
      <dgm:prSet/>
      <dgm:spPr/>
      <dgm:t>
        <a:bodyPr/>
        <a:lstStyle/>
        <a:p>
          <a:r>
            <a:rPr lang="en-US" dirty="0" err="1"/>
            <a:t>Quy</a:t>
          </a:r>
          <a:r>
            <a:rPr lang="en-US" dirty="0"/>
            <a:t> </a:t>
          </a:r>
          <a:r>
            <a:rPr lang="en-US" dirty="0" err="1"/>
            <a:t>mô</a:t>
          </a:r>
          <a:r>
            <a:rPr lang="en-US" dirty="0"/>
            <a:t> </a:t>
          </a:r>
          <a:r>
            <a:rPr lang="en-US" dirty="0" err="1"/>
            <a:t>của</a:t>
          </a:r>
          <a:r>
            <a:rPr lang="en-US" dirty="0"/>
            <a:t> </a:t>
          </a:r>
          <a:r>
            <a:rPr lang="en-US" dirty="0" err="1"/>
            <a:t>tư</a:t>
          </a:r>
          <a:r>
            <a:rPr lang="en-US" dirty="0"/>
            <a:t> </a:t>
          </a:r>
          <a:r>
            <a:rPr lang="en-US" dirty="0" err="1"/>
            <a:t>bản</a:t>
          </a:r>
          <a:r>
            <a:rPr lang="en-US" dirty="0"/>
            <a:t> </a:t>
          </a:r>
          <a:r>
            <a:rPr lang="en-US" dirty="0" err="1"/>
            <a:t>ứng</a:t>
          </a:r>
          <a:r>
            <a:rPr lang="en-US" dirty="0"/>
            <a:t> </a:t>
          </a:r>
          <a:r>
            <a:rPr lang="en-US" dirty="0" err="1"/>
            <a:t>trước</a:t>
          </a:r>
          <a:endParaRPr lang="en-US" dirty="0"/>
        </a:p>
      </dgm:t>
    </dgm:pt>
    <dgm:pt modelId="{77E39D04-FDEC-4EA6-AD26-72CBF192EB24}" type="parTrans" cxnId="{61D82A5F-2BE2-48EC-B5F0-B7E8515A7FD7}">
      <dgm:prSet/>
      <dgm:spPr/>
      <dgm:t>
        <a:bodyPr/>
        <a:lstStyle/>
        <a:p>
          <a:endParaRPr lang="en-US"/>
        </a:p>
      </dgm:t>
    </dgm:pt>
    <dgm:pt modelId="{040EDD8A-D5B0-450A-9EE4-D75867980AE3}" type="sibTrans" cxnId="{61D82A5F-2BE2-48EC-B5F0-B7E8515A7FD7}">
      <dgm:prSet/>
      <dgm:spPr/>
      <dgm:t>
        <a:bodyPr/>
        <a:lstStyle/>
        <a:p>
          <a:endParaRPr lang="en-US"/>
        </a:p>
      </dgm:t>
    </dgm:pt>
    <dgm:pt modelId="{73B42D62-205E-48A4-BE09-74748074F2C7}">
      <dgm:prSet/>
      <dgm:spPr/>
      <dgm:t>
        <a:bodyPr/>
        <a:lstStyle/>
        <a:p>
          <a:r>
            <a:rPr lang="en-US" dirty="0" err="1"/>
            <a:t>Chênh</a:t>
          </a:r>
          <a:r>
            <a:rPr lang="en-US" dirty="0"/>
            <a:t> </a:t>
          </a:r>
          <a:r>
            <a:rPr lang="en-US" dirty="0" err="1"/>
            <a:t>lệch</a:t>
          </a:r>
          <a:r>
            <a:rPr lang="en-US" dirty="0"/>
            <a:t> </a:t>
          </a:r>
          <a:r>
            <a:rPr lang="en-US" dirty="0" err="1"/>
            <a:t>giữa</a:t>
          </a:r>
          <a:r>
            <a:rPr lang="en-US" dirty="0"/>
            <a:t> </a:t>
          </a:r>
          <a:r>
            <a:rPr lang="en-US" dirty="0" err="1"/>
            <a:t>tư</a:t>
          </a:r>
          <a:r>
            <a:rPr lang="en-US" dirty="0"/>
            <a:t> </a:t>
          </a:r>
          <a:r>
            <a:rPr lang="en-US" dirty="0" err="1"/>
            <a:t>bản</a:t>
          </a:r>
          <a:r>
            <a:rPr lang="en-US" dirty="0"/>
            <a:t> </a:t>
          </a:r>
          <a:r>
            <a:rPr lang="en-US" dirty="0" err="1"/>
            <a:t>sử</a:t>
          </a:r>
          <a:r>
            <a:rPr lang="en-US" dirty="0"/>
            <a:t> </a:t>
          </a:r>
          <a:r>
            <a:rPr lang="en-US" dirty="0" err="1"/>
            <a:t>dụng</a:t>
          </a:r>
          <a:r>
            <a:rPr lang="en-US" dirty="0"/>
            <a:t> </a:t>
          </a:r>
          <a:r>
            <a:rPr lang="en-US" dirty="0" err="1"/>
            <a:t>và</a:t>
          </a:r>
          <a:r>
            <a:rPr lang="en-US" dirty="0"/>
            <a:t> </a:t>
          </a:r>
          <a:r>
            <a:rPr lang="en-US" dirty="0" err="1"/>
            <a:t>tư</a:t>
          </a:r>
          <a:r>
            <a:rPr lang="en-US" dirty="0"/>
            <a:t> </a:t>
          </a:r>
          <a:r>
            <a:rPr lang="en-US" dirty="0" err="1"/>
            <a:t>bản</a:t>
          </a:r>
          <a:r>
            <a:rPr lang="en-US" dirty="0"/>
            <a:t> </a:t>
          </a:r>
          <a:r>
            <a:rPr lang="en-US" dirty="0" err="1"/>
            <a:t>tiêu</a:t>
          </a:r>
          <a:r>
            <a:rPr lang="en-US" dirty="0"/>
            <a:t> </a:t>
          </a:r>
          <a:r>
            <a:rPr lang="en-US" dirty="0" err="1"/>
            <a:t>dùng</a:t>
          </a:r>
          <a:endParaRPr lang="en-US" dirty="0"/>
        </a:p>
      </dgm:t>
    </dgm:pt>
    <dgm:pt modelId="{F0ECDCA1-A03A-44E0-A024-14FFE5701940}" type="parTrans" cxnId="{EADF879A-B1BF-4D90-9A85-5027765B725B}">
      <dgm:prSet/>
      <dgm:spPr/>
      <dgm:t>
        <a:bodyPr/>
        <a:lstStyle/>
        <a:p>
          <a:endParaRPr lang="en-US"/>
        </a:p>
      </dgm:t>
    </dgm:pt>
    <dgm:pt modelId="{E665BC31-A76B-45D2-9EFB-68E299AC22E7}" type="sibTrans" cxnId="{EADF879A-B1BF-4D90-9A85-5027765B725B}">
      <dgm:prSet/>
      <dgm:spPr/>
      <dgm:t>
        <a:bodyPr/>
        <a:lstStyle/>
        <a:p>
          <a:endParaRPr lang="en-US"/>
        </a:p>
      </dgm:t>
    </dgm:pt>
    <dgm:pt modelId="{28BDC887-C8FD-4283-86C8-03583D5901A7}" type="pres">
      <dgm:prSet presAssocID="{CD8B556A-83F3-48A6-B13D-2462A4F6F685}" presName="cycle" presStyleCnt="0">
        <dgm:presLayoutVars>
          <dgm:chMax val="1"/>
          <dgm:dir/>
          <dgm:animLvl val="ctr"/>
          <dgm:resizeHandles val="exact"/>
        </dgm:presLayoutVars>
      </dgm:prSet>
      <dgm:spPr/>
    </dgm:pt>
    <dgm:pt modelId="{C91E7C85-CEA2-4F41-9DB8-DEE5D247C0C8}" type="pres">
      <dgm:prSet presAssocID="{98E301D0-8A90-44AE-91FC-3CD7CB250339}" presName="centerShape" presStyleLbl="node0" presStyleIdx="0" presStyleCnt="1"/>
      <dgm:spPr/>
    </dgm:pt>
    <dgm:pt modelId="{9369D429-FBF7-4DE6-B5C3-C2606BB0E0F0}" type="pres">
      <dgm:prSet presAssocID="{064FE3F3-F7E8-4084-9132-78F2A31CAA7E}" presName="parTrans" presStyleLbl="bgSibTrans2D1" presStyleIdx="0" presStyleCnt="4"/>
      <dgm:spPr/>
    </dgm:pt>
    <dgm:pt modelId="{873B91CF-69B5-4CAF-B582-34A7A696A253}" type="pres">
      <dgm:prSet presAssocID="{52D50649-3E12-4AD0-90E4-38C2621514B4}" presName="node" presStyleLbl="node1" presStyleIdx="0" presStyleCnt="4">
        <dgm:presLayoutVars>
          <dgm:bulletEnabled val="1"/>
        </dgm:presLayoutVars>
      </dgm:prSet>
      <dgm:spPr/>
    </dgm:pt>
    <dgm:pt modelId="{7D1730D9-1400-44D5-A350-99CB187419A8}" type="pres">
      <dgm:prSet presAssocID="{F90AFF67-97FC-42C2-A2C7-7F98C33B3103}" presName="parTrans" presStyleLbl="bgSibTrans2D1" presStyleIdx="1" presStyleCnt="4"/>
      <dgm:spPr/>
    </dgm:pt>
    <dgm:pt modelId="{22EC2173-A9A9-4ADB-9E19-7BB289F30AA2}" type="pres">
      <dgm:prSet presAssocID="{11222D8B-34F0-4EEA-86FE-9025984CDE7D}" presName="node" presStyleLbl="node1" presStyleIdx="1" presStyleCnt="4">
        <dgm:presLayoutVars>
          <dgm:bulletEnabled val="1"/>
        </dgm:presLayoutVars>
      </dgm:prSet>
      <dgm:spPr/>
    </dgm:pt>
    <dgm:pt modelId="{2919E416-3DDB-41E8-9F7E-D5C544F3B7C7}" type="pres">
      <dgm:prSet presAssocID="{77E39D04-FDEC-4EA6-AD26-72CBF192EB24}" presName="parTrans" presStyleLbl="bgSibTrans2D1" presStyleIdx="2" presStyleCnt="4"/>
      <dgm:spPr/>
    </dgm:pt>
    <dgm:pt modelId="{B21D7500-336D-4F4B-9957-DD965D4A9958}" type="pres">
      <dgm:prSet presAssocID="{0CC6498D-582A-4D42-9FCB-744752FD1A76}" presName="node" presStyleLbl="node1" presStyleIdx="2" presStyleCnt="4">
        <dgm:presLayoutVars>
          <dgm:bulletEnabled val="1"/>
        </dgm:presLayoutVars>
      </dgm:prSet>
      <dgm:spPr/>
    </dgm:pt>
    <dgm:pt modelId="{04DB9DC8-C1F9-48E4-A45E-92A31AAA643B}" type="pres">
      <dgm:prSet presAssocID="{F0ECDCA1-A03A-44E0-A024-14FFE5701940}" presName="parTrans" presStyleLbl="bgSibTrans2D1" presStyleIdx="3" presStyleCnt="4"/>
      <dgm:spPr/>
    </dgm:pt>
    <dgm:pt modelId="{A63D56D4-996F-43A5-BFDB-FE4CC94809A0}" type="pres">
      <dgm:prSet presAssocID="{73B42D62-205E-48A4-BE09-74748074F2C7}" presName="node" presStyleLbl="node1" presStyleIdx="3" presStyleCnt="4">
        <dgm:presLayoutVars>
          <dgm:bulletEnabled val="1"/>
        </dgm:presLayoutVars>
      </dgm:prSet>
      <dgm:spPr/>
    </dgm:pt>
  </dgm:ptLst>
  <dgm:cxnLst>
    <dgm:cxn modelId="{7D69F809-957D-4767-A8B6-E8126A53886B}" srcId="{CD8B556A-83F3-48A6-B13D-2462A4F6F685}" destId="{98E301D0-8A90-44AE-91FC-3CD7CB250339}" srcOrd="0" destOrd="0" parTransId="{48829FFA-1F1E-4FAA-B8D1-6F779C3A8296}" sibTransId="{4138FDB5-151E-45D8-9868-FE4D950D65AE}"/>
    <dgm:cxn modelId="{6C564B1B-42F9-4C2C-A78F-5FAEEE063DD8}" type="presOf" srcId="{F0ECDCA1-A03A-44E0-A024-14FFE5701940}" destId="{04DB9DC8-C1F9-48E4-A45E-92A31AAA643B}" srcOrd="0" destOrd="0" presId="urn:microsoft.com/office/officeart/2005/8/layout/radial4"/>
    <dgm:cxn modelId="{43D96E1F-1D7E-43AD-91F6-169758D823AE}" type="presOf" srcId="{98E301D0-8A90-44AE-91FC-3CD7CB250339}" destId="{C91E7C85-CEA2-4F41-9DB8-DEE5D247C0C8}" srcOrd="0" destOrd="0" presId="urn:microsoft.com/office/officeart/2005/8/layout/radial4"/>
    <dgm:cxn modelId="{EB1A3D40-F0C9-4441-A69C-D9475CB83CA6}" type="presOf" srcId="{11222D8B-34F0-4EEA-86FE-9025984CDE7D}" destId="{22EC2173-A9A9-4ADB-9E19-7BB289F30AA2}" srcOrd="0" destOrd="0" presId="urn:microsoft.com/office/officeart/2005/8/layout/radial4"/>
    <dgm:cxn modelId="{61D82A5F-2BE2-48EC-B5F0-B7E8515A7FD7}" srcId="{98E301D0-8A90-44AE-91FC-3CD7CB250339}" destId="{0CC6498D-582A-4D42-9FCB-744752FD1A76}" srcOrd="2" destOrd="0" parTransId="{77E39D04-FDEC-4EA6-AD26-72CBF192EB24}" sibTransId="{040EDD8A-D5B0-450A-9EE4-D75867980AE3}"/>
    <dgm:cxn modelId="{B7929A72-5F35-48E4-B531-BC8F58AD7619}" type="presOf" srcId="{73B42D62-205E-48A4-BE09-74748074F2C7}" destId="{A63D56D4-996F-43A5-BFDB-FE4CC94809A0}" srcOrd="0" destOrd="0" presId="urn:microsoft.com/office/officeart/2005/8/layout/radial4"/>
    <dgm:cxn modelId="{452A8880-FD29-4A62-B4D8-73584F5492DE}" type="presOf" srcId="{52D50649-3E12-4AD0-90E4-38C2621514B4}" destId="{873B91CF-69B5-4CAF-B582-34A7A696A253}" srcOrd="0" destOrd="0" presId="urn:microsoft.com/office/officeart/2005/8/layout/radial4"/>
    <dgm:cxn modelId="{C9138087-3CD1-4A50-BFBA-CCE6C58F317D}" type="presOf" srcId="{CD8B556A-83F3-48A6-B13D-2462A4F6F685}" destId="{28BDC887-C8FD-4283-86C8-03583D5901A7}" srcOrd="0" destOrd="0" presId="urn:microsoft.com/office/officeart/2005/8/layout/radial4"/>
    <dgm:cxn modelId="{1B068699-DE4A-4BAB-8239-8C9A78745427}" type="presOf" srcId="{F90AFF67-97FC-42C2-A2C7-7F98C33B3103}" destId="{7D1730D9-1400-44D5-A350-99CB187419A8}" srcOrd="0" destOrd="0" presId="urn:microsoft.com/office/officeart/2005/8/layout/radial4"/>
    <dgm:cxn modelId="{EADF879A-B1BF-4D90-9A85-5027765B725B}" srcId="{98E301D0-8A90-44AE-91FC-3CD7CB250339}" destId="{73B42D62-205E-48A4-BE09-74748074F2C7}" srcOrd="3" destOrd="0" parTransId="{F0ECDCA1-A03A-44E0-A024-14FFE5701940}" sibTransId="{E665BC31-A76B-45D2-9EFB-68E299AC22E7}"/>
    <dgm:cxn modelId="{FF5526A2-25DB-49DC-A71B-18DCE2611BEE}" srcId="{98E301D0-8A90-44AE-91FC-3CD7CB250339}" destId="{52D50649-3E12-4AD0-90E4-38C2621514B4}" srcOrd="0" destOrd="0" parTransId="{064FE3F3-F7E8-4084-9132-78F2A31CAA7E}" sibTransId="{E6044173-5344-445A-A337-F9B4E40583A3}"/>
    <dgm:cxn modelId="{6B994DAB-F7E1-450D-B221-3C9AA39EAE30}" srcId="{98E301D0-8A90-44AE-91FC-3CD7CB250339}" destId="{11222D8B-34F0-4EEA-86FE-9025984CDE7D}" srcOrd="1" destOrd="0" parTransId="{F90AFF67-97FC-42C2-A2C7-7F98C33B3103}" sibTransId="{7432091D-8B47-4220-A874-717CA99F1A67}"/>
    <dgm:cxn modelId="{025DDDC9-0BA8-4023-87F0-15CEB2CA6B99}" type="presOf" srcId="{77E39D04-FDEC-4EA6-AD26-72CBF192EB24}" destId="{2919E416-3DDB-41E8-9F7E-D5C544F3B7C7}" srcOrd="0" destOrd="0" presId="urn:microsoft.com/office/officeart/2005/8/layout/radial4"/>
    <dgm:cxn modelId="{B426C9D2-ACA4-49DD-809B-501E73E0F96B}" type="presOf" srcId="{064FE3F3-F7E8-4084-9132-78F2A31CAA7E}" destId="{9369D429-FBF7-4DE6-B5C3-C2606BB0E0F0}" srcOrd="0" destOrd="0" presId="urn:microsoft.com/office/officeart/2005/8/layout/radial4"/>
    <dgm:cxn modelId="{8A70B1F5-D5B9-4B85-9C18-6093E9B5DF30}" type="presOf" srcId="{0CC6498D-582A-4D42-9FCB-744752FD1A76}" destId="{B21D7500-336D-4F4B-9957-DD965D4A9958}" srcOrd="0" destOrd="0" presId="urn:microsoft.com/office/officeart/2005/8/layout/radial4"/>
    <dgm:cxn modelId="{ECDF1335-1081-4064-BB73-B4EFDCDB557E}" type="presParOf" srcId="{28BDC887-C8FD-4283-86C8-03583D5901A7}" destId="{C91E7C85-CEA2-4F41-9DB8-DEE5D247C0C8}" srcOrd="0" destOrd="0" presId="urn:microsoft.com/office/officeart/2005/8/layout/radial4"/>
    <dgm:cxn modelId="{700919C2-BE15-4A03-BAA9-55D0B57F0879}" type="presParOf" srcId="{28BDC887-C8FD-4283-86C8-03583D5901A7}" destId="{9369D429-FBF7-4DE6-B5C3-C2606BB0E0F0}" srcOrd="1" destOrd="0" presId="urn:microsoft.com/office/officeart/2005/8/layout/radial4"/>
    <dgm:cxn modelId="{F9FE8761-396E-4B6E-B2F5-07BD8C404E45}" type="presParOf" srcId="{28BDC887-C8FD-4283-86C8-03583D5901A7}" destId="{873B91CF-69B5-4CAF-B582-34A7A696A253}" srcOrd="2" destOrd="0" presId="urn:microsoft.com/office/officeart/2005/8/layout/radial4"/>
    <dgm:cxn modelId="{161912CB-E07B-4210-AD5B-809522DE50F1}" type="presParOf" srcId="{28BDC887-C8FD-4283-86C8-03583D5901A7}" destId="{7D1730D9-1400-44D5-A350-99CB187419A8}" srcOrd="3" destOrd="0" presId="urn:microsoft.com/office/officeart/2005/8/layout/radial4"/>
    <dgm:cxn modelId="{FEFF9054-D689-446B-BADB-B61A6B2B834E}" type="presParOf" srcId="{28BDC887-C8FD-4283-86C8-03583D5901A7}" destId="{22EC2173-A9A9-4ADB-9E19-7BB289F30AA2}" srcOrd="4" destOrd="0" presId="urn:microsoft.com/office/officeart/2005/8/layout/radial4"/>
    <dgm:cxn modelId="{80987437-A8C6-4383-BC27-7E1BAAA58055}" type="presParOf" srcId="{28BDC887-C8FD-4283-86C8-03583D5901A7}" destId="{2919E416-3DDB-41E8-9F7E-D5C544F3B7C7}" srcOrd="5" destOrd="0" presId="urn:microsoft.com/office/officeart/2005/8/layout/radial4"/>
    <dgm:cxn modelId="{78E2AD12-FF89-4DA2-B2C6-5FA3940D99C5}" type="presParOf" srcId="{28BDC887-C8FD-4283-86C8-03583D5901A7}" destId="{B21D7500-336D-4F4B-9957-DD965D4A9958}" srcOrd="6" destOrd="0" presId="urn:microsoft.com/office/officeart/2005/8/layout/radial4"/>
    <dgm:cxn modelId="{5F7E99AB-3B00-4A45-98FA-48825EB74776}" type="presParOf" srcId="{28BDC887-C8FD-4283-86C8-03583D5901A7}" destId="{04DB9DC8-C1F9-48E4-A45E-92A31AAA643B}" srcOrd="7" destOrd="0" presId="urn:microsoft.com/office/officeart/2005/8/layout/radial4"/>
    <dgm:cxn modelId="{FD50FD07-78A3-4189-A15B-EDF6C92CBB45}" type="presParOf" srcId="{28BDC887-C8FD-4283-86C8-03583D5901A7}" destId="{A63D56D4-996F-43A5-BFDB-FE4CC94809A0}" srcOrd="8"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D62EEB-3A0C-4952-8E87-595BBA753F45}" type="doc">
      <dgm:prSet loTypeId="urn:microsoft.com/office/officeart/2008/layout/RadialCluster" loCatId="cycle" qsTypeId="urn:microsoft.com/office/officeart/2005/8/quickstyle/simple1" qsCatId="simple" csTypeId="urn:microsoft.com/office/officeart/2005/8/colors/accent0_1" csCatId="mainScheme" phldr="1"/>
      <dgm:spPr/>
      <dgm:t>
        <a:bodyPr/>
        <a:lstStyle/>
        <a:p>
          <a:endParaRPr lang="en-US"/>
        </a:p>
      </dgm:t>
    </dgm:pt>
    <dgm:pt modelId="{7D390105-0CB4-4AF9-A043-C90304FFBA4A}">
      <dgm:prSet phldrT="[Text]"/>
      <dgm:spPr/>
      <dgm:t>
        <a:bodyPr/>
        <a:lstStyle/>
        <a:p>
          <a:r>
            <a:rPr lang="en-US" dirty="0" err="1">
              <a:solidFill>
                <a:srgbClr val="002060"/>
              </a:solidFill>
            </a:rPr>
            <a:t>Tích</a:t>
          </a:r>
          <a:r>
            <a:rPr lang="en-US" dirty="0">
              <a:solidFill>
                <a:srgbClr val="002060"/>
              </a:solidFill>
            </a:rPr>
            <a:t> </a:t>
          </a:r>
          <a:r>
            <a:rPr lang="en-US" dirty="0" err="1">
              <a:solidFill>
                <a:srgbClr val="002060"/>
              </a:solidFill>
            </a:rPr>
            <a:t>lũy</a:t>
          </a:r>
          <a:r>
            <a:rPr lang="en-US" dirty="0">
              <a:solidFill>
                <a:srgbClr val="002060"/>
              </a:solidFill>
            </a:rPr>
            <a:t> Tư </a:t>
          </a:r>
          <a:r>
            <a:rPr lang="en-US" dirty="0" err="1">
              <a:solidFill>
                <a:srgbClr val="002060"/>
              </a:solidFill>
            </a:rPr>
            <a:t>bản</a:t>
          </a:r>
          <a:endParaRPr lang="en-US" dirty="0">
            <a:solidFill>
              <a:srgbClr val="002060"/>
            </a:solidFill>
          </a:endParaRPr>
        </a:p>
      </dgm:t>
    </dgm:pt>
    <dgm:pt modelId="{A29CE024-B699-4B2F-9ED3-F2E9CE9285AD}" type="parTrans" cxnId="{9F7763EC-2E99-4351-95B7-B7A20E5DB41B}">
      <dgm:prSet/>
      <dgm:spPr/>
      <dgm:t>
        <a:bodyPr/>
        <a:lstStyle/>
        <a:p>
          <a:endParaRPr lang="en-US">
            <a:solidFill>
              <a:srgbClr val="002060"/>
            </a:solidFill>
          </a:endParaRPr>
        </a:p>
      </dgm:t>
    </dgm:pt>
    <dgm:pt modelId="{FCF1210B-1A01-4362-919E-DADEE7584241}" type="sibTrans" cxnId="{9F7763EC-2E99-4351-95B7-B7A20E5DB41B}">
      <dgm:prSet/>
      <dgm:spPr/>
      <dgm:t>
        <a:bodyPr/>
        <a:lstStyle/>
        <a:p>
          <a:endParaRPr lang="en-US">
            <a:solidFill>
              <a:srgbClr val="002060"/>
            </a:solidFill>
          </a:endParaRPr>
        </a:p>
      </dgm:t>
    </dgm:pt>
    <dgm:pt modelId="{A5025E2B-7E2E-46A3-B951-54211D7CE016}">
      <dgm:prSet phldrT="[Text]" custT="1"/>
      <dgm:spPr/>
      <dgm:t>
        <a:bodyPr/>
        <a:lstStyle/>
        <a:p>
          <a:r>
            <a:rPr lang="en-US" sz="4000" dirty="0" err="1">
              <a:solidFill>
                <a:srgbClr val="002060"/>
              </a:solidFill>
            </a:rPr>
            <a:t>Tăng</a:t>
          </a:r>
          <a:r>
            <a:rPr lang="en-US" sz="4000" dirty="0">
              <a:solidFill>
                <a:srgbClr val="002060"/>
              </a:solidFill>
            </a:rPr>
            <a:t> </a:t>
          </a:r>
          <a:r>
            <a:rPr lang="en-US" sz="4000" dirty="0" err="1">
              <a:solidFill>
                <a:srgbClr val="002060"/>
              </a:solidFill>
            </a:rPr>
            <a:t>tích</a:t>
          </a:r>
          <a:r>
            <a:rPr lang="en-US" sz="4000" dirty="0">
              <a:solidFill>
                <a:srgbClr val="002060"/>
              </a:solidFill>
            </a:rPr>
            <a:t> </a:t>
          </a:r>
          <a:r>
            <a:rPr lang="en-US" sz="4000" dirty="0" err="1">
              <a:solidFill>
                <a:srgbClr val="002060"/>
              </a:solidFill>
            </a:rPr>
            <a:t>tụ</a:t>
          </a:r>
          <a:r>
            <a:rPr lang="en-US" sz="4000" dirty="0">
              <a:solidFill>
                <a:srgbClr val="002060"/>
              </a:solidFill>
            </a:rPr>
            <a:t> </a:t>
          </a:r>
          <a:r>
            <a:rPr lang="en-US" sz="4000" dirty="0" err="1">
              <a:solidFill>
                <a:srgbClr val="002060"/>
              </a:solidFill>
            </a:rPr>
            <a:t>và</a:t>
          </a:r>
          <a:r>
            <a:rPr lang="en-US" sz="4000" dirty="0">
              <a:solidFill>
                <a:srgbClr val="002060"/>
              </a:solidFill>
            </a:rPr>
            <a:t> </a:t>
          </a:r>
          <a:r>
            <a:rPr lang="en-US" sz="4000" dirty="0" err="1">
              <a:solidFill>
                <a:srgbClr val="002060"/>
              </a:solidFill>
            </a:rPr>
            <a:t>tập</a:t>
          </a:r>
          <a:r>
            <a:rPr lang="en-US" sz="4000" dirty="0">
              <a:solidFill>
                <a:srgbClr val="002060"/>
              </a:solidFill>
            </a:rPr>
            <a:t> </a:t>
          </a:r>
          <a:r>
            <a:rPr lang="en-US" sz="4000" dirty="0" err="1">
              <a:solidFill>
                <a:srgbClr val="002060"/>
              </a:solidFill>
            </a:rPr>
            <a:t>trung</a:t>
          </a:r>
          <a:r>
            <a:rPr lang="en-US" sz="4000" dirty="0">
              <a:solidFill>
                <a:srgbClr val="002060"/>
              </a:solidFill>
            </a:rPr>
            <a:t> </a:t>
          </a:r>
          <a:r>
            <a:rPr lang="en-US" sz="4000" dirty="0" err="1">
              <a:solidFill>
                <a:srgbClr val="002060"/>
              </a:solidFill>
            </a:rPr>
            <a:t>tư</a:t>
          </a:r>
          <a:r>
            <a:rPr lang="en-US" sz="4000" dirty="0">
              <a:solidFill>
                <a:srgbClr val="002060"/>
              </a:solidFill>
            </a:rPr>
            <a:t> </a:t>
          </a:r>
          <a:r>
            <a:rPr lang="en-US" sz="4000" dirty="0" err="1">
              <a:solidFill>
                <a:srgbClr val="002060"/>
              </a:solidFill>
            </a:rPr>
            <a:t>bản</a:t>
          </a:r>
          <a:endParaRPr lang="en-US" sz="4000" dirty="0">
            <a:solidFill>
              <a:srgbClr val="002060"/>
            </a:solidFill>
          </a:endParaRPr>
        </a:p>
      </dgm:t>
    </dgm:pt>
    <dgm:pt modelId="{1919FF78-2BE3-49E8-AC91-D424FAA25E56}" type="parTrans" cxnId="{5361215B-FBED-4A64-ADCF-E41187966EAB}">
      <dgm:prSet/>
      <dgm:spPr/>
      <dgm:t>
        <a:bodyPr/>
        <a:lstStyle/>
        <a:p>
          <a:endParaRPr lang="en-US">
            <a:solidFill>
              <a:srgbClr val="002060"/>
            </a:solidFill>
          </a:endParaRPr>
        </a:p>
      </dgm:t>
    </dgm:pt>
    <dgm:pt modelId="{65CEA738-8998-492E-83B5-54847C72C259}" type="sibTrans" cxnId="{5361215B-FBED-4A64-ADCF-E41187966EAB}">
      <dgm:prSet/>
      <dgm:spPr/>
      <dgm:t>
        <a:bodyPr/>
        <a:lstStyle/>
        <a:p>
          <a:endParaRPr lang="en-US">
            <a:solidFill>
              <a:srgbClr val="002060"/>
            </a:solidFill>
          </a:endParaRPr>
        </a:p>
      </dgm:t>
    </dgm:pt>
    <dgm:pt modelId="{8836413B-2EA0-40C6-B524-37C5FA3896A4}">
      <dgm:prSet phldrT="[Text]" custT="1"/>
      <dgm:spPr/>
      <dgm:t>
        <a:bodyPr/>
        <a:lstStyle/>
        <a:p>
          <a:r>
            <a:rPr lang="en-US" sz="4000" dirty="0" err="1">
              <a:solidFill>
                <a:srgbClr val="002060"/>
              </a:solidFill>
            </a:rPr>
            <a:t>Tăng</a:t>
          </a:r>
          <a:r>
            <a:rPr lang="en-US" sz="4000" dirty="0">
              <a:solidFill>
                <a:srgbClr val="002060"/>
              </a:solidFill>
            </a:rPr>
            <a:t> </a:t>
          </a:r>
          <a:r>
            <a:rPr lang="en-US" sz="4000" dirty="0" err="1">
              <a:solidFill>
                <a:srgbClr val="002060"/>
              </a:solidFill>
            </a:rPr>
            <a:t>bất</a:t>
          </a:r>
          <a:r>
            <a:rPr lang="en-US" sz="4000" dirty="0">
              <a:solidFill>
                <a:srgbClr val="002060"/>
              </a:solidFill>
            </a:rPr>
            <a:t> </a:t>
          </a:r>
          <a:r>
            <a:rPr lang="en-US" sz="4000" dirty="0" err="1">
              <a:solidFill>
                <a:srgbClr val="002060"/>
              </a:solidFill>
            </a:rPr>
            <a:t>bình</a:t>
          </a:r>
          <a:r>
            <a:rPr lang="en-US" sz="4000" dirty="0">
              <a:solidFill>
                <a:srgbClr val="002060"/>
              </a:solidFill>
            </a:rPr>
            <a:t> </a:t>
          </a:r>
          <a:r>
            <a:rPr lang="en-US" sz="4000" dirty="0" err="1">
              <a:solidFill>
                <a:srgbClr val="002060"/>
              </a:solidFill>
            </a:rPr>
            <a:t>đẳng</a:t>
          </a:r>
          <a:r>
            <a:rPr lang="en-US" sz="4000" dirty="0">
              <a:solidFill>
                <a:srgbClr val="002060"/>
              </a:solidFill>
            </a:rPr>
            <a:t> </a:t>
          </a:r>
          <a:r>
            <a:rPr lang="en-US" sz="4000" dirty="0" err="1">
              <a:solidFill>
                <a:srgbClr val="002060"/>
              </a:solidFill>
            </a:rPr>
            <a:t>xã</a:t>
          </a:r>
          <a:r>
            <a:rPr lang="en-US" sz="4000" dirty="0">
              <a:solidFill>
                <a:srgbClr val="002060"/>
              </a:solidFill>
            </a:rPr>
            <a:t> </a:t>
          </a:r>
          <a:r>
            <a:rPr lang="en-US" sz="4000" dirty="0" err="1">
              <a:solidFill>
                <a:srgbClr val="002060"/>
              </a:solidFill>
            </a:rPr>
            <a:t>hội</a:t>
          </a:r>
          <a:endParaRPr lang="en-US" sz="4000" dirty="0">
            <a:solidFill>
              <a:srgbClr val="002060"/>
            </a:solidFill>
          </a:endParaRPr>
        </a:p>
      </dgm:t>
    </dgm:pt>
    <dgm:pt modelId="{96F9CC40-DA60-4D04-B240-E172BC43A20B}" type="parTrans" cxnId="{E42CD7FA-1402-4941-9925-AF8D91D73A19}">
      <dgm:prSet/>
      <dgm:spPr/>
      <dgm:t>
        <a:bodyPr/>
        <a:lstStyle/>
        <a:p>
          <a:endParaRPr lang="en-US">
            <a:solidFill>
              <a:srgbClr val="002060"/>
            </a:solidFill>
          </a:endParaRPr>
        </a:p>
      </dgm:t>
    </dgm:pt>
    <dgm:pt modelId="{70CC706D-9F99-49FD-8EEA-2238CDA28017}" type="sibTrans" cxnId="{E42CD7FA-1402-4941-9925-AF8D91D73A19}">
      <dgm:prSet/>
      <dgm:spPr/>
      <dgm:t>
        <a:bodyPr/>
        <a:lstStyle/>
        <a:p>
          <a:endParaRPr lang="en-US">
            <a:solidFill>
              <a:srgbClr val="002060"/>
            </a:solidFill>
          </a:endParaRPr>
        </a:p>
      </dgm:t>
    </dgm:pt>
    <dgm:pt modelId="{D030D6DB-B8C7-4F50-AE87-4FAC268896AB}">
      <dgm:prSet phldrT="[Text]" custT="1"/>
      <dgm:spPr/>
      <dgm:t>
        <a:bodyPr/>
        <a:lstStyle/>
        <a:p>
          <a:r>
            <a:rPr lang="en-US" sz="4000" dirty="0" err="1">
              <a:solidFill>
                <a:srgbClr val="002060"/>
              </a:solidFill>
            </a:rPr>
            <a:t>Tăng</a:t>
          </a:r>
          <a:r>
            <a:rPr lang="en-US" sz="4000" dirty="0">
              <a:solidFill>
                <a:srgbClr val="002060"/>
              </a:solidFill>
            </a:rPr>
            <a:t> </a:t>
          </a:r>
          <a:r>
            <a:rPr lang="en-US" sz="4000" dirty="0" err="1">
              <a:solidFill>
                <a:srgbClr val="002060"/>
              </a:solidFill>
            </a:rPr>
            <a:t>cấu</a:t>
          </a:r>
          <a:r>
            <a:rPr lang="en-US" sz="4000" dirty="0">
              <a:solidFill>
                <a:srgbClr val="002060"/>
              </a:solidFill>
            </a:rPr>
            <a:t> </a:t>
          </a:r>
          <a:r>
            <a:rPr lang="en-US" sz="4000" dirty="0" err="1">
              <a:solidFill>
                <a:srgbClr val="002060"/>
              </a:solidFill>
            </a:rPr>
            <a:t>tạo</a:t>
          </a:r>
          <a:r>
            <a:rPr lang="en-US" sz="4000" dirty="0">
              <a:solidFill>
                <a:srgbClr val="002060"/>
              </a:solidFill>
            </a:rPr>
            <a:t> </a:t>
          </a:r>
          <a:r>
            <a:rPr lang="en-US" sz="4000" dirty="0" err="1">
              <a:solidFill>
                <a:srgbClr val="002060"/>
              </a:solidFill>
            </a:rPr>
            <a:t>hữu</a:t>
          </a:r>
          <a:r>
            <a:rPr lang="en-US" sz="4000" dirty="0">
              <a:solidFill>
                <a:srgbClr val="002060"/>
              </a:solidFill>
            </a:rPr>
            <a:t> </a:t>
          </a:r>
          <a:r>
            <a:rPr lang="en-US" sz="4000" dirty="0" err="1">
              <a:solidFill>
                <a:srgbClr val="002060"/>
              </a:solidFill>
            </a:rPr>
            <a:t>cơ</a:t>
          </a:r>
          <a:r>
            <a:rPr lang="en-US" sz="4000" dirty="0">
              <a:solidFill>
                <a:srgbClr val="002060"/>
              </a:solidFill>
            </a:rPr>
            <a:t> </a:t>
          </a:r>
          <a:r>
            <a:rPr lang="en-US" sz="4000" dirty="0" err="1">
              <a:solidFill>
                <a:srgbClr val="002060"/>
              </a:solidFill>
            </a:rPr>
            <a:t>của</a:t>
          </a:r>
          <a:r>
            <a:rPr lang="en-US" sz="4000" dirty="0">
              <a:solidFill>
                <a:srgbClr val="002060"/>
              </a:solidFill>
            </a:rPr>
            <a:t> </a:t>
          </a:r>
          <a:r>
            <a:rPr lang="en-US" sz="4000" dirty="0" err="1">
              <a:solidFill>
                <a:srgbClr val="002060"/>
              </a:solidFill>
            </a:rPr>
            <a:t>tư</a:t>
          </a:r>
          <a:r>
            <a:rPr lang="en-US" sz="4000" dirty="0">
              <a:solidFill>
                <a:srgbClr val="002060"/>
              </a:solidFill>
            </a:rPr>
            <a:t> </a:t>
          </a:r>
          <a:r>
            <a:rPr lang="en-US" sz="4000" dirty="0" err="1">
              <a:solidFill>
                <a:srgbClr val="002060"/>
              </a:solidFill>
            </a:rPr>
            <a:t>bản</a:t>
          </a:r>
          <a:endParaRPr lang="en-US" sz="4000" dirty="0">
            <a:solidFill>
              <a:srgbClr val="002060"/>
            </a:solidFill>
          </a:endParaRPr>
        </a:p>
      </dgm:t>
    </dgm:pt>
    <dgm:pt modelId="{BAA46B86-1B09-4CDC-838F-A97333863CA7}" type="parTrans" cxnId="{3AB10E31-4D21-4E2E-B8F2-19719FE9A3AE}">
      <dgm:prSet/>
      <dgm:spPr/>
      <dgm:t>
        <a:bodyPr/>
        <a:lstStyle/>
        <a:p>
          <a:endParaRPr lang="en-US">
            <a:solidFill>
              <a:srgbClr val="002060"/>
            </a:solidFill>
          </a:endParaRPr>
        </a:p>
      </dgm:t>
    </dgm:pt>
    <dgm:pt modelId="{C1905A33-8A59-4385-9E9A-78E7A4154FB7}" type="sibTrans" cxnId="{3AB10E31-4D21-4E2E-B8F2-19719FE9A3AE}">
      <dgm:prSet/>
      <dgm:spPr/>
      <dgm:t>
        <a:bodyPr/>
        <a:lstStyle/>
        <a:p>
          <a:endParaRPr lang="en-US">
            <a:solidFill>
              <a:srgbClr val="002060"/>
            </a:solidFill>
          </a:endParaRPr>
        </a:p>
      </dgm:t>
    </dgm:pt>
    <dgm:pt modelId="{638BCDA4-3A95-4460-AECB-660E91BD59BA}" type="pres">
      <dgm:prSet presAssocID="{84D62EEB-3A0C-4952-8E87-595BBA753F45}" presName="Name0" presStyleCnt="0">
        <dgm:presLayoutVars>
          <dgm:chMax val="1"/>
          <dgm:chPref val="1"/>
          <dgm:dir/>
          <dgm:animOne val="branch"/>
          <dgm:animLvl val="lvl"/>
        </dgm:presLayoutVars>
      </dgm:prSet>
      <dgm:spPr/>
    </dgm:pt>
    <dgm:pt modelId="{CEE0A3FE-31B3-4726-A02E-9870C6FC306A}" type="pres">
      <dgm:prSet presAssocID="{7D390105-0CB4-4AF9-A043-C90304FFBA4A}" presName="singleCycle" presStyleCnt="0"/>
      <dgm:spPr/>
    </dgm:pt>
    <dgm:pt modelId="{61566F40-0F1B-4347-8643-0A141057ADEB}" type="pres">
      <dgm:prSet presAssocID="{7D390105-0CB4-4AF9-A043-C90304FFBA4A}" presName="singleCenter" presStyleLbl="node1" presStyleIdx="0" presStyleCnt="4" custLinFactNeighborY="-9153">
        <dgm:presLayoutVars>
          <dgm:chMax val="7"/>
          <dgm:chPref val="7"/>
        </dgm:presLayoutVars>
      </dgm:prSet>
      <dgm:spPr/>
    </dgm:pt>
    <dgm:pt modelId="{CAFC8F94-69D2-4A99-BB98-DBC8E87FB622}" type="pres">
      <dgm:prSet presAssocID="{1919FF78-2BE3-49E8-AC91-D424FAA25E56}" presName="Name56" presStyleLbl="parChTrans1D2" presStyleIdx="0" presStyleCnt="3"/>
      <dgm:spPr/>
    </dgm:pt>
    <dgm:pt modelId="{A7899D3B-72A4-4AE7-AC62-22EA630C0096}" type="pres">
      <dgm:prSet presAssocID="{A5025E2B-7E2E-46A3-B951-54211D7CE016}" presName="text0" presStyleLbl="node1" presStyleIdx="1" presStyleCnt="4" custScaleX="230232">
        <dgm:presLayoutVars>
          <dgm:bulletEnabled val="1"/>
        </dgm:presLayoutVars>
      </dgm:prSet>
      <dgm:spPr/>
    </dgm:pt>
    <dgm:pt modelId="{078C173A-6E7D-4C03-AE47-02C7E9AA6CC2}" type="pres">
      <dgm:prSet presAssocID="{96F9CC40-DA60-4D04-B240-E172BC43A20B}" presName="Name56" presStyleLbl="parChTrans1D2" presStyleIdx="1" presStyleCnt="3"/>
      <dgm:spPr/>
    </dgm:pt>
    <dgm:pt modelId="{B5F7E2F2-2642-4432-B003-F8BB6FF7DD7E}" type="pres">
      <dgm:prSet presAssocID="{8836413B-2EA0-40C6-B524-37C5FA3896A4}" presName="text0" presStyleLbl="node1" presStyleIdx="2" presStyleCnt="4" custScaleX="230232">
        <dgm:presLayoutVars>
          <dgm:bulletEnabled val="1"/>
        </dgm:presLayoutVars>
      </dgm:prSet>
      <dgm:spPr/>
    </dgm:pt>
    <dgm:pt modelId="{3F02984F-1825-4BCE-A042-07E5F2B47FB6}" type="pres">
      <dgm:prSet presAssocID="{BAA46B86-1B09-4CDC-838F-A97333863CA7}" presName="Name56" presStyleLbl="parChTrans1D2" presStyleIdx="2" presStyleCnt="3"/>
      <dgm:spPr/>
    </dgm:pt>
    <dgm:pt modelId="{46841056-3170-4A70-9F0A-2010A357226C}" type="pres">
      <dgm:prSet presAssocID="{D030D6DB-B8C7-4F50-AE87-4FAC268896AB}" presName="text0" presStyleLbl="node1" presStyleIdx="3" presStyleCnt="4" custScaleX="230232">
        <dgm:presLayoutVars>
          <dgm:bulletEnabled val="1"/>
        </dgm:presLayoutVars>
      </dgm:prSet>
      <dgm:spPr/>
    </dgm:pt>
  </dgm:ptLst>
  <dgm:cxnLst>
    <dgm:cxn modelId="{1FACC106-C83A-42A1-A104-EF0D431D2B6B}" type="presOf" srcId="{84D62EEB-3A0C-4952-8E87-595BBA753F45}" destId="{638BCDA4-3A95-4460-AECB-660E91BD59BA}" srcOrd="0" destOrd="0" presId="urn:microsoft.com/office/officeart/2008/layout/RadialCluster"/>
    <dgm:cxn modelId="{2CDAD82F-3A91-4241-A1B1-F700BF580CF6}" type="presOf" srcId="{A5025E2B-7E2E-46A3-B951-54211D7CE016}" destId="{A7899D3B-72A4-4AE7-AC62-22EA630C0096}" srcOrd="0" destOrd="0" presId="urn:microsoft.com/office/officeart/2008/layout/RadialCluster"/>
    <dgm:cxn modelId="{3AB10E31-4D21-4E2E-B8F2-19719FE9A3AE}" srcId="{7D390105-0CB4-4AF9-A043-C90304FFBA4A}" destId="{D030D6DB-B8C7-4F50-AE87-4FAC268896AB}" srcOrd="2" destOrd="0" parTransId="{BAA46B86-1B09-4CDC-838F-A97333863CA7}" sibTransId="{C1905A33-8A59-4385-9E9A-78E7A4154FB7}"/>
    <dgm:cxn modelId="{5361215B-FBED-4A64-ADCF-E41187966EAB}" srcId="{7D390105-0CB4-4AF9-A043-C90304FFBA4A}" destId="{A5025E2B-7E2E-46A3-B951-54211D7CE016}" srcOrd="0" destOrd="0" parTransId="{1919FF78-2BE3-49E8-AC91-D424FAA25E56}" sibTransId="{65CEA738-8998-492E-83B5-54847C72C259}"/>
    <dgm:cxn modelId="{0BAB6D55-817F-40A4-ABB5-D857538B3FDD}" type="presOf" srcId="{D030D6DB-B8C7-4F50-AE87-4FAC268896AB}" destId="{46841056-3170-4A70-9F0A-2010A357226C}" srcOrd="0" destOrd="0" presId="urn:microsoft.com/office/officeart/2008/layout/RadialCluster"/>
    <dgm:cxn modelId="{7E59E89E-FC68-4640-90AC-49EC862DA279}" type="presOf" srcId="{BAA46B86-1B09-4CDC-838F-A97333863CA7}" destId="{3F02984F-1825-4BCE-A042-07E5F2B47FB6}" srcOrd="0" destOrd="0" presId="urn:microsoft.com/office/officeart/2008/layout/RadialCluster"/>
    <dgm:cxn modelId="{0D14C4A1-FDAB-4BC0-8CC7-194705FC30C8}" type="presOf" srcId="{1919FF78-2BE3-49E8-AC91-D424FAA25E56}" destId="{CAFC8F94-69D2-4A99-BB98-DBC8E87FB622}" srcOrd="0" destOrd="0" presId="urn:microsoft.com/office/officeart/2008/layout/RadialCluster"/>
    <dgm:cxn modelId="{50E126C1-58AC-4C8A-95FC-9F0FE15B6267}" type="presOf" srcId="{8836413B-2EA0-40C6-B524-37C5FA3896A4}" destId="{B5F7E2F2-2642-4432-B003-F8BB6FF7DD7E}" srcOrd="0" destOrd="0" presId="urn:microsoft.com/office/officeart/2008/layout/RadialCluster"/>
    <dgm:cxn modelId="{F97510E9-C43E-412B-920F-B5DCDAE2D1FF}" type="presOf" srcId="{7D390105-0CB4-4AF9-A043-C90304FFBA4A}" destId="{61566F40-0F1B-4347-8643-0A141057ADEB}" srcOrd="0" destOrd="0" presId="urn:microsoft.com/office/officeart/2008/layout/RadialCluster"/>
    <dgm:cxn modelId="{9F7763EC-2E99-4351-95B7-B7A20E5DB41B}" srcId="{84D62EEB-3A0C-4952-8E87-595BBA753F45}" destId="{7D390105-0CB4-4AF9-A043-C90304FFBA4A}" srcOrd="0" destOrd="0" parTransId="{A29CE024-B699-4B2F-9ED3-F2E9CE9285AD}" sibTransId="{FCF1210B-1A01-4362-919E-DADEE7584241}"/>
    <dgm:cxn modelId="{A61DFDF2-0909-484A-9DC2-1DFD42E44AEA}" type="presOf" srcId="{96F9CC40-DA60-4D04-B240-E172BC43A20B}" destId="{078C173A-6E7D-4C03-AE47-02C7E9AA6CC2}" srcOrd="0" destOrd="0" presId="urn:microsoft.com/office/officeart/2008/layout/RadialCluster"/>
    <dgm:cxn modelId="{E42CD7FA-1402-4941-9925-AF8D91D73A19}" srcId="{7D390105-0CB4-4AF9-A043-C90304FFBA4A}" destId="{8836413B-2EA0-40C6-B524-37C5FA3896A4}" srcOrd="1" destOrd="0" parTransId="{96F9CC40-DA60-4D04-B240-E172BC43A20B}" sibTransId="{70CC706D-9F99-49FD-8EEA-2238CDA28017}"/>
    <dgm:cxn modelId="{8DA3997C-F341-4B98-A38A-13D48AA17F90}" type="presParOf" srcId="{638BCDA4-3A95-4460-AECB-660E91BD59BA}" destId="{CEE0A3FE-31B3-4726-A02E-9870C6FC306A}" srcOrd="0" destOrd="0" presId="urn:microsoft.com/office/officeart/2008/layout/RadialCluster"/>
    <dgm:cxn modelId="{A2761E03-EDB3-4F14-89F7-CC9A5C712450}" type="presParOf" srcId="{CEE0A3FE-31B3-4726-A02E-9870C6FC306A}" destId="{61566F40-0F1B-4347-8643-0A141057ADEB}" srcOrd="0" destOrd="0" presId="urn:microsoft.com/office/officeart/2008/layout/RadialCluster"/>
    <dgm:cxn modelId="{2D2CCA76-7689-428C-9B49-9DE3999B9ED7}" type="presParOf" srcId="{CEE0A3FE-31B3-4726-A02E-9870C6FC306A}" destId="{CAFC8F94-69D2-4A99-BB98-DBC8E87FB622}" srcOrd="1" destOrd="0" presId="urn:microsoft.com/office/officeart/2008/layout/RadialCluster"/>
    <dgm:cxn modelId="{3EB88241-1165-4862-BBBC-A333D6E89372}" type="presParOf" srcId="{CEE0A3FE-31B3-4726-A02E-9870C6FC306A}" destId="{A7899D3B-72A4-4AE7-AC62-22EA630C0096}" srcOrd="2" destOrd="0" presId="urn:microsoft.com/office/officeart/2008/layout/RadialCluster"/>
    <dgm:cxn modelId="{6B0BA0BA-87CE-45D8-BF4C-AC911796E872}" type="presParOf" srcId="{CEE0A3FE-31B3-4726-A02E-9870C6FC306A}" destId="{078C173A-6E7D-4C03-AE47-02C7E9AA6CC2}" srcOrd="3" destOrd="0" presId="urn:microsoft.com/office/officeart/2008/layout/RadialCluster"/>
    <dgm:cxn modelId="{EFEF9382-C33E-4FCD-A178-AE8B8C45A491}" type="presParOf" srcId="{CEE0A3FE-31B3-4726-A02E-9870C6FC306A}" destId="{B5F7E2F2-2642-4432-B003-F8BB6FF7DD7E}" srcOrd="4" destOrd="0" presId="urn:microsoft.com/office/officeart/2008/layout/RadialCluster"/>
    <dgm:cxn modelId="{36D5F35B-7FFD-427A-9F0D-B6A590BB6539}" type="presParOf" srcId="{CEE0A3FE-31B3-4726-A02E-9870C6FC306A}" destId="{3F02984F-1825-4BCE-A042-07E5F2B47FB6}" srcOrd="5" destOrd="0" presId="urn:microsoft.com/office/officeart/2008/layout/RadialCluster"/>
    <dgm:cxn modelId="{EDB916C4-FB70-431D-8D9C-31B85426A74C}" type="presParOf" srcId="{CEE0A3FE-31B3-4726-A02E-9870C6FC306A}" destId="{46841056-3170-4A70-9F0A-2010A357226C}" srcOrd="6"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C6DAF0E-E67D-487A-A5BE-D6DD29C7B3D5}"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CBF3747A-0996-4DA1-B07C-8CB3D1FF0A3D}">
      <dgm:prSet phldrT="[Text]"/>
      <dgm:spPr>
        <a:blipFill rotWithShape="0">
          <a:blip xmlns:r="http://schemas.openxmlformats.org/officeDocument/2006/relationships" r:embed="rId1"/>
          <a:stretch>
            <a:fillRect l="-847" t="-22078" b="-36364"/>
          </a:stretch>
        </a:blipFill>
      </dgm:spPr>
      <dgm:t>
        <a:bodyPr/>
        <a:lstStyle/>
        <a:p>
          <a:r>
            <a:rPr lang="en-US">
              <a:noFill/>
            </a:rPr>
            <a:t> </a:t>
          </a:r>
        </a:p>
      </dgm:t>
    </dgm:pt>
    <dgm:pt modelId="{B050E5BC-E2EB-41B8-A2D7-BBE23A4131FE}" type="parTrans" cxnId="{7FCBAADD-297D-42B0-8586-41D197A0A223}">
      <dgm:prSet/>
      <dgm:spPr/>
      <dgm:t>
        <a:bodyPr/>
        <a:lstStyle/>
        <a:p>
          <a:endParaRPr lang="en-US">
            <a:solidFill>
              <a:srgbClr val="002060"/>
            </a:solidFill>
          </a:endParaRPr>
        </a:p>
      </dgm:t>
    </dgm:pt>
    <dgm:pt modelId="{9FF7C1CC-CB79-4C53-B2B4-C18C202D58AB}" type="sibTrans" cxnId="{7FCBAADD-297D-42B0-8586-41D197A0A223}">
      <dgm:prSet/>
      <dgm:spPr/>
      <dgm:t>
        <a:bodyPr/>
        <a:lstStyle/>
        <a:p>
          <a:endParaRPr lang="en-US">
            <a:solidFill>
              <a:srgbClr val="002060"/>
            </a:solidFill>
          </a:endParaRPr>
        </a:p>
      </dgm:t>
    </dgm:pt>
    <dgm:pt modelId="{51D77D7E-603C-4FE5-B3EE-EA7B75E5F81D}">
      <dgm:prSet phldrT="[Text]"/>
      <dgm:spPr>
        <a:blipFill rotWithShape="0">
          <a:blip xmlns:r="http://schemas.openxmlformats.org/officeDocument/2006/relationships" r:embed="rId2"/>
          <a:stretch>
            <a:fillRect r="-8647" b="-3030"/>
          </a:stretch>
        </a:blipFill>
      </dgm:spPr>
      <dgm:t>
        <a:bodyPr/>
        <a:lstStyle/>
        <a:p>
          <a:r>
            <a:rPr lang="en-US">
              <a:noFill/>
            </a:rPr>
            <a:t> </a:t>
          </a:r>
        </a:p>
      </dgm:t>
    </dgm:pt>
    <dgm:pt modelId="{B82DCC4D-223E-4DC5-870D-E15FC98D6FA2}" type="parTrans" cxnId="{CC3ECA45-0CA6-40D8-AEF2-4C68D98802DA}">
      <dgm:prSet/>
      <dgm:spPr/>
      <dgm:t>
        <a:bodyPr/>
        <a:lstStyle/>
        <a:p>
          <a:endParaRPr lang="en-US">
            <a:solidFill>
              <a:srgbClr val="002060"/>
            </a:solidFill>
          </a:endParaRPr>
        </a:p>
      </dgm:t>
    </dgm:pt>
    <dgm:pt modelId="{89DE2068-B518-4335-BCA8-8F2F527AE126}" type="sibTrans" cxnId="{CC3ECA45-0CA6-40D8-AEF2-4C68D98802DA}">
      <dgm:prSet/>
      <dgm:spPr/>
      <dgm:t>
        <a:bodyPr/>
        <a:lstStyle/>
        <a:p>
          <a:endParaRPr lang="en-US">
            <a:solidFill>
              <a:srgbClr val="002060"/>
            </a:solidFill>
          </a:endParaRPr>
        </a:p>
      </dgm:t>
    </dgm:pt>
    <dgm:pt modelId="{84EF03DB-7FF5-4036-B7D4-B5884A2E42BC}">
      <dgm:prSet phldrT="[Text]"/>
      <dgm:spPr>
        <a:solidFill>
          <a:schemeClr val="bg2">
            <a:lumMod val="60000"/>
            <a:lumOff val="40000"/>
          </a:schemeClr>
        </a:solidFill>
      </dgm:spPr>
      <dgm:t>
        <a:bodyPr/>
        <a:lstStyle/>
        <a:p>
          <a:r>
            <a:rPr lang="en-US" b="1" dirty="0">
              <a:solidFill>
                <a:srgbClr val="002060"/>
              </a:solidFill>
            </a:rPr>
            <a:t>QL </a:t>
          </a:r>
          <a:r>
            <a:rPr lang="en-US" b="1" dirty="0" err="1">
              <a:solidFill>
                <a:srgbClr val="002060"/>
              </a:solidFill>
            </a:rPr>
            <a:t>giá</a:t>
          </a:r>
          <a:r>
            <a:rPr lang="en-US" b="1" dirty="0">
              <a:solidFill>
                <a:srgbClr val="002060"/>
              </a:solidFill>
            </a:rPr>
            <a:t> </a:t>
          </a:r>
          <a:r>
            <a:rPr lang="en-US" b="1" dirty="0" err="1">
              <a:solidFill>
                <a:srgbClr val="002060"/>
              </a:solidFill>
            </a:rPr>
            <a:t>trị</a:t>
          </a:r>
          <a:r>
            <a:rPr lang="en-US" b="1" dirty="0">
              <a:solidFill>
                <a:srgbClr val="002060"/>
              </a:solidFill>
            </a:rPr>
            <a:t> </a:t>
          </a:r>
          <a:r>
            <a:rPr lang="en-US" b="1" dirty="0">
              <a:solidFill>
                <a:srgbClr val="002060"/>
              </a:solidFill>
              <a:sym typeface="Wingdings" panose="05000000000000000000" pitchFamily="2" charset="2"/>
            </a:rPr>
            <a:t> QL  </a:t>
          </a:r>
          <a:r>
            <a:rPr lang="en-US" b="1" dirty="0" err="1">
              <a:solidFill>
                <a:srgbClr val="002060"/>
              </a:solidFill>
              <a:sym typeface="Wingdings" panose="05000000000000000000" pitchFamily="2" charset="2"/>
            </a:rPr>
            <a:t>giá</a:t>
          </a:r>
          <a:r>
            <a:rPr lang="en-US" b="1" dirty="0">
              <a:solidFill>
                <a:srgbClr val="002060"/>
              </a:solidFill>
              <a:sym typeface="Wingdings" panose="05000000000000000000" pitchFamily="2" charset="2"/>
            </a:rPr>
            <a:t> </a:t>
          </a:r>
          <a:r>
            <a:rPr lang="en-US" b="1" dirty="0" err="1">
              <a:solidFill>
                <a:srgbClr val="002060"/>
              </a:solidFill>
              <a:sym typeface="Wingdings" panose="05000000000000000000" pitchFamily="2" charset="2"/>
            </a:rPr>
            <a:t>cả</a:t>
          </a:r>
          <a:r>
            <a:rPr lang="en-US" b="1" dirty="0">
              <a:solidFill>
                <a:srgbClr val="002060"/>
              </a:solidFill>
              <a:sym typeface="Wingdings" panose="05000000000000000000" pitchFamily="2" charset="2"/>
            </a:rPr>
            <a:t> </a:t>
          </a:r>
          <a:r>
            <a:rPr lang="en-US" b="1" dirty="0" err="1">
              <a:solidFill>
                <a:srgbClr val="002060"/>
              </a:solidFill>
              <a:sym typeface="Wingdings" panose="05000000000000000000" pitchFamily="2" charset="2"/>
            </a:rPr>
            <a:t>sản</a:t>
          </a:r>
          <a:r>
            <a:rPr lang="en-US" b="1" dirty="0">
              <a:solidFill>
                <a:srgbClr val="002060"/>
              </a:solidFill>
              <a:sym typeface="Wingdings" panose="05000000000000000000" pitchFamily="2" charset="2"/>
            </a:rPr>
            <a:t> </a:t>
          </a:r>
          <a:r>
            <a:rPr lang="en-US" b="1" dirty="0" err="1">
              <a:solidFill>
                <a:srgbClr val="002060"/>
              </a:solidFill>
              <a:sym typeface="Wingdings" panose="05000000000000000000" pitchFamily="2" charset="2"/>
            </a:rPr>
            <a:t>xuất</a:t>
          </a:r>
          <a:endParaRPr lang="en-US" b="1" dirty="0">
            <a:solidFill>
              <a:srgbClr val="002060"/>
            </a:solidFill>
          </a:endParaRPr>
        </a:p>
      </dgm:t>
    </dgm:pt>
    <dgm:pt modelId="{28CC8153-00E3-4300-B01D-65E799D77094}" type="parTrans" cxnId="{ED50381F-B729-4EAD-8462-BCF6BC5FEC37}">
      <dgm:prSet/>
      <dgm:spPr/>
      <dgm:t>
        <a:bodyPr/>
        <a:lstStyle/>
        <a:p>
          <a:endParaRPr lang="en-US">
            <a:solidFill>
              <a:srgbClr val="002060"/>
            </a:solidFill>
          </a:endParaRPr>
        </a:p>
      </dgm:t>
    </dgm:pt>
    <dgm:pt modelId="{CE8D8D94-DC1F-4B36-A9CC-94C0AD1A7AA7}" type="sibTrans" cxnId="{ED50381F-B729-4EAD-8462-BCF6BC5FEC37}">
      <dgm:prSet/>
      <dgm:spPr/>
      <dgm:t>
        <a:bodyPr/>
        <a:lstStyle/>
        <a:p>
          <a:endParaRPr lang="en-US">
            <a:solidFill>
              <a:srgbClr val="002060"/>
            </a:solidFill>
          </a:endParaRPr>
        </a:p>
      </dgm:t>
    </dgm:pt>
    <dgm:pt modelId="{54E21064-193B-43D4-BE47-B692B2219FC5}" type="pres">
      <dgm:prSet presAssocID="{0C6DAF0E-E67D-487A-A5BE-D6DD29C7B3D5}" presName="Name0" presStyleCnt="0">
        <dgm:presLayoutVars>
          <dgm:chPref val="1"/>
          <dgm:dir/>
          <dgm:animOne val="branch"/>
          <dgm:animLvl val="lvl"/>
          <dgm:resizeHandles val="exact"/>
        </dgm:presLayoutVars>
      </dgm:prSet>
      <dgm:spPr/>
    </dgm:pt>
    <dgm:pt modelId="{7E58C2AC-BE36-461F-9AA0-C4DC08B309C6}" type="pres">
      <dgm:prSet presAssocID="{CBF3747A-0996-4DA1-B07C-8CB3D1FF0A3D}" presName="root1" presStyleCnt="0"/>
      <dgm:spPr/>
    </dgm:pt>
    <dgm:pt modelId="{894EFEFD-F740-4964-B0D2-F7C88ADC90DE}" type="pres">
      <dgm:prSet presAssocID="{CBF3747A-0996-4DA1-B07C-8CB3D1FF0A3D}" presName="LevelOneTextNode" presStyleLbl="node0" presStyleIdx="0" presStyleCnt="1" custScaleX="376137" custScaleY="22500">
        <dgm:presLayoutVars>
          <dgm:chPref val="3"/>
        </dgm:presLayoutVars>
      </dgm:prSet>
      <dgm:spPr/>
    </dgm:pt>
    <dgm:pt modelId="{FFBA2509-F9B9-4B9F-A5EA-49CEAF9C8FA3}" type="pres">
      <dgm:prSet presAssocID="{CBF3747A-0996-4DA1-B07C-8CB3D1FF0A3D}" presName="level2hierChild" presStyleCnt="0"/>
      <dgm:spPr/>
    </dgm:pt>
    <dgm:pt modelId="{6DCAF716-F42D-4F90-A9C8-3D0E9FFEB21C}" type="pres">
      <dgm:prSet presAssocID="{B82DCC4D-223E-4DC5-870D-E15FC98D6FA2}" presName="conn2-1" presStyleLbl="parChTrans1D2" presStyleIdx="0" presStyleCnt="2"/>
      <dgm:spPr/>
    </dgm:pt>
    <dgm:pt modelId="{D9E68ED8-C8A8-4318-A385-A325CAB082B0}" type="pres">
      <dgm:prSet presAssocID="{B82DCC4D-223E-4DC5-870D-E15FC98D6FA2}" presName="connTx" presStyleLbl="parChTrans1D2" presStyleIdx="0" presStyleCnt="2"/>
      <dgm:spPr/>
    </dgm:pt>
    <dgm:pt modelId="{343137D4-91EB-4015-ABA3-91C122D2D46F}" type="pres">
      <dgm:prSet presAssocID="{51D77D7E-603C-4FE5-B3EE-EA7B75E5F81D}" presName="root2" presStyleCnt="0"/>
      <dgm:spPr/>
    </dgm:pt>
    <dgm:pt modelId="{DB9EA317-3EA9-450A-8AC7-0BABBC44278F}" type="pres">
      <dgm:prSet presAssocID="{51D77D7E-603C-4FE5-B3EE-EA7B75E5F81D}" presName="LevelTwoTextNode" presStyleLbl="node2" presStyleIdx="0" presStyleCnt="2" custScaleX="129310">
        <dgm:presLayoutVars>
          <dgm:chPref val="3"/>
        </dgm:presLayoutVars>
      </dgm:prSet>
      <dgm:spPr/>
    </dgm:pt>
    <dgm:pt modelId="{BD39AD28-2CF8-4DD3-A77F-ACABEC7386C4}" type="pres">
      <dgm:prSet presAssocID="{51D77D7E-603C-4FE5-B3EE-EA7B75E5F81D}" presName="level3hierChild" presStyleCnt="0"/>
      <dgm:spPr/>
    </dgm:pt>
    <dgm:pt modelId="{6F8F55D9-3796-40C1-98DA-B718AEAE494C}" type="pres">
      <dgm:prSet presAssocID="{28CC8153-00E3-4300-B01D-65E799D77094}" presName="conn2-1" presStyleLbl="parChTrans1D2" presStyleIdx="1" presStyleCnt="2"/>
      <dgm:spPr/>
    </dgm:pt>
    <dgm:pt modelId="{479BE8BE-3AB8-4D08-8FB7-B865AC2B52A1}" type="pres">
      <dgm:prSet presAssocID="{28CC8153-00E3-4300-B01D-65E799D77094}" presName="connTx" presStyleLbl="parChTrans1D2" presStyleIdx="1" presStyleCnt="2"/>
      <dgm:spPr/>
    </dgm:pt>
    <dgm:pt modelId="{91AE2AC2-6978-4C56-B8BD-2E3C3F746F89}" type="pres">
      <dgm:prSet presAssocID="{84EF03DB-7FF5-4036-B7D4-B5884A2E42BC}" presName="root2" presStyleCnt="0"/>
      <dgm:spPr/>
    </dgm:pt>
    <dgm:pt modelId="{5A3F219E-9433-4CCB-AE03-2B7DF11D9E24}" type="pres">
      <dgm:prSet presAssocID="{84EF03DB-7FF5-4036-B7D4-B5884A2E42BC}" presName="LevelTwoTextNode" presStyleLbl="node2" presStyleIdx="1" presStyleCnt="2" custScaleX="316154" custScaleY="231886" custLinFactNeighborY="52426">
        <dgm:presLayoutVars>
          <dgm:chPref val="3"/>
        </dgm:presLayoutVars>
      </dgm:prSet>
      <dgm:spPr/>
    </dgm:pt>
    <dgm:pt modelId="{6E9AD23E-F2A4-4C2D-80EA-AD6952C0A9D3}" type="pres">
      <dgm:prSet presAssocID="{84EF03DB-7FF5-4036-B7D4-B5884A2E42BC}" presName="level3hierChild" presStyleCnt="0"/>
      <dgm:spPr/>
    </dgm:pt>
  </dgm:ptLst>
  <dgm:cxnLst>
    <dgm:cxn modelId="{63DC8205-598C-460F-A9F3-C89333927A9F}" type="presOf" srcId="{28CC8153-00E3-4300-B01D-65E799D77094}" destId="{479BE8BE-3AB8-4D08-8FB7-B865AC2B52A1}" srcOrd="1" destOrd="0" presId="urn:microsoft.com/office/officeart/2008/layout/HorizontalMultiLevelHierarchy"/>
    <dgm:cxn modelId="{ED50381F-B729-4EAD-8462-BCF6BC5FEC37}" srcId="{CBF3747A-0996-4DA1-B07C-8CB3D1FF0A3D}" destId="{84EF03DB-7FF5-4036-B7D4-B5884A2E42BC}" srcOrd="1" destOrd="0" parTransId="{28CC8153-00E3-4300-B01D-65E799D77094}" sibTransId="{CE8D8D94-DC1F-4B36-A9CC-94C0AD1A7AA7}"/>
    <dgm:cxn modelId="{A9446E34-B37F-4B73-A033-AC1C43E72507}" type="presOf" srcId="{0C6DAF0E-E67D-487A-A5BE-D6DD29C7B3D5}" destId="{54E21064-193B-43D4-BE47-B692B2219FC5}" srcOrd="0" destOrd="0" presId="urn:microsoft.com/office/officeart/2008/layout/HorizontalMultiLevelHierarchy"/>
    <dgm:cxn modelId="{093E6438-8945-4C8B-A9BB-1E7B2377D869}" type="presOf" srcId="{28CC8153-00E3-4300-B01D-65E799D77094}" destId="{6F8F55D9-3796-40C1-98DA-B718AEAE494C}" srcOrd="0" destOrd="0" presId="urn:microsoft.com/office/officeart/2008/layout/HorizontalMultiLevelHierarchy"/>
    <dgm:cxn modelId="{CC3ECA45-0CA6-40D8-AEF2-4C68D98802DA}" srcId="{CBF3747A-0996-4DA1-B07C-8CB3D1FF0A3D}" destId="{51D77D7E-603C-4FE5-B3EE-EA7B75E5F81D}" srcOrd="0" destOrd="0" parTransId="{B82DCC4D-223E-4DC5-870D-E15FC98D6FA2}" sibTransId="{89DE2068-B518-4335-BCA8-8F2F527AE126}"/>
    <dgm:cxn modelId="{339DE989-4F3C-4425-AA56-4F156E6BF0EF}" type="presOf" srcId="{CBF3747A-0996-4DA1-B07C-8CB3D1FF0A3D}" destId="{894EFEFD-F740-4964-B0D2-F7C88ADC90DE}" srcOrd="0" destOrd="0" presId="urn:microsoft.com/office/officeart/2008/layout/HorizontalMultiLevelHierarchy"/>
    <dgm:cxn modelId="{13BF159F-C159-43BD-895C-01F59CC8A1C0}" type="presOf" srcId="{B82DCC4D-223E-4DC5-870D-E15FC98D6FA2}" destId="{6DCAF716-F42D-4F90-A9C8-3D0E9FFEB21C}" srcOrd="0" destOrd="0" presId="urn:microsoft.com/office/officeart/2008/layout/HorizontalMultiLevelHierarchy"/>
    <dgm:cxn modelId="{C1DF0EB0-9AE2-4D5B-8069-C90A10545570}" type="presOf" srcId="{51D77D7E-603C-4FE5-B3EE-EA7B75E5F81D}" destId="{DB9EA317-3EA9-450A-8AC7-0BABBC44278F}" srcOrd="0" destOrd="0" presId="urn:microsoft.com/office/officeart/2008/layout/HorizontalMultiLevelHierarchy"/>
    <dgm:cxn modelId="{947DCCBB-B3A7-499C-B63C-B8515A91A32B}" type="presOf" srcId="{B82DCC4D-223E-4DC5-870D-E15FC98D6FA2}" destId="{D9E68ED8-C8A8-4318-A385-A325CAB082B0}" srcOrd="1" destOrd="0" presId="urn:microsoft.com/office/officeart/2008/layout/HorizontalMultiLevelHierarchy"/>
    <dgm:cxn modelId="{60A0E2BB-59B9-4CFF-9D36-12261F0580DE}" type="presOf" srcId="{84EF03DB-7FF5-4036-B7D4-B5884A2E42BC}" destId="{5A3F219E-9433-4CCB-AE03-2B7DF11D9E24}" srcOrd="0" destOrd="0" presId="urn:microsoft.com/office/officeart/2008/layout/HorizontalMultiLevelHierarchy"/>
    <dgm:cxn modelId="{7FCBAADD-297D-42B0-8586-41D197A0A223}" srcId="{0C6DAF0E-E67D-487A-A5BE-D6DD29C7B3D5}" destId="{CBF3747A-0996-4DA1-B07C-8CB3D1FF0A3D}" srcOrd="0" destOrd="0" parTransId="{B050E5BC-E2EB-41B8-A2D7-BBE23A4131FE}" sibTransId="{9FF7C1CC-CB79-4C53-B2B4-C18C202D58AB}"/>
    <dgm:cxn modelId="{47C168F7-1A55-41D7-8FE3-625391FE3587}" type="presParOf" srcId="{54E21064-193B-43D4-BE47-B692B2219FC5}" destId="{7E58C2AC-BE36-461F-9AA0-C4DC08B309C6}" srcOrd="0" destOrd="0" presId="urn:microsoft.com/office/officeart/2008/layout/HorizontalMultiLevelHierarchy"/>
    <dgm:cxn modelId="{A488E01B-0F3C-4C78-B686-5BEA63073565}" type="presParOf" srcId="{7E58C2AC-BE36-461F-9AA0-C4DC08B309C6}" destId="{894EFEFD-F740-4964-B0D2-F7C88ADC90DE}" srcOrd="0" destOrd="0" presId="urn:microsoft.com/office/officeart/2008/layout/HorizontalMultiLevelHierarchy"/>
    <dgm:cxn modelId="{BBADEA85-78CB-4571-A660-E8F25575D94A}" type="presParOf" srcId="{7E58C2AC-BE36-461F-9AA0-C4DC08B309C6}" destId="{FFBA2509-F9B9-4B9F-A5EA-49CEAF9C8FA3}" srcOrd="1" destOrd="0" presId="urn:microsoft.com/office/officeart/2008/layout/HorizontalMultiLevelHierarchy"/>
    <dgm:cxn modelId="{09A15B7D-6112-4227-8BAD-80B1DA85782F}" type="presParOf" srcId="{FFBA2509-F9B9-4B9F-A5EA-49CEAF9C8FA3}" destId="{6DCAF716-F42D-4F90-A9C8-3D0E9FFEB21C}" srcOrd="0" destOrd="0" presId="urn:microsoft.com/office/officeart/2008/layout/HorizontalMultiLevelHierarchy"/>
    <dgm:cxn modelId="{009C7675-83D0-4926-91ED-80FD8390960D}" type="presParOf" srcId="{6DCAF716-F42D-4F90-A9C8-3D0E9FFEB21C}" destId="{D9E68ED8-C8A8-4318-A385-A325CAB082B0}" srcOrd="0" destOrd="0" presId="urn:microsoft.com/office/officeart/2008/layout/HorizontalMultiLevelHierarchy"/>
    <dgm:cxn modelId="{2798DC70-2B47-4CE4-9E44-6B71CBD4127C}" type="presParOf" srcId="{FFBA2509-F9B9-4B9F-A5EA-49CEAF9C8FA3}" destId="{343137D4-91EB-4015-ABA3-91C122D2D46F}" srcOrd="1" destOrd="0" presId="urn:microsoft.com/office/officeart/2008/layout/HorizontalMultiLevelHierarchy"/>
    <dgm:cxn modelId="{3AC4D8C4-8895-42F9-82C6-9EB4AB40E583}" type="presParOf" srcId="{343137D4-91EB-4015-ABA3-91C122D2D46F}" destId="{DB9EA317-3EA9-450A-8AC7-0BABBC44278F}" srcOrd="0" destOrd="0" presId="urn:microsoft.com/office/officeart/2008/layout/HorizontalMultiLevelHierarchy"/>
    <dgm:cxn modelId="{D4E43E63-BAF1-4B2E-A5AC-3554060D3195}" type="presParOf" srcId="{343137D4-91EB-4015-ABA3-91C122D2D46F}" destId="{BD39AD28-2CF8-4DD3-A77F-ACABEC7386C4}" srcOrd="1" destOrd="0" presId="urn:microsoft.com/office/officeart/2008/layout/HorizontalMultiLevelHierarchy"/>
    <dgm:cxn modelId="{F0894085-0B9B-4623-BEF5-D020A2EC1970}" type="presParOf" srcId="{FFBA2509-F9B9-4B9F-A5EA-49CEAF9C8FA3}" destId="{6F8F55D9-3796-40C1-98DA-B718AEAE494C}" srcOrd="2" destOrd="0" presId="urn:microsoft.com/office/officeart/2008/layout/HorizontalMultiLevelHierarchy"/>
    <dgm:cxn modelId="{6C676609-E12E-4649-9745-8E0A53E3431D}" type="presParOf" srcId="{6F8F55D9-3796-40C1-98DA-B718AEAE494C}" destId="{479BE8BE-3AB8-4D08-8FB7-B865AC2B52A1}" srcOrd="0" destOrd="0" presId="urn:microsoft.com/office/officeart/2008/layout/HorizontalMultiLevelHierarchy"/>
    <dgm:cxn modelId="{72101E44-F5BB-4E3A-9AE3-FE0C7531CDB3}" type="presParOf" srcId="{FFBA2509-F9B9-4B9F-A5EA-49CEAF9C8FA3}" destId="{91AE2AC2-6978-4C56-B8BD-2E3C3F746F89}" srcOrd="3" destOrd="0" presId="urn:microsoft.com/office/officeart/2008/layout/HorizontalMultiLevelHierarchy"/>
    <dgm:cxn modelId="{AAF55366-2007-4A98-AD80-EE781DB7C8E7}" type="presParOf" srcId="{91AE2AC2-6978-4C56-B8BD-2E3C3F746F89}" destId="{5A3F219E-9433-4CCB-AE03-2B7DF11D9E24}" srcOrd="0" destOrd="0" presId="urn:microsoft.com/office/officeart/2008/layout/HorizontalMultiLevelHierarchy"/>
    <dgm:cxn modelId="{1765ABF4-1837-42FF-B4C5-C9E37CAD76D7}" type="presParOf" srcId="{91AE2AC2-6978-4C56-B8BD-2E3C3F746F89}" destId="{6E9AD23E-F2A4-4C2D-80EA-AD6952C0A9D3}"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D064F07-29BE-4766-8282-0AD702EE6D08}" type="doc">
      <dgm:prSet loTypeId="urn:microsoft.com/office/officeart/2009/layout/ReverseList" loCatId="relationship" qsTypeId="urn:microsoft.com/office/officeart/2005/8/quickstyle/simple1" qsCatId="simple" csTypeId="urn:microsoft.com/office/officeart/2005/8/colors/accent1_2" csCatId="accent1" phldr="1"/>
      <dgm:spPr/>
      <dgm:t>
        <a:bodyPr/>
        <a:lstStyle/>
        <a:p>
          <a:endParaRPr lang="en-US"/>
        </a:p>
      </dgm:t>
    </dgm:pt>
    <dgm:pt modelId="{E0929BCD-96C0-4B2C-AAA7-6C0960B4460B}">
      <dgm:prSet phldrT="[Text]" custT="1"/>
      <dgm:spPr/>
      <dgm:t>
        <a:bodyPr/>
        <a:lstStyle/>
        <a:p>
          <a:pPr algn="ctr"/>
          <a:r>
            <a:rPr lang="en-US" sz="3600" b="1" dirty="0">
              <a:solidFill>
                <a:srgbClr val="002060"/>
              </a:solidFill>
            </a:rPr>
            <a:t>A</a:t>
          </a:r>
        </a:p>
        <a:p>
          <a:pPr algn="ctr"/>
          <a:r>
            <a:rPr lang="en-US" sz="3600" b="0" dirty="0" err="1">
              <a:solidFill>
                <a:srgbClr val="002060"/>
              </a:solidFill>
            </a:rPr>
            <a:t>Cung</a:t>
          </a:r>
          <a:r>
            <a:rPr lang="en-US" sz="3600" b="0" dirty="0">
              <a:solidFill>
                <a:srgbClr val="002060"/>
              </a:solidFill>
            </a:rPr>
            <a:t> </a:t>
          </a:r>
          <a:r>
            <a:rPr lang="en-US" sz="3600" b="0" dirty="0" err="1">
              <a:solidFill>
                <a:srgbClr val="002060"/>
              </a:solidFill>
            </a:rPr>
            <a:t>về</a:t>
          </a:r>
          <a:r>
            <a:rPr lang="en-US" sz="3600" b="0" dirty="0">
              <a:solidFill>
                <a:srgbClr val="002060"/>
              </a:solidFill>
            </a:rPr>
            <a:t> TBTT</a:t>
          </a:r>
        </a:p>
        <a:p>
          <a:pPr algn="ctr"/>
          <a:r>
            <a:rPr lang="en-US" sz="3600" b="0" dirty="0" err="1">
              <a:solidFill>
                <a:srgbClr val="002060"/>
              </a:solidFill>
            </a:rPr>
            <a:t>Có</a:t>
          </a:r>
          <a:r>
            <a:rPr lang="en-US" sz="3600" b="0" dirty="0">
              <a:solidFill>
                <a:srgbClr val="002060"/>
              </a:solidFill>
            </a:rPr>
            <a:t> TBTT </a:t>
          </a:r>
          <a:r>
            <a:rPr lang="en-US" sz="3600" b="0" dirty="0" err="1">
              <a:solidFill>
                <a:srgbClr val="002060"/>
              </a:solidFill>
            </a:rPr>
            <a:t>để</a:t>
          </a:r>
          <a:r>
            <a:rPr lang="en-US" sz="3600" b="0" dirty="0">
              <a:solidFill>
                <a:srgbClr val="002060"/>
              </a:solidFill>
            </a:rPr>
            <a:t> </a:t>
          </a:r>
          <a:r>
            <a:rPr lang="en-US" sz="3600" b="0" dirty="0" err="1">
              <a:solidFill>
                <a:srgbClr val="002060"/>
              </a:solidFill>
            </a:rPr>
            <a:t>rỗi</a:t>
          </a:r>
          <a:endParaRPr lang="en-US" sz="3600" b="0" dirty="0">
            <a:solidFill>
              <a:srgbClr val="002060"/>
            </a:solidFill>
          </a:endParaRPr>
        </a:p>
        <a:p>
          <a:pPr algn="ctr"/>
          <a:r>
            <a:rPr lang="en-US" sz="3600" b="1" dirty="0">
              <a:solidFill>
                <a:srgbClr val="002060"/>
              </a:solidFill>
            </a:rPr>
            <a:t>CHO VAY</a:t>
          </a:r>
        </a:p>
        <a:p>
          <a:pPr algn="ctr"/>
          <a:endParaRPr lang="en-US" sz="3600" b="1" dirty="0"/>
        </a:p>
        <a:p>
          <a:pPr algn="ctr"/>
          <a:endParaRPr lang="en-US" sz="3600" b="1" dirty="0"/>
        </a:p>
      </dgm:t>
    </dgm:pt>
    <dgm:pt modelId="{10955CDA-D9A1-4451-992C-D3D7B9459072}" type="parTrans" cxnId="{C6A352D1-3E42-4CC4-B71D-B619D3F15240}">
      <dgm:prSet/>
      <dgm:spPr/>
      <dgm:t>
        <a:bodyPr/>
        <a:lstStyle/>
        <a:p>
          <a:endParaRPr lang="en-US" sz="2400" b="1"/>
        </a:p>
      </dgm:t>
    </dgm:pt>
    <dgm:pt modelId="{919EA12A-1BAF-4021-8E6E-1759AC1010F6}" type="sibTrans" cxnId="{C6A352D1-3E42-4CC4-B71D-B619D3F15240}">
      <dgm:prSet/>
      <dgm:spPr/>
      <dgm:t>
        <a:bodyPr/>
        <a:lstStyle/>
        <a:p>
          <a:endParaRPr lang="en-US" sz="2400" b="1"/>
        </a:p>
      </dgm:t>
    </dgm:pt>
    <dgm:pt modelId="{B94EA2EC-0208-492B-B0AC-6D9B3DEC67C9}">
      <dgm:prSet phldrT="[Text]" custT="1"/>
      <dgm:spPr/>
      <dgm:t>
        <a:bodyPr/>
        <a:lstStyle/>
        <a:p>
          <a:pPr algn="ctr"/>
          <a:r>
            <a:rPr lang="en-US" sz="4000" b="1" dirty="0">
              <a:solidFill>
                <a:srgbClr val="002060"/>
              </a:solidFill>
            </a:rPr>
            <a:t>B</a:t>
          </a:r>
        </a:p>
        <a:p>
          <a:pPr algn="ctr"/>
          <a:r>
            <a:rPr lang="en-US" sz="4000" b="0" dirty="0" err="1">
              <a:solidFill>
                <a:srgbClr val="002060"/>
              </a:solidFill>
            </a:rPr>
            <a:t>Cầu</a:t>
          </a:r>
          <a:r>
            <a:rPr lang="en-US" sz="4000" b="0" dirty="0">
              <a:solidFill>
                <a:srgbClr val="002060"/>
              </a:solidFill>
            </a:rPr>
            <a:t> </a:t>
          </a:r>
          <a:r>
            <a:rPr lang="en-US" sz="4000" b="0" dirty="0" err="1">
              <a:solidFill>
                <a:srgbClr val="002060"/>
              </a:solidFill>
            </a:rPr>
            <a:t>về</a:t>
          </a:r>
          <a:r>
            <a:rPr lang="en-US" sz="4000" b="0" dirty="0">
              <a:solidFill>
                <a:srgbClr val="002060"/>
              </a:solidFill>
            </a:rPr>
            <a:t> TBTT</a:t>
          </a:r>
        </a:p>
        <a:p>
          <a:pPr algn="ctr"/>
          <a:r>
            <a:rPr lang="en-US" sz="4000" b="0" dirty="0" err="1">
              <a:solidFill>
                <a:srgbClr val="002060"/>
              </a:solidFill>
            </a:rPr>
            <a:t>Cần</a:t>
          </a:r>
          <a:r>
            <a:rPr lang="en-US" sz="4000" b="0" dirty="0">
              <a:solidFill>
                <a:srgbClr val="002060"/>
              </a:solidFill>
            </a:rPr>
            <a:t> TBTT</a:t>
          </a:r>
        </a:p>
        <a:p>
          <a:pPr algn="ctr"/>
          <a:r>
            <a:rPr lang="en-US" sz="4000" b="1" dirty="0">
              <a:solidFill>
                <a:srgbClr val="002060"/>
              </a:solidFill>
            </a:rPr>
            <a:t>ĐI VAY</a:t>
          </a:r>
        </a:p>
        <a:p>
          <a:pPr algn="ctr"/>
          <a:endParaRPr lang="en-US" sz="4000" b="1" dirty="0"/>
        </a:p>
        <a:p>
          <a:pPr algn="ctr"/>
          <a:endParaRPr lang="en-US" sz="4000" b="1" dirty="0"/>
        </a:p>
      </dgm:t>
    </dgm:pt>
    <dgm:pt modelId="{0424DF17-B15E-4E08-83B7-ADA28D2B11B7}" type="parTrans" cxnId="{49CACD47-0DD0-494C-B16F-756EB75A7C50}">
      <dgm:prSet/>
      <dgm:spPr/>
      <dgm:t>
        <a:bodyPr/>
        <a:lstStyle/>
        <a:p>
          <a:endParaRPr lang="en-US" sz="2400" b="1"/>
        </a:p>
      </dgm:t>
    </dgm:pt>
    <dgm:pt modelId="{8CC06230-8535-43DC-B3D0-B82B64204B78}" type="sibTrans" cxnId="{49CACD47-0DD0-494C-B16F-756EB75A7C50}">
      <dgm:prSet/>
      <dgm:spPr/>
      <dgm:t>
        <a:bodyPr/>
        <a:lstStyle/>
        <a:p>
          <a:endParaRPr lang="en-US" sz="2400" b="1"/>
        </a:p>
      </dgm:t>
    </dgm:pt>
    <dgm:pt modelId="{7C1C7C47-D1AC-4909-9459-5B919F29F516}" type="pres">
      <dgm:prSet presAssocID="{8D064F07-29BE-4766-8282-0AD702EE6D08}" presName="Name0" presStyleCnt="0">
        <dgm:presLayoutVars>
          <dgm:chMax val="2"/>
          <dgm:chPref val="2"/>
          <dgm:animLvl val="lvl"/>
        </dgm:presLayoutVars>
      </dgm:prSet>
      <dgm:spPr/>
    </dgm:pt>
    <dgm:pt modelId="{77A1B56D-B3BF-458F-8324-8EB08314F632}" type="pres">
      <dgm:prSet presAssocID="{8D064F07-29BE-4766-8282-0AD702EE6D08}" presName="LeftText" presStyleLbl="revTx" presStyleIdx="0" presStyleCnt="0">
        <dgm:presLayoutVars>
          <dgm:bulletEnabled val="1"/>
        </dgm:presLayoutVars>
      </dgm:prSet>
      <dgm:spPr/>
    </dgm:pt>
    <dgm:pt modelId="{28A0AB0C-84FC-4AAC-9B2C-60F31AE99040}" type="pres">
      <dgm:prSet presAssocID="{8D064F07-29BE-4766-8282-0AD702EE6D08}" presName="LeftNode" presStyleLbl="bgImgPlace1" presStyleIdx="0" presStyleCnt="2" custLinFactNeighborX="-31358">
        <dgm:presLayoutVars>
          <dgm:chMax val="2"/>
          <dgm:chPref val="2"/>
        </dgm:presLayoutVars>
      </dgm:prSet>
      <dgm:spPr/>
    </dgm:pt>
    <dgm:pt modelId="{AA5D94B0-946C-4B14-B2B4-022760B99D98}" type="pres">
      <dgm:prSet presAssocID="{8D064F07-29BE-4766-8282-0AD702EE6D08}" presName="RightText" presStyleLbl="revTx" presStyleIdx="0" presStyleCnt="0">
        <dgm:presLayoutVars>
          <dgm:bulletEnabled val="1"/>
        </dgm:presLayoutVars>
      </dgm:prSet>
      <dgm:spPr/>
    </dgm:pt>
    <dgm:pt modelId="{2BE160ED-99E4-4034-B644-8048F385646D}" type="pres">
      <dgm:prSet presAssocID="{8D064F07-29BE-4766-8282-0AD702EE6D08}" presName="RightNode" presStyleLbl="bgImgPlace1" presStyleIdx="1" presStyleCnt="2" custLinFactNeighborX="26586">
        <dgm:presLayoutVars>
          <dgm:chMax val="0"/>
          <dgm:chPref val="0"/>
        </dgm:presLayoutVars>
      </dgm:prSet>
      <dgm:spPr/>
    </dgm:pt>
    <dgm:pt modelId="{4221C439-4CE2-422F-B4BD-1BBC3FDD5ACF}" type="pres">
      <dgm:prSet presAssocID="{8D064F07-29BE-4766-8282-0AD702EE6D08}" presName="TopArrow" presStyleLbl="node1" presStyleIdx="0" presStyleCnt="2"/>
      <dgm:spPr/>
    </dgm:pt>
    <dgm:pt modelId="{C19F5DC7-AE73-4637-B284-1AAA503ACBEB}" type="pres">
      <dgm:prSet presAssocID="{8D064F07-29BE-4766-8282-0AD702EE6D08}" presName="BottomArrow" presStyleLbl="node1" presStyleIdx="1" presStyleCnt="2"/>
      <dgm:spPr/>
    </dgm:pt>
  </dgm:ptLst>
  <dgm:cxnLst>
    <dgm:cxn modelId="{49CACD47-0DD0-494C-B16F-756EB75A7C50}" srcId="{8D064F07-29BE-4766-8282-0AD702EE6D08}" destId="{B94EA2EC-0208-492B-B0AC-6D9B3DEC67C9}" srcOrd="1" destOrd="0" parTransId="{0424DF17-B15E-4E08-83B7-ADA28D2B11B7}" sibTransId="{8CC06230-8535-43DC-B3D0-B82B64204B78}"/>
    <dgm:cxn modelId="{4F0DA4A9-F60F-49DC-984D-F9EB9229AE3E}" type="presOf" srcId="{B94EA2EC-0208-492B-B0AC-6D9B3DEC67C9}" destId="{2BE160ED-99E4-4034-B644-8048F385646D}" srcOrd="1" destOrd="0" presId="urn:microsoft.com/office/officeart/2009/layout/ReverseList"/>
    <dgm:cxn modelId="{A953E9AD-9446-44CB-88FD-84C483C03C43}" type="presOf" srcId="{8D064F07-29BE-4766-8282-0AD702EE6D08}" destId="{7C1C7C47-D1AC-4909-9459-5B919F29F516}" srcOrd="0" destOrd="0" presId="urn:microsoft.com/office/officeart/2009/layout/ReverseList"/>
    <dgm:cxn modelId="{208836CA-9D28-49AF-B65C-0E855737F035}" type="presOf" srcId="{B94EA2EC-0208-492B-B0AC-6D9B3DEC67C9}" destId="{AA5D94B0-946C-4B14-B2B4-022760B99D98}" srcOrd="0" destOrd="0" presId="urn:microsoft.com/office/officeart/2009/layout/ReverseList"/>
    <dgm:cxn modelId="{F7C4CECE-50C3-4242-A3E7-D7594D93E05B}" type="presOf" srcId="{E0929BCD-96C0-4B2C-AAA7-6C0960B4460B}" destId="{28A0AB0C-84FC-4AAC-9B2C-60F31AE99040}" srcOrd="1" destOrd="0" presId="urn:microsoft.com/office/officeart/2009/layout/ReverseList"/>
    <dgm:cxn modelId="{C6A352D1-3E42-4CC4-B71D-B619D3F15240}" srcId="{8D064F07-29BE-4766-8282-0AD702EE6D08}" destId="{E0929BCD-96C0-4B2C-AAA7-6C0960B4460B}" srcOrd="0" destOrd="0" parTransId="{10955CDA-D9A1-4451-992C-D3D7B9459072}" sibTransId="{919EA12A-1BAF-4021-8E6E-1759AC1010F6}"/>
    <dgm:cxn modelId="{3D980ED6-1E34-41AE-B94A-1907E1DDCD71}" type="presOf" srcId="{E0929BCD-96C0-4B2C-AAA7-6C0960B4460B}" destId="{77A1B56D-B3BF-458F-8324-8EB08314F632}" srcOrd="0" destOrd="0" presId="urn:microsoft.com/office/officeart/2009/layout/ReverseList"/>
    <dgm:cxn modelId="{837628BE-C55D-470D-A966-78DFE69D5666}" type="presParOf" srcId="{7C1C7C47-D1AC-4909-9459-5B919F29F516}" destId="{77A1B56D-B3BF-458F-8324-8EB08314F632}" srcOrd="0" destOrd="0" presId="urn:microsoft.com/office/officeart/2009/layout/ReverseList"/>
    <dgm:cxn modelId="{E19EFABB-2E85-497B-8AD8-76D7D49DD77A}" type="presParOf" srcId="{7C1C7C47-D1AC-4909-9459-5B919F29F516}" destId="{28A0AB0C-84FC-4AAC-9B2C-60F31AE99040}" srcOrd="1" destOrd="0" presId="urn:microsoft.com/office/officeart/2009/layout/ReverseList"/>
    <dgm:cxn modelId="{47C32D5C-9E10-44B7-BA4C-9E68EA78C708}" type="presParOf" srcId="{7C1C7C47-D1AC-4909-9459-5B919F29F516}" destId="{AA5D94B0-946C-4B14-B2B4-022760B99D98}" srcOrd="2" destOrd="0" presId="urn:microsoft.com/office/officeart/2009/layout/ReverseList"/>
    <dgm:cxn modelId="{78D36361-C93A-47C4-BBDF-6C2D037359A6}" type="presParOf" srcId="{7C1C7C47-D1AC-4909-9459-5B919F29F516}" destId="{2BE160ED-99E4-4034-B644-8048F385646D}" srcOrd="3" destOrd="0" presId="urn:microsoft.com/office/officeart/2009/layout/ReverseList"/>
    <dgm:cxn modelId="{5D9C2ADC-2502-4783-84D4-4BA6260580CB}" type="presParOf" srcId="{7C1C7C47-D1AC-4909-9459-5B919F29F516}" destId="{4221C439-4CE2-422F-B4BD-1BBC3FDD5ACF}" srcOrd="4" destOrd="0" presId="urn:microsoft.com/office/officeart/2009/layout/ReverseList"/>
    <dgm:cxn modelId="{DDE3AA4E-38C1-419A-8D50-5E1D6E7069E9}" type="presParOf" srcId="{7C1C7C47-D1AC-4909-9459-5B919F29F516}" destId="{C19F5DC7-AE73-4637-B284-1AAA503ACBEB}" srcOrd="5" destOrd="0" presId="urn:microsoft.com/office/officeart/2009/layout/Revers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833F80-5DB8-4C82-B5EE-96C9A317A7E0}">
      <dsp:nvSpPr>
        <dsp:cNvPr id="0" name=""/>
        <dsp:cNvSpPr/>
      </dsp:nvSpPr>
      <dsp:spPr>
        <a:xfrm>
          <a:off x="1856516" y="4064000"/>
          <a:ext cx="1013073" cy="965199"/>
        </a:xfrm>
        <a:custGeom>
          <a:avLst/>
          <a:gdLst/>
          <a:ahLst/>
          <a:cxnLst/>
          <a:rect l="0" t="0" r="0" b="0"/>
          <a:pathLst>
            <a:path>
              <a:moveTo>
                <a:pt x="0" y="0"/>
              </a:moveTo>
              <a:lnTo>
                <a:pt x="506536" y="0"/>
              </a:lnTo>
              <a:lnTo>
                <a:pt x="506536" y="965199"/>
              </a:lnTo>
              <a:lnTo>
                <a:pt x="1013073" y="965199"/>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28071" y="4511618"/>
        <a:ext cx="69963" cy="69963"/>
      </dsp:txXfrm>
    </dsp:sp>
    <dsp:sp modelId="{7A44FBF6-FA7A-48F8-80EF-4A262E8AF7A8}">
      <dsp:nvSpPr>
        <dsp:cNvPr id="0" name=""/>
        <dsp:cNvSpPr/>
      </dsp:nvSpPr>
      <dsp:spPr>
        <a:xfrm>
          <a:off x="7934960" y="3098799"/>
          <a:ext cx="1013073" cy="965200"/>
        </a:xfrm>
        <a:custGeom>
          <a:avLst/>
          <a:gdLst/>
          <a:ahLst/>
          <a:cxnLst/>
          <a:rect l="0" t="0" r="0" b="0"/>
          <a:pathLst>
            <a:path>
              <a:moveTo>
                <a:pt x="0" y="0"/>
              </a:moveTo>
              <a:lnTo>
                <a:pt x="506536" y="0"/>
              </a:lnTo>
              <a:lnTo>
                <a:pt x="506536" y="965200"/>
              </a:lnTo>
              <a:lnTo>
                <a:pt x="1013073" y="96520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406515" y="3546418"/>
        <a:ext cx="69963" cy="69963"/>
      </dsp:txXfrm>
    </dsp:sp>
    <dsp:sp modelId="{ED3D7601-83EE-46C5-A16F-084E10F0CA64}">
      <dsp:nvSpPr>
        <dsp:cNvPr id="0" name=""/>
        <dsp:cNvSpPr/>
      </dsp:nvSpPr>
      <dsp:spPr>
        <a:xfrm>
          <a:off x="7934960" y="2133599"/>
          <a:ext cx="1013073" cy="965200"/>
        </a:xfrm>
        <a:custGeom>
          <a:avLst/>
          <a:gdLst/>
          <a:ahLst/>
          <a:cxnLst/>
          <a:rect l="0" t="0" r="0" b="0"/>
          <a:pathLst>
            <a:path>
              <a:moveTo>
                <a:pt x="0" y="965200"/>
              </a:moveTo>
              <a:lnTo>
                <a:pt x="506536" y="965200"/>
              </a:lnTo>
              <a:lnTo>
                <a:pt x="506536" y="0"/>
              </a:lnTo>
              <a:lnTo>
                <a:pt x="1013073" y="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406515" y="2581218"/>
        <a:ext cx="69963" cy="69963"/>
      </dsp:txXfrm>
    </dsp:sp>
    <dsp:sp modelId="{9A2B1A9D-4BAE-4716-A66E-43F24C59A5A1}">
      <dsp:nvSpPr>
        <dsp:cNvPr id="0" name=""/>
        <dsp:cNvSpPr/>
      </dsp:nvSpPr>
      <dsp:spPr>
        <a:xfrm>
          <a:off x="1856516" y="3098799"/>
          <a:ext cx="1013073" cy="965200"/>
        </a:xfrm>
        <a:custGeom>
          <a:avLst/>
          <a:gdLst/>
          <a:ahLst/>
          <a:cxnLst/>
          <a:rect l="0" t="0" r="0" b="0"/>
          <a:pathLst>
            <a:path>
              <a:moveTo>
                <a:pt x="0" y="965200"/>
              </a:moveTo>
              <a:lnTo>
                <a:pt x="506536" y="965200"/>
              </a:lnTo>
              <a:lnTo>
                <a:pt x="506536" y="0"/>
              </a:lnTo>
              <a:lnTo>
                <a:pt x="1013073" y="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28071" y="3546418"/>
        <a:ext cx="69963" cy="69963"/>
      </dsp:txXfrm>
    </dsp:sp>
    <dsp:sp modelId="{CD90CD8D-C8C6-4EAC-B9CE-73627B09639E}">
      <dsp:nvSpPr>
        <dsp:cNvPr id="0" name=""/>
        <dsp:cNvSpPr/>
      </dsp:nvSpPr>
      <dsp:spPr>
        <a:xfrm rot="16200000">
          <a:off x="-2979643" y="3291840"/>
          <a:ext cx="8128000" cy="154432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r>
            <a:rPr lang="en-US" sz="6500" kern="1200"/>
            <a:t>TBSX</a:t>
          </a:r>
        </a:p>
      </dsp:txBody>
      <dsp:txXfrm>
        <a:off x="-2979643" y="3291840"/>
        <a:ext cx="8128000" cy="1544320"/>
      </dsp:txXfrm>
    </dsp:sp>
    <dsp:sp modelId="{27FCF3B8-C147-4652-9549-95D6E143D2F8}">
      <dsp:nvSpPr>
        <dsp:cNvPr id="0" name=""/>
        <dsp:cNvSpPr/>
      </dsp:nvSpPr>
      <dsp:spPr>
        <a:xfrm>
          <a:off x="2869590" y="2326639"/>
          <a:ext cx="5065369" cy="154432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kern="1200"/>
            <a:t>GT TLSX</a:t>
          </a:r>
        </a:p>
        <a:p>
          <a:pPr marL="0" lvl="0" indent="0" algn="ctr" defTabSz="1955800">
            <a:lnSpc>
              <a:spcPct val="90000"/>
            </a:lnSpc>
            <a:spcBef>
              <a:spcPct val="0"/>
            </a:spcBef>
            <a:spcAft>
              <a:spcPct val="35000"/>
            </a:spcAft>
            <a:buNone/>
          </a:pPr>
          <a:r>
            <a:rPr lang="en-US" sz="4400" kern="1200"/>
            <a:t>(c)</a:t>
          </a:r>
        </a:p>
      </dsp:txBody>
      <dsp:txXfrm>
        <a:off x="2869590" y="2326639"/>
        <a:ext cx="5065369" cy="1544320"/>
      </dsp:txXfrm>
    </dsp:sp>
    <dsp:sp modelId="{D4A0E8F8-D49B-4E28-A38D-8088A6E9952E}">
      <dsp:nvSpPr>
        <dsp:cNvPr id="0" name=""/>
        <dsp:cNvSpPr/>
      </dsp:nvSpPr>
      <dsp:spPr>
        <a:xfrm>
          <a:off x="8948033" y="1361439"/>
          <a:ext cx="5065369" cy="154432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kern="1200"/>
            <a:t>GT MMTB,NX</a:t>
          </a:r>
        </a:p>
        <a:p>
          <a:pPr marL="0" lvl="0" indent="0" algn="ctr" defTabSz="1955800">
            <a:lnSpc>
              <a:spcPct val="90000"/>
            </a:lnSpc>
            <a:spcBef>
              <a:spcPct val="0"/>
            </a:spcBef>
            <a:spcAft>
              <a:spcPct val="35000"/>
            </a:spcAft>
            <a:buNone/>
          </a:pPr>
          <a:r>
            <a:rPr lang="en-US" sz="4400" kern="1200"/>
            <a:t>(c</a:t>
          </a:r>
          <a:r>
            <a:rPr lang="en-US" sz="4400" kern="1200" baseline="-25000"/>
            <a:t>1</a:t>
          </a:r>
          <a:r>
            <a:rPr lang="en-US" sz="4400" kern="1200"/>
            <a:t>)</a:t>
          </a:r>
        </a:p>
      </dsp:txBody>
      <dsp:txXfrm>
        <a:off x="8948033" y="1361439"/>
        <a:ext cx="5065369" cy="1544320"/>
      </dsp:txXfrm>
    </dsp:sp>
    <dsp:sp modelId="{02BB3644-6935-42A0-8594-035DDFC588F8}">
      <dsp:nvSpPr>
        <dsp:cNvPr id="0" name=""/>
        <dsp:cNvSpPr/>
      </dsp:nvSpPr>
      <dsp:spPr>
        <a:xfrm>
          <a:off x="8948033" y="3291840"/>
          <a:ext cx="5065369" cy="154432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kern="1200"/>
            <a:t>GT NNVL</a:t>
          </a:r>
        </a:p>
        <a:p>
          <a:pPr marL="0" lvl="0" indent="0" algn="ctr" defTabSz="1955800">
            <a:lnSpc>
              <a:spcPct val="90000"/>
            </a:lnSpc>
            <a:spcBef>
              <a:spcPct val="0"/>
            </a:spcBef>
            <a:spcAft>
              <a:spcPct val="35000"/>
            </a:spcAft>
            <a:buNone/>
          </a:pPr>
          <a:r>
            <a:rPr lang="en-US" sz="4400" kern="1200"/>
            <a:t>(c</a:t>
          </a:r>
          <a:r>
            <a:rPr lang="en-US" sz="4400" kern="1200" baseline="-25000"/>
            <a:t>2)</a:t>
          </a:r>
          <a:endParaRPr lang="en-US" sz="4400" kern="1200"/>
        </a:p>
      </dsp:txBody>
      <dsp:txXfrm>
        <a:off x="8948033" y="3291840"/>
        <a:ext cx="5065369" cy="1544320"/>
      </dsp:txXfrm>
    </dsp:sp>
    <dsp:sp modelId="{C413CE4B-E50E-47CD-A83B-28EF491F4B14}">
      <dsp:nvSpPr>
        <dsp:cNvPr id="0" name=""/>
        <dsp:cNvSpPr/>
      </dsp:nvSpPr>
      <dsp:spPr>
        <a:xfrm>
          <a:off x="2869590" y="4257039"/>
          <a:ext cx="5065369" cy="1544320"/>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kern="1200"/>
            <a:t>GT SLĐ</a:t>
          </a:r>
        </a:p>
        <a:p>
          <a:pPr marL="0" lvl="0" indent="0" algn="ctr" defTabSz="1955800">
            <a:lnSpc>
              <a:spcPct val="90000"/>
            </a:lnSpc>
            <a:spcBef>
              <a:spcPct val="0"/>
            </a:spcBef>
            <a:spcAft>
              <a:spcPct val="35000"/>
            </a:spcAft>
            <a:buNone/>
          </a:pPr>
          <a:r>
            <a:rPr lang="en-US" sz="4400" kern="1200"/>
            <a:t>(v)</a:t>
          </a:r>
        </a:p>
      </dsp:txBody>
      <dsp:txXfrm>
        <a:off x="2869590" y="4257039"/>
        <a:ext cx="5065369" cy="15443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1E7C85-CEA2-4F41-9DB8-DEE5D247C0C8}">
      <dsp:nvSpPr>
        <dsp:cNvPr id="0" name=""/>
        <dsp:cNvSpPr/>
      </dsp:nvSpPr>
      <dsp:spPr>
        <a:xfrm>
          <a:off x="5506974" y="5124082"/>
          <a:ext cx="4073652" cy="4073652"/>
        </a:xfrm>
        <a:prstGeom prst="ellipse">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655" tIns="33655" rIns="33655" bIns="33655" numCol="1" spcCol="1270" anchor="ctr" anchorCtr="0">
          <a:noAutofit/>
        </a:bodyPr>
        <a:lstStyle/>
        <a:p>
          <a:pPr marL="0" lvl="0" indent="0" algn="ctr" defTabSz="2355850">
            <a:lnSpc>
              <a:spcPct val="90000"/>
            </a:lnSpc>
            <a:spcBef>
              <a:spcPct val="0"/>
            </a:spcBef>
            <a:spcAft>
              <a:spcPct val="35000"/>
            </a:spcAft>
            <a:buNone/>
          </a:pPr>
          <a:r>
            <a:rPr lang="en-US" sz="5300" kern="1200" dirty="0" err="1"/>
            <a:t>Quy</a:t>
          </a:r>
          <a:r>
            <a:rPr lang="en-US" sz="5300" kern="1200" dirty="0"/>
            <a:t> </a:t>
          </a:r>
          <a:r>
            <a:rPr lang="en-US" sz="5300" kern="1200" dirty="0" err="1"/>
            <a:t>mô</a:t>
          </a:r>
          <a:r>
            <a:rPr lang="en-US" sz="5300" kern="1200" dirty="0"/>
            <a:t> </a:t>
          </a:r>
          <a:r>
            <a:rPr lang="en-US" sz="5300" kern="1200" dirty="0" err="1"/>
            <a:t>của</a:t>
          </a:r>
          <a:r>
            <a:rPr lang="en-US" sz="5300" kern="1200" dirty="0"/>
            <a:t> </a:t>
          </a:r>
          <a:r>
            <a:rPr lang="en-US" sz="5300" kern="1200" dirty="0" err="1"/>
            <a:t>tích</a:t>
          </a:r>
          <a:r>
            <a:rPr lang="en-US" sz="5300" kern="1200" dirty="0"/>
            <a:t> </a:t>
          </a:r>
          <a:r>
            <a:rPr lang="en-US" sz="5300" kern="1200" dirty="0" err="1"/>
            <a:t>lũy</a:t>
          </a:r>
          <a:r>
            <a:rPr lang="en-US" sz="5300" kern="1200" dirty="0"/>
            <a:t> </a:t>
          </a:r>
          <a:r>
            <a:rPr lang="en-US" sz="5300" kern="1200" dirty="0" err="1"/>
            <a:t>tư</a:t>
          </a:r>
          <a:r>
            <a:rPr lang="en-US" sz="5300" kern="1200" dirty="0"/>
            <a:t> </a:t>
          </a:r>
          <a:r>
            <a:rPr lang="en-US" sz="5300" kern="1200" dirty="0" err="1"/>
            <a:t>bản</a:t>
          </a:r>
          <a:endParaRPr lang="en-US" sz="5300" kern="1200" dirty="0"/>
        </a:p>
      </dsp:txBody>
      <dsp:txXfrm>
        <a:off x="6103547" y="5720655"/>
        <a:ext cx="2880506" cy="2880506"/>
      </dsp:txXfrm>
    </dsp:sp>
    <dsp:sp modelId="{9369D429-FBF7-4DE6-B5C3-C2606BB0E0F0}">
      <dsp:nvSpPr>
        <dsp:cNvPr id="0" name=""/>
        <dsp:cNvSpPr/>
      </dsp:nvSpPr>
      <dsp:spPr>
        <a:xfrm rot="11700000">
          <a:off x="1876866" y="5538915"/>
          <a:ext cx="3560025" cy="1160990"/>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73B91CF-69B5-4CAF-B582-34A7A696A253}">
      <dsp:nvSpPr>
        <dsp:cNvPr id="0" name=""/>
        <dsp:cNvSpPr/>
      </dsp:nvSpPr>
      <dsp:spPr>
        <a:xfrm>
          <a:off x="2534" y="4110722"/>
          <a:ext cx="3869969" cy="309597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2133600">
            <a:lnSpc>
              <a:spcPct val="90000"/>
            </a:lnSpc>
            <a:spcBef>
              <a:spcPct val="0"/>
            </a:spcBef>
            <a:spcAft>
              <a:spcPct val="35000"/>
            </a:spcAft>
            <a:buNone/>
          </a:pPr>
          <a:r>
            <a:rPr lang="en-US" sz="4800" kern="1200" dirty="0"/>
            <a:t>Trình </a:t>
          </a:r>
          <a:r>
            <a:rPr lang="en-US" sz="4800" kern="1200" dirty="0" err="1"/>
            <a:t>độ</a:t>
          </a:r>
          <a:r>
            <a:rPr lang="en-US" sz="4800" kern="1200" dirty="0"/>
            <a:t> </a:t>
          </a:r>
          <a:r>
            <a:rPr lang="en-US" sz="4800" kern="1200" dirty="0" err="1"/>
            <a:t>bóc</a:t>
          </a:r>
          <a:r>
            <a:rPr lang="en-US" sz="4800" kern="1200" dirty="0"/>
            <a:t> </a:t>
          </a:r>
          <a:r>
            <a:rPr lang="en-US" sz="4800" kern="1200" dirty="0" err="1"/>
            <a:t>lột</a:t>
          </a:r>
          <a:r>
            <a:rPr lang="en-US" sz="4800" kern="1200" dirty="0"/>
            <a:t> (m’)</a:t>
          </a:r>
        </a:p>
      </dsp:txBody>
      <dsp:txXfrm>
        <a:off x="93212" y="4201400"/>
        <a:ext cx="3688613" cy="2914619"/>
      </dsp:txXfrm>
    </dsp:sp>
    <dsp:sp modelId="{7D1730D9-1400-44D5-A350-99CB187419A8}">
      <dsp:nvSpPr>
        <dsp:cNvPr id="0" name=""/>
        <dsp:cNvSpPr/>
      </dsp:nvSpPr>
      <dsp:spPr>
        <a:xfrm rot="14700000">
          <a:off x="4063155" y="2933397"/>
          <a:ext cx="3560025" cy="1160990"/>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2EC2173-A9A9-4ADB-9E19-7BB289F30AA2}">
      <dsp:nvSpPr>
        <dsp:cNvPr id="0" name=""/>
        <dsp:cNvSpPr/>
      </dsp:nvSpPr>
      <dsp:spPr>
        <a:xfrm>
          <a:off x="3155918" y="352665"/>
          <a:ext cx="3869969" cy="309597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2133600">
            <a:lnSpc>
              <a:spcPct val="90000"/>
            </a:lnSpc>
            <a:spcBef>
              <a:spcPct val="0"/>
            </a:spcBef>
            <a:spcAft>
              <a:spcPct val="35000"/>
            </a:spcAft>
            <a:buNone/>
          </a:pPr>
          <a:r>
            <a:rPr lang="en-US" sz="4800" kern="1200" dirty="0" err="1"/>
            <a:t>Năng</a:t>
          </a:r>
          <a:r>
            <a:rPr lang="en-US" sz="4800" kern="1200" dirty="0"/>
            <a:t> </a:t>
          </a:r>
          <a:r>
            <a:rPr lang="en-US" sz="4800" kern="1200" dirty="0" err="1"/>
            <a:t>suất</a:t>
          </a:r>
          <a:r>
            <a:rPr lang="en-US" sz="4800" kern="1200" dirty="0"/>
            <a:t> </a:t>
          </a:r>
          <a:r>
            <a:rPr lang="en-US" sz="4800" kern="1200" dirty="0" err="1"/>
            <a:t>lao</a:t>
          </a:r>
          <a:r>
            <a:rPr lang="en-US" sz="4800" kern="1200" dirty="0"/>
            <a:t> </a:t>
          </a:r>
          <a:r>
            <a:rPr lang="en-US" sz="4800" kern="1200" dirty="0" err="1"/>
            <a:t>động</a:t>
          </a:r>
          <a:endParaRPr lang="en-US" sz="4800" kern="1200" dirty="0"/>
        </a:p>
      </dsp:txBody>
      <dsp:txXfrm>
        <a:off x="3246596" y="443343"/>
        <a:ext cx="3688613" cy="2914619"/>
      </dsp:txXfrm>
    </dsp:sp>
    <dsp:sp modelId="{2919E416-3DDB-41E8-9F7E-D5C544F3B7C7}">
      <dsp:nvSpPr>
        <dsp:cNvPr id="0" name=""/>
        <dsp:cNvSpPr/>
      </dsp:nvSpPr>
      <dsp:spPr>
        <a:xfrm rot="17700000">
          <a:off x="7464418" y="2933397"/>
          <a:ext cx="3560025" cy="1160990"/>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21D7500-336D-4F4B-9957-DD965D4A9958}">
      <dsp:nvSpPr>
        <dsp:cNvPr id="0" name=""/>
        <dsp:cNvSpPr/>
      </dsp:nvSpPr>
      <dsp:spPr>
        <a:xfrm>
          <a:off x="8061712" y="352665"/>
          <a:ext cx="3869969" cy="309597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2133600">
            <a:lnSpc>
              <a:spcPct val="90000"/>
            </a:lnSpc>
            <a:spcBef>
              <a:spcPct val="0"/>
            </a:spcBef>
            <a:spcAft>
              <a:spcPct val="35000"/>
            </a:spcAft>
            <a:buNone/>
          </a:pPr>
          <a:r>
            <a:rPr lang="en-US" sz="4800" kern="1200" dirty="0" err="1"/>
            <a:t>Quy</a:t>
          </a:r>
          <a:r>
            <a:rPr lang="en-US" sz="4800" kern="1200" dirty="0"/>
            <a:t> </a:t>
          </a:r>
          <a:r>
            <a:rPr lang="en-US" sz="4800" kern="1200" dirty="0" err="1"/>
            <a:t>mô</a:t>
          </a:r>
          <a:r>
            <a:rPr lang="en-US" sz="4800" kern="1200" dirty="0"/>
            <a:t> </a:t>
          </a:r>
          <a:r>
            <a:rPr lang="en-US" sz="4800" kern="1200" dirty="0" err="1"/>
            <a:t>của</a:t>
          </a:r>
          <a:r>
            <a:rPr lang="en-US" sz="4800" kern="1200" dirty="0"/>
            <a:t> </a:t>
          </a:r>
          <a:r>
            <a:rPr lang="en-US" sz="4800" kern="1200" dirty="0" err="1"/>
            <a:t>tư</a:t>
          </a:r>
          <a:r>
            <a:rPr lang="en-US" sz="4800" kern="1200" dirty="0"/>
            <a:t> </a:t>
          </a:r>
          <a:r>
            <a:rPr lang="en-US" sz="4800" kern="1200" dirty="0" err="1"/>
            <a:t>bản</a:t>
          </a:r>
          <a:r>
            <a:rPr lang="en-US" sz="4800" kern="1200" dirty="0"/>
            <a:t> </a:t>
          </a:r>
          <a:r>
            <a:rPr lang="en-US" sz="4800" kern="1200" dirty="0" err="1"/>
            <a:t>ứng</a:t>
          </a:r>
          <a:r>
            <a:rPr lang="en-US" sz="4800" kern="1200" dirty="0"/>
            <a:t> </a:t>
          </a:r>
          <a:r>
            <a:rPr lang="en-US" sz="4800" kern="1200" dirty="0" err="1"/>
            <a:t>trước</a:t>
          </a:r>
          <a:endParaRPr lang="en-US" sz="4800" kern="1200" dirty="0"/>
        </a:p>
      </dsp:txBody>
      <dsp:txXfrm>
        <a:off x="8152390" y="443343"/>
        <a:ext cx="3688613" cy="2914619"/>
      </dsp:txXfrm>
    </dsp:sp>
    <dsp:sp modelId="{04DB9DC8-C1F9-48E4-A45E-92A31AAA643B}">
      <dsp:nvSpPr>
        <dsp:cNvPr id="0" name=""/>
        <dsp:cNvSpPr/>
      </dsp:nvSpPr>
      <dsp:spPr>
        <a:xfrm rot="20700000">
          <a:off x="9650707" y="5538915"/>
          <a:ext cx="3560025" cy="1160990"/>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63D56D4-996F-43A5-BFDB-FE4CC94809A0}">
      <dsp:nvSpPr>
        <dsp:cNvPr id="0" name=""/>
        <dsp:cNvSpPr/>
      </dsp:nvSpPr>
      <dsp:spPr>
        <a:xfrm>
          <a:off x="11215096" y="4110722"/>
          <a:ext cx="3869969" cy="3095975"/>
        </a:xfrm>
        <a:prstGeom prst="roundRect">
          <a:avLst>
            <a:gd name="adj" fmla="val 10000"/>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2133600">
            <a:lnSpc>
              <a:spcPct val="90000"/>
            </a:lnSpc>
            <a:spcBef>
              <a:spcPct val="0"/>
            </a:spcBef>
            <a:spcAft>
              <a:spcPct val="35000"/>
            </a:spcAft>
            <a:buNone/>
          </a:pPr>
          <a:r>
            <a:rPr lang="en-US" sz="4800" kern="1200" dirty="0" err="1"/>
            <a:t>Chênh</a:t>
          </a:r>
          <a:r>
            <a:rPr lang="en-US" sz="4800" kern="1200" dirty="0"/>
            <a:t> </a:t>
          </a:r>
          <a:r>
            <a:rPr lang="en-US" sz="4800" kern="1200" dirty="0" err="1"/>
            <a:t>lệch</a:t>
          </a:r>
          <a:r>
            <a:rPr lang="en-US" sz="4800" kern="1200" dirty="0"/>
            <a:t> </a:t>
          </a:r>
          <a:r>
            <a:rPr lang="en-US" sz="4800" kern="1200" dirty="0" err="1"/>
            <a:t>giữa</a:t>
          </a:r>
          <a:r>
            <a:rPr lang="en-US" sz="4800" kern="1200" dirty="0"/>
            <a:t> </a:t>
          </a:r>
          <a:r>
            <a:rPr lang="en-US" sz="4800" kern="1200" dirty="0" err="1"/>
            <a:t>tư</a:t>
          </a:r>
          <a:r>
            <a:rPr lang="en-US" sz="4800" kern="1200" dirty="0"/>
            <a:t> </a:t>
          </a:r>
          <a:r>
            <a:rPr lang="en-US" sz="4800" kern="1200" dirty="0" err="1"/>
            <a:t>bản</a:t>
          </a:r>
          <a:r>
            <a:rPr lang="en-US" sz="4800" kern="1200" dirty="0"/>
            <a:t> </a:t>
          </a:r>
          <a:r>
            <a:rPr lang="en-US" sz="4800" kern="1200" dirty="0" err="1"/>
            <a:t>sử</a:t>
          </a:r>
          <a:r>
            <a:rPr lang="en-US" sz="4800" kern="1200" dirty="0"/>
            <a:t> </a:t>
          </a:r>
          <a:r>
            <a:rPr lang="en-US" sz="4800" kern="1200" dirty="0" err="1"/>
            <a:t>dụng</a:t>
          </a:r>
          <a:r>
            <a:rPr lang="en-US" sz="4800" kern="1200" dirty="0"/>
            <a:t> </a:t>
          </a:r>
          <a:r>
            <a:rPr lang="en-US" sz="4800" kern="1200" dirty="0" err="1"/>
            <a:t>và</a:t>
          </a:r>
          <a:r>
            <a:rPr lang="en-US" sz="4800" kern="1200" dirty="0"/>
            <a:t> </a:t>
          </a:r>
          <a:r>
            <a:rPr lang="en-US" sz="4800" kern="1200" dirty="0" err="1"/>
            <a:t>tư</a:t>
          </a:r>
          <a:r>
            <a:rPr lang="en-US" sz="4800" kern="1200" dirty="0"/>
            <a:t> </a:t>
          </a:r>
          <a:r>
            <a:rPr lang="en-US" sz="4800" kern="1200" dirty="0" err="1"/>
            <a:t>bản</a:t>
          </a:r>
          <a:r>
            <a:rPr lang="en-US" sz="4800" kern="1200" dirty="0"/>
            <a:t> </a:t>
          </a:r>
          <a:r>
            <a:rPr lang="en-US" sz="4800" kern="1200" dirty="0" err="1"/>
            <a:t>tiêu</a:t>
          </a:r>
          <a:r>
            <a:rPr lang="en-US" sz="4800" kern="1200" dirty="0"/>
            <a:t> </a:t>
          </a:r>
          <a:r>
            <a:rPr lang="en-US" sz="4800" kern="1200" dirty="0" err="1"/>
            <a:t>dùng</a:t>
          </a:r>
          <a:endParaRPr lang="en-US" sz="4800" kern="1200" dirty="0"/>
        </a:p>
      </dsp:txBody>
      <dsp:txXfrm>
        <a:off x="11305774" y="4201400"/>
        <a:ext cx="3688613" cy="29146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566F40-0F1B-4347-8643-0A141057ADEB}">
      <dsp:nvSpPr>
        <dsp:cNvPr id="0" name=""/>
        <dsp:cNvSpPr/>
      </dsp:nvSpPr>
      <dsp:spPr>
        <a:xfrm>
          <a:off x="5806439" y="3637319"/>
          <a:ext cx="2865120" cy="286512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600200">
            <a:lnSpc>
              <a:spcPct val="90000"/>
            </a:lnSpc>
            <a:spcBef>
              <a:spcPct val="0"/>
            </a:spcBef>
            <a:spcAft>
              <a:spcPct val="35000"/>
            </a:spcAft>
            <a:buNone/>
          </a:pPr>
          <a:r>
            <a:rPr lang="en-US" sz="3600" kern="1200" dirty="0" err="1">
              <a:solidFill>
                <a:srgbClr val="002060"/>
              </a:solidFill>
            </a:rPr>
            <a:t>Tích</a:t>
          </a:r>
          <a:r>
            <a:rPr lang="en-US" sz="3600" kern="1200" dirty="0">
              <a:solidFill>
                <a:srgbClr val="002060"/>
              </a:solidFill>
            </a:rPr>
            <a:t> </a:t>
          </a:r>
          <a:r>
            <a:rPr lang="en-US" sz="3600" kern="1200" dirty="0" err="1">
              <a:solidFill>
                <a:srgbClr val="002060"/>
              </a:solidFill>
            </a:rPr>
            <a:t>lũy</a:t>
          </a:r>
          <a:r>
            <a:rPr lang="en-US" sz="3600" kern="1200" dirty="0">
              <a:solidFill>
                <a:srgbClr val="002060"/>
              </a:solidFill>
            </a:rPr>
            <a:t> Tư </a:t>
          </a:r>
          <a:r>
            <a:rPr lang="en-US" sz="3600" kern="1200" dirty="0" err="1">
              <a:solidFill>
                <a:srgbClr val="002060"/>
              </a:solidFill>
            </a:rPr>
            <a:t>bản</a:t>
          </a:r>
          <a:endParaRPr lang="en-US" sz="3600" kern="1200" dirty="0">
            <a:solidFill>
              <a:srgbClr val="002060"/>
            </a:solidFill>
          </a:endParaRPr>
        </a:p>
      </dsp:txBody>
      <dsp:txXfrm>
        <a:off x="5946303" y="3777183"/>
        <a:ext cx="2585392" cy="2585392"/>
      </dsp:txXfrm>
    </dsp:sp>
    <dsp:sp modelId="{CAFC8F94-69D2-4A99-BB98-DBC8E87FB622}">
      <dsp:nvSpPr>
        <dsp:cNvPr id="0" name=""/>
        <dsp:cNvSpPr/>
      </dsp:nvSpPr>
      <dsp:spPr>
        <a:xfrm rot="16200000">
          <a:off x="6637046" y="3035365"/>
          <a:ext cx="1203907" cy="0"/>
        </a:xfrm>
        <a:custGeom>
          <a:avLst/>
          <a:gdLst/>
          <a:ahLst/>
          <a:cxnLst/>
          <a:rect l="0" t="0" r="0" b="0"/>
          <a:pathLst>
            <a:path>
              <a:moveTo>
                <a:pt x="0" y="0"/>
              </a:moveTo>
              <a:lnTo>
                <a:pt x="1203907" y="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899D3B-72A4-4AE7-AC62-22EA630C0096}">
      <dsp:nvSpPr>
        <dsp:cNvPr id="0" name=""/>
        <dsp:cNvSpPr/>
      </dsp:nvSpPr>
      <dsp:spPr>
        <a:xfrm>
          <a:off x="5029198" y="513781"/>
          <a:ext cx="4419603" cy="191963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1778000">
            <a:lnSpc>
              <a:spcPct val="90000"/>
            </a:lnSpc>
            <a:spcBef>
              <a:spcPct val="0"/>
            </a:spcBef>
            <a:spcAft>
              <a:spcPct val="35000"/>
            </a:spcAft>
            <a:buNone/>
          </a:pPr>
          <a:r>
            <a:rPr lang="en-US" sz="4000" kern="1200" dirty="0" err="1">
              <a:solidFill>
                <a:srgbClr val="002060"/>
              </a:solidFill>
            </a:rPr>
            <a:t>Tăng</a:t>
          </a:r>
          <a:r>
            <a:rPr lang="en-US" sz="4000" kern="1200" dirty="0">
              <a:solidFill>
                <a:srgbClr val="002060"/>
              </a:solidFill>
            </a:rPr>
            <a:t> </a:t>
          </a:r>
          <a:r>
            <a:rPr lang="en-US" sz="4000" kern="1200" dirty="0" err="1">
              <a:solidFill>
                <a:srgbClr val="002060"/>
              </a:solidFill>
            </a:rPr>
            <a:t>tích</a:t>
          </a:r>
          <a:r>
            <a:rPr lang="en-US" sz="4000" kern="1200" dirty="0">
              <a:solidFill>
                <a:srgbClr val="002060"/>
              </a:solidFill>
            </a:rPr>
            <a:t> </a:t>
          </a:r>
          <a:r>
            <a:rPr lang="en-US" sz="4000" kern="1200" dirty="0" err="1">
              <a:solidFill>
                <a:srgbClr val="002060"/>
              </a:solidFill>
            </a:rPr>
            <a:t>tụ</a:t>
          </a:r>
          <a:r>
            <a:rPr lang="en-US" sz="4000" kern="1200" dirty="0">
              <a:solidFill>
                <a:srgbClr val="002060"/>
              </a:solidFill>
            </a:rPr>
            <a:t> </a:t>
          </a:r>
          <a:r>
            <a:rPr lang="en-US" sz="4000" kern="1200" dirty="0" err="1">
              <a:solidFill>
                <a:srgbClr val="002060"/>
              </a:solidFill>
            </a:rPr>
            <a:t>và</a:t>
          </a:r>
          <a:r>
            <a:rPr lang="en-US" sz="4000" kern="1200" dirty="0">
              <a:solidFill>
                <a:srgbClr val="002060"/>
              </a:solidFill>
            </a:rPr>
            <a:t> </a:t>
          </a:r>
          <a:r>
            <a:rPr lang="en-US" sz="4000" kern="1200" dirty="0" err="1">
              <a:solidFill>
                <a:srgbClr val="002060"/>
              </a:solidFill>
            </a:rPr>
            <a:t>tập</a:t>
          </a:r>
          <a:r>
            <a:rPr lang="en-US" sz="4000" kern="1200" dirty="0">
              <a:solidFill>
                <a:srgbClr val="002060"/>
              </a:solidFill>
            </a:rPr>
            <a:t> </a:t>
          </a:r>
          <a:r>
            <a:rPr lang="en-US" sz="4000" kern="1200" dirty="0" err="1">
              <a:solidFill>
                <a:srgbClr val="002060"/>
              </a:solidFill>
            </a:rPr>
            <a:t>trung</a:t>
          </a:r>
          <a:r>
            <a:rPr lang="en-US" sz="4000" kern="1200" dirty="0">
              <a:solidFill>
                <a:srgbClr val="002060"/>
              </a:solidFill>
            </a:rPr>
            <a:t> </a:t>
          </a:r>
          <a:r>
            <a:rPr lang="en-US" sz="4000" kern="1200" dirty="0" err="1">
              <a:solidFill>
                <a:srgbClr val="002060"/>
              </a:solidFill>
            </a:rPr>
            <a:t>tư</a:t>
          </a:r>
          <a:r>
            <a:rPr lang="en-US" sz="4000" kern="1200" dirty="0">
              <a:solidFill>
                <a:srgbClr val="002060"/>
              </a:solidFill>
            </a:rPr>
            <a:t> </a:t>
          </a:r>
          <a:r>
            <a:rPr lang="en-US" sz="4000" kern="1200" dirty="0" err="1">
              <a:solidFill>
                <a:srgbClr val="002060"/>
              </a:solidFill>
            </a:rPr>
            <a:t>bản</a:t>
          </a:r>
          <a:endParaRPr lang="en-US" sz="4000" kern="1200" dirty="0">
            <a:solidFill>
              <a:srgbClr val="002060"/>
            </a:solidFill>
          </a:endParaRPr>
        </a:p>
      </dsp:txBody>
      <dsp:txXfrm>
        <a:off x="5122907" y="607490"/>
        <a:ext cx="4232185" cy="1732212"/>
      </dsp:txXfrm>
    </dsp:sp>
    <dsp:sp modelId="{078C173A-6E7D-4C03-AE47-02C7E9AA6CC2}">
      <dsp:nvSpPr>
        <dsp:cNvPr id="0" name=""/>
        <dsp:cNvSpPr/>
      </dsp:nvSpPr>
      <dsp:spPr>
        <a:xfrm rot="2295834">
          <a:off x="8512468" y="6658384"/>
          <a:ext cx="1481074" cy="0"/>
        </a:xfrm>
        <a:custGeom>
          <a:avLst/>
          <a:gdLst/>
          <a:ahLst/>
          <a:cxnLst/>
          <a:rect l="0" t="0" r="0" b="0"/>
          <a:pathLst>
            <a:path>
              <a:moveTo>
                <a:pt x="0" y="0"/>
              </a:moveTo>
              <a:lnTo>
                <a:pt x="1481074" y="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5F7E2F2-2642-4432-B003-F8BB6FF7DD7E}">
      <dsp:nvSpPr>
        <dsp:cNvPr id="0" name=""/>
        <dsp:cNvSpPr/>
      </dsp:nvSpPr>
      <dsp:spPr>
        <a:xfrm>
          <a:off x="8841561" y="7116987"/>
          <a:ext cx="4419603" cy="191963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1778000">
            <a:lnSpc>
              <a:spcPct val="90000"/>
            </a:lnSpc>
            <a:spcBef>
              <a:spcPct val="0"/>
            </a:spcBef>
            <a:spcAft>
              <a:spcPct val="35000"/>
            </a:spcAft>
            <a:buNone/>
          </a:pPr>
          <a:r>
            <a:rPr lang="en-US" sz="4000" kern="1200" dirty="0" err="1">
              <a:solidFill>
                <a:srgbClr val="002060"/>
              </a:solidFill>
            </a:rPr>
            <a:t>Tăng</a:t>
          </a:r>
          <a:r>
            <a:rPr lang="en-US" sz="4000" kern="1200" dirty="0">
              <a:solidFill>
                <a:srgbClr val="002060"/>
              </a:solidFill>
            </a:rPr>
            <a:t> </a:t>
          </a:r>
          <a:r>
            <a:rPr lang="en-US" sz="4000" kern="1200" dirty="0" err="1">
              <a:solidFill>
                <a:srgbClr val="002060"/>
              </a:solidFill>
            </a:rPr>
            <a:t>bất</a:t>
          </a:r>
          <a:r>
            <a:rPr lang="en-US" sz="4000" kern="1200" dirty="0">
              <a:solidFill>
                <a:srgbClr val="002060"/>
              </a:solidFill>
            </a:rPr>
            <a:t> </a:t>
          </a:r>
          <a:r>
            <a:rPr lang="en-US" sz="4000" kern="1200" dirty="0" err="1">
              <a:solidFill>
                <a:srgbClr val="002060"/>
              </a:solidFill>
            </a:rPr>
            <a:t>bình</a:t>
          </a:r>
          <a:r>
            <a:rPr lang="en-US" sz="4000" kern="1200" dirty="0">
              <a:solidFill>
                <a:srgbClr val="002060"/>
              </a:solidFill>
            </a:rPr>
            <a:t> </a:t>
          </a:r>
          <a:r>
            <a:rPr lang="en-US" sz="4000" kern="1200" dirty="0" err="1">
              <a:solidFill>
                <a:srgbClr val="002060"/>
              </a:solidFill>
            </a:rPr>
            <a:t>đẳng</a:t>
          </a:r>
          <a:r>
            <a:rPr lang="en-US" sz="4000" kern="1200" dirty="0">
              <a:solidFill>
                <a:srgbClr val="002060"/>
              </a:solidFill>
            </a:rPr>
            <a:t> </a:t>
          </a:r>
          <a:r>
            <a:rPr lang="en-US" sz="4000" kern="1200" dirty="0" err="1">
              <a:solidFill>
                <a:srgbClr val="002060"/>
              </a:solidFill>
            </a:rPr>
            <a:t>xã</a:t>
          </a:r>
          <a:r>
            <a:rPr lang="en-US" sz="4000" kern="1200" dirty="0">
              <a:solidFill>
                <a:srgbClr val="002060"/>
              </a:solidFill>
            </a:rPr>
            <a:t> </a:t>
          </a:r>
          <a:r>
            <a:rPr lang="en-US" sz="4000" kern="1200" dirty="0" err="1">
              <a:solidFill>
                <a:srgbClr val="002060"/>
              </a:solidFill>
            </a:rPr>
            <a:t>hội</a:t>
          </a:r>
          <a:endParaRPr lang="en-US" sz="4000" kern="1200" dirty="0">
            <a:solidFill>
              <a:srgbClr val="002060"/>
            </a:solidFill>
          </a:endParaRPr>
        </a:p>
      </dsp:txBody>
      <dsp:txXfrm>
        <a:off x="8935270" y="7210696"/>
        <a:ext cx="4232185" cy="1732212"/>
      </dsp:txXfrm>
    </dsp:sp>
    <dsp:sp modelId="{3F02984F-1825-4BCE-A042-07E5F2B47FB6}">
      <dsp:nvSpPr>
        <dsp:cNvPr id="0" name=""/>
        <dsp:cNvSpPr/>
      </dsp:nvSpPr>
      <dsp:spPr>
        <a:xfrm rot="8504166">
          <a:off x="4484457" y="6658384"/>
          <a:ext cx="1481074" cy="0"/>
        </a:xfrm>
        <a:custGeom>
          <a:avLst/>
          <a:gdLst/>
          <a:ahLst/>
          <a:cxnLst/>
          <a:rect l="0" t="0" r="0" b="0"/>
          <a:pathLst>
            <a:path>
              <a:moveTo>
                <a:pt x="0" y="0"/>
              </a:moveTo>
              <a:lnTo>
                <a:pt x="1481074" y="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841056-3170-4A70-9F0A-2010A357226C}">
      <dsp:nvSpPr>
        <dsp:cNvPr id="0" name=""/>
        <dsp:cNvSpPr/>
      </dsp:nvSpPr>
      <dsp:spPr>
        <a:xfrm>
          <a:off x="1216835" y="7116987"/>
          <a:ext cx="4419603" cy="191963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1778000">
            <a:lnSpc>
              <a:spcPct val="90000"/>
            </a:lnSpc>
            <a:spcBef>
              <a:spcPct val="0"/>
            </a:spcBef>
            <a:spcAft>
              <a:spcPct val="35000"/>
            </a:spcAft>
            <a:buNone/>
          </a:pPr>
          <a:r>
            <a:rPr lang="en-US" sz="4000" kern="1200" dirty="0" err="1">
              <a:solidFill>
                <a:srgbClr val="002060"/>
              </a:solidFill>
            </a:rPr>
            <a:t>Tăng</a:t>
          </a:r>
          <a:r>
            <a:rPr lang="en-US" sz="4000" kern="1200" dirty="0">
              <a:solidFill>
                <a:srgbClr val="002060"/>
              </a:solidFill>
            </a:rPr>
            <a:t> </a:t>
          </a:r>
          <a:r>
            <a:rPr lang="en-US" sz="4000" kern="1200" dirty="0" err="1">
              <a:solidFill>
                <a:srgbClr val="002060"/>
              </a:solidFill>
            </a:rPr>
            <a:t>cấu</a:t>
          </a:r>
          <a:r>
            <a:rPr lang="en-US" sz="4000" kern="1200" dirty="0">
              <a:solidFill>
                <a:srgbClr val="002060"/>
              </a:solidFill>
            </a:rPr>
            <a:t> </a:t>
          </a:r>
          <a:r>
            <a:rPr lang="en-US" sz="4000" kern="1200" dirty="0" err="1">
              <a:solidFill>
                <a:srgbClr val="002060"/>
              </a:solidFill>
            </a:rPr>
            <a:t>tạo</a:t>
          </a:r>
          <a:r>
            <a:rPr lang="en-US" sz="4000" kern="1200" dirty="0">
              <a:solidFill>
                <a:srgbClr val="002060"/>
              </a:solidFill>
            </a:rPr>
            <a:t> </a:t>
          </a:r>
          <a:r>
            <a:rPr lang="en-US" sz="4000" kern="1200" dirty="0" err="1">
              <a:solidFill>
                <a:srgbClr val="002060"/>
              </a:solidFill>
            </a:rPr>
            <a:t>hữu</a:t>
          </a:r>
          <a:r>
            <a:rPr lang="en-US" sz="4000" kern="1200" dirty="0">
              <a:solidFill>
                <a:srgbClr val="002060"/>
              </a:solidFill>
            </a:rPr>
            <a:t> </a:t>
          </a:r>
          <a:r>
            <a:rPr lang="en-US" sz="4000" kern="1200" dirty="0" err="1">
              <a:solidFill>
                <a:srgbClr val="002060"/>
              </a:solidFill>
            </a:rPr>
            <a:t>cơ</a:t>
          </a:r>
          <a:r>
            <a:rPr lang="en-US" sz="4000" kern="1200" dirty="0">
              <a:solidFill>
                <a:srgbClr val="002060"/>
              </a:solidFill>
            </a:rPr>
            <a:t> </a:t>
          </a:r>
          <a:r>
            <a:rPr lang="en-US" sz="4000" kern="1200" dirty="0" err="1">
              <a:solidFill>
                <a:srgbClr val="002060"/>
              </a:solidFill>
            </a:rPr>
            <a:t>của</a:t>
          </a:r>
          <a:r>
            <a:rPr lang="en-US" sz="4000" kern="1200" dirty="0">
              <a:solidFill>
                <a:srgbClr val="002060"/>
              </a:solidFill>
            </a:rPr>
            <a:t> </a:t>
          </a:r>
          <a:r>
            <a:rPr lang="en-US" sz="4000" kern="1200" dirty="0" err="1">
              <a:solidFill>
                <a:srgbClr val="002060"/>
              </a:solidFill>
            </a:rPr>
            <a:t>tư</a:t>
          </a:r>
          <a:r>
            <a:rPr lang="en-US" sz="4000" kern="1200" dirty="0">
              <a:solidFill>
                <a:srgbClr val="002060"/>
              </a:solidFill>
            </a:rPr>
            <a:t> </a:t>
          </a:r>
          <a:r>
            <a:rPr lang="en-US" sz="4000" kern="1200" dirty="0" err="1">
              <a:solidFill>
                <a:srgbClr val="002060"/>
              </a:solidFill>
            </a:rPr>
            <a:t>bản</a:t>
          </a:r>
          <a:endParaRPr lang="en-US" sz="4000" kern="1200" dirty="0">
            <a:solidFill>
              <a:srgbClr val="002060"/>
            </a:solidFill>
          </a:endParaRPr>
        </a:p>
      </dsp:txBody>
      <dsp:txXfrm>
        <a:off x="1310544" y="7210696"/>
        <a:ext cx="4232185" cy="17322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8F55D9-3796-40C1-98DA-B718AEAE494C}">
      <dsp:nvSpPr>
        <dsp:cNvPr id="0" name=""/>
        <dsp:cNvSpPr/>
      </dsp:nvSpPr>
      <dsp:spPr>
        <a:xfrm>
          <a:off x="3034969" y="1981200"/>
          <a:ext cx="493873" cy="865227"/>
        </a:xfrm>
        <a:custGeom>
          <a:avLst/>
          <a:gdLst/>
          <a:ahLst/>
          <a:cxnLst/>
          <a:rect l="0" t="0" r="0" b="0"/>
          <a:pathLst>
            <a:path>
              <a:moveTo>
                <a:pt x="0" y="0"/>
              </a:moveTo>
              <a:lnTo>
                <a:pt x="246936" y="0"/>
              </a:lnTo>
              <a:lnTo>
                <a:pt x="246936" y="865227"/>
              </a:lnTo>
              <a:lnTo>
                <a:pt x="493873" y="86522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2060"/>
            </a:solidFill>
          </a:endParaRPr>
        </a:p>
      </dsp:txBody>
      <dsp:txXfrm>
        <a:off x="3257000" y="2388907"/>
        <a:ext cx="49812" cy="49812"/>
      </dsp:txXfrm>
    </dsp:sp>
    <dsp:sp modelId="{6DCAF716-F42D-4F90-A9C8-3D0E9FFEB21C}">
      <dsp:nvSpPr>
        <dsp:cNvPr id="0" name=""/>
        <dsp:cNvSpPr/>
      </dsp:nvSpPr>
      <dsp:spPr>
        <a:xfrm>
          <a:off x="3034969" y="1014209"/>
          <a:ext cx="493873" cy="966990"/>
        </a:xfrm>
        <a:custGeom>
          <a:avLst/>
          <a:gdLst/>
          <a:ahLst/>
          <a:cxnLst/>
          <a:rect l="0" t="0" r="0" b="0"/>
          <a:pathLst>
            <a:path>
              <a:moveTo>
                <a:pt x="0" y="966990"/>
              </a:moveTo>
              <a:lnTo>
                <a:pt x="246936" y="966990"/>
              </a:lnTo>
              <a:lnTo>
                <a:pt x="246936" y="0"/>
              </a:lnTo>
              <a:lnTo>
                <a:pt x="493873"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2060"/>
            </a:solidFill>
          </a:endParaRPr>
        </a:p>
      </dsp:txBody>
      <dsp:txXfrm>
        <a:off x="3254761" y="1470559"/>
        <a:ext cx="54290" cy="54290"/>
      </dsp:txXfrm>
    </dsp:sp>
    <dsp:sp modelId="{894EFEFD-F740-4964-B0D2-F7C88ADC90DE}">
      <dsp:nvSpPr>
        <dsp:cNvPr id="0" name=""/>
        <dsp:cNvSpPr/>
      </dsp:nvSpPr>
      <dsp:spPr>
        <a:xfrm rot="16200000">
          <a:off x="1173314" y="565315"/>
          <a:ext cx="891540" cy="2831769"/>
        </a:xfrm>
        <a:prstGeom prst="rect">
          <a:avLst/>
        </a:prstGeom>
        <a:blipFill rotWithShape="0">
          <a:blip xmlns:r="http://schemas.openxmlformats.org/officeDocument/2006/relationships" r:embed="rId1"/>
          <a:stretch>
            <a:fillRect l="-847" t="-22078" b="-36364"/>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2800350">
            <a:lnSpc>
              <a:spcPct val="90000"/>
            </a:lnSpc>
            <a:spcBef>
              <a:spcPct val="0"/>
            </a:spcBef>
            <a:spcAft>
              <a:spcPct val="35000"/>
            </a:spcAft>
            <a:buNone/>
          </a:pPr>
          <a:r>
            <a:rPr lang="en-US" sz="6300" kern="1200">
              <a:noFill/>
            </a:rPr>
            <a:t> </a:t>
          </a:r>
        </a:p>
      </dsp:txBody>
      <dsp:txXfrm>
        <a:off x="1173314" y="565315"/>
        <a:ext cx="891540" cy="2831769"/>
      </dsp:txXfrm>
    </dsp:sp>
    <dsp:sp modelId="{DB9EA317-3EA9-450A-8AC7-0BABBC44278F}">
      <dsp:nvSpPr>
        <dsp:cNvPr id="0" name=""/>
        <dsp:cNvSpPr/>
      </dsp:nvSpPr>
      <dsp:spPr>
        <a:xfrm>
          <a:off x="3528843" y="637781"/>
          <a:ext cx="3193139" cy="752856"/>
        </a:xfrm>
        <a:prstGeom prst="rect">
          <a:avLst/>
        </a:prstGeom>
        <a:blipFill rotWithShape="0">
          <a:blip xmlns:r="http://schemas.openxmlformats.org/officeDocument/2006/relationships" r:embed="rId2"/>
          <a:stretch>
            <a:fillRect r="-8647" b="-303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2133600">
            <a:lnSpc>
              <a:spcPct val="90000"/>
            </a:lnSpc>
            <a:spcBef>
              <a:spcPct val="0"/>
            </a:spcBef>
            <a:spcAft>
              <a:spcPct val="35000"/>
            </a:spcAft>
            <a:buNone/>
          </a:pPr>
          <a:r>
            <a:rPr lang="en-US" sz="4800" kern="1200">
              <a:noFill/>
            </a:rPr>
            <a:t> </a:t>
          </a:r>
        </a:p>
      </dsp:txBody>
      <dsp:txXfrm>
        <a:off x="3528843" y="637781"/>
        <a:ext cx="3193139" cy="752856"/>
      </dsp:txXfrm>
    </dsp:sp>
    <dsp:sp modelId="{5A3F219E-9433-4CCB-AE03-2B7DF11D9E24}">
      <dsp:nvSpPr>
        <dsp:cNvPr id="0" name=""/>
        <dsp:cNvSpPr/>
      </dsp:nvSpPr>
      <dsp:spPr>
        <a:xfrm>
          <a:off x="3528843" y="1973543"/>
          <a:ext cx="7807004" cy="1745767"/>
        </a:xfrm>
        <a:prstGeom prst="rect">
          <a:avLst/>
        </a:prstGeom>
        <a:solidFill>
          <a:schemeClr val="bg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2133600">
            <a:lnSpc>
              <a:spcPct val="90000"/>
            </a:lnSpc>
            <a:spcBef>
              <a:spcPct val="0"/>
            </a:spcBef>
            <a:spcAft>
              <a:spcPct val="35000"/>
            </a:spcAft>
            <a:buNone/>
          </a:pPr>
          <a:r>
            <a:rPr lang="en-US" sz="4800" b="1" kern="1200" dirty="0">
              <a:solidFill>
                <a:srgbClr val="002060"/>
              </a:solidFill>
            </a:rPr>
            <a:t>QL </a:t>
          </a:r>
          <a:r>
            <a:rPr lang="en-US" sz="4800" b="1" kern="1200" dirty="0" err="1">
              <a:solidFill>
                <a:srgbClr val="002060"/>
              </a:solidFill>
            </a:rPr>
            <a:t>giá</a:t>
          </a:r>
          <a:r>
            <a:rPr lang="en-US" sz="4800" b="1" kern="1200" dirty="0">
              <a:solidFill>
                <a:srgbClr val="002060"/>
              </a:solidFill>
            </a:rPr>
            <a:t> </a:t>
          </a:r>
          <a:r>
            <a:rPr lang="en-US" sz="4800" b="1" kern="1200" dirty="0" err="1">
              <a:solidFill>
                <a:srgbClr val="002060"/>
              </a:solidFill>
            </a:rPr>
            <a:t>trị</a:t>
          </a:r>
          <a:r>
            <a:rPr lang="en-US" sz="4800" b="1" kern="1200" dirty="0">
              <a:solidFill>
                <a:srgbClr val="002060"/>
              </a:solidFill>
            </a:rPr>
            <a:t> </a:t>
          </a:r>
          <a:r>
            <a:rPr lang="en-US" sz="4800" b="1" kern="1200" dirty="0">
              <a:solidFill>
                <a:srgbClr val="002060"/>
              </a:solidFill>
              <a:sym typeface="Wingdings" panose="05000000000000000000" pitchFamily="2" charset="2"/>
            </a:rPr>
            <a:t> QL  </a:t>
          </a:r>
          <a:r>
            <a:rPr lang="en-US" sz="4800" b="1" kern="1200" dirty="0" err="1">
              <a:solidFill>
                <a:srgbClr val="002060"/>
              </a:solidFill>
              <a:sym typeface="Wingdings" panose="05000000000000000000" pitchFamily="2" charset="2"/>
            </a:rPr>
            <a:t>giá</a:t>
          </a:r>
          <a:r>
            <a:rPr lang="en-US" sz="4800" b="1" kern="1200" dirty="0">
              <a:solidFill>
                <a:srgbClr val="002060"/>
              </a:solidFill>
              <a:sym typeface="Wingdings" panose="05000000000000000000" pitchFamily="2" charset="2"/>
            </a:rPr>
            <a:t> </a:t>
          </a:r>
          <a:r>
            <a:rPr lang="en-US" sz="4800" b="1" kern="1200" dirty="0" err="1">
              <a:solidFill>
                <a:srgbClr val="002060"/>
              </a:solidFill>
              <a:sym typeface="Wingdings" panose="05000000000000000000" pitchFamily="2" charset="2"/>
            </a:rPr>
            <a:t>cả</a:t>
          </a:r>
          <a:r>
            <a:rPr lang="en-US" sz="4800" b="1" kern="1200" dirty="0">
              <a:solidFill>
                <a:srgbClr val="002060"/>
              </a:solidFill>
              <a:sym typeface="Wingdings" panose="05000000000000000000" pitchFamily="2" charset="2"/>
            </a:rPr>
            <a:t> </a:t>
          </a:r>
          <a:r>
            <a:rPr lang="en-US" sz="4800" b="1" kern="1200" dirty="0" err="1">
              <a:solidFill>
                <a:srgbClr val="002060"/>
              </a:solidFill>
              <a:sym typeface="Wingdings" panose="05000000000000000000" pitchFamily="2" charset="2"/>
            </a:rPr>
            <a:t>sản</a:t>
          </a:r>
          <a:r>
            <a:rPr lang="en-US" sz="4800" b="1" kern="1200" dirty="0">
              <a:solidFill>
                <a:srgbClr val="002060"/>
              </a:solidFill>
              <a:sym typeface="Wingdings" panose="05000000000000000000" pitchFamily="2" charset="2"/>
            </a:rPr>
            <a:t> </a:t>
          </a:r>
          <a:r>
            <a:rPr lang="en-US" sz="4800" b="1" kern="1200" dirty="0" err="1">
              <a:solidFill>
                <a:srgbClr val="002060"/>
              </a:solidFill>
              <a:sym typeface="Wingdings" panose="05000000000000000000" pitchFamily="2" charset="2"/>
            </a:rPr>
            <a:t>xuất</a:t>
          </a:r>
          <a:endParaRPr lang="en-US" sz="4800" b="1" kern="1200" dirty="0">
            <a:solidFill>
              <a:srgbClr val="002060"/>
            </a:solidFill>
          </a:endParaRPr>
        </a:p>
      </dsp:txBody>
      <dsp:txXfrm>
        <a:off x="3528843" y="1973543"/>
        <a:ext cx="7807004" cy="174576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A0AB0C-84FC-4AAC-9B2C-60F31AE99040}">
      <dsp:nvSpPr>
        <dsp:cNvPr id="0" name=""/>
        <dsp:cNvSpPr/>
      </dsp:nvSpPr>
      <dsp:spPr>
        <a:xfrm rot="16200000">
          <a:off x="3215576" y="2128426"/>
          <a:ext cx="4506984" cy="2754245"/>
        </a:xfrm>
        <a:prstGeom prst="round2SameRect">
          <a:avLst>
            <a:gd name="adj1" fmla="val 16670"/>
            <a:gd name="adj2" fmla="val 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228600" rIns="205740" bIns="228600" numCol="1" spcCol="1270" anchor="t" anchorCtr="0">
          <a:noAutofit/>
        </a:bodyPr>
        <a:lstStyle/>
        <a:p>
          <a:pPr marL="0" lvl="0" indent="0" algn="ctr" defTabSz="1600200">
            <a:lnSpc>
              <a:spcPct val="90000"/>
            </a:lnSpc>
            <a:spcBef>
              <a:spcPct val="0"/>
            </a:spcBef>
            <a:spcAft>
              <a:spcPct val="35000"/>
            </a:spcAft>
            <a:buNone/>
          </a:pPr>
          <a:r>
            <a:rPr lang="en-US" sz="3600" b="1" kern="1200" dirty="0">
              <a:solidFill>
                <a:srgbClr val="002060"/>
              </a:solidFill>
            </a:rPr>
            <a:t>A</a:t>
          </a:r>
        </a:p>
        <a:p>
          <a:pPr marL="0" lvl="0" indent="0" algn="ctr" defTabSz="1600200">
            <a:lnSpc>
              <a:spcPct val="90000"/>
            </a:lnSpc>
            <a:spcBef>
              <a:spcPct val="0"/>
            </a:spcBef>
            <a:spcAft>
              <a:spcPct val="35000"/>
            </a:spcAft>
            <a:buNone/>
          </a:pPr>
          <a:r>
            <a:rPr lang="en-US" sz="3600" b="0" kern="1200" dirty="0" err="1">
              <a:solidFill>
                <a:srgbClr val="002060"/>
              </a:solidFill>
            </a:rPr>
            <a:t>Cung</a:t>
          </a:r>
          <a:r>
            <a:rPr lang="en-US" sz="3600" b="0" kern="1200" dirty="0">
              <a:solidFill>
                <a:srgbClr val="002060"/>
              </a:solidFill>
            </a:rPr>
            <a:t> </a:t>
          </a:r>
          <a:r>
            <a:rPr lang="en-US" sz="3600" b="0" kern="1200" dirty="0" err="1">
              <a:solidFill>
                <a:srgbClr val="002060"/>
              </a:solidFill>
            </a:rPr>
            <a:t>về</a:t>
          </a:r>
          <a:r>
            <a:rPr lang="en-US" sz="3600" b="0" kern="1200" dirty="0">
              <a:solidFill>
                <a:srgbClr val="002060"/>
              </a:solidFill>
            </a:rPr>
            <a:t> TBTT</a:t>
          </a:r>
        </a:p>
        <a:p>
          <a:pPr marL="0" lvl="0" indent="0" algn="ctr" defTabSz="1600200">
            <a:lnSpc>
              <a:spcPct val="90000"/>
            </a:lnSpc>
            <a:spcBef>
              <a:spcPct val="0"/>
            </a:spcBef>
            <a:spcAft>
              <a:spcPct val="35000"/>
            </a:spcAft>
            <a:buNone/>
          </a:pPr>
          <a:r>
            <a:rPr lang="en-US" sz="3600" b="0" kern="1200" dirty="0" err="1">
              <a:solidFill>
                <a:srgbClr val="002060"/>
              </a:solidFill>
            </a:rPr>
            <a:t>Có</a:t>
          </a:r>
          <a:r>
            <a:rPr lang="en-US" sz="3600" b="0" kern="1200" dirty="0">
              <a:solidFill>
                <a:srgbClr val="002060"/>
              </a:solidFill>
            </a:rPr>
            <a:t> TBTT </a:t>
          </a:r>
          <a:r>
            <a:rPr lang="en-US" sz="3600" b="0" kern="1200" dirty="0" err="1">
              <a:solidFill>
                <a:srgbClr val="002060"/>
              </a:solidFill>
            </a:rPr>
            <a:t>để</a:t>
          </a:r>
          <a:r>
            <a:rPr lang="en-US" sz="3600" b="0" kern="1200" dirty="0">
              <a:solidFill>
                <a:srgbClr val="002060"/>
              </a:solidFill>
            </a:rPr>
            <a:t> </a:t>
          </a:r>
          <a:r>
            <a:rPr lang="en-US" sz="3600" b="0" kern="1200" dirty="0" err="1">
              <a:solidFill>
                <a:srgbClr val="002060"/>
              </a:solidFill>
            </a:rPr>
            <a:t>rỗi</a:t>
          </a:r>
          <a:endParaRPr lang="en-US" sz="3600" b="0" kern="1200" dirty="0">
            <a:solidFill>
              <a:srgbClr val="002060"/>
            </a:solidFill>
          </a:endParaRPr>
        </a:p>
        <a:p>
          <a:pPr marL="0" lvl="0" indent="0" algn="ctr" defTabSz="1600200">
            <a:lnSpc>
              <a:spcPct val="90000"/>
            </a:lnSpc>
            <a:spcBef>
              <a:spcPct val="0"/>
            </a:spcBef>
            <a:spcAft>
              <a:spcPct val="35000"/>
            </a:spcAft>
            <a:buNone/>
          </a:pPr>
          <a:r>
            <a:rPr lang="en-US" sz="3600" b="1" kern="1200" dirty="0">
              <a:solidFill>
                <a:srgbClr val="002060"/>
              </a:solidFill>
            </a:rPr>
            <a:t>CHO VAY</a:t>
          </a:r>
        </a:p>
        <a:p>
          <a:pPr marL="0" lvl="0" indent="0" algn="ctr" defTabSz="1600200">
            <a:lnSpc>
              <a:spcPct val="90000"/>
            </a:lnSpc>
            <a:spcBef>
              <a:spcPct val="0"/>
            </a:spcBef>
            <a:spcAft>
              <a:spcPct val="35000"/>
            </a:spcAft>
            <a:buNone/>
          </a:pPr>
          <a:endParaRPr lang="en-US" sz="3600" b="1" kern="1200" dirty="0"/>
        </a:p>
        <a:p>
          <a:pPr marL="0" lvl="0" indent="0" algn="ctr" defTabSz="1600200">
            <a:lnSpc>
              <a:spcPct val="90000"/>
            </a:lnSpc>
            <a:spcBef>
              <a:spcPct val="0"/>
            </a:spcBef>
            <a:spcAft>
              <a:spcPct val="35000"/>
            </a:spcAft>
            <a:buNone/>
          </a:pPr>
          <a:endParaRPr lang="en-US" sz="3600" b="1" kern="1200" dirty="0"/>
        </a:p>
      </dsp:txBody>
      <dsp:txXfrm rot="5400000">
        <a:off x="4226421" y="1386532"/>
        <a:ext cx="2619770" cy="4238034"/>
      </dsp:txXfrm>
    </dsp:sp>
    <dsp:sp modelId="{2BE160ED-99E4-4034-B644-8048F385646D}">
      <dsp:nvSpPr>
        <dsp:cNvPr id="0" name=""/>
        <dsp:cNvSpPr/>
      </dsp:nvSpPr>
      <dsp:spPr>
        <a:xfrm rot="5400000">
          <a:off x="7690806" y="2128426"/>
          <a:ext cx="4506984" cy="2754245"/>
        </a:xfrm>
        <a:prstGeom prst="round2SameRect">
          <a:avLst>
            <a:gd name="adj1" fmla="val 16670"/>
            <a:gd name="adj2" fmla="val 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0" tIns="254000" rIns="152400" bIns="254000" numCol="1" spcCol="1270" anchor="t" anchorCtr="0">
          <a:noAutofit/>
        </a:bodyPr>
        <a:lstStyle/>
        <a:p>
          <a:pPr marL="0" lvl="0" indent="0" algn="ctr" defTabSz="1778000">
            <a:lnSpc>
              <a:spcPct val="90000"/>
            </a:lnSpc>
            <a:spcBef>
              <a:spcPct val="0"/>
            </a:spcBef>
            <a:spcAft>
              <a:spcPct val="35000"/>
            </a:spcAft>
            <a:buNone/>
          </a:pPr>
          <a:r>
            <a:rPr lang="en-US" sz="4000" b="1" kern="1200" dirty="0">
              <a:solidFill>
                <a:srgbClr val="002060"/>
              </a:solidFill>
            </a:rPr>
            <a:t>B</a:t>
          </a:r>
        </a:p>
        <a:p>
          <a:pPr marL="0" lvl="0" indent="0" algn="ctr" defTabSz="1778000">
            <a:lnSpc>
              <a:spcPct val="90000"/>
            </a:lnSpc>
            <a:spcBef>
              <a:spcPct val="0"/>
            </a:spcBef>
            <a:spcAft>
              <a:spcPct val="35000"/>
            </a:spcAft>
            <a:buNone/>
          </a:pPr>
          <a:r>
            <a:rPr lang="en-US" sz="4000" b="0" kern="1200" dirty="0" err="1">
              <a:solidFill>
                <a:srgbClr val="002060"/>
              </a:solidFill>
            </a:rPr>
            <a:t>Cầu</a:t>
          </a:r>
          <a:r>
            <a:rPr lang="en-US" sz="4000" b="0" kern="1200" dirty="0">
              <a:solidFill>
                <a:srgbClr val="002060"/>
              </a:solidFill>
            </a:rPr>
            <a:t> </a:t>
          </a:r>
          <a:r>
            <a:rPr lang="en-US" sz="4000" b="0" kern="1200" dirty="0" err="1">
              <a:solidFill>
                <a:srgbClr val="002060"/>
              </a:solidFill>
            </a:rPr>
            <a:t>về</a:t>
          </a:r>
          <a:r>
            <a:rPr lang="en-US" sz="4000" b="0" kern="1200" dirty="0">
              <a:solidFill>
                <a:srgbClr val="002060"/>
              </a:solidFill>
            </a:rPr>
            <a:t> TBTT</a:t>
          </a:r>
        </a:p>
        <a:p>
          <a:pPr marL="0" lvl="0" indent="0" algn="ctr" defTabSz="1778000">
            <a:lnSpc>
              <a:spcPct val="90000"/>
            </a:lnSpc>
            <a:spcBef>
              <a:spcPct val="0"/>
            </a:spcBef>
            <a:spcAft>
              <a:spcPct val="35000"/>
            </a:spcAft>
            <a:buNone/>
          </a:pPr>
          <a:r>
            <a:rPr lang="en-US" sz="4000" b="0" kern="1200" dirty="0" err="1">
              <a:solidFill>
                <a:srgbClr val="002060"/>
              </a:solidFill>
            </a:rPr>
            <a:t>Cần</a:t>
          </a:r>
          <a:r>
            <a:rPr lang="en-US" sz="4000" b="0" kern="1200" dirty="0">
              <a:solidFill>
                <a:srgbClr val="002060"/>
              </a:solidFill>
            </a:rPr>
            <a:t> TBTT</a:t>
          </a:r>
        </a:p>
        <a:p>
          <a:pPr marL="0" lvl="0" indent="0" algn="ctr" defTabSz="1778000">
            <a:lnSpc>
              <a:spcPct val="90000"/>
            </a:lnSpc>
            <a:spcBef>
              <a:spcPct val="0"/>
            </a:spcBef>
            <a:spcAft>
              <a:spcPct val="35000"/>
            </a:spcAft>
            <a:buNone/>
          </a:pPr>
          <a:r>
            <a:rPr lang="en-US" sz="4000" b="1" kern="1200" dirty="0">
              <a:solidFill>
                <a:srgbClr val="002060"/>
              </a:solidFill>
            </a:rPr>
            <a:t>ĐI VAY</a:t>
          </a:r>
        </a:p>
        <a:p>
          <a:pPr marL="0" lvl="0" indent="0" algn="ctr" defTabSz="1778000">
            <a:lnSpc>
              <a:spcPct val="90000"/>
            </a:lnSpc>
            <a:spcBef>
              <a:spcPct val="0"/>
            </a:spcBef>
            <a:spcAft>
              <a:spcPct val="35000"/>
            </a:spcAft>
            <a:buNone/>
          </a:pPr>
          <a:endParaRPr lang="en-US" sz="4000" b="1" kern="1200" dirty="0"/>
        </a:p>
        <a:p>
          <a:pPr marL="0" lvl="0" indent="0" algn="ctr" defTabSz="1778000">
            <a:lnSpc>
              <a:spcPct val="90000"/>
            </a:lnSpc>
            <a:spcBef>
              <a:spcPct val="0"/>
            </a:spcBef>
            <a:spcAft>
              <a:spcPct val="35000"/>
            </a:spcAft>
            <a:buNone/>
          </a:pPr>
          <a:endParaRPr lang="en-US" sz="4000" b="1" kern="1200" dirty="0"/>
        </a:p>
      </dsp:txBody>
      <dsp:txXfrm rot="-5400000">
        <a:off x="8567176" y="1386532"/>
        <a:ext cx="2619770" cy="4238034"/>
      </dsp:txXfrm>
    </dsp:sp>
    <dsp:sp modelId="{4221C439-4CE2-422F-B4BD-1BBC3FDD5ACF}">
      <dsp:nvSpPr>
        <dsp:cNvPr id="0" name=""/>
        <dsp:cNvSpPr/>
      </dsp:nvSpPr>
      <dsp:spPr>
        <a:xfrm>
          <a:off x="6332463" y="0"/>
          <a:ext cx="2879310" cy="2879170"/>
        </a:xfrm>
        <a:prstGeom prst="circularArrow">
          <a:avLst>
            <a:gd name="adj1" fmla="val 12500"/>
            <a:gd name="adj2" fmla="val 1142322"/>
            <a:gd name="adj3" fmla="val 20457678"/>
            <a:gd name="adj4" fmla="val 10800000"/>
            <a:gd name="adj5" fmla="val 125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9F5DC7-AE73-4637-B284-1AAA503ACBEB}">
      <dsp:nvSpPr>
        <dsp:cNvPr id="0" name=""/>
        <dsp:cNvSpPr/>
      </dsp:nvSpPr>
      <dsp:spPr>
        <a:xfrm rot="10800000">
          <a:off x="6332463" y="4131227"/>
          <a:ext cx="2879310" cy="2879170"/>
        </a:xfrm>
        <a:prstGeom prst="circularArrow">
          <a:avLst>
            <a:gd name="adj1" fmla="val 12500"/>
            <a:gd name="adj2" fmla="val 1142322"/>
            <a:gd name="adj3" fmla="val 20457678"/>
            <a:gd name="adj4" fmla="val 10800000"/>
            <a:gd name="adj5" fmla="val 125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0E31EDE-17CF-D746-B83B-FEE41F000DF3}" type="datetimeFigureOut">
              <a:rPr lang="en-US" smtClean="0"/>
              <a:t>3/26/2025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320672-5196-0B4F-93AE-044FFF107570}" type="slidenum">
              <a:rPr lang="en-US" smtClean="0"/>
              <a:t>‹#›</a:t>
            </a:fld>
            <a:endParaRPr lang="en-US"/>
          </a:p>
        </p:txBody>
      </p:sp>
    </p:spTree>
    <p:extLst>
      <p:ext uri="{BB962C8B-B14F-4D97-AF65-F5344CB8AC3E}">
        <p14:creationId xmlns:p14="http://schemas.microsoft.com/office/powerpoint/2010/main" val="135391264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96A9F3C-04AF-8847-8AD8-CAC892C2E245}" type="datetimeFigureOut">
              <a:rPr lang="en-US" smtClean="0"/>
              <a:t>3/26/2025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17CB07-0039-4545-92EA-48E12138E514}" type="slidenum">
              <a:rPr lang="en-US" smtClean="0"/>
              <a:t>‹#›</a:t>
            </a:fld>
            <a:endParaRPr lang="en-US"/>
          </a:p>
        </p:txBody>
      </p:sp>
    </p:spTree>
    <p:extLst>
      <p:ext uri="{BB962C8B-B14F-4D97-AF65-F5344CB8AC3E}">
        <p14:creationId xmlns:p14="http://schemas.microsoft.com/office/powerpoint/2010/main" val="1873210512"/>
      </p:ext>
    </p:extLst>
  </p:cSld>
  <p:clrMap bg1="lt1" tx1="dk1" bg2="lt2" tx2="dk2" accent1="accent1" accent2="accent2" accent3="accent3" accent4="accent4" accent5="accent5" accent6="accent6" hlink="hlink" folHlink="folHlink"/>
  <p:hf hdr="0" dt="0"/>
  <p:notesStyle>
    <a:lvl1pPr marL="0" algn="l" defTabSz="1219261" rtl="0" eaLnBrk="1" latinLnBrk="0" hangingPunct="1">
      <a:defRPr sz="3200" kern="1200">
        <a:solidFill>
          <a:schemeClr val="tx1"/>
        </a:solidFill>
        <a:latin typeface="+mn-lt"/>
        <a:ea typeface="+mn-ea"/>
        <a:cs typeface="+mn-cs"/>
      </a:defRPr>
    </a:lvl1pPr>
    <a:lvl2pPr marL="1219261" algn="l" defTabSz="1219261" rtl="0" eaLnBrk="1" latinLnBrk="0" hangingPunct="1">
      <a:defRPr sz="3200" kern="1200">
        <a:solidFill>
          <a:schemeClr val="tx1"/>
        </a:solidFill>
        <a:latin typeface="+mn-lt"/>
        <a:ea typeface="+mn-ea"/>
        <a:cs typeface="+mn-cs"/>
      </a:defRPr>
    </a:lvl2pPr>
    <a:lvl3pPr marL="2438522" algn="l" defTabSz="1219261" rtl="0" eaLnBrk="1" latinLnBrk="0" hangingPunct="1">
      <a:defRPr sz="3200" kern="1200">
        <a:solidFill>
          <a:schemeClr val="tx1"/>
        </a:solidFill>
        <a:latin typeface="+mn-lt"/>
        <a:ea typeface="+mn-ea"/>
        <a:cs typeface="+mn-cs"/>
      </a:defRPr>
    </a:lvl3pPr>
    <a:lvl4pPr marL="3657783" algn="l" defTabSz="1219261" rtl="0" eaLnBrk="1" latinLnBrk="0" hangingPunct="1">
      <a:defRPr sz="3200" kern="1200">
        <a:solidFill>
          <a:schemeClr val="tx1"/>
        </a:solidFill>
        <a:latin typeface="+mn-lt"/>
        <a:ea typeface="+mn-ea"/>
        <a:cs typeface="+mn-cs"/>
      </a:defRPr>
    </a:lvl4pPr>
    <a:lvl5pPr marL="4877044" algn="l" defTabSz="1219261" rtl="0" eaLnBrk="1" latinLnBrk="0" hangingPunct="1">
      <a:defRPr sz="3200" kern="1200">
        <a:solidFill>
          <a:schemeClr val="tx1"/>
        </a:solidFill>
        <a:latin typeface="+mn-lt"/>
        <a:ea typeface="+mn-ea"/>
        <a:cs typeface="+mn-cs"/>
      </a:defRPr>
    </a:lvl5pPr>
    <a:lvl6pPr marL="6096305" algn="l" defTabSz="1219261" rtl="0" eaLnBrk="1" latinLnBrk="0" hangingPunct="1">
      <a:defRPr sz="3200" kern="1200">
        <a:solidFill>
          <a:schemeClr val="tx1"/>
        </a:solidFill>
        <a:latin typeface="+mn-lt"/>
        <a:ea typeface="+mn-ea"/>
        <a:cs typeface="+mn-cs"/>
      </a:defRPr>
    </a:lvl6pPr>
    <a:lvl7pPr marL="7315566" algn="l" defTabSz="1219261" rtl="0" eaLnBrk="1" latinLnBrk="0" hangingPunct="1">
      <a:defRPr sz="3200" kern="1200">
        <a:solidFill>
          <a:schemeClr val="tx1"/>
        </a:solidFill>
        <a:latin typeface="+mn-lt"/>
        <a:ea typeface="+mn-ea"/>
        <a:cs typeface="+mn-cs"/>
      </a:defRPr>
    </a:lvl7pPr>
    <a:lvl8pPr marL="8534827" algn="l" defTabSz="1219261" rtl="0" eaLnBrk="1" latinLnBrk="0" hangingPunct="1">
      <a:defRPr sz="3200" kern="1200">
        <a:solidFill>
          <a:schemeClr val="tx1"/>
        </a:solidFill>
        <a:latin typeface="+mn-lt"/>
        <a:ea typeface="+mn-ea"/>
        <a:cs typeface="+mn-cs"/>
      </a:defRPr>
    </a:lvl8pPr>
    <a:lvl9pPr marL="9754088" algn="l" defTabSz="1219261" rtl="0" eaLnBrk="1" latinLnBrk="0" hangingPunct="1">
      <a:defRPr sz="3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91DA31A-7B6C-4CE5-AC2A-225285A0CBDE}" type="slidenum">
              <a:rPr lang="en-US" altLang="en-US" smtClean="0"/>
              <a:pPr/>
              <a:t>1</a:t>
            </a:fld>
            <a:endParaRPr lang="en-US" altLang="en-US"/>
          </a:p>
        </p:txBody>
      </p:sp>
      <p:sp>
        <p:nvSpPr>
          <p:cNvPr id="2" name="Footer Placeholder 1"/>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3814161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BE5EE9-A6FA-4C48-A902-FA5A448496D8}" type="slidenum">
              <a:rPr lang="en-US" smtClean="0"/>
              <a:t>71</a:t>
            </a:fld>
            <a:endParaRPr lang="en-US"/>
          </a:p>
        </p:txBody>
      </p:sp>
    </p:spTree>
    <p:extLst>
      <p:ext uri="{BB962C8B-B14F-4D97-AF65-F5344CB8AC3E}">
        <p14:creationId xmlns:p14="http://schemas.microsoft.com/office/powerpoint/2010/main" val="2804977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elcom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893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out Title">
    <p:spTree>
      <p:nvGrpSpPr>
        <p:cNvPr id="1" name=""/>
        <p:cNvGrpSpPr/>
        <p:nvPr/>
      </p:nvGrpSpPr>
      <p:grpSpPr>
        <a:xfrm>
          <a:off x="0" y="0"/>
          <a:ext cx="0" cy="0"/>
          <a:chOff x="0" y="0"/>
          <a:chExt cx="0" cy="0"/>
        </a:xfrm>
      </p:grpSpPr>
      <p:sp>
        <p:nvSpPr>
          <p:cNvPr id="7" name="Oval 6"/>
          <p:cNvSpPr>
            <a:spLocks noChangeAspect="1"/>
          </p:cNvSpPr>
          <p:nvPr userDrawn="1"/>
        </p:nvSpPr>
        <p:spPr>
          <a:xfrm>
            <a:off x="17071094" y="775128"/>
            <a:ext cx="517548" cy="69006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6" name="Slide Number Placeholder 5"/>
          <p:cNvSpPr>
            <a:spLocks noGrp="1"/>
          </p:cNvSpPr>
          <p:nvPr>
            <p:ph type="sldNum" sz="quarter" idx="12"/>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1249534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0" name="Oval 39"/>
          <p:cNvSpPr>
            <a:spLocks noChangeAspect="1"/>
          </p:cNvSpPr>
          <p:nvPr userDrawn="1"/>
        </p:nvSpPr>
        <p:spPr>
          <a:xfrm>
            <a:off x="17071094" y="775128"/>
            <a:ext cx="517548" cy="690064"/>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41" name="Slide Number Placeholder 5"/>
          <p:cNvSpPr>
            <a:spLocks noGrp="1"/>
          </p:cNvSpPr>
          <p:nvPr>
            <p:ph type="sldNum" sz="quarter" idx="12"/>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3263622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eet the Team">
    <p:spTree>
      <p:nvGrpSpPr>
        <p:cNvPr id="1" name=""/>
        <p:cNvGrpSpPr/>
        <p:nvPr/>
      </p:nvGrpSpPr>
      <p:grpSpPr>
        <a:xfrm>
          <a:off x="0" y="0"/>
          <a:ext cx="0" cy="0"/>
          <a:chOff x="0" y="0"/>
          <a:chExt cx="0" cy="0"/>
        </a:xfrm>
      </p:grpSpPr>
      <p:sp>
        <p:nvSpPr>
          <p:cNvPr id="23" name="Picture Placeholder 22"/>
          <p:cNvSpPr>
            <a:spLocks noGrp="1"/>
          </p:cNvSpPr>
          <p:nvPr>
            <p:ph type="pic" sz="quarter" idx="15"/>
          </p:nvPr>
        </p:nvSpPr>
        <p:spPr>
          <a:xfrm>
            <a:off x="1664142" y="4038600"/>
            <a:ext cx="3200400" cy="4267200"/>
          </a:xfrm>
          <a:prstGeom prst="rect">
            <a:avLst/>
          </a:prstGeom>
        </p:spPr>
        <p:txBody>
          <a:bodyPr>
            <a:normAutofit/>
          </a:bodyPr>
          <a:lstStyle>
            <a:lvl1pPr>
              <a:defRPr sz="2400"/>
            </a:lvl1pPr>
          </a:lstStyle>
          <a:p>
            <a:endParaRPr lang="en-US"/>
          </a:p>
        </p:txBody>
      </p:sp>
      <p:sp>
        <p:nvSpPr>
          <p:cNvPr id="18" name="Picture Placeholder 22"/>
          <p:cNvSpPr>
            <a:spLocks noGrp="1"/>
          </p:cNvSpPr>
          <p:nvPr>
            <p:ph type="pic" sz="quarter" idx="16"/>
          </p:nvPr>
        </p:nvSpPr>
        <p:spPr>
          <a:xfrm>
            <a:off x="5486400" y="4038600"/>
            <a:ext cx="3200400" cy="4267200"/>
          </a:xfrm>
          <a:prstGeom prst="rect">
            <a:avLst/>
          </a:prstGeom>
        </p:spPr>
        <p:txBody>
          <a:bodyPr>
            <a:normAutofit/>
          </a:bodyPr>
          <a:lstStyle>
            <a:lvl1pPr>
              <a:defRPr sz="2400"/>
            </a:lvl1pPr>
          </a:lstStyle>
          <a:p>
            <a:endParaRPr lang="en-US"/>
          </a:p>
        </p:txBody>
      </p:sp>
      <p:sp>
        <p:nvSpPr>
          <p:cNvPr id="19" name="Picture Placeholder 22"/>
          <p:cNvSpPr>
            <a:spLocks noGrp="1"/>
          </p:cNvSpPr>
          <p:nvPr>
            <p:ph type="pic" sz="quarter" idx="17"/>
          </p:nvPr>
        </p:nvSpPr>
        <p:spPr>
          <a:xfrm>
            <a:off x="9144000" y="4038600"/>
            <a:ext cx="3200400" cy="4267200"/>
          </a:xfrm>
          <a:prstGeom prst="rect">
            <a:avLst/>
          </a:prstGeom>
        </p:spPr>
        <p:txBody>
          <a:bodyPr>
            <a:normAutofit/>
          </a:bodyPr>
          <a:lstStyle>
            <a:lvl1pPr>
              <a:defRPr sz="2400"/>
            </a:lvl1pPr>
          </a:lstStyle>
          <a:p>
            <a:endParaRPr lang="en-US"/>
          </a:p>
        </p:txBody>
      </p:sp>
      <p:sp>
        <p:nvSpPr>
          <p:cNvPr id="20" name="Picture Placeholder 22"/>
          <p:cNvSpPr>
            <a:spLocks noGrp="1"/>
          </p:cNvSpPr>
          <p:nvPr>
            <p:ph type="pic" sz="quarter" idx="18"/>
          </p:nvPr>
        </p:nvSpPr>
        <p:spPr>
          <a:xfrm>
            <a:off x="12801600" y="4038600"/>
            <a:ext cx="3200400" cy="4267200"/>
          </a:xfrm>
          <a:prstGeom prst="rect">
            <a:avLst/>
          </a:prstGeom>
        </p:spPr>
        <p:txBody>
          <a:bodyPr>
            <a:normAutofit/>
          </a:bodyPr>
          <a:lstStyle>
            <a:lvl1pPr>
              <a:defRPr sz="2400"/>
            </a:lvl1pPr>
          </a:lstStyle>
          <a:p>
            <a:endParaRPr lang="en-US"/>
          </a:p>
        </p:txBody>
      </p:sp>
      <p:sp>
        <p:nvSpPr>
          <p:cNvPr id="37" name="Oval 36"/>
          <p:cNvSpPr>
            <a:spLocks noChangeAspect="1"/>
          </p:cNvSpPr>
          <p:nvPr userDrawn="1"/>
        </p:nvSpPr>
        <p:spPr>
          <a:xfrm>
            <a:off x="17071094" y="775128"/>
            <a:ext cx="517548" cy="690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38" name="Slide Number Placeholder 5"/>
          <p:cNvSpPr>
            <a:spLocks noGrp="1"/>
          </p:cNvSpPr>
          <p:nvPr>
            <p:ph type="sldNum" sz="quarter" idx="12"/>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164808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nodePh="1">
                                  <p:stCondLst>
                                    <p:cond delay="0"/>
                                  </p:stCondLst>
                                  <p:endCondLst>
                                    <p:cond evt="begin" delay="0">
                                      <p:tn val="5"/>
                                    </p:cond>
                                  </p:endCondLst>
                                  <p:childTnLst>
                                    <p:set>
                                      <p:cBhvr>
                                        <p:cTn id="6" dur="1" fill="hold">
                                          <p:stCondLst>
                                            <p:cond delay="0"/>
                                          </p:stCondLst>
                                        </p:cTn>
                                        <p:tgtEl>
                                          <p:spTgt spid="23"/>
                                        </p:tgtEl>
                                        <p:attrNameLst>
                                          <p:attrName>style.visibility</p:attrName>
                                        </p:attrNameLst>
                                      </p:cBhvr>
                                      <p:to>
                                        <p:strVal val="visible"/>
                                      </p:to>
                                    </p:set>
                                    <p:anim calcmode="lin" valueType="num">
                                      <p:cBhvr>
                                        <p:cTn id="7" dur="1000" fill="hold"/>
                                        <p:tgtEl>
                                          <p:spTgt spid="23"/>
                                        </p:tgtEl>
                                        <p:attrNameLst>
                                          <p:attrName>ppt_w</p:attrName>
                                        </p:attrNameLst>
                                      </p:cBhvr>
                                      <p:tavLst>
                                        <p:tav tm="0">
                                          <p:val>
                                            <p:fltVal val="0"/>
                                          </p:val>
                                        </p:tav>
                                        <p:tav tm="100000">
                                          <p:val>
                                            <p:strVal val="#ppt_w"/>
                                          </p:val>
                                        </p:tav>
                                      </p:tavLst>
                                    </p:anim>
                                    <p:anim calcmode="lin" valueType="num">
                                      <p:cBhvr>
                                        <p:cTn id="8" dur="1000" fill="hold"/>
                                        <p:tgtEl>
                                          <p:spTgt spid="23"/>
                                        </p:tgtEl>
                                        <p:attrNameLst>
                                          <p:attrName>ppt_h</p:attrName>
                                        </p:attrNameLst>
                                      </p:cBhvr>
                                      <p:tavLst>
                                        <p:tav tm="0">
                                          <p:val>
                                            <p:fltVal val="0"/>
                                          </p:val>
                                        </p:tav>
                                        <p:tav tm="100000">
                                          <p:val>
                                            <p:strVal val="#ppt_h"/>
                                          </p:val>
                                        </p:tav>
                                      </p:tavLst>
                                    </p:anim>
                                    <p:anim calcmode="lin" valueType="num">
                                      <p:cBhvr>
                                        <p:cTn id="9" dur="1000" fill="hold"/>
                                        <p:tgtEl>
                                          <p:spTgt spid="23"/>
                                        </p:tgtEl>
                                        <p:attrNameLst>
                                          <p:attrName>style.rotation</p:attrName>
                                        </p:attrNameLst>
                                      </p:cBhvr>
                                      <p:tavLst>
                                        <p:tav tm="0">
                                          <p:val>
                                            <p:fltVal val="90"/>
                                          </p:val>
                                        </p:tav>
                                        <p:tav tm="100000">
                                          <p:val>
                                            <p:fltVal val="0"/>
                                          </p:val>
                                        </p:tav>
                                      </p:tavLst>
                                    </p:anim>
                                    <p:animEffect transition="in" filter="fade">
                                      <p:cBhvr>
                                        <p:cTn id="10" dur="1000"/>
                                        <p:tgtEl>
                                          <p:spTgt spid="23"/>
                                        </p:tgtEl>
                                      </p:cBhvr>
                                    </p:animEffect>
                                  </p:childTnLst>
                                </p:cTn>
                              </p:par>
                            </p:childTnLst>
                          </p:cTn>
                        </p:par>
                        <p:par>
                          <p:cTn id="11" fill="hold">
                            <p:stCondLst>
                              <p:cond delay="1000"/>
                            </p:stCondLst>
                            <p:childTnLst>
                              <p:par>
                                <p:cTn id="12" presetID="31" presetClass="entr" presetSubtype="0" fill="hold" grpId="0" nodeType="afterEffect" nodePh="1">
                                  <p:stCondLst>
                                    <p:cond delay="0"/>
                                  </p:stCondLst>
                                  <p:endCondLst>
                                    <p:cond evt="begin" delay="0">
                                      <p:tn val="12"/>
                                    </p:cond>
                                  </p:endCondLst>
                                  <p:childTnLst>
                                    <p:set>
                                      <p:cBhvr>
                                        <p:cTn id="13" dur="1" fill="hold">
                                          <p:stCondLst>
                                            <p:cond delay="0"/>
                                          </p:stCondLst>
                                        </p:cTn>
                                        <p:tgtEl>
                                          <p:spTgt spid="18"/>
                                        </p:tgtEl>
                                        <p:attrNameLst>
                                          <p:attrName>style.visibility</p:attrName>
                                        </p:attrNameLst>
                                      </p:cBhvr>
                                      <p:to>
                                        <p:strVal val="visible"/>
                                      </p:to>
                                    </p:set>
                                    <p:anim calcmode="lin" valueType="num">
                                      <p:cBhvr>
                                        <p:cTn id="14" dur="1000" fill="hold"/>
                                        <p:tgtEl>
                                          <p:spTgt spid="18"/>
                                        </p:tgtEl>
                                        <p:attrNameLst>
                                          <p:attrName>ppt_w</p:attrName>
                                        </p:attrNameLst>
                                      </p:cBhvr>
                                      <p:tavLst>
                                        <p:tav tm="0">
                                          <p:val>
                                            <p:fltVal val="0"/>
                                          </p:val>
                                        </p:tav>
                                        <p:tav tm="100000">
                                          <p:val>
                                            <p:strVal val="#ppt_w"/>
                                          </p:val>
                                        </p:tav>
                                      </p:tavLst>
                                    </p:anim>
                                    <p:anim calcmode="lin" valueType="num">
                                      <p:cBhvr>
                                        <p:cTn id="15" dur="1000" fill="hold"/>
                                        <p:tgtEl>
                                          <p:spTgt spid="18"/>
                                        </p:tgtEl>
                                        <p:attrNameLst>
                                          <p:attrName>ppt_h</p:attrName>
                                        </p:attrNameLst>
                                      </p:cBhvr>
                                      <p:tavLst>
                                        <p:tav tm="0">
                                          <p:val>
                                            <p:fltVal val="0"/>
                                          </p:val>
                                        </p:tav>
                                        <p:tav tm="100000">
                                          <p:val>
                                            <p:strVal val="#ppt_h"/>
                                          </p:val>
                                        </p:tav>
                                      </p:tavLst>
                                    </p:anim>
                                    <p:anim calcmode="lin" valueType="num">
                                      <p:cBhvr>
                                        <p:cTn id="16" dur="1000" fill="hold"/>
                                        <p:tgtEl>
                                          <p:spTgt spid="18"/>
                                        </p:tgtEl>
                                        <p:attrNameLst>
                                          <p:attrName>style.rotation</p:attrName>
                                        </p:attrNameLst>
                                      </p:cBhvr>
                                      <p:tavLst>
                                        <p:tav tm="0">
                                          <p:val>
                                            <p:fltVal val="90"/>
                                          </p:val>
                                        </p:tav>
                                        <p:tav tm="100000">
                                          <p:val>
                                            <p:fltVal val="0"/>
                                          </p:val>
                                        </p:tav>
                                      </p:tavLst>
                                    </p:anim>
                                    <p:animEffect transition="in" filter="fade">
                                      <p:cBhvr>
                                        <p:cTn id="17" dur="1000"/>
                                        <p:tgtEl>
                                          <p:spTgt spid="18"/>
                                        </p:tgtEl>
                                      </p:cBhvr>
                                    </p:animEffect>
                                  </p:childTnLst>
                                </p:cTn>
                              </p:par>
                            </p:childTnLst>
                          </p:cTn>
                        </p:par>
                        <p:par>
                          <p:cTn id="18" fill="hold">
                            <p:stCondLst>
                              <p:cond delay="2000"/>
                            </p:stCondLst>
                            <p:childTnLst>
                              <p:par>
                                <p:cTn id="19" presetID="31" presetClass="entr" presetSubtype="0" fill="hold" grpId="0" nodeType="afterEffect" nodePh="1">
                                  <p:stCondLst>
                                    <p:cond delay="0"/>
                                  </p:stCondLst>
                                  <p:endCondLst>
                                    <p:cond evt="begin" delay="0">
                                      <p:tn val="19"/>
                                    </p:cond>
                                  </p:endCondLst>
                                  <p:childTnLst>
                                    <p:set>
                                      <p:cBhvr>
                                        <p:cTn id="20" dur="1" fill="hold">
                                          <p:stCondLst>
                                            <p:cond delay="0"/>
                                          </p:stCondLst>
                                        </p:cTn>
                                        <p:tgtEl>
                                          <p:spTgt spid="19"/>
                                        </p:tgtEl>
                                        <p:attrNameLst>
                                          <p:attrName>style.visibility</p:attrName>
                                        </p:attrNameLst>
                                      </p:cBhvr>
                                      <p:to>
                                        <p:strVal val="visible"/>
                                      </p:to>
                                    </p:set>
                                    <p:anim calcmode="lin" valueType="num">
                                      <p:cBhvr>
                                        <p:cTn id="21" dur="1000" fill="hold"/>
                                        <p:tgtEl>
                                          <p:spTgt spid="19"/>
                                        </p:tgtEl>
                                        <p:attrNameLst>
                                          <p:attrName>ppt_w</p:attrName>
                                        </p:attrNameLst>
                                      </p:cBhvr>
                                      <p:tavLst>
                                        <p:tav tm="0">
                                          <p:val>
                                            <p:fltVal val="0"/>
                                          </p:val>
                                        </p:tav>
                                        <p:tav tm="100000">
                                          <p:val>
                                            <p:strVal val="#ppt_w"/>
                                          </p:val>
                                        </p:tav>
                                      </p:tavLst>
                                    </p:anim>
                                    <p:anim calcmode="lin" valueType="num">
                                      <p:cBhvr>
                                        <p:cTn id="22" dur="1000" fill="hold"/>
                                        <p:tgtEl>
                                          <p:spTgt spid="19"/>
                                        </p:tgtEl>
                                        <p:attrNameLst>
                                          <p:attrName>ppt_h</p:attrName>
                                        </p:attrNameLst>
                                      </p:cBhvr>
                                      <p:tavLst>
                                        <p:tav tm="0">
                                          <p:val>
                                            <p:fltVal val="0"/>
                                          </p:val>
                                        </p:tav>
                                        <p:tav tm="100000">
                                          <p:val>
                                            <p:strVal val="#ppt_h"/>
                                          </p:val>
                                        </p:tav>
                                      </p:tavLst>
                                    </p:anim>
                                    <p:anim calcmode="lin" valueType="num">
                                      <p:cBhvr>
                                        <p:cTn id="23" dur="1000" fill="hold"/>
                                        <p:tgtEl>
                                          <p:spTgt spid="19"/>
                                        </p:tgtEl>
                                        <p:attrNameLst>
                                          <p:attrName>style.rotation</p:attrName>
                                        </p:attrNameLst>
                                      </p:cBhvr>
                                      <p:tavLst>
                                        <p:tav tm="0">
                                          <p:val>
                                            <p:fltVal val="90"/>
                                          </p:val>
                                        </p:tav>
                                        <p:tav tm="100000">
                                          <p:val>
                                            <p:fltVal val="0"/>
                                          </p:val>
                                        </p:tav>
                                      </p:tavLst>
                                    </p:anim>
                                    <p:animEffect transition="in" filter="fade">
                                      <p:cBhvr>
                                        <p:cTn id="24" dur="1000"/>
                                        <p:tgtEl>
                                          <p:spTgt spid="19"/>
                                        </p:tgtEl>
                                      </p:cBhvr>
                                    </p:animEffect>
                                  </p:childTnLst>
                                </p:cTn>
                              </p:par>
                            </p:childTnLst>
                          </p:cTn>
                        </p:par>
                        <p:par>
                          <p:cTn id="25" fill="hold">
                            <p:stCondLst>
                              <p:cond delay="3000"/>
                            </p:stCondLst>
                            <p:childTnLst>
                              <p:par>
                                <p:cTn id="26" presetID="31" presetClass="entr" presetSubtype="0" fill="hold" grpId="0" nodeType="afterEffect" nodePh="1">
                                  <p:stCondLst>
                                    <p:cond delay="0"/>
                                  </p:stCondLst>
                                  <p:endCondLst>
                                    <p:cond evt="begin" delay="0">
                                      <p:tn val="26"/>
                                    </p:cond>
                                  </p:endCondLst>
                                  <p:childTnLst>
                                    <p:set>
                                      <p:cBhvr>
                                        <p:cTn id="27" dur="1" fill="hold">
                                          <p:stCondLst>
                                            <p:cond delay="0"/>
                                          </p:stCondLst>
                                        </p:cTn>
                                        <p:tgtEl>
                                          <p:spTgt spid="20"/>
                                        </p:tgtEl>
                                        <p:attrNameLst>
                                          <p:attrName>style.visibility</p:attrName>
                                        </p:attrNameLst>
                                      </p:cBhvr>
                                      <p:to>
                                        <p:strVal val="visible"/>
                                      </p:to>
                                    </p:set>
                                    <p:anim calcmode="lin" valueType="num">
                                      <p:cBhvr>
                                        <p:cTn id="28" dur="1000" fill="hold"/>
                                        <p:tgtEl>
                                          <p:spTgt spid="20"/>
                                        </p:tgtEl>
                                        <p:attrNameLst>
                                          <p:attrName>ppt_w</p:attrName>
                                        </p:attrNameLst>
                                      </p:cBhvr>
                                      <p:tavLst>
                                        <p:tav tm="0">
                                          <p:val>
                                            <p:fltVal val="0"/>
                                          </p:val>
                                        </p:tav>
                                        <p:tav tm="100000">
                                          <p:val>
                                            <p:strVal val="#ppt_w"/>
                                          </p:val>
                                        </p:tav>
                                      </p:tavLst>
                                    </p:anim>
                                    <p:anim calcmode="lin" valueType="num">
                                      <p:cBhvr>
                                        <p:cTn id="29" dur="1000" fill="hold"/>
                                        <p:tgtEl>
                                          <p:spTgt spid="20"/>
                                        </p:tgtEl>
                                        <p:attrNameLst>
                                          <p:attrName>ppt_h</p:attrName>
                                        </p:attrNameLst>
                                      </p:cBhvr>
                                      <p:tavLst>
                                        <p:tav tm="0">
                                          <p:val>
                                            <p:fltVal val="0"/>
                                          </p:val>
                                        </p:tav>
                                        <p:tav tm="100000">
                                          <p:val>
                                            <p:strVal val="#ppt_h"/>
                                          </p:val>
                                        </p:tav>
                                      </p:tavLst>
                                    </p:anim>
                                    <p:anim calcmode="lin" valueType="num">
                                      <p:cBhvr>
                                        <p:cTn id="30" dur="1000" fill="hold"/>
                                        <p:tgtEl>
                                          <p:spTgt spid="20"/>
                                        </p:tgtEl>
                                        <p:attrNameLst>
                                          <p:attrName>style.rotation</p:attrName>
                                        </p:attrNameLst>
                                      </p:cBhvr>
                                      <p:tavLst>
                                        <p:tav tm="0">
                                          <p:val>
                                            <p:fltVal val="90"/>
                                          </p:val>
                                        </p:tav>
                                        <p:tav tm="100000">
                                          <p:val>
                                            <p:fltVal val="0"/>
                                          </p:val>
                                        </p:tav>
                                      </p:tavLst>
                                    </p:anim>
                                    <p:animEffect transition="in" filter="fade">
                                      <p:cBhvr>
                                        <p:cTn id="31"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8" grpId="0"/>
      <p:bldP spid="19" grpId="0"/>
      <p:bldP spid="20"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dividual of the Team">
    <p:spTree>
      <p:nvGrpSpPr>
        <p:cNvPr id="1" name=""/>
        <p:cNvGrpSpPr/>
        <p:nvPr/>
      </p:nvGrpSpPr>
      <p:grpSpPr>
        <a:xfrm>
          <a:off x="0" y="0"/>
          <a:ext cx="0" cy="0"/>
          <a:chOff x="0" y="0"/>
          <a:chExt cx="0" cy="0"/>
        </a:xfrm>
      </p:grpSpPr>
      <p:sp>
        <p:nvSpPr>
          <p:cNvPr id="23" name="Picture Placeholder 22"/>
          <p:cNvSpPr>
            <a:spLocks noGrp="1"/>
          </p:cNvSpPr>
          <p:nvPr>
            <p:ph type="pic" sz="quarter" idx="15"/>
          </p:nvPr>
        </p:nvSpPr>
        <p:spPr>
          <a:xfrm>
            <a:off x="2109381" y="3574112"/>
            <a:ext cx="4748916" cy="6331888"/>
          </a:xfrm>
          <a:prstGeom prst="rect">
            <a:avLst/>
          </a:prstGeom>
        </p:spPr>
        <p:txBody>
          <a:bodyPr>
            <a:normAutofit/>
          </a:bodyPr>
          <a:lstStyle>
            <a:lvl1pPr>
              <a:defRPr sz="2400"/>
            </a:lvl1pPr>
          </a:lstStyle>
          <a:p>
            <a:endParaRPr lang="en-US"/>
          </a:p>
        </p:txBody>
      </p:sp>
      <p:sp>
        <p:nvSpPr>
          <p:cNvPr id="31" name="Oval 30"/>
          <p:cNvSpPr>
            <a:spLocks noChangeAspect="1"/>
          </p:cNvSpPr>
          <p:nvPr userDrawn="1"/>
        </p:nvSpPr>
        <p:spPr>
          <a:xfrm>
            <a:off x="17071094" y="775128"/>
            <a:ext cx="517548" cy="690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32" name="Slide Number Placeholder 5"/>
          <p:cNvSpPr>
            <a:spLocks noGrp="1"/>
          </p:cNvSpPr>
          <p:nvPr>
            <p:ph type="sldNum" sz="quarter" idx="12"/>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265954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nodePh="1">
                                  <p:stCondLst>
                                    <p:cond delay="0"/>
                                  </p:stCondLst>
                                  <p:endCondLst>
                                    <p:cond evt="begin" delay="0">
                                      <p:tn val="5"/>
                                    </p:cond>
                                  </p:endCondLst>
                                  <p:childTnLst>
                                    <p:set>
                                      <p:cBhvr>
                                        <p:cTn id="6" dur="1" fill="hold">
                                          <p:stCondLst>
                                            <p:cond delay="0"/>
                                          </p:stCondLst>
                                        </p:cTn>
                                        <p:tgtEl>
                                          <p:spTgt spid="23"/>
                                        </p:tgtEl>
                                        <p:attrNameLst>
                                          <p:attrName>style.visibility</p:attrName>
                                        </p:attrNameLst>
                                      </p:cBhvr>
                                      <p:to>
                                        <p:strVal val="visible"/>
                                      </p:to>
                                    </p:set>
                                    <p:anim calcmode="lin" valueType="num">
                                      <p:cBhvr>
                                        <p:cTn id="7" dur="1000" fill="hold"/>
                                        <p:tgtEl>
                                          <p:spTgt spid="23"/>
                                        </p:tgtEl>
                                        <p:attrNameLst>
                                          <p:attrName>ppt_w</p:attrName>
                                        </p:attrNameLst>
                                      </p:cBhvr>
                                      <p:tavLst>
                                        <p:tav tm="0">
                                          <p:val>
                                            <p:fltVal val="0"/>
                                          </p:val>
                                        </p:tav>
                                        <p:tav tm="100000">
                                          <p:val>
                                            <p:strVal val="#ppt_w"/>
                                          </p:val>
                                        </p:tav>
                                      </p:tavLst>
                                    </p:anim>
                                    <p:anim calcmode="lin" valueType="num">
                                      <p:cBhvr>
                                        <p:cTn id="8" dur="1000" fill="hold"/>
                                        <p:tgtEl>
                                          <p:spTgt spid="23"/>
                                        </p:tgtEl>
                                        <p:attrNameLst>
                                          <p:attrName>ppt_h</p:attrName>
                                        </p:attrNameLst>
                                      </p:cBhvr>
                                      <p:tavLst>
                                        <p:tav tm="0">
                                          <p:val>
                                            <p:fltVal val="0"/>
                                          </p:val>
                                        </p:tav>
                                        <p:tav tm="100000">
                                          <p:val>
                                            <p:strVal val="#ppt_h"/>
                                          </p:val>
                                        </p:tav>
                                      </p:tavLst>
                                    </p:anim>
                                    <p:anim calcmode="lin" valueType="num">
                                      <p:cBhvr>
                                        <p:cTn id="9" dur="1000" fill="hold"/>
                                        <p:tgtEl>
                                          <p:spTgt spid="23"/>
                                        </p:tgtEl>
                                        <p:attrNameLst>
                                          <p:attrName>style.rotation</p:attrName>
                                        </p:attrNameLst>
                                      </p:cBhvr>
                                      <p:tavLst>
                                        <p:tav tm="0">
                                          <p:val>
                                            <p:fltVal val="90"/>
                                          </p:val>
                                        </p:tav>
                                        <p:tav tm="100000">
                                          <p:val>
                                            <p:fltVal val="0"/>
                                          </p:val>
                                        </p:tav>
                                      </p:tavLst>
                                    </p:anim>
                                    <p:animEffect transition="in" filter="fade">
                                      <p:cBhvr>
                                        <p:cTn id="10"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ortfolio One">
    <p:spTree>
      <p:nvGrpSpPr>
        <p:cNvPr id="1" name=""/>
        <p:cNvGrpSpPr/>
        <p:nvPr/>
      </p:nvGrpSpPr>
      <p:grpSpPr>
        <a:xfrm>
          <a:off x="0" y="0"/>
          <a:ext cx="0" cy="0"/>
          <a:chOff x="0" y="0"/>
          <a:chExt cx="0" cy="0"/>
        </a:xfrm>
      </p:grpSpPr>
      <p:sp>
        <p:nvSpPr>
          <p:cNvPr id="18" name="Picture Placeholder 13"/>
          <p:cNvSpPr>
            <a:spLocks noGrp="1"/>
          </p:cNvSpPr>
          <p:nvPr>
            <p:ph type="pic" sz="quarter" idx="10"/>
          </p:nvPr>
        </p:nvSpPr>
        <p:spPr>
          <a:xfrm>
            <a:off x="1932446" y="3121976"/>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a:p>
        </p:txBody>
      </p:sp>
      <p:sp>
        <p:nvSpPr>
          <p:cNvPr id="20" name="Picture Placeholder 13"/>
          <p:cNvSpPr>
            <a:spLocks noGrp="1"/>
          </p:cNvSpPr>
          <p:nvPr>
            <p:ph type="pic" sz="quarter" idx="15"/>
          </p:nvPr>
        </p:nvSpPr>
        <p:spPr>
          <a:xfrm>
            <a:off x="9096339" y="3132312"/>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dirty="0"/>
          </a:p>
        </p:txBody>
      </p:sp>
      <p:sp>
        <p:nvSpPr>
          <p:cNvPr id="26" name="Picture Placeholder 13"/>
          <p:cNvSpPr>
            <a:spLocks noGrp="1"/>
          </p:cNvSpPr>
          <p:nvPr>
            <p:ph type="pic" sz="quarter" idx="16"/>
          </p:nvPr>
        </p:nvSpPr>
        <p:spPr>
          <a:xfrm>
            <a:off x="12678285" y="3142501"/>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a:p>
        </p:txBody>
      </p:sp>
      <p:sp>
        <p:nvSpPr>
          <p:cNvPr id="27" name="Picture Placeholder 13"/>
          <p:cNvSpPr>
            <a:spLocks noGrp="1"/>
          </p:cNvSpPr>
          <p:nvPr>
            <p:ph type="pic" sz="quarter" idx="17"/>
          </p:nvPr>
        </p:nvSpPr>
        <p:spPr>
          <a:xfrm>
            <a:off x="1932446" y="7942416"/>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a:p>
        </p:txBody>
      </p:sp>
      <p:sp>
        <p:nvSpPr>
          <p:cNvPr id="28" name="Picture Placeholder 13"/>
          <p:cNvSpPr>
            <a:spLocks noGrp="1"/>
          </p:cNvSpPr>
          <p:nvPr>
            <p:ph type="pic" sz="quarter" idx="18"/>
          </p:nvPr>
        </p:nvSpPr>
        <p:spPr>
          <a:xfrm>
            <a:off x="5514392" y="7942416"/>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dirty="0"/>
          </a:p>
        </p:txBody>
      </p:sp>
      <p:sp>
        <p:nvSpPr>
          <p:cNvPr id="29" name="Picture Placeholder 13"/>
          <p:cNvSpPr>
            <a:spLocks noGrp="1"/>
          </p:cNvSpPr>
          <p:nvPr>
            <p:ph type="pic" sz="quarter" idx="19"/>
          </p:nvPr>
        </p:nvSpPr>
        <p:spPr>
          <a:xfrm>
            <a:off x="9096339" y="7921890"/>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dirty="0"/>
          </a:p>
        </p:txBody>
      </p:sp>
      <p:sp>
        <p:nvSpPr>
          <p:cNvPr id="30" name="Picture Placeholder 13"/>
          <p:cNvSpPr>
            <a:spLocks noGrp="1"/>
          </p:cNvSpPr>
          <p:nvPr>
            <p:ph type="pic" sz="quarter" idx="20"/>
          </p:nvPr>
        </p:nvSpPr>
        <p:spPr>
          <a:xfrm>
            <a:off x="12678285" y="7921890"/>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dirty="0"/>
          </a:p>
        </p:txBody>
      </p:sp>
      <p:sp>
        <p:nvSpPr>
          <p:cNvPr id="32" name="Picture Placeholder 13"/>
          <p:cNvSpPr>
            <a:spLocks noGrp="1"/>
          </p:cNvSpPr>
          <p:nvPr>
            <p:ph type="pic" sz="quarter" idx="21"/>
          </p:nvPr>
        </p:nvSpPr>
        <p:spPr>
          <a:xfrm>
            <a:off x="5514392" y="3121976"/>
            <a:ext cx="3476116" cy="4630587"/>
          </a:xfrm>
          <a:effectLst/>
        </p:spPr>
        <p:txBody>
          <a:bodyPr rtlCol="0">
            <a:normAutofit/>
          </a:bodyPr>
          <a:lstStyle>
            <a:lvl1pPr marL="0" indent="0">
              <a:buNone/>
              <a:defRPr sz="2700">
                <a:ln>
                  <a:noFill/>
                </a:ln>
                <a:solidFill>
                  <a:schemeClr val="tx2"/>
                </a:solidFill>
                <a:latin typeface="Source Sans Pro ExtraLight"/>
                <a:cs typeface="Source Sans Pro ExtraLight"/>
              </a:defRPr>
            </a:lvl1pPr>
          </a:lstStyle>
          <a:p>
            <a:pPr lvl="0"/>
            <a:endParaRPr lang="en-US" noProof="0"/>
          </a:p>
        </p:txBody>
      </p:sp>
      <p:sp>
        <p:nvSpPr>
          <p:cNvPr id="33" name="Oval 32"/>
          <p:cNvSpPr>
            <a:spLocks noChangeAspect="1"/>
          </p:cNvSpPr>
          <p:nvPr userDrawn="1"/>
        </p:nvSpPr>
        <p:spPr>
          <a:xfrm>
            <a:off x="17071094" y="775128"/>
            <a:ext cx="517548" cy="690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34" name="Slide Number Placeholder 5"/>
          <p:cNvSpPr>
            <a:spLocks noGrp="1"/>
          </p:cNvSpPr>
          <p:nvPr>
            <p:ph type="sldNum" sz="quarter" idx="12"/>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2952249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18"/>
                                        </p:tgtEl>
                                        <p:attrNameLst>
                                          <p:attrName>style.visibility</p:attrName>
                                        </p:attrNameLst>
                                      </p:cBhvr>
                                      <p:to>
                                        <p:strVal val="visible"/>
                                      </p:to>
                                    </p:set>
                                    <p:anim calcmode="lin" valueType="num">
                                      <p:cBhvr>
                                        <p:cTn id="7" dur="400" fill="hold"/>
                                        <p:tgtEl>
                                          <p:spTgt spid="18"/>
                                        </p:tgtEl>
                                        <p:attrNameLst>
                                          <p:attrName>ppt_w</p:attrName>
                                        </p:attrNameLst>
                                      </p:cBhvr>
                                      <p:tavLst>
                                        <p:tav tm="0">
                                          <p:val>
                                            <p:fltVal val="0"/>
                                          </p:val>
                                        </p:tav>
                                        <p:tav tm="100000">
                                          <p:val>
                                            <p:strVal val="#ppt_w"/>
                                          </p:val>
                                        </p:tav>
                                      </p:tavLst>
                                    </p:anim>
                                    <p:anim calcmode="lin" valueType="num">
                                      <p:cBhvr>
                                        <p:cTn id="8" dur="400" fill="hold"/>
                                        <p:tgtEl>
                                          <p:spTgt spid="18"/>
                                        </p:tgtEl>
                                        <p:attrNameLst>
                                          <p:attrName>ppt_h</p:attrName>
                                        </p:attrNameLst>
                                      </p:cBhvr>
                                      <p:tavLst>
                                        <p:tav tm="0">
                                          <p:val>
                                            <p:fltVal val="0"/>
                                          </p:val>
                                        </p:tav>
                                        <p:tav tm="100000">
                                          <p:val>
                                            <p:strVal val="#ppt_h"/>
                                          </p:val>
                                        </p:tav>
                                      </p:tavLst>
                                    </p:anim>
                                    <p:animEffect transition="in" filter="fade">
                                      <p:cBhvr>
                                        <p:cTn id="9" dur="400"/>
                                        <p:tgtEl>
                                          <p:spTgt spid="18"/>
                                        </p:tgtEl>
                                      </p:cBhvr>
                                    </p:animEffect>
                                  </p:childTnLst>
                                </p:cTn>
                              </p:par>
                            </p:childTnLst>
                          </p:cTn>
                        </p:par>
                        <p:par>
                          <p:cTn id="10" fill="hold">
                            <p:stCondLst>
                              <p:cond delay="400"/>
                            </p:stCondLst>
                            <p:childTnLst>
                              <p:par>
                                <p:cTn id="11" presetID="53" presetClass="entr" presetSubtype="16" fill="hold" grpId="0" nodeType="afterEffect" nodePh="1">
                                  <p:stCondLst>
                                    <p:cond delay="0"/>
                                  </p:stCondLst>
                                  <p:endCondLst>
                                    <p:cond evt="begin" delay="0">
                                      <p:tn val="11"/>
                                    </p:cond>
                                  </p:endCondLst>
                                  <p:childTnLst>
                                    <p:set>
                                      <p:cBhvr>
                                        <p:cTn id="12" dur="1" fill="hold">
                                          <p:stCondLst>
                                            <p:cond delay="0"/>
                                          </p:stCondLst>
                                        </p:cTn>
                                        <p:tgtEl>
                                          <p:spTgt spid="27"/>
                                        </p:tgtEl>
                                        <p:attrNameLst>
                                          <p:attrName>style.visibility</p:attrName>
                                        </p:attrNameLst>
                                      </p:cBhvr>
                                      <p:to>
                                        <p:strVal val="visible"/>
                                      </p:to>
                                    </p:set>
                                    <p:anim calcmode="lin" valueType="num">
                                      <p:cBhvr>
                                        <p:cTn id="13" dur="400" fill="hold"/>
                                        <p:tgtEl>
                                          <p:spTgt spid="27"/>
                                        </p:tgtEl>
                                        <p:attrNameLst>
                                          <p:attrName>ppt_w</p:attrName>
                                        </p:attrNameLst>
                                      </p:cBhvr>
                                      <p:tavLst>
                                        <p:tav tm="0">
                                          <p:val>
                                            <p:fltVal val="0"/>
                                          </p:val>
                                        </p:tav>
                                        <p:tav tm="100000">
                                          <p:val>
                                            <p:strVal val="#ppt_w"/>
                                          </p:val>
                                        </p:tav>
                                      </p:tavLst>
                                    </p:anim>
                                    <p:anim calcmode="lin" valueType="num">
                                      <p:cBhvr>
                                        <p:cTn id="14" dur="400" fill="hold"/>
                                        <p:tgtEl>
                                          <p:spTgt spid="27"/>
                                        </p:tgtEl>
                                        <p:attrNameLst>
                                          <p:attrName>ppt_h</p:attrName>
                                        </p:attrNameLst>
                                      </p:cBhvr>
                                      <p:tavLst>
                                        <p:tav tm="0">
                                          <p:val>
                                            <p:fltVal val="0"/>
                                          </p:val>
                                        </p:tav>
                                        <p:tav tm="100000">
                                          <p:val>
                                            <p:strVal val="#ppt_h"/>
                                          </p:val>
                                        </p:tav>
                                      </p:tavLst>
                                    </p:anim>
                                    <p:animEffect transition="in" filter="fade">
                                      <p:cBhvr>
                                        <p:cTn id="15" dur="400"/>
                                        <p:tgtEl>
                                          <p:spTgt spid="27"/>
                                        </p:tgtEl>
                                      </p:cBhvr>
                                    </p:animEffect>
                                  </p:childTnLst>
                                </p:cTn>
                              </p:par>
                            </p:childTnLst>
                          </p:cTn>
                        </p:par>
                        <p:par>
                          <p:cTn id="16" fill="hold">
                            <p:stCondLst>
                              <p:cond delay="800"/>
                            </p:stCondLst>
                            <p:childTnLst>
                              <p:par>
                                <p:cTn id="17" presetID="53" presetClass="entr" presetSubtype="16" fill="hold" grpId="0" nodeType="afterEffect" nodePh="1">
                                  <p:stCondLst>
                                    <p:cond delay="0"/>
                                  </p:stCondLst>
                                  <p:endCondLst>
                                    <p:cond evt="begin" delay="0">
                                      <p:tn val="17"/>
                                    </p:cond>
                                  </p:endCondLst>
                                  <p:childTnLst>
                                    <p:set>
                                      <p:cBhvr>
                                        <p:cTn id="18" dur="1" fill="hold">
                                          <p:stCondLst>
                                            <p:cond delay="0"/>
                                          </p:stCondLst>
                                        </p:cTn>
                                        <p:tgtEl>
                                          <p:spTgt spid="28"/>
                                        </p:tgtEl>
                                        <p:attrNameLst>
                                          <p:attrName>style.visibility</p:attrName>
                                        </p:attrNameLst>
                                      </p:cBhvr>
                                      <p:to>
                                        <p:strVal val="visible"/>
                                      </p:to>
                                    </p:set>
                                    <p:anim calcmode="lin" valueType="num">
                                      <p:cBhvr>
                                        <p:cTn id="19" dur="400" fill="hold"/>
                                        <p:tgtEl>
                                          <p:spTgt spid="28"/>
                                        </p:tgtEl>
                                        <p:attrNameLst>
                                          <p:attrName>ppt_w</p:attrName>
                                        </p:attrNameLst>
                                      </p:cBhvr>
                                      <p:tavLst>
                                        <p:tav tm="0">
                                          <p:val>
                                            <p:fltVal val="0"/>
                                          </p:val>
                                        </p:tav>
                                        <p:tav tm="100000">
                                          <p:val>
                                            <p:strVal val="#ppt_w"/>
                                          </p:val>
                                        </p:tav>
                                      </p:tavLst>
                                    </p:anim>
                                    <p:anim calcmode="lin" valueType="num">
                                      <p:cBhvr>
                                        <p:cTn id="20" dur="400" fill="hold"/>
                                        <p:tgtEl>
                                          <p:spTgt spid="28"/>
                                        </p:tgtEl>
                                        <p:attrNameLst>
                                          <p:attrName>ppt_h</p:attrName>
                                        </p:attrNameLst>
                                      </p:cBhvr>
                                      <p:tavLst>
                                        <p:tav tm="0">
                                          <p:val>
                                            <p:fltVal val="0"/>
                                          </p:val>
                                        </p:tav>
                                        <p:tav tm="100000">
                                          <p:val>
                                            <p:strVal val="#ppt_h"/>
                                          </p:val>
                                        </p:tav>
                                      </p:tavLst>
                                    </p:anim>
                                    <p:animEffect transition="in" filter="fade">
                                      <p:cBhvr>
                                        <p:cTn id="21" dur="400"/>
                                        <p:tgtEl>
                                          <p:spTgt spid="28"/>
                                        </p:tgtEl>
                                      </p:cBhvr>
                                    </p:animEffect>
                                  </p:childTnLst>
                                </p:cTn>
                              </p:par>
                            </p:childTnLst>
                          </p:cTn>
                        </p:par>
                        <p:par>
                          <p:cTn id="22" fill="hold">
                            <p:stCondLst>
                              <p:cond delay="1200"/>
                            </p:stCondLst>
                            <p:childTnLst>
                              <p:par>
                                <p:cTn id="23" presetID="53" presetClass="entr" presetSubtype="16" fill="hold" grpId="0" nodeType="afterEffect" nodePh="1">
                                  <p:stCondLst>
                                    <p:cond delay="0"/>
                                  </p:stCondLst>
                                  <p:endCondLst>
                                    <p:cond evt="begin" delay="0">
                                      <p:tn val="23"/>
                                    </p:cond>
                                  </p:endCondLst>
                                  <p:childTnLst>
                                    <p:set>
                                      <p:cBhvr>
                                        <p:cTn id="24" dur="1" fill="hold">
                                          <p:stCondLst>
                                            <p:cond delay="0"/>
                                          </p:stCondLst>
                                        </p:cTn>
                                        <p:tgtEl>
                                          <p:spTgt spid="20"/>
                                        </p:tgtEl>
                                        <p:attrNameLst>
                                          <p:attrName>style.visibility</p:attrName>
                                        </p:attrNameLst>
                                      </p:cBhvr>
                                      <p:to>
                                        <p:strVal val="visible"/>
                                      </p:to>
                                    </p:set>
                                    <p:anim calcmode="lin" valueType="num">
                                      <p:cBhvr>
                                        <p:cTn id="25" dur="400" fill="hold"/>
                                        <p:tgtEl>
                                          <p:spTgt spid="20"/>
                                        </p:tgtEl>
                                        <p:attrNameLst>
                                          <p:attrName>ppt_w</p:attrName>
                                        </p:attrNameLst>
                                      </p:cBhvr>
                                      <p:tavLst>
                                        <p:tav tm="0">
                                          <p:val>
                                            <p:fltVal val="0"/>
                                          </p:val>
                                        </p:tav>
                                        <p:tav tm="100000">
                                          <p:val>
                                            <p:strVal val="#ppt_w"/>
                                          </p:val>
                                        </p:tav>
                                      </p:tavLst>
                                    </p:anim>
                                    <p:anim calcmode="lin" valueType="num">
                                      <p:cBhvr>
                                        <p:cTn id="26" dur="400" fill="hold"/>
                                        <p:tgtEl>
                                          <p:spTgt spid="20"/>
                                        </p:tgtEl>
                                        <p:attrNameLst>
                                          <p:attrName>ppt_h</p:attrName>
                                        </p:attrNameLst>
                                      </p:cBhvr>
                                      <p:tavLst>
                                        <p:tav tm="0">
                                          <p:val>
                                            <p:fltVal val="0"/>
                                          </p:val>
                                        </p:tav>
                                        <p:tav tm="100000">
                                          <p:val>
                                            <p:strVal val="#ppt_h"/>
                                          </p:val>
                                        </p:tav>
                                      </p:tavLst>
                                    </p:anim>
                                    <p:animEffect transition="in" filter="fade">
                                      <p:cBhvr>
                                        <p:cTn id="27" dur="400"/>
                                        <p:tgtEl>
                                          <p:spTgt spid="20"/>
                                        </p:tgtEl>
                                      </p:cBhvr>
                                    </p:animEffect>
                                  </p:childTnLst>
                                </p:cTn>
                              </p:par>
                            </p:childTnLst>
                          </p:cTn>
                        </p:par>
                        <p:par>
                          <p:cTn id="28" fill="hold">
                            <p:stCondLst>
                              <p:cond delay="1600"/>
                            </p:stCondLst>
                            <p:childTnLst>
                              <p:par>
                                <p:cTn id="29" presetID="53" presetClass="entr" presetSubtype="16" fill="hold" grpId="0" nodeType="afterEffect" nodePh="1">
                                  <p:stCondLst>
                                    <p:cond delay="0"/>
                                  </p:stCondLst>
                                  <p:endCondLst>
                                    <p:cond evt="begin" delay="0">
                                      <p:tn val="29"/>
                                    </p:cond>
                                  </p:endCondLst>
                                  <p:childTnLst>
                                    <p:set>
                                      <p:cBhvr>
                                        <p:cTn id="30" dur="1" fill="hold">
                                          <p:stCondLst>
                                            <p:cond delay="0"/>
                                          </p:stCondLst>
                                        </p:cTn>
                                        <p:tgtEl>
                                          <p:spTgt spid="29"/>
                                        </p:tgtEl>
                                        <p:attrNameLst>
                                          <p:attrName>style.visibility</p:attrName>
                                        </p:attrNameLst>
                                      </p:cBhvr>
                                      <p:to>
                                        <p:strVal val="visible"/>
                                      </p:to>
                                    </p:set>
                                    <p:anim calcmode="lin" valueType="num">
                                      <p:cBhvr>
                                        <p:cTn id="31" dur="400" fill="hold"/>
                                        <p:tgtEl>
                                          <p:spTgt spid="29"/>
                                        </p:tgtEl>
                                        <p:attrNameLst>
                                          <p:attrName>ppt_w</p:attrName>
                                        </p:attrNameLst>
                                      </p:cBhvr>
                                      <p:tavLst>
                                        <p:tav tm="0">
                                          <p:val>
                                            <p:fltVal val="0"/>
                                          </p:val>
                                        </p:tav>
                                        <p:tav tm="100000">
                                          <p:val>
                                            <p:strVal val="#ppt_w"/>
                                          </p:val>
                                        </p:tav>
                                      </p:tavLst>
                                    </p:anim>
                                    <p:anim calcmode="lin" valueType="num">
                                      <p:cBhvr>
                                        <p:cTn id="32" dur="400" fill="hold"/>
                                        <p:tgtEl>
                                          <p:spTgt spid="29"/>
                                        </p:tgtEl>
                                        <p:attrNameLst>
                                          <p:attrName>ppt_h</p:attrName>
                                        </p:attrNameLst>
                                      </p:cBhvr>
                                      <p:tavLst>
                                        <p:tav tm="0">
                                          <p:val>
                                            <p:fltVal val="0"/>
                                          </p:val>
                                        </p:tav>
                                        <p:tav tm="100000">
                                          <p:val>
                                            <p:strVal val="#ppt_h"/>
                                          </p:val>
                                        </p:tav>
                                      </p:tavLst>
                                    </p:anim>
                                    <p:animEffect transition="in" filter="fade">
                                      <p:cBhvr>
                                        <p:cTn id="33" dur="400"/>
                                        <p:tgtEl>
                                          <p:spTgt spid="29"/>
                                        </p:tgtEl>
                                      </p:cBhvr>
                                    </p:animEffect>
                                  </p:childTnLst>
                                </p:cTn>
                              </p:par>
                            </p:childTnLst>
                          </p:cTn>
                        </p:par>
                        <p:par>
                          <p:cTn id="34" fill="hold">
                            <p:stCondLst>
                              <p:cond delay="2000"/>
                            </p:stCondLst>
                            <p:childTnLst>
                              <p:par>
                                <p:cTn id="35" presetID="53" presetClass="entr" presetSubtype="16" fill="hold" grpId="0" nodeType="afterEffect" nodePh="1">
                                  <p:stCondLst>
                                    <p:cond delay="0"/>
                                  </p:stCondLst>
                                  <p:endCondLst>
                                    <p:cond evt="begin" delay="0">
                                      <p:tn val="35"/>
                                    </p:cond>
                                  </p:endCondLst>
                                  <p:childTnLst>
                                    <p:set>
                                      <p:cBhvr>
                                        <p:cTn id="36" dur="1" fill="hold">
                                          <p:stCondLst>
                                            <p:cond delay="0"/>
                                          </p:stCondLst>
                                        </p:cTn>
                                        <p:tgtEl>
                                          <p:spTgt spid="26"/>
                                        </p:tgtEl>
                                        <p:attrNameLst>
                                          <p:attrName>style.visibility</p:attrName>
                                        </p:attrNameLst>
                                      </p:cBhvr>
                                      <p:to>
                                        <p:strVal val="visible"/>
                                      </p:to>
                                    </p:set>
                                    <p:anim calcmode="lin" valueType="num">
                                      <p:cBhvr>
                                        <p:cTn id="37" dur="400" fill="hold"/>
                                        <p:tgtEl>
                                          <p:spTgt spid="26"/>
                                        </p:tgtEl>
                                        <p:attrNameLst>
                                          <p:attrName>ppt_w</p:attrName>
                                        </p:attrNameLst>
                                      </p:cBhvr>
                                      <p:tavLst>
                                        <p:tav tm="0">
                                          <p:val>
                                            <p:fltVal val="0"/>
                                          </p:val>
                                        </p:tav>
                                        <p:tav tm="100000">
                                          <p:val>
                                            <p:strVal val="#ppt_w"/>
                                          </p:val>
                                        </p:tav>
                                      </p:tavLst>
                                    </p:anim>
                                    <p:anim calcmode="lin" valueType="num">
                                      <p:cBhvr>
                                        <p:cTn id="38" dur="400" fill="hold"/>
                                        <p:tgtEl>
                                          <p:spTgt spid="26"/>
                                        </p:tgtEl>
                                        <p:attrNameLst>
                                          <p:attrName>ppt_h</p:attrName>
                                        </p:attrNameLst>
                                      </p:cBhvr>
                                      <p:tavLst>
                                        <p:tav tm="0">
                                          <p:val>
                                            <p:fltVal val="0"/>
                                          </p:val>
                                        </p:tav>
                                        <p:tav tm="100000">
                                          <p:val>
                                            <p:strVal val="#ppt_h"/>
                                          </p:val>
                                        </p:tav>
                                      </p:tavLst>
                                    </p:anim>
                                    <p:animEffect transition="in" filter="fade">
                                      <p:cBhvr>
                                        <p:cTn id="39" dur="400"/>
                                        <p:tgtEl>
                                          <p:spTgt spid="26"/>
                                        </p:tgtEl>
                                      </p:cBhvr>
                                    </p:animEffect>
                                  </p:childTnLst>
                                </p:cTn>
                              </p:par>
                            </p:childTnLst>
                          </p:cTn>
                        </p:par>
                        <p:par>
                          <p:cTn id="40" fill="hold">
                            <p:stCondLst>
                              <p:cond delay="2400"/>
                            </p:stCondLst>
                            <p:childTnLst>
                              <p:par>
                                <p:cTn id="41" presetID="53" presetClass="entr" presetSubtype="16" fill="hold" grpId="0" nodeType="afterEffect" nodePh="1">
                                  <p:stCondLst>
                                    <p:cond delay="0"/>
                                  </p:stCondLst>
                                  <p:endCondLst>
                                    <p:cond evt="begin" delay="0">
                                      <p:tn val="41"/>
                                    </p:cond>
                                  </p:endCondLst>
                                  <p:childTnLst>
                                    <p:set>
                                      <p:cBhvr>
                                        <p:cTn id="42" dur="1" fill="hold">
                                          <p:stCondLst>
                                            <p:cond delay="0"/>
                                          </p:stCondLst>
                                        </p:cTn>
                                        <p:tgtEl>
                                          <p:spTgt spid="30"/>
                                        </p:tgtEl>
                                        <p:attrNameLst>
                                          <p:attrName>style.visibility</p:attrName>
                                        </p:attrNameLst>
                                      </p:cBhvr>
                                      <p:to>
                                        <p:strVal val="visible"/>
                                      </p:to>
                                    </p:set>
                                    <p:anim calcmode="lin" valueType="num">
                                      <p:cBhvr>
                                        <p:cTn id="43" dur="400" fill="hold"/>
                                        <p:tgtEl>
                                          <p:spTgt spid="30"/>
                                        </p:tgtEl>
                                        <p:attrNameLst>
                                          <p:attrName>ppt_w</p:attrName>
                                        </p:attrNameLst>
                                      </p:cBhvr>
                                      <p:tavLst>
                                        <p:tav tm="0">
                                          <p:val>
                                            <p:fltVal val="0"/>
                                          </p:val>
                                        </p:tav>
                                        <p:tav tm="100000">
                                          <p:val>
                                            <p:strVal val="#ppt_w"/>
                                          </p:val>
                                        </p:tav>
                                      </p:tavLst>
                                    </p:anim>
                                    <p:anim calcmode="lin" valueType="num">
                                      <p:cBhvr>
                                        <p:cTn id="44" dur="400" fill="hold"/>
                                        <p:tgtEl>
                                          <p:spTgt spid="30"/>
                                        </p:tgtEl>
                                        <p:attrNameLst>
                                          <p:attrName>ppt_h</p:attrName>
                                        </p:attrNameLst>
                                      </p:cBhvr>
                                      <p:tavLst>
                                        <p:tav tm="0">
                                          <p:val>
                                            <p:fltVal val="0"/>
                                          </p:val>
                                        </p:tav>
                                        <p:tav tm="100000">
                                          <p:val>
                                            <p:strVal val="#ppt_h"/>
                                          </p:val>
                                        </p:tav>
                                      </p:tavLst>
                                    </p:anim>
                                    <p:animEffect transition="in" filter="fade">
                                      <p:cBhvr>
                                        <p:cTn id="45" dur="400"/>
                                        <p:tgtEl>
                                          <p:spTgt spid="30"/>
                                        </p:tgtEl>
                                      </p:cBhvr>
                                    </p:animEffect>
                                  </p:childTnLst>
                                </p:cTn>
                              </p:par>
                            </p:childTnLst>
                          </p:cTn>
                        </p:par>
                        <p:par>
                          <p:cTn id="46" fill="hold">
                            <p:stCondLst>
                              <p:cond delay="2800"/>
                            </p:stCondLst>
                            <p:childTnLst>
                              <p:par>
                                <p:cTn id="47" presetID="53" presetClass="entr" presetSubtype="16" fill="hold" grpId="0" nodeType="afterEffect" nodePh="1">
                                  <p:stCondLst>
                                    <p:cond delay="0"/>
                                  </p:stCondLst>
                                  <p:endCondLst>
                                    <p:cond evt="begin" delay="0">
                                      <p:tn val="47"/>
                                    </p:cond>
                                  </p:endCondLst>
                                  <p:childTnLst>
                                    <p:set>
                                      <p:cBhvr>
                                        <p:cTn id="48" dur="1" fill="hold">
                                          <p:stCondLst>
                                            <p:cond delay="0"/>
                                          </p:stCondLst>
                                        </p:cTn>
                                        <p:tgtEl>
                                          <p:spTgt spid="32"/>
                                        </p:tgtEl>
                                        <p:attrNameLst>
                                          <p:attrName>style.visibility</p:attrName>
                                        </p:attrNameLst>
                                      </p:cBhvr>
                                      <p:to>
                                        <p:strVal val="visible"/>
                                      </p:to>
                                    </p:set>
                                    <p:anim calcmode="lin" valueType="num">
                                      <p:cBhvr>
                                        <p:cTn id="49" dur="400" fill="hold"/>
                                        <p:tgtEl>
                                          <p:spTgt spid="32"/>
                                        </p:tgtEl>
                                        <p:attrNameLst>
                                          <p:attrName>ppt_w</p:attrName>
                                        </p:attrNameLst>
                                      </p:cBhvr>
                                      <p:tavLst>
                                        <p:tav tm="0">
                                          <p:val>
                                            <p:fltVal val="0"/>
                                          </p:val>
                                        </p:tav>
                                        <p:tav tm="100000">
                                          <p:val>
                                            <p:strVal val="#ppt_w"/>
                                          </p:val>
                                        </p:tav>
                                      </p:tavLst>
                                    </p:anim>
                                    <p:anim calcmode="lin" valueType="num">
                                      <p:cBhvr>
                                        <p:cTn id="50" dur="400" fill="hold"/>
                                        <p:tgtEl>
                                          <p:spTgt spid="32"/>
                                        </p:tgtEl>
                                        <p:attrNameLst>
                                          <p:attrName>ppt_h</p:attrName>
                                        </p:attrNameLst>
                                      </p:cBhvr>
                                      <p:tavLst>
                                        <p:tav tm="0">
                                          <p:val>
                                            <p:fltVal val="0"/>
                                          </p:val>
                                        </p:tav>
                                        <p:tav tm="100000">
                                          <p:val>
                                            <p:strVal val="#ppt_h"/>
                                          </p:val>
                                        </p:tav>
                                      </p:tavLst>
                                    </p:anim>
                                    <p:animEffect transition="in" filter="fade">
                                      <p:cBhvr>
                                        <p:cTn id="51"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P spid="27" grpId="0"/>
      <p:bldP spid="28" grpId="0"/>
      <p:bldP spid="29" grpId="0"/>
      <p:bldP spid="30" grpId="0"/>
      <p:bldP spid="32" grpId="0"/>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Phone 6 3x">
    <p:spTree>
      <p:nvGrpSpPr>
        <p:cNvPr id="1" name=""/>
        <p:cNvGrpSpPr/>
        <p:nvPr/>
      </p:nvGrpSpPr>
      <p:grpSpPr>
        <a:xfrm>
          <a:off x="0" y="0"/>
          <a:ext cx="0" cy="0"/>
          <a:chOff x="0" y="0"/>
          <a:chExt cx="0" cy="0"/>
        </a:xfrm>
      </p:grpSpPr>
      <p:sp>
        <p:nvSpPr>
          <p:cNvPr id="27" name="Picture Placeholder 16"/>
          <p:cNvSpPr>
            <a:spLocks noGrp="1"/>
          </p:cNvSpPr>
          <p:nvPr>
            <p:ph type="pic" sz="quarter" idx="10"/>
          </p:nvPr>
        </p:nvSpPr>
        <p:spPr>
          <a:xfrm>
            <a:off x="7614809" y="4109362"/>
            <a:ext cx="3030823" cy="7163108"/>
          </a:xfrm>
        </p:spPr>
        <p:txBody>
          <a:bodyPr>
            <a:normAutofit/>
          </a:bodyPr>
          <a:lstStyle>
            <a:lvl1pPr marL="0" indent="0">
              <a:buNone/>
              <a:defRPr sz="975"/>
            </a:lvl1pPr>
          </a:lstStyle>
          <a:p>
            <a:endParaRPr lang="en-US"/>
          </a:p>
        </p:txBody>
      </p:sp>
      <p:sp>
        <p:nvSpPr>
          <p:cNvPr id="29" name="Picture Placeholder 16"/>
          <p:cNvSpPr>
            <a:spLocks noGrp="1"/>
          </p:cNvSpPr>
          <p:nvPr>
            <p:ph type="pic" sz="quarter" idx="11"/>
          </p:nvPr>
        </p:nvSpPr>
        <p:spPr>
          <a:xfrm>
            <a:off x="5914539" y="5181600"/>
            <a:ext cx="1515184" cy="5029200"/>
          </a:xfrm>
        </p:spPr>
        <p:txBody>
          <a:bodyPr>
            <a:normAutofit/>
          </a:bodyPr>
          <a:lstStyle>
            <a:lvl1pPr marL="0" indent="0">
              <a:buNone/>
              <a:defRPr sz="975"/>
            </a:lvl1pPr>
          </a:lstStyle>
          <a:p>
            <a:endParaRPr lang="en-US" dirty="0"/>
          </a:p>
        </p:txBody>
      </p:sp>
      <p:sp>
        <p:nvSpPr>
          <p:cNvPr id="31" name="Picture Placeholder 16"/>
          <p:cNvSpPr>
            <a:spLocks noGrp="1"/>
          </p:cNvSpPr>
          <p:nvPr>
            <p:ph type="pic" sz="quarter" idx="12"/>
          </p:nvPr>
        </p:nvSpPr>
        <p:spPr>
          <a:xfrm>
            <a:off x="10801134" y="5181600"/>
            <a:ext cx="1515184" cy="5029200"/>
          </a:xfrm>
        </p:spPr>
        <p:txBody>
          <a:bodyPr>
            <a:normAutofit/>
          </a:bodyPr>
          <a:lstStyle>
            <a:lvl1pPr marL="0" indent="0">
              <a:buNone/>
              <a:defRPr sz="975"/>
            </a:lvl1pPr>
          </a:lstStyle>
          <a:p>
            <a:endParaRPr lang="en-US" dirty="0"/>
          </a:p>
        </p:txBody>
      </p:sp>
      <p:sp>
        <p:nvSpPr>
          <p:cNvPr id="8" name="Oval 7"/>
          <p:cNvSpPr>
            <a:spLocks noChangeAspect="1"/>
          </p:cNvSpPr>
          <p:nvPr userDrawn="1"/>
        </p:nvSpPr>
        <p:spPr>
          <a:xfrm>
            <a:off x="17071094" y="775128"/>
            <a:ext cx="517548" cy="690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9" name="Slide Number Placeholder 5"/>
          <p:cNvSpPr>
            <a:spLocks noGrp="1"/>
          </p:cNvSpPr>
          <p:nvPr>
            <p:ph type="sldNum" sz="quarter" idx="13"/>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2479785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nodePh="1">
                                  <p:stCondLst>
                                    <p:cond delay="0"/>
                                  </p:stCondLst>
                                  <p:endCondLst>
                                    <p:cond evt="begin" delay="0">
                                      <p:tn val="5"/>
                                    </p:cond>
                                  </p:end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childTnLst>
                          </p:cTn>
                        </p:par>
                        <p:par>
                          <p:cTn id="12" fill="hold">
                            <p:stCondLst>
                              <p:cond delay="1000"/>
                            </p:stCondLst>
                            <p:childTnLst>
                              <p:par>
                                <p:cTn id="13" presetID="10" presetClass="entr" presetSubtype="0" fill="hold" grpId="0" nodeType="afterEffect" nodePh="1">
                                  <p:stCondLst>
                                    <p:cond delay="0"/>
                                  </p:stCondLst>
                                  <p:endCondLst>
                                    <p:cond evt="begin" delay="0">
                                      <p:tn val="13"/>
                                    </p:cond>
                                  </p:end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P spid="31"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act us">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8801146" cy="13716000"/>
          </a:xfrm>
        </p:spPr>
        <p:txBody>
          <a:bodyPr>
            <a:normAutofit/>
          </a:bodyPr>
          <a:lstStyle>
            <a:lvl1pPr>
              <a:defRPr sz="2700"/>
            </a:lvl1pPr>
          </a:lstStyle>
          <a:p>
            <a:endParaRPr lang="en-US"/>
          </a:p>
        </p:txBody>
      </p:sp>
      <p:sp>
        <p:nvSpPr>
          <p:cNvPr id="6" name="Oval 5"/>
          <p:cNvSpPr>
            <a:spLocks noChangeAspect="1"/>
          </p:cNvSpPr>
          <p:nvPr userDrawn="1"/>
        </p:nvSpPr>
        <p:spPr>
          <a:xfrm>
            <a:off x="17071094" y="775128"/>
            <a:ext cx="517548" cy="690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2865" tIns="91433" rIns="182865" bIns="91433" numCol="1" spcCol="0" rtlCol="0" fromWordArt="0" anchor="ctr" anchorCtr="0" forceAA="0" compatLnSpc="1">
            <a:prstTxWarp prst="textNoShape">
              <a:avLst/>
            </a:prstTxWarp>
            <a:noAutofit/>
          </a:bodyPr>
          <a:lstStyle/>
          <a:p>
            <a:pPr algn="ctr"/>
            <a:endParaRPr lang="en-US" sz="3600"/>
          </a:p>
        </p:txBody>
      </p:sp>
      <p:sp>
        <p:nvSpPr>
          <p:cNvPr id="7" name="Slide Number Placeholder 5"/>
          <p:cNvSpPr>
            <a:spLocks noGrp="1"/>
          </p:cNvSpPr>
          <p:nvPr>
            <p:ph type="sldNum" sz="quarter" idx="12"/>
          </p:nvPr>
        </p:nvSpPr>
        <p:spPr>
          <a:xfrm>
            <a:off x="16925021" y="712118"/>
            <a:ext cx="798902" cy="730251"/>
          </a:xfrm>
          <a:prstGeom prst="rect">
            <a:avLst/>
          </a:prstGeom>
        </p:spPr>
        <p:txBody>
          <a:bodyPr/>
          <a:lstStyle>
            <a:lvl1pPr algn="ctr">
              <a:defRPr sz="1800">
                <a:solidFill>
                  <a:schemeClr val="bg1"/>
                </a:solidFill>
                <a:latin typeface="Source Sans Pro ExtraLight"/>
                <a:cs typeface="Source Sans Pro ExtraLight"/>
              </a:defRPr>
            </a:lvl1pPr>
          </a:lstStyle>
          <a:p>
            <a:fld id="{9DF686B8-C880-FF40-96DC-14FF2413C34E}" type="slidenum">
              <a:rPr lang="en-US" smtClean="0"/>
              <a:pPr/>
              <a:t>‹#›</a:t>
            </a:fld>
            <a:endParaRPr lang="en-US" dirty="0"/>
          </a:p>
        </p:txBody>
      </p:sp>
    </p:spTree>
    <p:extLst>
      <p:ext uri="{BB962C8B-B14F-4D97-AF65-F5344CB8AC3E}">
        <p14:creationId xmlns:p14="http://schemas.microsoft.com/office/powerpoint/2010/main" val="3296598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77065641"/>
      </p:ext>
    </p:extLst>
  </p:cSld>
  <p:clrMapOvr>
    <a:masterClrMapping/>
  </p:clrMapOvr>
  <p:transition spd="slow">
    <p:check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2244726"/>
            <a:ext cx="15544800" cy="4775200"/>
          </a:xfrm>
        </p:spPr>
        <p:txBody>
          <a:bodyPr anchor="b"/>
          <a:lstStyle>
            <a:lvl1pPr algn="ctr">
              <a:defRPr sz="12000"/>
            </a:lvl1pPr>
          </a:lstStyle>
          <a:p>
            <a:r>
              <a:rPr lang="en-US"/>
              <a:t>Click to edit Master title style</a:t>
            </a:r>
            <a:endParaRPr lang="en-US" dirty="0"/>
          </a:p>
        </p:txBody>
      </p:sp>
      <p:sp>
        <p:nvSpPr>
          <p:cNvPr id="3" name="Subtitle 2"/>
          <p:cNvSpPr>
            <a:spLocks noGrp="1"/>
          </p:cNvSpPr>
          <p:nvPr>
            <p:ph type="subTitle" idx="1"/>
          </p:nvPr>
        </p:nvSpPr>
        <p:spPr>
          <a:xfrm>
            <a:off x="2286000" y="7204076"/>
            <a:ext cx="13716000"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A73AC8-2287-4D50-8392-F1995AA4F0B6}" type="datetimeFigureOut">
              <a:rPr lang="en-US" smtClean="0"/>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BF9CA5-15ED-4832-9744-CD05D531A442}" type="slidenum">
              <a:rPr lang="en-US" smtClean="0"/>
              <a:t>‹#›</a:t>
            </a:fld>
            <a:endParaRPr lang="en-US"/>
          </a:p>
        </p:txBody>
      </p:sp>
    </p:spTree>
    <p:extLst>
      <p:ext uri="{BB962C8B-B14F-4D97-AF65-F5344CB8AC3E}">
        <p14:creationId xmlns:p14="http://schemas.microsoft.com/office/powerpoint/2010/main" val="551812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A73AC8-2287-4D50-8392-F1995AA4F0B6}" type="datetimeFigureOut">
              <a:rPr lang="en-US" smtClean="0"/>
              <a:t>3/26/2025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BF9CA5-15ED-4832-9744-CD05D531A442}" type="slidenum">
              <a:rPr lang="en-US" smtClean="0"/>
              <a:t>‹#›</a:t>
            </a:fld>
            <a:endParaRPr lang="en-US"/>
          </a:p>
        </p:txBody>
      </p:sp>
    </p:spTree>
    <p:extLst>
      <p:ext uri="{BB962C8B-B14F-4D97-AF65-F5344CB8AC3E}">
        <p14:creationId xmlns:p14="http://schemas.microsoft.com/office/powerpoint/2010/main" val="4187336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549277"/>
            <a:ext cx="16459200" cy="2286000"/>
          </a:xfrm>
          <a:prstGeom prst="rect">
            <a:avLst/>
          </a:prstGeom>
        </p:spPr>
        <p:txBody>
          <a:bodyPr vert="horz" lIns="243852" tIns="121926" rIns="243852" bIns="121926" rtlCol="0" anchor="ctr">
            <a:normAutofit/>
          </a:bodyPr>
          <a:lstStyle/>
          <a:p>
            <a:r>
              <a:rPr lang="en-US" dirty="0"/>
              <a:t>Click to edit Master title style</a:t>
            </a:r>
          </a:p>
        </p:txBody>
      </p:sp>
      <p:sp>
        <p:nvSpPr>
          <p:cNvPr id="3" name="Text Placeholder 2"/>
          <p:cNvSpPr>
            <a:spLocks noGrp="1"/>
          </p:cNvSpPr>
          <p:nvPr>
            <p:ph type="body" idx="1"/>
          </p:nvPr>
        </p:nvSpPr>
        <p:spPr>
          <a:xfrm>
            <a:off x="914400" y="3200406"/>
            <a:ext cx="16459200" cy="9051925"/>
          </a:xfrm>
          <a:prstGeom prst="rect">
            <a:avLst/>
          </a:prstGeom>
        </p:spPr>
        <p:txBody>
          <a:bodyPr vert="horz" lIns="243852" tIns="121926" rIns="243852" bIns="121926"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0370451"/>
      </p:ext>
    </p:extLst>
  </p:cSld>
  <p:clrMap bg1="lt1" tx1="dk1" bg2="lt2" tx2="dk2" accent1="accent1" accent2="accent2" accent3="accent3" accent4="accent4" accent5="accent5" accent6="accent6" hlink="hlink" folHlink="folHlink"/>
  <p:sldLayoutIdLst>
    <p:sldLayoutId id="2147483680" r:id="rId1"/>
    <p:sldLayoutId id="2147483649" r:id="rId2"/>
    <p:sldLayoutId id="2147483661" r:id="rId3"/>
    <p:sldLayoutId id="2147483662" r:id="rId4"/>
    <p:sldLayoutId id="2147483663" r:id="rId5"/>
    <p:sldLayoutId id="2147483669" r:id="rId6"/>
    <p:sldLayoutId id="2147483721" r:id="rId7"/>
    <p:sldLayoutId id="2147483679" r:id="rId8"/>
    <p:sldLayoutId id="2147483727" r:id="rId9"/>
    <p:sldLayoutId id="2147483734" r:id="rId10"/>
    <p:sldLayoutId id="2147483735" r:id="rId11"/>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hf hdr="0" ftr="0"/>
  <p:txStyles>
    <p:titleStyle>
      <a:lvl1pPr algn="ctr" defTabSz="914316" rtl="0" eaLnBrk="1" latinLnBrk="0" hangingPunct="1">
        <a:spcBef>
          <a:spcPct val="0"/>
        </a:spcBef>
        <a:buNone/>
        <a:defRPr sz="5624" kern="1200">
          <a:solidFill>
            <a:schemeClr val="bg2"/>
          </a:solidFill>
          <a:latin typeface="Source Sans Pro ExtraLight"/>
          <a:ea typeface="+mj-ea"/>
          <a:cs typeface="Source Sans Pro ExtraLight"/>
        </a:defRPr>
      </a:lvl1pPr>
    </p:titleStyle>
    <p:bodyStyle>
      <a:lvl1pPr marL="0" indent="0" algn="l" defTabSz="914316" rtl="0" eaLnBrk="1" latinLnBrk="0" hangingPunct="1">
        <a:spcBef>
          <a:spcPct val="20000"/>
        </a:spcBef>
        <a:buFont typeface="Arial"/>
        <a:buNone/>
        <a:defRPr sz="4799" kern="1200">
          <a:solidFill>
            <a:schemeClr val="tx2"/>
          </a:solidFill>
          <a:latin typeface="Source Sans Pro ExtraLight"/>
          <a:ea typeface="+mn-ea"/>
          <a:cs typeface="Source Sans Pro ExtraLight"/>
        </a:defRPr>
      </a:lvl1pPr>
      <a:lvl2pPr marL="914316" indent="0" algn="l" defTabSz="914316" rtl="0" eaLnBrk="1" latinLnBrk="0" hangingPunct="1">
        <a:spcBef>
          <a:spcPct val="20000"/>
        </a:spcBef>
        <a:buFont typeface="Arial"/>
        <a:buNone/>
        <a:defRPr sz="3600" kern="1200">
          <a:solidFill>
            <a:schemeClr val="tx2"/>
          </a:solidFill>
          <a:latin typeface="Source Sans Pro ExtraLight"/>
          <a:ea typeface="+mn-ea"/>
          <a:cs typeface="Source Sans Pro ExtraLight"/>
        </a:defRPr>
      </a:lvl2pPr>
      <a:lvl3pPr marL="1828633" indent="0" algn="l" defTabSz="914316" rtl="0" eaLnBrk="1" latinLnBrk="0" hangingPunct="1">
        <a:spcBef>
          <a:spcPct val="20000"/>
        </a:spcBef>
        <a:buFont typeface="Arial"/>
        <a:buNone/>
        <a:defRPr sz="3225" kern="1200">
          <a:solidFill>
            <a:schemeClr val="tx2"/>
          </a:solidFill>
          <a:latin typeface="Source Sans Pro ExtraLight"/>
          <a:ea typeface="+mn-ea"/>
          <a:cs typeface="Source Sans Pro ExtraLight"/>
        </a:defRPr>
      </a:lvl3pPr>
      <a:lvl4pPr marL="2742948" indent="0" algn="l" defTabSz="914316" rtl="0" eaLnBrk="1" latinLnBrk="0" hangingPunct="1">
        <a:spcBef>
          <a:spcPct val="20000"/>
        </a:spcBef>
        <a:buFont typeface="Arial"/>
        <a:buNone/>
        <a:defRPr sz="2775" kern="1200">
          <a:solidFill>
            <a:schemeClr val="tx2"/>
          </a:solidFill>
          <a:latin typeface="Source Sans Pro ExtraLight"/>
          <a:ea typeface="+mn-ea"/>
          <a:cs typeface="Source Sans Pro ExtraLight"/>
        </a:defRPr>
      </a:lvl4pPr>
      <a:lvl5pPr marL="3657265" indent="0" algn="l" defTabSz="914316" rtl="0" eaLnBrk="1" latinLnBrk="0" hangingPunct="1">
        <a:spcBef>
          <a:spcPct val="20000"/>
        </a:spcBef>
        <a:buFont typeface="Arial"/>
        <a:buNone/>
        <a:defRPr sz="2775" kern="1200">
          <a:solidFill>
            <a:schemeClr val="tx2"/>
          </a:solidFill>
          <a:latin typeface="Source Sans Pro ExtraLight"/>
          <a:ea typeface="+mn-ea"/>
          <a:cs typeface="Source Sans Pro ExtraLight"/>
        </a:defRPr>
      </a:lvl5pPr>
      <a:lvl6pPr marL="5028739" indent="-457159" algn="l" defTabSz="914316" rtl="0" eaLnBrk="1" latinLnBrk="0" hangingPunct="1">
        <a:spcBef>
          <a:spcPct val="20000"/>
        </a:spcBef>
        <a:buFont typeface="Arial"/>
        <a:buChar char="•"/>
        <a:defRPr sz="3974" kern="1200">
          <a:solidFill>
            <a:schemeClr val="tx1"/>
          </a:solidFill>
          <a:latin typeface="+mn-lt"/>
          <a:ea typeface="+mn-ea"/>
          <a:cs typeface="+mn-cs"/>
        </a:defRPr>
      </a:lvl6pPr>
      <a:lvl7pPr marL="5943054" indent="-457159" algn="l" defTabSz="914316" rtl="0" eaLnBrk="1" latinLnBrk="0" hangingPunct="1">
        <a:spcBef>
          <a:spcPct val="20000"/>
        </a:spcBef>
        <a:buFont typeface="Arial"/>
        <a:buChar char="•"/>
        <a:defRPr sz="3974" kern="1200">
          <a:solidFill>
            <a:schemeClr val="tx1"/>
          </a:solidFill>
          <a:latin typeface="+mn-lt"/>
          <a:ea typeface="+mn-ea"/>
          <a:cs typeface="+mn-cs"/>
        </a:defRPr>
      </a:lvl7pPr>
      <a:lvl8pPr marL="6857371" indent="-457159" algn="l" defTabSz="914316" rtl="0" eaLnBrk="1" latinLnBrk="0" hangingPunct="1">
        <a:spcBef>
          <a:spcPct val="20000"/>
        </a:spcBef>
        <a:buFont typeface="Arial"/>
        <a:buChar char="•"/>
        <a:defRPr sz="3974" kern="1200">
          <a:solidFill>
            <a:schemeClr val="tx1"/>
          </a:solidFill>
          <a:latin typeface="+mn-lt"/>
          <a:ea typeface="+mn-ea"/>
          <a:cs typeface="+mn-cs"/>
        </a:defRPr>
      </a:lvl8pPr>
      <a:lvl9pPr marL="7771687" indent="-457159" algn="l" defTabSz="914316" rtl="0" eaLnBrk="1" latinLnBrk="0" hangingPunct="1">
        <a:spcBef>
          <a:spcPct val="20000"/>
        </a:spcBef>
        <a:buFont typeface="Arial"/>
        <a:buChar char="•"/>
        <a:defRPr sz="3974" kern="1200">
          <a:solidFill>
            <a:schemeClr val="tx1"/>
          </a:solidFill>
          <a:latin typeface="+mn-lt"/>
          <a:ea typeface="+mn-ea"/>
          <a:cs typeface="+mn-cs"/>
        </a:defRPr>
      </a:lvl9pPr>
    </p:bodyStyle>
    <p:otherStyle>
      <a:defPPr>
        <a:defRPr lang="en-US"/>
      </a:defPPr>
      <a:lvl1pPr marL="0" algn="l" defTabSz="914316" rtl="0" eaLnBrk="1" latinLnBrk="0" hangingPunct="1">
        <a:defRPr sz="3600" kern="1200">
          <a:solidFill>
            <a:schemeClr val="tx1"/>
          </a:solidFill>
          <a:latin typeface="+mn-lt"/>
          <a:ea typeface="+mn-ea"/>
          <a:cs typeface="+mn-cs"/>
        </a:defRPr>
      </a:lvl1pPr>
      <a:lvl2pPr marL="914316" algn="l" defTabSz="914316" rtl="0" eaLnBrk="1" latinLnBrk="0" hangingPunct="1">
        <a:defRPr sz="3600" kern="1200">
          <a:solidFill>
            <a:schemeClr val="tx1"/>
          </a:solidFill>
          <a:latin typeface="+mn-lt"/>
          <a:ea typeface="+mn-ea"/>
          <a:cs typeface="+mn-cs"/>
        </a:defRPr>
      </a:lvl2pPr>
      <a:lvl3pPr marL="1828633" algn="l" defTabSz="914316" rtl="0" eaLnBrk="1" latinLnBrk="0" hangingPunct="1">
        <a:defRPr sz="3600" kern="1200">
          <a:solidFill>
            <a:schemeClr val="tx1"/>
          </a:solidFill>
          <a:latin typeface="+mn-lt"/>
          <a:ea typeface="+mn-ea"/>
          <a:cs typeface="+mn-cs"/>
        </a:defRPr>
      </a:lvl3pPr>
      <a:lvl4pPr marL="2742948" algn="l" defTabSz="914316" rtl="0" eaLnBrk="1" latinLnBrk="0" hangingPunct="1">
        <a:defRPr sz="3600" kern="1200">
          <a:solidFill>
            <a:schemeClr val="tx1"/>
          </a:solidFill>
          <a:latin typeface="+mn-lt"/>
          <a:ea typeface="+mn-ea"/>
          <a:cs typeface="+mn-cs"/>
        </a:defRPr>
      </a:lvl4pPr>
      <a:lvl5pPr marL="3657265" algn="l" defTabSz="914316" rtl="0" eaLnBrk="1" latinLnBrk="0" hangingPunct="1">
        <a:defRPr sz="3600" kern="1200">
          <a:solidFill>
            <a:schemeClr val="tx1"/>
          </a:solidFill>
          <a:latin typeface="+mn-lt"/>
          <a:ea typeface="+mn-ea"/>
          <a:cs typeface="+mn-cs"/>
        </a:defRPr>
      </a:lvl5pPr>
      <a:lvl6pPr marL="4571581" algn="l" defTabSz="914316" rtl="0" eaLnBrk="1" latinLnBrk="0" hangingPunct="1">
        <a:defRPr sz="3600" kern="1200">
          <a:solidFill>
            <a:schemeClr val="tx1"/>
          </a:solidFill>
          <a:latin typeface="+mn-lt"/>
          <a:ea typeface="+mn-ea"/>
          <a:cs typeface="+mn-cs"/>
        </a:defRPr>
      </a:lvl6pPr>
      <a:lvl7pPr marL="5485897" algn="l" defTabSz="914316" rtl="0" eaLnBrk="1" latinLnBrk="0" hangingPunct="1">
        <a:defRPr sz="3600" kern="1200">
          <a:solidFill>
            <a:schemeClr val="tx1"/>
          </a:solidFill>
          <a:latin typeface="+mn-lt"/>
          <a:ea typeface="+mn-ea"/>
          <a:cs typeface="+mn-cs"/>
        </a:defRPr>
      </a:lvl7pPr>
      <a:lvl8pPr marL="6400214" algn="l" defTabSz="914316" rtl="0" eaLnBrk="1" latinLnBrk="0" hangingPunct="1">
        <a:defRPr sz="3600" kern="1200">
          <a:solidFill>
            <a:schemeClr val="tx1"/>
          </a:solidFill>
          <a:latin typeface="+mn-lt"/>
          <a:ea typeface="+mn-ea"/>
          <a:cs typeface="+mn-cs"/>
        </a:defRPr>
      </a:lvl8pPr>
      <a:lvl9pPr marL="7314530" algn="l" defTabSz="914316"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hyperlink" Target="T&#431;%20B&#7842;N%20KH&#7842;%20BI&#7870;N.ppt" TargetMode="External"/><Relationship Id="rId2" Type="http://schemas.openxmlformats.org/officeDocument/2006/relationships/hyperlink" Target="T&#431;%20B&#7842;N%20B&#7844;T%20BI&#7870;N.ppt" TargetMode="Externa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slide" Target="slide36.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0.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0.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white">
          <a:xfrm>
            <a:off x="0" y="8839200"/>
            <a:ext cx="18288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a:lstStyle>
          <a:p>
            <a:pPr eaLnBrk="1" hangingPunct="1">
              <a:defRPr/>
            </a:pPr>
            <a:r>
              <a:rPr lang="en-US" sz="4800" kern="0">
                <a:solidFill>
                  <a:srgbClr val="FF0000"/>
                </a:solidFill>
              </a:rPr>
              <a:t>MARXIST – LENINIST POLITICAL ECONOMICS</a:t>
            </a:r>
          </a:p>
        </p:txBody>
      </p:sp>
      <p:sp>
        <p:nvSpPr>
          <p:cNvPr id="9" name="Rectangle 3"/>
          <p:cNvSpPr txBox="1">
            <a:spLocks noChangeArrowheads="1"/>
          </p:cNvSpPr>
          <p:nvPr/>
        </p:nvSpPr>
        <p:spPr bwMode="auto">
          <a:xfrm>
            <a:off x="514350" y="10210800"/>
            <a:ext cx="17678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lgn="ctr" eaLnBrk="1" hangingPunct="1">
              <a:buNone/>
              <a:defRPr/>
            </a:pPr>
            <a:r>
              <a:rPr lang="vi-VN" altLang="en-US" sz="5600" b="1" kern="0" dirty="0">
                <a:solidFill>
                  <a:schemeClr val="accent1"/>
                </a:solidFill>
              </a:rPr>
              <a:t>CHƯƠNG 3: GIÁ TRỊ THẶNG DƯ TRONG NỀN </a:t>
            </a:r>
            <a:endParaRPr lang="en-US" altLang="en-US" sz="5600" b="1" kern="0" dirty="0">
              <a:solidFill>
                <a:schemeClr val="accent1"/>
              </a:solidFill>
            </a:endParaRPr>
          </a:p>
          <a:p>
            <a:pPr marL="0" indent="0" algn="ctr" eaLnBrk="1" hangingPunct="1">
              <a:buNone/>
              <a:defRPr/>
            </a:pPr>
            <a:r>
              <a:rPr lang="vi-VN" altLang="en-US" sz="5600" b="1" kern="0" dirty="0">
                <a:solidFill>
                  <a:schemeClr val="accent1"/>
                </a:solidFill>
              </a:rPr>
              <a:t>KINH TẾ THỊ TRƯỜNG</a:t>
            </a:r>
            <a:endParaRPr lang="en-US" altLang="en-US" sz="5600" b="1" kern="0" dirty="0">
              <a:solidFill>
                <a:schemeClr val="accent1"/>
              </a:solidFill>
            </a:endParaRPr>
          </a:p>
          <a:p>
            <a:pPr marL="0" indent="0" algn="ctr" eaLnBrk="1" hangingPunct="1">
              <a:lnSpc>
                <a:spcPct val="150000"/>
              </a:lnSpc>
              <a:buNone/>
              <a:defRPr/>
            </a:pPr>
            <a:r>
              <a:rPr lang="en-US" altLang="en-US" sz="4000" b="1" kern="0" dirty="0">
                <a:solidFill>
                  <a:srgbClr val="FF0000"/>
                </a:solidFill>
              </a:rPr>
              <a:t>TS.GVC. NGUYỄN QUỐC TOÀN</a:t>
            </a:r>
          </a:p>
        </p:txBody>
      </p:sp>
      <p:pic>
        <p:nvPicPr>
          <p:cNvPr id="4101"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4351" y="2590800"/>
            <a:ext cx="512445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2590800"/>
            <a:ext cx="53340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Picture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192000" y="2590800"/>
            <a:ext cx="54864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a:extLst>
              <a:ext uri="{FF2B5EF4-FFF2-40B4-BE49-F238E27FC236}">
                <a16:creationId xmlns:a16="http://schemas.microsoft.com/office/drawing/2014/main" id="{68A76BCF-0667-4340-B15C-B9A232FF9AF0}"/>
              </a:ext>
            </a:extLst>
          </p:cNvPr>
          <p:cNvSpPr>
            <a:spLocks noChangeArrowheads="1"/>
          </p:cNvSpPr>
          <p:nvPr/>
        </p:nvSpPr>
        <p:spPr bwMode="auto">
          <a:xfrm>
            <a:off x="1288227" y="780871"/>
            <a:ext cx="1574245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7200" b="1">
                <a:solidFill>
                  <a:schemeClr val="accent2">
                    <a:lumMod val="50000"/>
                  </a:schemeClr>
                </a:solidFill>
                <a:cs typeface="Arial" panose="020B0604020202020204" pitchFamily="34" charset="0"/>
              </a:rPr>
              <a:t>TRƯỜNG ĐH BÁCH KHOA TP. HCM</a:t>
            </a:r>
            <a:endParaRPr lang="en-US" altLang="en-US" sz="7200">
              <a:solidFill>
                <a:schemeClr val="accent2">
                  <a:lumMod val="50000"/>
                </a:schemeClr>
              </a:solidFill>
              <a:cs typeface="Arial" panose="020B0604020202020204" pitchFamily="34" charset="0"/>
            </a:endParaRPr>
          </a:p>
        </p:txBody>
      </p:sp>
    </p:spTree>
    <p:extLst>
      <p:ext uri="{BB962C8B-B14F-4D97-AF65-F5344CB8AC3E}">
        <p14:creationId xmlns:p14="http://schemas.microsoft.com/office/powerpoint/2010/main" val="3553053859"/>
      </p:ext>
    </p:extLst>
  </p:cSld>
  <p:clrMapOvr>
    <a:masterClrMapping/>
  </p:clrMapOvr>
  <p:transition spd="slow">
    <p:check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a:extLst>
              <a:ext uri="{FF2B5EF4-FFF2-40B4-BE49-F238E27FC236}">
                <a16:creationId xmlns:a16="http://schemas.microsoft.com/office/drawing/2014/main" id="{482C52A7-18A6-A6F2-2BFA-4101A1DC0808}"/>
              </a:ext>
            </a:extLst>
          </p:cNvPr>
          <p:cNvSpPr txBox="1">
            <a:spLocks noChangeArrowheads="1"/>
          </p:cNvSpPr>
          <p:nvPr/>
        </p:nvSpPr>
        <p:spPr>
          <a:xfrm>
            <a:off x="4536440" y="1616076"/>
            <a:ext cx="9525000" cy="1127124"/>
          </a:xfrm>
          <a:prstGeom prst="rect">
            <a:avLst/>
          </a:prstGeom>
        </p:spPr>
        <p:txBody>
          <a:bodyPr vert="horz" lIns="182880" tIns="91440" rIns="182880" bIns="9144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12000" b="1">
                <a:solidFill>
                  <a:srgbClr val="002060"/>
                </a:solidFill>
              </a:rPr>
              <a:t>Nội dung Chương 3</a:t>
            </a:r>
          </a:p>
        </p:txBody>
      </p:sp>
      <p:sp>
        <p:nvSpPr>
          <p:cNvPr id="20" name="Freeform 2">
            <a:extLst>
              <a:ext uri="{FF2B5EF4-FFF2-40B4-BE49-F238E27FC236}">
                <a16:creationId xmlns:a16="http://schemas.microsoft.com/office/drawing/2014/main" id="{6789AF7C-7D1A-FEF1-61A4-8262DC9C3E1B}"/>
              </a:ext>
            </a:extLst>
          </p:cNvPr>
          <p:cNvSpPr/>
          <p:nvPr/>
        </p:nvSpPr>
        <p:spPr>
          <a:xfrm>
            <a:off x="2763522" y="4018842"/>
            <a:ext cx="2264448" cy="3234928"/>
          </a:xfrm>
          <a:custGeom>
            <a:avLst/>
            <a:gdLst>
              <a:gd name="connsiteX0" fmla="*/ 0 w 1617464"/>
              <a:gd name="connsiteY0" fmla="*/ 0 h 1132224"/>
              <a:gd name="connsiteX1" fmla="*/ 1051352 w 1617464"/>
              <a:gd name="connsiteY1" fmla="*/ 0 h 1132224"/>
              <a:gd name="connsiteX2" fmla="*/ 1617464 w 1617464"/>
              <a:gd name="connsiteY2" fmla="*/ 566112 h 1132224"/>
              <a:gd name="connsiteX3" fmla="*/ 1051352 w 1617464"/>
              <a:gd name="connsiteY3" fmla="*/ 1132224 h 1132224"/>
              <a:gd name="connsiteX4" fmla="*/ 0 w 1617464"/>
              <a:gd name="connsiteY4" fmla="*/ 1132224 h 1132224"/>
              <a:gd name="connsiteX5" fmla="*/ 566112 w 1617464"/>
              <a:gd name="connsiteY5" fmla="*/ 566112 h 1132224"/>
              <a:gd name="connsiteX6" fmla="*/ 0 w 1617464"/>
              <a:gd name="connsiteY6" fmla="*/ 0 h 113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64" h="1132224">
                <a:moveTo>
                  <a:pt x="1617464" y="0"/>
                </a:moveTo>
                <a:lnTo>
                  <a:pt x="1617464" y="735946"/>
                </a:lnTo>
                <a:lnTo>
                  <a:pt x="808732" y="1132224"/>
                </a:lnTo>
                <a:lnTo>
                  <a:pt x="0" y="735946"/>
                </a:lnTo>
                <a:lnTo>
                  <a:pt x="0" y="0"/>
                </a:lnTo>
                <a:lnTo>
                  <a:pt x="808732" y="396278"/>
                </a:lnTo>
                <a:lnTo>
                  <a:pt x="1617464"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640" tIns="1172864" rIns="40640" bIns="1172864" numCol="1" spcCol="1270" anchor="ctr" anchorCtr="0">
            <a:noAutofit/>
          </a:bodyPr>
          <a:lstStyle/>
          <a:p>
            <a:pPr algn="ctr" defTabSz="2844800">
              <a:lnSpc>
                <a:spcPct val="90000"/>
              </a:lnSpc>
              <a:spcBef>
                <a:spcPct val="0"/>
              </a:spcBef>
              <a:spcAft>
                <a:spcPct val="35000"/>
              </a:spcAft>
            </a:pPr>
            <a:r>
              <a:rPr lang="en-US" sz="6400" b="1">
                <a:solidFill>
                  <a:srgbClr val="002060"/>
                </a:solidFill>
              </a:rPr>
              <a:t>3.1.</a:t>
            </a:r>
          </a:p>
        </p:txBody>
      </p:sp>
      <p:sp>
        <p:nvSpPr>
          <p:cNvPr id="21" name="Freeform 3">
            <a:extLst>
              <a:ext uri="{FF2B5EF4-FFF2-40B4-BE49-F238E27FC236}">
                <a16:creationId xmlns:a16="http://schemas.microsoft.com/office/drawing/2014/main" id="{A9F5FFBA-D40E-2C9C-0F27-78A96C6B99F5}"/>
              </a:ext>
            </a:extLst>
          </p:cNvPr>
          <p:cNvSpPr/>
          <p:nvPr/>
        </p:nvSpPr>
        <p:spPr>
          <a:xfrm>
            <a:off x="5027969" y="4018845"/>
            <a:ext cx="11146750" cy="2102702"/>
          </a:xfrm>
          <a:custGeom>
            <a:avLst/>
            <a:gdLst>
              <a:gd name="connsiteX0" fmla="*/ 175229 w 1051351"/>
              <a:gd name="connsiteY0" fmla="*/ 0 h 5573375"/>
              <a:gd name="connsiteX1" fmla="*/ 876122 w 1051351"/>
              <a:gd name="connsiteY1" fmla="*/ 0 h 5573375"/>
              <a:gd name="connsiteX2" fmla="*/ 1051351 w 1051351"/>
              <a:gd name="connsiteY2" fmla="*/ 175229 h 5573375"/>
              <a:gd name="connsiteX3" fmla="*/ 1051351 w 1051351"/>
              <a:gd name="connsiteY3" fmla="*/ 5573375 h 5573375"/>
              <a:gd name="connsiteX4" fmla="*/ 1051351 w 1051351"/>
              <a:gd name="connsiteY4" fmla="*/ 5573375 h 5573375"/>
              <a:gd name="connsiteX5" fmla="*/ 0 w 1051351"/>
              <a:gd name="connsiteY5" fmla="*/ 5573375 h 5573375"/>
              <a:gd name="connsiteX6" fmla="*/ 0 w 1051351"/>
              <a:gd name="connsiteY6" fmla="*/ 5573375 h 5573375"/>
              <a:gd name="connsiteX7" fmla="*/ 0 w 1051351"/>
              <a:gd name="connsiteY7" fmla="*/ 175229 h 5573375"/>
              <a:gd name="connsiteX8" fmla="*/ 175229 w 1051351"/>
              <a:gd name="connsiteY8" fmla="*/ 0 h 557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351" h="5573375">
                <a:moveTo>
                  <a:pt x="1051351" y="928916"/>
                </a:moveTo>
                <a:lnTo>
                  <a:pt x="1051351" y="4644459"/>
                </a:lnTo>
                <a:cubicBezTo>
                  <a:pt x="1051351" y="5157483"/>
                  <a:pt x="1036552" y="5573375"/>
                  <a:pt x="1018296" y="5573375"/>
                </a:cubicBezTo>
                <a:lnTo>
                  <a:pt x="0" y="5573375"/>
                </a:lnTo>
                <a:lnTo>
                  <a:pt x="0" y="5573375"/>
                </a:lnTo>
                <a:lnTo>
                  <a:pt x="0" y="0"/>
                </a:lnTo>
                <a:lnTo>
                  <a:pt x="0" y="0"/>
                </a:lnTo>
                <a:lnTo>
                  <a:pt x="1018296" y="0"/>
                </a:lnTo>
                <a:cubicBezTo>
                  <a:pt x="1036552" y="0"/>
                  <a:pt x="1051351" y="415892"/>
                  <a:pt x="1051351" y="928916"/>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12930" tIns="130584" rIns="130584" bIns="130588" numCol="1" spcCol="1270" anchor="ctr" anchorCtr="0">
            <a:noAutofit/>
          </a:bodyPr>
          <a:lstStyle/>
          <a:p>
            <a:pPr marL="457200" lvl="1" indent="-457200" algn="just" defTabSz="1955800">
              <a:lnSpc>
                <a:spcPct val="90000"/>
              </a:lnSpc>
              <a:spcBef>
                <a:spcPct val="0"/>
              </a:spcBef>
              <a:spcAft>
                <a:spcPct val="15000"/>
              </a:spcAft>
              <a:buChar char="••"/>
            </a:pPr>
            <a:r>
              <a:rPr lang="en-US" sz="4400" b="1">
                <a:solidFill>
                  <a:srgbClr val="002060"/>
                </a:solidFill>
              </a:rPr>
              <a:t>LÝ LUẬN CỦA CÁC MÁC VỀ GIÁ TRỊ THẶNG DƯ</a:t>
            </a:r>
          </a:p>
        </p:txBody>
      </p:sp>
      <p:sp>
        <p:nvSpPr>
          <p:cNvPr id="22" name="Freeform 4">
            <a:extLst>
              <a:ext uri="{FF2B5EF4-FFF2-40B4-BE49-F238E27FC236}">
                <a16:creationId xmlns:a16="http://schemas.microsoft.com/office/drawing/2014/main" id="{B287765D-E225-3A2A-78E6-20022D8720A5}"/>
              </a:ext>
            </a:extLst>
          </p:cNvPr>
          <p:cNvSpPr/>
          <p:nvPr/>
        </p:nvSpPr>
        <p:spPr>
          <a:xfrm>
            <a:off x="2763522" y="6866134"/>
            <a:ext cx="2264448" cy="3234928"/>
          </a:xfrm>
          <a:custGeom>
            <a:avLst/>
            <a:gdLst>
              <a:gd name="connsiteX0" fmla="*/ 0 w 1617464"/>
              <a:gd name="connsiteY0" fmla="*/ 0 h 1132224"/>
              <a:gd name="connsiteX1" fmla="*/ 1051352 w 1617464"/>
              <a:gd name="connsiteY1" fmla="*/ 0 h 1132224"/>
              <a:gd name="connsiteX2" fmla="*/ 1617464 w 1617464"/>
              <a:gd name="connsiteY2" fmla="*/ 566112 h 1132224"/>
              <a:gd name="connsiteX3" fmla="*/ 1051352 w 1617464"/>
              <a:gd name="connsiteY3" fmla="*/ 1132224 h 1132224"/>
              <a:gd name="connsiteX4" fmla="*/ 0 w 1617464"/>
              <a:gd name="connsiteY4" fmla="*/ 1132224 h 1132224"/>
              <a:gd name="connsiteX5" fmla="*/ 566112 w 1617464"/>
              <a:gd name="connsiteY5" fmla="*/ 566112 h 1132224"/>
              <a:gd name="connsiteX6" fmla="*/ 0 w 1617464"/>
              <a:gd name="connsiteY6" fmla="*/ 0 h 113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64" h="1132224">
                <a:moveTo>
                  <a:pt x="1617464" y="0"/>
                </a:moveTo>
                <a:lnTo>
                  <a:pt x="1617464" y="735946"/>
                </a:lnTo>
                <a:lnTo>
                  <a:pt x="808732" y="1132224"/>
                </a:lnTo>
                <a:lnTo>
                  <a:pt x="0" y="735946"/>
                </a:lnTo>
                <a:lnTo>
                  <a:pt x="0" y="0"/>
                </a:lnTo>
                <a:lnTo>
                  <a:pt x="808732" y="396278"/>
                </a:lnTo>
                <a:lnTo>
                  <a:pt x="1617464"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640" tIns="1172864" rIns="40640" bIns="1172864" numCol="1" spcCol="1270" anchor="ctr" anchorCtr="0">
            <a:noAutofit/>
          </a:bodyPr>
          <a:lstStyle/>
          <a:p>
            <a:pPr algn="ctr" defTabSz="2844800">
              <a:lnSpc>
                <a:spcPct val="90000"/>
              </a:lnSpc>
              <a:spcBef>
                <a:spcPct val="0"/>
              </a:spcBef>
              <a:spcAft>
                <a:spcPct val="35000"/>
              </a:spcAft>
            </a:pPr>
            <a:r>
              <a:rPr lang="en-US" sz="6400" b="1">
                <a:solidFill>
                  <a:srgbClr val="002060"/>
                </a:solidFill>
              </a:rPr>
              <a:t>3.2.</a:t>
            </a:r>
          </a:p>
        </p:txBody>
      </p:sp>
      <p:sp>
        <p:nvSpPr>
          <p:cNvPr id="23" name="Freeform 5">
            <a:extLst>
              <a:ext uri="{FF2B5EF4-FFF2-40B4-BE49-F238E27FC236}">
                <a16:creationId xmlns:a16="http://schemas.microsoft.com/office/drawing/2014/main" id="{8600CCCE-A45F-FA02-D721-055A8BC84C86}"/>
              </a:ext>
            </a:extLst>
          </p:cNvPr>
          <p:cNvSpPr/>
          <p:nvPr/>
        </p:nvSpPr>
        <p:spPr>
          <a:xfrm>
            <a:off x="5027969" y="6866139"/>
            <a:ext cx="11146750" cy="2102702"/>
          </a:xfrm>
          <a:custGeom>
            <a:avLst/>
            <a:gdLst>
              <a:gd name="connsiteX0" fmla="*/ 175229 w 1051351"/>
              <a:gd name="connsiteY0" fmla="*/ 0 h 5573375"/>
              <a:gd name="connsiteX1" fmla="*/ 876122 w 1051351"/>
              <a:gd name="connsiteY1" fmla="*/ 0 h 5573375"/>
              <a:gd name="connsiteX2" fmla="*/ 1051351 w 1051351"/>
              <a:gd name="connsiteY2" fmla="*/ 175229 h 5573375"/>
              <a:gd name="connsiteX3" fmla="*/ 1051351 w 1051351"/>
              <a:gd name="connsiteY3" fmla="*/ 5573375 h 5573375"/>
              <a:gd name="connsiteX4" fmla="*/ 1051351 w 1051351"/>
              <a:gd name="connsiteY4" fmla="*/ 5573375 h 5573375"/>
              <a:gd name="connsiteX5" fmla="*/ 0 w 1051351"/>
              <a:gd name="connsiteY5" fmla="*/ 5573375 h 5573375"/>
              <a:gd name="connsiteX6" fmla="*/ 0 w 1051351"/>
              <a:gd name="connsiteY6" fmla="*/ 5573375 h 5573375"/>
              <a:gd name="connsiteX7" fmla="*/ 0 w 1051351"/>
              <a:gd name="connsiteY7" fmla="*/ 175229 h 5573375"/>
              <a:gd name="connsiteX8" fmla="*/ 175229 w 1051351"/>
              <a:gd name="connsiteY8" fmla="*/ 0 h 557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351" h="5573375">
                <a:moveTo>
                  <a:pt x="1051351" y="928916"/>
                </a:moveTo>
                <a:lnTo>
                  <a:pt x="1051351" y="4644459"/>
                </a:lnTo>
                <a:cubicBezTo>
                  <a:pt x="1051351" y="5157483"/>
                  <a:pt x="1036552" y="5573375"/>
                  <a:pt x="1018296" y="5573375"/>
                </a:cubicBezTo>
                <a:lnTo>
                  <a:pt x="0" y="5573375"/>
                </a:lnTo>
                <a:lnTo>
                  <a:pt x="0" y="5573375"/>
                </a:lnTo>
                <a:lnTo>
                  <a:pt x="0" y="0"/>
                </a:lnTo>
                <a:lnTo>
                  <a:pt x="0" y="0"/>
                </a:lnTo>
                <a:lnTo>
                  <a:pt x="1018296" y="0"/>
                </a:lnTo>
                <a:cubicBezTo>
                  <a:pt x="1036552" y="0"/>
                  <a:pt x="1051351" y="415892"/>
                  <a:pt x="1051351" y="928916"/>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12930" tIns="130584" rIns="130584" bIns="130588" numCol="1" spcCol="1270" anchor="ctr" anchorCtr="0">
            <a:noAutofit/>
          </a:bodyPr>
          <a:lstStyle/>
          <a:p>
            <a:pPr marL="457200" lvl="1" indent="-457200" algn="just" defTabSz="1955800">
              <a:lnSpc>
                <a:spcPct val="90000"/>
              </a:lnSpc>
              <a:spcBef>
                <a:spcPct val="0"/>
              </a:spcBef>
              <a:spcAft>
                <a:spcPct val="15000"/>
              </a:spcAft>
              <a:buChar char="••"/>
            </a:pPr>
            <a:r>
              <a:rPr lang="en-US" sz="4400" b="1" dirty="0">
                <a:solidFill>
                  <a:srgbClr val="002060"/>
                </a:solidFill>
              </a:rPr>
              <a:t>TÍCH LŨY TƯ BẢN</a:t>
            </a:r>
          </a:p>
        </p:txBody>
      </p:sp>
      <p:sp>
        <p:nvSpPr>
          <p:cNvPr id="24" name="Freeform 6">
            <a:extLst>
              <a:ext uri="{FF2B5EF4-FFF2-40B4-BE49-F238E27FC236}">
                <a16:creationId xmlns:a16="http://schemas.microsoft.com/office/drawing/2014/main" id="{EBFD6808-9F41-38C0-4474-1BCD26C5E000}"/>
              </a:ext>
            </a:extLst>
          </p:cNvPr>
          <p:cNvSpPr/>
          <p:nvPr/>
        </p:nvSpPr>
        <p:spPr>
          <a:xfrm>
            <a:off x="2763522" y="9713426"/>
            <a:ext cx="2264448" cy="3234928"/>
          </a:xfrm>
          <a:custGeom>
            <a:avLst/>
            <a:gdLst>
              <a:gd name="connsiteX0" fmla="*/ 0 w 1617464"/>
              <a:gd name="connsiteY0" fmla="*/ 0 h 1132224"/>
              <a:gd name="connsiteX1" fmla="*/ 1051352 w 1617464"/>
              <a:gd name="connsiteY1" fmla="*/ 0 h 1132224"/>
              <a:gd name="connsiteX2" fmla="*/ 1617464 w 1617464"/>
              <a:gd name="connsiteY2" fmla="*/ 566112 h 1132224"/>
              <a:gd name="connsiteX3" fmla="*/ 1051352 w 1617464"/>
              <a:gd name="connsiteY3" fmla="*/ 1132224 h 1132224"/>
              <a:gd name="connsiteX4" fmla="*/ 0 w 1617464"/>
              <a:gd name="connsiteY4" fmla="*/ 1132224 h 1132224"/>
              <a:gd name="connsiteX5" fmla="*/ 566112 w 1617464"/>
              <a:gd name="connsiteY5" fmla="*/ 566112 h 1132224"/>
              <a:gd name="connsiteX6" fmla="*/ 0 w 1617464"/>
              <a:gd name="connsiteY6" fmla="*/ 0 h 113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64" h="1132224">
                <a:moveTo>
                  <a:pt x="1617464" y="0"/>
                </a:moveTo>
                <a:lnTo>
                  <a:pt x="1617464" y="735946"/>
                </a:lnTo>
                <a:lnTo>
                  <a:pt x="808732" y="1132224"/>
                </a:lnTo>
                <a:lnTo>
                  <a:pt x="0" y="735946"/>
                </a:lnTo>
                <a:lnTo>
                  <a:pt x="0" y="0"/>
                </a:lnTo>
                <a:lnTo>
                  <a:pt x="808732" y="396278"/>
                </a:lnTo>
                <a:lnTo>
                  <a:pt x="1617464"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640" tIns="1172864" rIns="40640" bIns="1172864" numCol="1" spcCol="1270" anchor="ctr" anchorCtr="0">
            <a:noAutofit/>
          </a:bodyPr>
          <a:lstStyle/>
          <a:p>
            <a:pPr algn="ctr" defTabSz="2844800">
              <a:lnSpc>
                <a:spcPct val="90000"/>
              </a:lnSpc>
              <a:spcBef>
                <a:spcPct val="0"/>
              </a:spcBef>
              <a:spcAft>
                <a:spcPct val="35000"/>
              </a:spcAft>
            </a:pPr>
            <a:r>
              <a:rPr lang="en-US" sz="6400" b="1">
                <a:solidFill>
                  <a:srgbClr val="002060"/>
                </a:solidFill>
              </a:rPr>
              <a:t>3.3.</a:t>
            </a:r>
          </a:p>
        </p:txBody>
      </p:sp>
      <p:sp>
        <p:nvSpPr>
          <p:cNvPr id="25" name="Freeform 7">
            <a:extLst>
              <a:ext uri="{FF2B5EF4-FFF2-40B4-BE49-F238E27FC236}">
                <a16:creationId xmlns:a16="http://schemas.microsoft.com/office/drawing/2014/main" id="{7BD7885E-2732-9F5A-BD07-9358736F4E57}"/>
              </a:ext>
            </a:extLst>
          </p:cNvPr>
          <p:cNvSpPr/>
          <p:nvPr/>
        </p:nvSpPr>
        <p:spPr>
          <a:xfrm>
            <a:off x="5027969" y="9713429"/>
            <a:ext cx="11146750" cy="2102702"/>
          </a:xfrm>
          <a:custGeom>
            <a:avLst/>
            <a:gdLst>
              <a:gd name="connsiteX0" fmla="*/ 175229 w 1051351"/>
              <a:gd name="connsiteY0" fmla="*/ 0 h 5573375"/>
              <a:gd name="connsiteX1" fmla="*/ 876122 w 1051351"/>
              <a:gd name="connsiteY1" fmla="*/ 0 h 5573375"/>
              <a:gd name="connsiteX2" fmla="*/ 1051351 w 1051351"/>
              <a:gd name="connsiteY2" fmla="*/ 175229 h 5573375"/>
              <a:gd name="connsiteX3" fmla="*/ 1051351 w 1051351"/>
              <a:gd name="connsiteY3" fmla="*/ 5573375 h 5573375"/>
              <a:gd name="connsiteX4" fmla="*/ 1051351 w 1051351"/>
              <a:gd name="connsiteY4" fmla="*/ 5573375 h 5573375"/>
              <a:gd name="connsiteX5" fmla="*/ 0 w 1051351"/>
              <a:gd name="connsiteY5" fmla="*/ 5573375 h 5573375"/>
              <a:gd name="connsiteX6" fmla="*/ 0 w 1051351"/>
              <a:gd name="connsiteY6" fmla="*/ 5573375 h 5573375"/>
              <a:gd name="connsiteX7" fmla="*/ 0 w 1051351"/>
              <a:gd name="connsiteY7" fmla="*/ 175229 h 5573375"/>
              <a:gd name="connsiteX8" fmla="*/ 175229 w 1051351"/>
              <a:gd name="connsiteY8" fmla="*/ 0 h 557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351" h="5573375">
                <a:moveTo>
                  <a:pt x="1051351" y="928916"/>
                </a:moveTo>
                <a:lnTo>
                  <a:pt x="1051351" y="4644459"/>
                </a:lnTo>
                <a:cubicBezTo>
                  <a:pt x="1051351" y="5157483"/>
                  <a:pt x="1036552" y="5573375"/>
                  <a:pt x="1018296" y="5573375"/>
                </a:cubicBezTo>
                <a:lnTo>
                  <a:pt x="0" y="5573375"/>
                </a:lnTo>
                <a:lnTo>
                  <a:pt x="0" y="5573375"/>
                </a:lnTo>
                <a:lnTo>
                  <a:pt x="0" y="0"/>
                </a:lnTo>
                <a:lnTo>
                  <a:pt x="0" y="0"/>
                </a:lnTo>
                <a:lnTo>
                  <a:pt x="1018296" y="0"/>
                </a:lnTo>
                <a:cubicBezTo>
                  <a:pt x="1036552" y="0"/>
                  <a:pt x="1051351" y="415892"/>
                  <a:pt x="1051351" y="928916"/>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12930" tIns="130586" rIns="130584" bIns="130586" numCol="1" spcCol="1270" anchor="ctr" anchorCtr="0">
            <a:noAutofit/>
          </a:bodyPr>
          <a:lstStyle/>
          <a:p>
            <a:pPr marL="457200" lvl="1" indent="-457200" algn="just" defTabSz="1955800">
              <a:lnSpc>
                <a:spcPct val="90000"/>
              </a:lnSpc>
              <a:spcBef>
                <a:spcPct val="0"/>
              </a:spcBef>
              <a:spcAft>
                <a:spcPct val="15000"/>
              </a:spcAft>
              <a:buChar char="••"/>
            </a:pPr>
            <a:r>
              <a:rPr lang="en-US" sz="4400" b="1">
                <a:solidFill>
                  <a:srgbClr val="002060"/>
                </a:solidFill>
              </a:rPr>
              <a:t>CÁC HÌNH THỨC BIỂU HIỆN CỦA GIÁ TRỊ THẶNG DƯ TRONG NỀN KINH TẾ THỊ TRƯỜNG</a:t>
            </a:r>
          </a:p>
        </p:txBody>
      </p:sp>
    </p:spTree>
    <p:extLst>
      <p:ext uri="{BB962C8B-B14F-4D97-AF65-F5344CB8AC3E}">
        <p14:creationId xmlns:p14="http://schemas.microsoft.com/office/powerpoint/2010/main" val="231491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1"/>
                                        </p:tgtEl>
                                        <p:attrNameLst>
                                          <p:attrName>fillcolor</p:attrName>
                                        </p:attrNameLst>
                                      </p:cBhvr>
                                      <p:to>
                                        <a:schemeClr val="accent2"/>
                                      </p:to>
                                    </p:animClr>
                                    <p:set>
                                      <p:cBhvr>
                                        <p:cTn id="7" dur="2000" fill="hold"/>
                                        <p:tgtEl>
                                          <p:spTgt spid="21"/>
                                        </p:tgtEl>
                                        <p:attrNameLst>
                                          <p:attrName>fill.type</p:attrName>
                                        </p:attrNameLst>
                                      </p:cBhvr>
                                      <p:to>
                                        <p:strVal val="solid"/>
                                      </p:to>
                                    </p:set>
                                    <p:set>
                                      <p:cBhvr>
                                        <p:cTn id="8" dur="2000" fill="hold"/>
                                        <p:tgtEl>
                                          <p:spTgt spid="2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10C36-31A6-8798-FBCA-9187E1C138CC}"/>
              </a:ext>
            </a:extLst>
          </p:cNvPr>
          <p:cNvSpPr txBox="1">
            <a:spLocks/>
          </p:cNvSpPr>
          <p:nvPr/>
        </p:nvSpPr>
        <p:spPr>
          <a:xfrm>
            <a:off x="3013989" y="2123804"/>
            <a:ext cx="12145726" cy="1127124"/>
          </a:xfrm>
          <a:prstGeom prst="rect">
            <a:avLst/>
          </a:prstGeom>
        </p:spPr>
        <p:txBody>
          <a:bodyPr vert="horz" lIns="182880" tIns="91440" rIns="182880" bIns="9144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600" b="1" dirty="0">
                <a:solidFill>
                  <a:srgbClr val="002060"/>
                </a:solidFill>
                <a:latin typeface="Times New Roman" panose="02020603050405020304" pitchFamily="18" charset="0"/>
                <a:ea typeface="Aachen" panose="02020500000000000000" pitchFamily="18" charset="0"/>
                <a:cs typeface="Times New Roman" panose="02020603050405020304" pitchFamily="18" charset="0"/>
              </a:rPr>
              <a:t>1. MÂU THUẪN CÔNG THỨC CHUNG CỦA TB</a:t>
            </a:r>
          </a:p>
        </p:txBody>
      </p:sp>
      <p:sp>
        <p:nvSpPr>
          <p:cNvPr id="4" name="Text Box 12">
            <a:extLst>
              <a:ext uri="{FF2B5EF4-FFF2-40B4-BE49-F238E27FC236}">
                <a16:creationId xmlns:a16="http://schemas.microsoft.com/office/drawing/2014/main" id="{165112CE-ACE6-4D91-9B82-3CA8CAB10B21}"/>
              </a:ext>
            </a:extLst>
          </p:cNvPr>
          <p:cNvSpPr txBox="1">
            <a:spLocks noChangeArrowheads="1"/>
          </p:cNvSpPr>
          <p:nvPr/>
        </p:nvSpPr>
        <p:spPr bwMode="ltGray">
          <a:xfrm>
            <a:off x="1118508" y="3527067"/>
            <a:ext cx="16344900" cy="923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eaLnBrk="1" hangingPunct="1"/>
            <a:r>
              <a:rPr lang="en-US" altLang="en-US" sz="5400" b="1" dirty="0">
                <a:solidFill>
                  <a:srgbClr val="002060"/>
                </a:solidFill>
                <a:latin typeface="Arial" panose="020B0604020202020204" pitchFamily="34" charset="0"/>
              </a:rPr>
              <a:t>H – T – H’ </a:t>
            </a:r>
            <a:r>
              <a:rPr lang="en-US" altLang="en-US" sz="5400" b="1" dirty="0">
                <a:solidFill>
                  <a:srgbClr val="002060"/>
                </a:solidFill>
                <a:latin typeface="Arial" panose="020B0604020202020204" pitchFamily="34" charset="0"/>
                <a:sym typeface="Wingdings" panose="05000000000000000000" pitchFamily="2" charset="2"/>
              </a:rPr>
              <a:t> </a:t>
            </a:r>
            <a:r>
              <a:rPr lang="en-US" altLang="en-US" sz="5400" b="1" dirty="0">
                <a:solidFill>
                  <a:srgbClr val="FF0000"/>
                </a:solidFill>
                <a:latin typeface="Arial" panose="020B0604020202020204" pitchFamily="34" charset="0"/>
              </a:rPr>
              <a:t>T – H – T’</a:t>
            </a:r>
          </a:p>
          <a:p>
            <a:pPr algn="ctr" eaLnBrk="1" hangingPunct="1"/>
            <a:r>
              <a:rPr lang="en-US" altLang="en-US" sz="5400" b="1" dirty="0">
                <a:solidFill>
                  <a:srgbClr val="002060"/>
                </a:solidFill>
                <a:latin typeface="Arial" panose="020B0604020202020204" pitchFamily="34" charset="0"/>
              </a:rPr>
              <a:t>T – H (TLSX + SLĐ) – H’ – T’</a:t>
            </a:r>
          </a:p>
          <a:p>
            <a:pPr algn="ctr" eaLnBrk="1" hangingPunct="1"/>
            <a:endParaRPr lang="en-US" altLang="en-US" sz="5400" b="1" dirty="0">
              <a:solidFill>
                <a:srgbClr val="002060"/>
              </a:solidFill>
              <a:latin typeface="Arial" panose="020B0604020202020204" pitchFamily="34" charset="0"/>
            </a:endParaRPr>
          </a:p>
          <a:p>
            <a:pPr algn="just" eaLnBrk="1" hangingPunct="1"/>
            <a:r>
              <a:rPr lang="en-US" altLang="en-US" sz="5400" b="1" dirty="0" err="1">
                <a:solidFill>
                  <a:srgbClr val="002060"/>
                </a:solidFill>
                <a:latin typeface="Arial" panose="020B0604020202020204" pitchFamily="34" charset="0"/>
              </a:rPr>
              <a:t>Mục</a:t>
            </a:r>
            <a:r>
              <a:rPr lang="en-US" altLang="en-US" sz="5400" b="1" dirty="0">
                <a:solidFill>
                  <a:srgbClr val="002060"/>
                </a:solidFill>
                <a:latin typeface="Arial" panose="020B0604020202020204" pitchFamily="34" charset="0"/>
              </a:rPr>
              <a:t> </a:t>
            </a:r>
            <a:r>
              <a:rPr lang="en-US" altLang="en-US" sz="5400" b="1" dirty="0" err="1">
                <a:solidFill>
                  <a:srgbClr val="002060"/>
                </a:solidFill>
                <a:latin typeface="Arial" panose="020B0604020202020204" pitchFamily="34" charset="0"/>
              </a:rPr>
              <a:t>đích</a:t>
            </a:r>
            <a:r>
              <a:rPr lang="en-US" altLang="en-US" sz="5400" b="1" dirty="0">
                <a:solidFill>
                  <a:srgbClr val="002060"/>
                </a:solidFill>
                <a:latin typeface="Arial" panose="020B0604020202020204" pitchFamily="34" charset="0"/>
              </a:rPr>
              <a:t>: 			T’ &gt; T (T’ = T + ∆T)</a:t>
            </a:r>
          </a:p>
          <a:p>
            <a:pPr algn="just" eaLnBrk="1" hangingPunct="1"/>
            <a:r>
              <a:rPr lang="en-US" altLang="en-US" sz="5400" b="1" dirty="0" err="1">
                <a:solidFill>
                  <a:srgbClr val="002060"/>
                </a:solidFill>
                <a:latin typeface="Arial" panose="020B0604020202020204" pitchFamily="34" charset="0"/>
              </a:rPr>
              <a:t>Mà</a:t>
            </a:r>
            <a:r>
              <a:rPr lang="en-US" altLang="en-US" sz="5400" b="1" dirty="0">
                <a:solidFill>
                  <a:srgbClr val="002060"/>
                </a:solidFill>
                <a:latin typeface="Arial" panose="020B0604020202020204" pitchFamily="34" charset="0"/>
              </a:rPr>
              <a:t>:					</a:t>
            </a:r>
            <a:r>
              <a:rPr lang="en-US" altLang="en-US" sz="4400" b="1" dirty="0">
                <a:solidFill>
                  <a:srgbClr val="002060"/>
                </a:solidFill>
                <a:latin typeface="Arial" panose="020B0604020202020204" pitchFamily="34" charset="0"/>
              </a:rPr>
              <a:t>T </a:t>
            </a:r>
            <a:r>
              <a:rPr lang="en-US" altLang="en-US" sz="4400" b="1" dirty="0" err="1">
                <a:solidFill>
                  <a:srgbClr val="002060"/>
                </a:solidFill>
                <a:latin typeface="Arial" panose="020B0604020202020204" pitchFamily="34" charset="0"/>
              </a:rPr>
              <a:t>là</a:t>
            </a:r>
            <a:r>
              <a:rPr lang="en-US" altLang="en-US" sz="4400" b="1" dirty="0">
                <a:solidFill>
                  <a:srgbClr val="002060"/>
                </a:solidFill>
                <a:latin typeface="Arial" panose="020B0604020202020204" pitchFamily="34" charset="0"/>
              </a:rPr>
              <a:t> </a:t>
            </a:r>
            <a:r>
              <a:rPr lang="en-US" altLang="en-US" sz="4400" b="1" dirty="0" err="1">
                <a:solidFill>
                  <a:srgbClr val="002060"/>
                </a:solidFill>
                <a:latin typeface="Arial" panose="020B0604020202020204" pitchFamily="34" charset="0"/>
              </a:rPr>
              <a:t>biểu</a:t>
            </a:r>
            <a:r>
              <a:rPr lang="en-US" altLang="en-US" sz="4400" b="1" dirty="0">
                <a:solidFill>
                  <a:srgbClr val="002060"/>
                </a:solidFill>
                <a:latin typeface="Arial" panose="020B0604020202020204" pitchFamily="34" charset="0"/>
              </a:rPr>
              <a:t> </a:t>
            </a:r>
            <a:r>
              <a:rPr lang="en-US" altLang="en-US" sz="4400" b="1" dirty="0" err="1">
                <a:solidFill>
                  <a:srgbClr val="002060"/>
                </a:solidFill>
                <a:latin typeface="Arial" panose="020B0604020202020204" pitchFamily="34" charset="0"/>
              </a:rPr>
              <a:t>hiện</a:t>
            </a:r>
            <a:r>
              <a:rPr lang="en-US" altLang="en-US" sz="4400" b="1" dirty="0">
                <a:solidFill>
                  <a:srgbClr val="002060"/>
                </a:solidFill>
                <a:latin typeface="Arial" panose="020B0604020202020204" pitchFamily="34" charset="0"/>
              </a:rPr>
              <a:t> </a:t>
            </a:r>
            <a:r>
              <a:rPr lang="en-US" altLang="en-US" sz="4400" b="1" dirty="0" err="1">
                <a:solidFill>
                  <a:srgbClr val="002060"/>
                </a:solidFill>
                <a:latin typeface="Arial" panose="020B0604020202020204" pitchFamily="34" charset="0"/>
              </a:rPr>
              <a:t>bên</a:t>
            </a:r>
            <a:r>
              <a:rPr lang="en-US" altLang="en-US" sz="4400" b="1" dirty="0">
                <a:solidFill>
                  <a:srgbClr val="002060"/>
                </a:solidFill>
                <a:latin typeface="Arial" panose="020B0604020202020204" pitchFamily="34" charset="0"/>
              </a:rPr>
              <a:t> </a:t>
            </a:r>
            <a:r>
              <a:rPr lang="en-US" altLang="en-US" sz="4400" b="1" dirty="0" err="1">
                <a:solidFill>
                  <a:srgbClr val="002060"/>
                </a:solidFill>
                <a:latin typeface="Arial" panose="020B0604020202020204" pitchFamily="34" charset="0"/>
              </a:rPr>
              <a:t>ngoài</a:t>
            </a:r>
            <a:r>
              <a:rPr lang="en-US" altLang="en-US" sz="4400" b="1" dirty="0">
                <a:solidFill>
                  <a:srgbClr val="002060"/>
                </a:solidFill>
                <a:latin typeface="Arial" panose="020B0604020202020204" pitchFamily="34" charset="0"/>
              </a:rPr>
              <a:t> </a:t>
            </a:r>
            <a:r>
              <a:rPr lang="en-US" altLang="en-US" sz="4400" b="1" dirty="0" err="1">
                <a:solidFill>
                  <a:srgbClr val="002060"/>
                </a:solidFill>
                <a:latin typeface="Arial" panose="020B0604020202020204" pitchFamily="34" charset="0"/>
              </a:rPr>
              <a:t>của</a:t>
            </a:r>
            <a:r>
              <a:rPr lang="en-US" altLang="en-US" sz="4400" b="1" dirty="0">
                <a:solidFill>
                  <a:srgbClr val="002060"/>
                </a:solidFill>
                <a:latin typeface="Arial" panose="020B0604020202020204" pitchFamily="34" charset="0"/>
              </a:rPr>
              <a:t> GT</a:t>
            </a:r>
            <a:endParaRPr lang="en-US" altLang="en-US" sz="5400" b="1" dirty="0">
              <a:solidFill>
                <a:srgbClr val="002060"/>
              </a:solidFill>
              <a:latin typeface="Arial" panose="020B0604020202020204" pitchFamily="34" charset="0"/>
            </a:endParaRPr>
          </a:p>
          <a:p>
            <a:pPr algn="just" eaLnBrk="1" hangingPunct="1"/>
            <a:r>
              <a:rPr lang="en-US" altLang="en-US" sz="5400" b="1" dirty="0" err="1">
                <a:solidFill>
                  <a:srgbClr val="002060"/>
                </a:solidFill>
                <a:latin typeface="Arial" panose="020B0604020202020204" pitchFamily="34" charset="0"/>
              </a:rPr>
              <a:t>Biện</a:t>
            </a:r>
            <a:r>
              <a:rPr lang="en-US" altLang="en-US" sz="5400" b="1" dirty="0">
                <a:solidFill>
                  <a:srgbClr val="002060"/>
                </a:solidFill>
                <a:latin typeface="Arial" panose="020B0604020202020204" pitchFamily="34" charset="0"/>
              </a:rPr>
              <a:t> </a:t>
            </a:r>
            <a:r>
              <a:rPr lang="en-US" altLang="en-US" sz="5400" b="1" dirty="0" err="1">
                <a:solidFill>
                  <a:srgbClr val="002060"/>
                </a:solidFill>
                <a:latin typeface="Arial" panose="020B0604020202020204" pitchFamily="34" charset="0"/>
              </a:rPr>
              <a:t>pháp</a:t>
            </a:r>
            <a:r>
              <a:rPr lang="en-US" altLang="en-US" sz="5400" b="1" dirty="0">
                <a:solidFill>
                  <a:srgbClr val="002060"/>
                </a:solidFill>
                <a:latin typeface="Arial" panose="020B0604020202020204" pitchFamily="34" charset="0"/>
              </a:rPr>
              <a:t>:  		</a:t>
            </a:r>
            <a:r>
              <a:rPr lang="en-US" altLang="en-US" sz="5400" b="1" dirty="0" err="1">
                <a:solidFill>
                  <a:srgbClr val="002060"/>
                </a:solidFill>
                <a:latin typeface="Arial" panose="020B0604020202020204" pitchFamily="34" charset="0"/>
              </a:rPr>
              <a:t>Tạo</a:t>
            </a:r>
            <a:r>
              <a:rPr lang="en-US" altLang="en-US" sz="5400" b="1" dirty="0">
                <a:solidFill>
                  <a:srgbClr val="002060"/>
                </a:solidFill>
                <a:latin typeface="Arial" panose="020B0604020202020204" pitchFamily="34" charset="0"/>
              </a:rPr>
              <a:t> ra </a:t>
            </a:r>
            <a:r>
              <a:rPr lang="en-US" altLang="en-US" sz="5400" b="1" dirty="0" err="1">
                <a:solidFill>
                  <a:srgbClr val="002060"/>
                </a:solidFill>
                <a:latin typeface="Arial" panose="020B0604020202020204" pitchFamily="34" charset="0"/>
              </a:rPr>
              <a:t>sự</a:t>
            </a:r>
            <a:r>
              <a:rPr lang="en-US" altLang="en-US" sz="5400" b="1" dirty="0">
                <a:solidFill>
                  <a:srgbClr val="002060"/>
                </a:solidFill>
                <a:latin typeface="Arial" panose="020B0604020202020204" pitchFamily="34" charset="0"/>
              </a:rPr>
              <a:t> </a:t>
            </a:r>
            <a:r>
              <a:rPr lang="en-US" altLang="en-US" sz="5400" b="1" dirty="0" err="1">
                <a:solidFill>
                  <a:srgbClr val="002060"/>
                </a:solidFill>
                <a:latin typeface="Arial" panose="020B0604020202020204" pitchFamily="34" charset="0"/>
              </a:rPr>
              <a:t>thay</a:t>
            </a:r>
            <a:r>
              <a:rPr lang="en-US" altLang="en-US" sz="5400" b="1" dirty="0">
                <a:solidFill>
                  <a:srgbClr val="002060"/>
                </a:solidFill>
                <a:latin typeface="Arial" panose="020B0604020202020204" pitchFamily="34" charset="0"/>
              </a:rPr>
              <a:t> </a:t>
            </a:r>
            <a:r>
              <a:rPr lang="en-US" altLang="en-US" sz="5400" b="1" dirty="0" err="1">
                <a:solidFill>
                  <a:srgbClr val="002060"/>
                </a:solidFill>
                <a:latin typeface="Arial" panose="020B0604020202020204" pitchFamily="34" charset="0"/>
              </a:rPr>
              <a:t>đổi</a:t>
            </a:r>
            <a:r>
              <a:rPr lang="en-US" altLang="en-US" sz="5400" b="1" dirty="0">
                <a:solidFill>
                  <a:srgbClr val="002060"/>
                </a:solidFill>
                <a:latin typeface="Arial" panose="020B0604020202020204" pitchFamily="34" charset="0"/>
              </a:rPr>
              <a:t> GT</a:t>
            </a:r>
          </a:p>
          <a:p>
            <a:pPr algn="just" eaLnBrk="1" hangingPunct="1"/>
            <a:r>
              <a:rPr lang="en-US" altLang="en-US" sz="5400" b="1" dirty="0">
                <a:solidFill>
                  <a:srgbClr val="002060"/>
                </a:solidFill>
                <a:latin typeface="Arial" panose="020B0604020202020204" pitchFamily="34" charset="0"/>
              </a:rPr>
              <a:t>						GT H’ &gt; GT H</a:t>
            </a:r>
          </a:p>
          <a:p>
            <a:pPr algn="just"/>
            <a:r>
              <a:rPr lang="en-US" altLang="en-US" sz="5400" b="1" dirty="0">
                <a:solidFill>
                  <a:srgbClr val="002060"/>
                </a:solidFill>
                <a:latin typeface="Arial" panose="020B0604020202020204" pitchFamily="34" charset="0"/>
              </a:rPr>
              <a:t>						GT H’ = GT H + ∆GT (m)</a:t>
            </a:r>
          </a:p>
          <a:p>
            <a:pPr algn="just"/>
            <a:r>
              <a:rPr lang="en-US" altLang="en-US" sz="5400" b="1" dirty="0" err="1">
                <a:solidFill>
                  <a:srgbClr val="002060"/>
                </a:solidFill>
                <a:latin typeface="Arial" panose="020B0604020202020204" pitchFamily="34" charset="0"/>
              </a:rPr>
              <a:t>Mâu</a:t>
            </a:r>
            <a:r>
              <a:rPr lang="en-US" altLang="en-US" sz="5400" b="1" dirty="0">
                <a:solidFill>
                  <a:srgbClr val="002060"/>
                </a:solidFill>
                <a:latin typeface="Arial" panose="020B0604020202020204" pitchFamily="34" charset="0"/>
              </a:rPr>
              <a:t> </a:t>
            </a:r>
            <a:r>
              <a:rPr lang="en-US" altLang="en-US" sz="5400" b="1" dirty="0" err="1">
                <a:solidFill>
                  <a:srgbClr val="002060"/>
                </a:solidFill>
                <a:latin typeface="Arial" panose="020B0604020202020204" pitchFamily="34" charset="0"/>
              </a:rPr>
              <a:t>thuẫn</a:t>
            </a:r>
            <a:r>
              <a:rPr lang="en-US" altLang="en-US" sz="5400" b="1" dirty="0">
                <a:solidFill>
                  <a:srgbClr val="002060"/>
                </a:solidFill>
                <a:latin typeface="Arial" panose="020B0604020202020204" pitchFamily="34" charset="0"/>
              </a:rPr>
              <a:t>:		</a:t>
            </a:r>
            <a:r>
              <a:rPr lang="en-US" altLang="en-US" sz="3200" b="1" dirty="0">
                <a:solidFill>
                  <a:srgbClr val="002060"/>
                </a:solidFill>
                <a:latin typeface="Arial" panose="020B0604020202020204" pitchFamily="34" charset="0"/>
              </a:rPr>
              <a:t>Mua </a:t>
            </a:r>
            <a:r>
              <a:rPr lang="en-US" altLang="en-US" sz="3200" b="1" dirty="0" err="1">
                <a:solidFill>
                  <a:srgbClr val="002060"/>
                </a:solidFill>
                <a:latin typeface="Arial" panose="020B0604020202020204" pitchFamily="34" charset="0"/>
              </a:rPr>
              <a:t>bán</a:t>
            </a:r>
            <a:r>
              <a:rPr lang="en-US" altLang="en-US" sz="3200" b="1" dirty="0">
                <a:solidFill>
                  <a:srgbClr val="002060"/>
                </a:solidFill>
                <a:latin typeface="Arial" panose="020B0604020202020204" pitchFamily="34" charset="0"/>
              </a:rPr>
              <a:t> </a:t>
            </a:r>
            <a:r>
              <a:rPr lang="en-US" altLang="en-US" sz="3200" b="1" dirty="0" err="1">
                <a:solidFill>
                  <a:srgbClr val="002060"/>
                </a:solidFill>
                <a:latin typeface="Arial" panose="020B0604020202020204" pitchFamily="34" charset="0"/>
              </a:rPr>
              <a:t>ngang</a:t>
            </a:r>
            <a:r>
              <a:rPr lang="en-US" altLang="en-US" sz="3200" b="1" dirty="0">
                <a:solidFill>
                  <a:srgbClr val="002060"/>
                </a:solidFill>
                <a:latin typeface="Arial" panose="020B0604020202020204" pitchFamily="34" charset="0"/>
              </a:rPr>
              <a:t> </a:t>
            </a:r>
            <a:r>
              <a:rPr lang="en-US" altLang="en-US" sz="3200" b="1" dirty="0" err="1">
                <a:solidFill>
                  <a:srgbClr val="002060"/>
                </a:solidFill>
                <a:latin typeface="Arial" panose="020B0604020202020204" pitchFamily="34" charset="0"/>
              </a:rPr>
              <a:t>giá</a:t>
            </a:r>
            <a:r>
              <a:rPr lang="en-US" altLang="en-US" sz="3200" b="1" dirty="0">
                <a:solidFill>
                  <a:srgbClr val="002060"/>
                </a:solidFill>
                <a:latin typeface="Arial" panose="020B0604020202020204" pitchFamily="34" charset="0"/>
              </a:rPr>
              <a:t> </a:t>
            </a:r>
            <a:r>
              <a:rPr lang="en-US" altLang="en-US" sz="3200" b="1" dirty="0">
                <a:solidFill>
                  <a:srgbClr val="002060"/>
                </a:solidFill>
                <a:latin typeface="Arial" panose="020B0604020202020204" pitchFamily="34" charset="0"/>
                <a:sym typeface="Wingdings" panose="05000000000000000000" pitchFamily="2" charset="2"/>
              </a:rPr>
              <a:t> </a:t>
            </a:r>
            <a:r>
              <a:rPr lang="en-US" altLang="en-US" sz="3200" b="1" dirty="0" err="1">
                <a:solidFill>
                  <a:srgbClr val="002060"/>
                </a:solidFill>
                <a:latin typeface="Arial" panose="020B0604020202020204" pitchFamily="34" charset="0"/>
                <a:sym typeface="Wingdings" panose="05000000000000000000" pitchFamily="2" charset="2"/>
              </a:rPr>
              <a:t>không</a:t>
            </a:r>
            <a:r>
              <a:rPr lang="en-US" altLang="en-US" sz="3200" b="1" dirty="0">
                <a:solidFill>
                  <a:srgbClr val="002060"/>
                </a:solidFill>
                <a:latin typeface="Arial" panose="020B0604020202020204" pitchFamily="34" charset="0"/>
                <a:sym typeface="Wingdings" panose="05000000000000000000" pitchFamily="2" charset="2"/>
              </a:rPr>
              <a:t> </a:t>
            </a:r>
            <a:r>
              <a:rPr lang="en-US" altLang="en-US" sz="3200" b="1" dirty="0" err="1">
                <a:solidFill>
                  <a:srgbClr val="002060"/>
                </a:solidFill>
                <a:latin typeface="Arial" panose="020B0604020202020204" pitchFamily="34" charset="0"/>
                <a:sym typeface="Wingdings" panose="05000000000000000000" pitchFamily="2" charset="2"/>
              </a:rPr>
              <a:t>làm</a:t>
            </a:r>
            <a:r>
              <a:rPr lang="en-US" altLang="en-US" sz="3200" b="1" dirty="0">
                <a:solidFill>
                  <a:srgbClr val="002060"/>
                </a:solidFill>
                <a:latin typeface="Arial" panose="020B0604020202020204" pitchFamily="34" charset="0"/>
                <a:sym typeface="Wingdings" panose="05000000000000000000" pitchFamily="2" charset="2"/>
              </a:rPr>
              <a:t> GT </a:t>
            </a:r>
            <a:r>
              <a:rPr lang="en-US" altLang="en-US" sz="3200" b="1" dirty="0" err="1">
                <a:solidFill>
                  <a:srgbClr val="002060"/>
                </a:solidFill>
                <a:latin typeface="Arial" panose="020B0604020202020204" pitchFamily="34" charset="0"/>
                <a:sym typeface="Wingdings" panose="05000000000000000000" pitchFamily="2" charset="2"/>
              </a:rPr>
              <a:t>thay</a:t>
            </a:r>
            <a:r>
              <a:rPr lang="en-US" altLang="en-US" sz="3200" b="1" dirty="0">
                <a:solidFill>
                  <a:srgbClr val="002060"/>
                </a:solidFill>
                <a:latin typeface="Arial" panose="020B0604020202020204" pitchFamily="34" charset="0"/>
                <a:sym typeface="Wingdings" panose="05000000000000000000" pitchFamily="2" charset="2"/>
              </a:rPr>
              <a:t> </a:t>
            </a:r>
            <a:r>
              <a:rPr lang="en-US" altLang="en-US" sz="3200" b="1" dirty="0" err="1">
                <a:solidFill>
                  <a:srgbClr val="002060"/>
                </a:solidFill>
                <a:latin typeface="Arial" panose="020B0604020202020204" pitchFamily="34" charset="0"/>
                <a:sym typeface="Wingdings" panose="05000000000000000000" pitchFamily="2" charset="2"/>
              </a:rPr>
              <a:t>đổi</a:t>
            </a:r>
            <a:endParaRPr lang="en-US" altLang="en-US" sz="3200" b="1" dirty="0">
              <a:solidFill>
                <a:srgbClr val="002060"/>
              </a:solidFill>
              <a:latin typeface="Arial" panose="020B0604020202020204" pitchFamily="34" charset="0"/>
            </a:endParaRPr>
          </a:p>
          <a:p>
            <a:pPr algn="just"/>
            <a:r>
              <a:rPr lang="en-US" altLang="en-US" sz="3200" b="1" dirty="0">
                <a:solidFill>
                  <a:srgbClr val="002060"/>
                </a:solidFill>
                <a:latin typeface="Arial" panose="020B0604020202020204" pitchFamily="34" charset="0"/>
              </a:rPr>
              <a:t>					</a:t>
            </a:r>
            <a:r>
              <a:rPr lang="en-US" altLang="en-US" b="1" dirty="0">
                <a:solidFill>
                  <a:srgbClr val="002060"/>
                </a:solidFill>
                <a:latin typeface="Arial" panose="020B0604020202020204" pitchFamily="34" charset="0"/>
              </a:rPr>
              <a:t>Mua </a:t>
            </a:r>
            <a:r>
              <a:rPr lang="en-US" altLang="en-US" b="1" dirty="0" err="1">
                <a:solidFill>
                  <a:srgbClr val="002060"/>
                </a:solidFill>
                <a:latin typeface="Arial" panose="020B0604020202020204" pitchFamily="34" charset="0"/>
              </a:rPr>
              <a:t>bán</a:t>
            </a:r>
            <a:r>
              <a:rPr lang="en-US" altLang="en-US" b="1" dirty="0">
                <a:solidFill>
                  <a:srgbClr val="002060"/>
                </a:solidFill>
                <a:latin typeface="Arial" panose="020B0604020202020204" pitchFamily="34" charset="0"/>
              </a:rPr>
              <a:t> </a:t>
            </a:r>
            <a:r>
              <a:rPr lang="en-US" altLang="en-US" b="1" dirty="0" err="1">
                <a:solidFill>
                  <a:srgbClr val="002060"/>
                </a:solidFill>
                <a:latin typeface="Arial" panose="020B0604020202020204" pitchFamily="34" charset="0"/>
              </a:rPr>
              <a:t>không</a:t>
            </a:r>
            <a:r>
              <a:rPr lang="en-US" altLang="en-US" b="1" dirty="0">
                <a:solidFill>
                  <a:srgbClr val="002060"/>
                </a:solidFill>
                <a:latin typeface="Arial" panose="020B0604020202020204" pitchFamily="34" charset="0"/>
              </a:rPr>
              <a:t> </a:t>
            </a:r>
            <a:r>
              <a:rPr lang="en-US" altLang="en-US" b="1" dirty="0" err="1">
                <a:solidFill>
                  <a:srgbClr val="002060"/>
                </a:solidFill>
                <a:latin typeface="Arial" panose="020B0604020202020204" pitchFamily="34" charset="0"/>
              </a:rPr>
              <a:t>ngang</a:t>
            </a:r>
            <a:r>
              <a:rPr lang="en-US" altLang="en-US" b="1" dirty="0">
                <a:solidFill>
                  <a:srgbClr val="002060"/>
                </a:solidFill>
                <a:latin typeface="Arial" panose="020B0604020202020204" pitchFamily="34" charset="0"/>
              </a:rPr>
              <a:t> </a:t>
            </a:r>
            <a:r>
              <a:rPr lang="en-US" altLang="en-US" b="1" dirty="0" err="1">
                <a:solidFill>
                  <a:srgbClr val="002060"/>
                </a:solidFill>
                <a:latin typeface="Arial" panose="020B0604020202020204" pitchFamily="34" charset="0"/>
              </a:rPr>
              <a:t>giá</a:t>
            </a:r>
            <a:r>
              <a:rPr lang="en-US" altLang="en-US" b="1" dirty="0">
                <a:solidFill>
                  <a:srgbClr val="002060"/>
                </a:solidFill>
                <a:latin typeface="Arial" panose="020B0604020202020204" pitchFamily="34" charset="0"/>
              </a:rPr>
              <a:t> </a:t>
            </a:r>
            <a:r>
              <a:rPr lang="en-US" altLang="en-US" b="1" dirty="0">
                <a:solidFill>
                  <a:srgbClr val="002060"/>
                </a:solidFill>
                <a:latin typeface="Arial" panose="020B0604020202020204" pitchFamily="34" charset="0"/>
                <a:sym typeface="Wingdings" panose="05000000000000000000" pitchFamily="2" charset="2"/>
              </a:rPr>
              <a:t> </a:t>
            </a:r>
            <a:r>
              <a:rPr lang="en-US" altLang="en-US" b="1" dirty="0" err="1">
                <a:solidFill>
                  <a:srgbClr val="002060"/>
                </a:solidFill>
                <a:latin typeface="Arial" panose="020B0604020202020204" pitchFamily="34" charset="0"/>
                <a:sym typeface="Wingdings" panose="05000000000000000000" pitchFamily="2" charset="2"/>
              </a:rPr>
              <a:t>chỉ</a:t>
            </a:r>
            <a:r>
              <a:rPr lang="en-US" altLang="en-US" b="1" dirty="0">
                <a:solidFill>
                  <a:srgbClr val="002060"/>
                </a:solidFill>
                <a:latin typeface="Arial" panose="020B0604020202020204" pitchFamily="34" charset="0"/>
                <a:sym typeface="Wingdings" panose="05000000000000000000" pitchFamily="2" charset="2"/>
              </a:rPr>
              <a:t> </a:t>
            </a:r>
            <a:r>
              <a:rPr lang="en-US" altLang="en-US" b="1" dirty="0" err="1">
                <a:solidFill>
                  <a:srgbClr val="002060"/>
                </a:solidFill>
                <a:latin typeface="Arial" panose="020B0604020202020204" pitchFamily="34" charset="0"/>
                <a:sym typeface="Wingdings" panose="05000000000000000000" pitchFamily="2" charset="2"/>
              </a:rPr>
              <a:t>thay</a:t>
            </a:r>
            <a:r>
              <a:rPr lang="en-US" altLang="en-US" b="1" dirty="0">
                <a:solidFill>
                  <a:srgbClr val="002060"/>
                </a:solidFill>
                <a:latin typeface="Arial" panose="020B0604020202020204" pitchFamily="34" charset="0"/>
                <a:sym typeface="Wingdings" panose="05000000000000000000" pitchFamily="2" charset="2"/>
              </a:rPr>
              <a:t> </a:t>
            </a:r>
            <a:r>
              <a:rPr lang="en-US" altLang="en-US" b="1" dirty="0" err="1">
                <a:solidFill>
                  <a:srgbClr val="002060"/>
                </a:solidFill>
                <a:latin typeface="Arial" panose="020B0604020202020204" pitchFamily="34" charset="0"/>
                <a:sym typeface="Wingdings" panose="05000000000000000000" pitchFamily="2" charset="2"/>
              </a:rPr>
              <a:t>đổi</a:t>
            </a:r>
            <a:r>
              <a:rPr lang="en-US" altLang="en-US" b="1" dirty="0">
                <a:solidFill>
                  <a:srgbClr val="002060"/>
                </a:solidFill>
                <a:latin typeface="Arial" panose="020B0604020202020204" pitchFamily="34" charset="0"/>
                <a:sym typeface="Wingdings" panose="05000000000000000000" pitchFamily="2" charset="2"/>
              </a:rPr>
              <a:t> GT ở </a:t>
            </a:r>
            <a:r>
              <a:rPr lang="en-US" altLang="en-US" b="1" dirty="0" err="1">
                <a:solidFill>
                  <a:srgbClr val="002060"/>
                </a:solidFill>
                <a:latin typeface="Arial" panose="020B0604020202020204" pitchFamily="34" charset="0"/>
                <a:sym typeface="Wingdings" panose="05000000000000000000" pitchFamily="2" charset="2"/>
              </a:rPr>
              <a:t>mỗi</a:t>
            </a:r>
            <a:r>
              <a:rPr lang="en-US" altLang="en-US" b="1" dirty="0">
                <a:solidFill>
                  <a:srgbClr val="002060"/>
                </a:solidFill>
                <a:latin typeface="Arial" panose="020B0604020202020204" pitchFamily="34" charset="0"/>
                <a:sym typeface="Wingdings" panose="05000000000000000000" pitchFamily="2" charset="2"/>
              </a:rPr>
              <a:t> </a:t>
            </a:r>
            <a:r>
              <a:rPr lang="en-US" altLang="en-US" b="1" dirty="0" err="1">
                <a:solidFill>
                  <a:srgbClr val="002060"/>
                </a:solidFill>
                <a:latin typeface="Arial" panose="020B0604020202020204" pitchFamily="34" charset="0"/>
                <a:sym typeface="Wingdings" panose="05000000000000000000" pitchFamily="2" charset="2"/>
              </a:rPr>
              <a:t>chủ</a:t>
            </a:r>
            <a:r>
              <a:rPr lang="en-US" altLang="en-US" b="1" dirty="0">
                <a:solidFill>
                  <a:srgbClr val="002060"/>
                </a:solidFill>
                <a:latin typeface="Arial" panose="020B0604020202020204" pitchFamily="34" charset="0"/>
                <a:sym typeface="Wingdings" panose="05000000000000000000" pitchFamily="2" charset="2"/>
              </a:rPr>
              <a:t> </a:t>
            </a:r>
            <a:r>
              <a:rPr lang="en-US" altLang="en-US" b="1" dirty="0" err="1">
                <a:solidFill>
                  <a:srgbClr val="002060"/>
                </a:solidFill>
                <a:latin typeface="Arial" panose="020B0604020202020204" pitchFamily="34" charset="0"/>
                <a:sym typeface="Wingdings" panose="05000000000000000000" pitchFamily="2" charset="2"/>
              </a:rPr>
              <a:t>thể</a:t>
            </a:r>
            <a:r>
              <a:rPr lang="en-US" altLang="en-US" sz="5400" b="1" dirty="0">
                <a:solidFill>
                  <a:srgbClr val="002060"/>
                </a:solidFill>
                <a:latin typeface="Arial" panose="020B0604020202020204" pitchFamily="34" charset="0"/>
              </a:rPr>
              <a:t> </a:t>
            </a:r>
          </a:p>
          <a:p>
            <a:pPr algn="just"/>
            <a:r>
              <a:rPr lang="en-US" altLang="en-US" sz="5400" b="1" dirty="0" err="1">
                <a:solidFill>
                  <a:srgbClr val="002060"/>
                </a:solidFill>
                <a:latin typeface="Arial" panose="020B0604020202020204" pitchFamily="34" charset="0"/>
              </a:rPr>
              <a:t>Vậy</a:t>
            </a:r>
            <a:r>
              <a:rPr lang="en-US" altLang="en-US" sz="5400" b="1" dirty="0">
                <a:solidFill>
                  <a:srgbClr val="002060"/>
                </a:solidFill>
                <a:latin typeface="Arial" panose="020B0604020202020204" pitchFamily="34" charset="0"/>
              </a:rPr>
              <a:t>: 					</a:t>
            </a:r>
            <a:r>
              <a:rPr lang="en-US" altLang="en-US" sz="3600" b="1" dirty="0">
                <a:solidFill>
                  <a:srgbClr val="002060"/>
                </a:solidFill>
                <a:latin typeface="Arial" panose="020B0604020202020204" pitchFamily="34" charset="0"/>
              </a:rPr>
              <a:t>GT H </a:t>
            </a:r>
            <a:r>
              <a:rPr lang="en-US" altLang="en-US" sz="3600" b="1" dirty="0" err="1">
                <a:solidFill>
                  <a:srgbClr val="002060"/>
                </a:solidFill>
                <a:latin typeface="Arial" panose="020B0604020202020204" pitchFamily="34" charset="0"/>
              </a:rPr>
              <a:t>tạo</a:t>
            </a:r>
            <a:r>
              <a:rPr lang="en-US" altLang="en-US" sz="3600" b="1" dirty="0">
                <a:solidFill>
                  <a:srgbClr val="002060"/>
                </a:solidFill>
                <a:latin typeface="Arial" panose="020B0604020202020204" pitchFamily="34" charset="0"/>
              </a:rPr>
              <a:t> ra GT H’ </a:t>
            </a:r>
            <a:r>
              <a:rPr lang="en-US" altLang="en-US" sz="3600" b="1" dirty="0" err="1">
                <a:solidFill>
                  <a:srgbClr val="002060"/>
                </a:solidFill>
                <a:latin typeface="Arial" panose="020B0604020202020204" pitchFamily="34" charset="0"/>
              </a:rPr>
              <a:t>lớn</a:t>
            </a:r>
            <a:r>
              <a:rPr lang="en-US" altLang="en-US" sz="3600" b="1" dirty="0">
                <a:solidFill>
                  <a:srgbClr val="002060"/>
                </a:solidFill>
                <a:latin typeface="Arial" panose="020B0604020202020204" pitchFamily="34" charset="0"/>
              </a:rPr>
              <a:t> </a:t>
            </a:r>
            <a:r>
              <a:rPr lang="en-US" altLang="en-US" sz="3600" b="1" dirty="0" err="1">
                <a:solidFill>
                  <a:srgbClr val="002060"/>
                </a:solidFill>
                <a:latin typeface="Arial" panose="020B0604020202020204" pitchFamily="34" charset="0"/>
              </a:rPr>
              <a:t>hơn</a:t>
            </a:r>
            <a:r>
              <a:rPr lang="en-US" altLang="en-US" sz="3600" b="1" dirty="0">
                <a:solidFill>
                  <a:srgbClr val="002060"/>
                </a:solidFill>
                <a:latin typeface="Arial" panose="020B0604020202020204" pitchFamily="34" charset="0"/>
              </a:rPr>
              <a:t> </a:t>
            </a:r>
            <a:r>
              <a:rPr lang="en-US" altLang="en-US" sz="3600" b="1" dirty="0" err="1">
                <a:solidFill>
                  <a:srgbClr val="002060"/>
                </a:solidFill>
                <a:latin typeface="Arial" panose="020B0604020202020204" pitchFamily="34" charset="0"/>
              </a:rPr>
              <a:t>bản</a:t>
            </a:r>
            <a:r>
              <a:rPr lang="en-US" altLang="en-US" sz="3600" b="1" dirty="0">
                <a:solidFill>
                  <a:srgbClr val="002060"/>
                </a:solidFill>
                <a:latin typeface="Arial" panose="020B0604020202020204" pitchFamily="34" charset="0"/>
              </a:rPr>
              <a:t> </a:t>
            </a:r>
            <a:r>
              <a:rPr lang="en-US" altLang="en-US" sz="3600" b="1" dirty="0" err="1">
                <a:solidFill>
                  <a:srgbClr val="002060"/>
                </a:solidFill>
                <a:latin typeface="Arial" panose="020B0604020202020204" pitchFamily="34" charset="0"/>
              </a:rPr>
              <a:t>thân</a:t>
            </a:r>
            <a:r>
              <a:rPr lang="en-US" altLang="en-US" sz="3600" b="1" dirty="0">
                <a:solidFill>
                  <a:srgbClr val="002060"/>
                </a:solidFill>
                <a:latin typeface="Arial" panose="020B0604020202020204" pitchFamily="34" charset="0"/>
              </a:rPr>
              <a:t> </a:t>
            </a:r>
            <a:r>
              <a:rPr lang="en-US" altLang="en-US" sz="3600" b="1" dirty="0" err="1">
                <a:solidFill>
                  <a:srgbClr val="002060"/>
                </a:solidFill>
                <a:latin typeface="Arial" panose="020B0604020202020204" pitchFamily="34" charset="0"/>
              </a:rPr>
              <a:t>nó</a:t>
            </a:r>
            <a:endParaRPr lang="en-US" altLang="en-US" sz="5400" b="1" dirty="0">
              <a:solidFill>
                <a:srgbClr val="002060"/>
              </a:solidFill>
              <a:latin typeface="Arial" panose="020B0604020202020204" pitchFamily="34" charset="0"/>
            </a:endParaRPr>
          </a:p>
        </p:txBody>
      </p:sp>
    </p:spTree>
    <p:extLst>
      <p:ext uri="{BB962C8B-B14F-4D97-AF65-F5344CB8AC3E}">
        <p14:creationId xmlns:p14="http://schemas.microsoft.com/office/powerpoint/2010/main" val="4260550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anim calcmode="lin" valueType="num">
                                      <p:cBhvr>
                                        <p:cTn id="1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1000"/>
                                        <p:tgtEl>
                                          <p:spTgt spid="4">
                                            <p:txEl>
                                              <p:pRg st="4" end="4"/>
                                            </p:txEl>
                                          </p:spTgt>
                                        </p:tgtEl>
                                      </p:cBhvr>
                                    </p:animEffect>
                                    <p:anim calcmode="lin" valueType="num">
                                      <p:cBhvr>
                                        <p:cTn id="2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1000"/>
                                        <p:tgtEl>
                                          <p:spTgt spid="4">
                                            <p:txEl>
                                              <p:pRg st="5" end="5"/>
                                            </p:txEl>
                                          </p:spTgt>
                                        </p:tgtEl>
                                      </p:cBhvr>
                                    </p:animEffect>
                                    <p:anim calcmode="lin" valueType="num">
                                      <p:cBhvr>
                                        <p:cTn id="2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Effect transition="in" filter="fade">
                                      <p:cBhvr>
                                        <p:cTn id="33" dur="1000"/>
                                        <p:tgtEl>
                                          <p:spTgt spid="4">
                                            <p:txEl>
                                              <p:pRg st="6" end="6"/>
                                            </p:txEl>
                                          </p:spTgt>
                                        </p:tgtEl>
                                      </p:cBhvr>
                                    </p:animEffect>
                                    <p:anim calcmode="lin" valueType="num">
                                      <p:cBhvr>
                                        <p:cTn id="34"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4">
                                            <p:txEl>
                                              <p:pRg st="7" end="7"/>
                                            </p:txEl>
                                          </p:spTgt>
                                        </p:tgtEl>
                                        <p:attrNameLst>
                                          <p:attrName>style.visibility</p:attrName>
                                        </p:attrNameLst>
                                      </p:cBhvr>
                                      <p:to>
                                        <p:strVal val="visible"/>
                                      </p:to>
                                    </p:set>
                                    <p:animEffect transition="in" filter="fade">
                                      <p:cBhvr>
                                        <p:cTn id="38" dur="1000"/>
                                        <p:tgtEl>
                                          <p:spTgt spid="4">
                                            <p:txEl>
                                              <p:pRg st="7" end="7"/>
                                            </p:txEl>
                                          </p:spTgt>
                                        </p:tgtEl>
                                      </p:cBhvr>
                                    </p:animEffect>
                                    <p:anim calcmode="lin" valueType="num">
                                      <p:cBhvr>
                                        <p:cTn id="39"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animEffect transition="in" filter="fade">
                                      <p:cBhvr>
                                        <p:cTn id="43" dur="1000"/>
                                        <p:tgtEl>
                                          <p:spTgt spid="4">
                                            <p:txEl>
                                              <p:pRg st="8" end="8"/>
                                            </p:txEl>
                                          </p:spTgt>
                                        </p:tgtEl>
                                      </p:cBhvr>
                                    </p:animEffect>
                                    <p:anim calcmode="lin" valueType="num">
                                      <p:cBhvr>
                                        <p:cTn id="44"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5" dur="1000" fill="hold"/>
                                        <p:tgtEl>
                                          <p:spTgt spid="4">
                                            <p:txEl>
                                              <p:pRg st="8" end="8"/>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4">
                                            <p:txEl>
                                              <p:pRg st="9" end="9"/>
                                            </p:txEl>
                                          </p:spTgt>
                                        </p:tgtEl>
                                        <p:attrNameLst>
                                          <p:attrName>style.visibility</p:attrName>
                                        </p:attrNameLst>
                                      </p:cBhvr>
                                      <p:to>
                                        <p:strVal val="visible"/>
                                      </p:to>
                                    </p:set>
                                    <p:animEffect transition="in" filter="fade">
                                      <p:cBhvr>
                                        <p:cTn id="48" dur="1000"/>
                                        <p:tgtEl>
                                          <p:spTgt spid="4">
                                            <p:txEl>
                                              <p:pRg st="9" end="9"/>
                                            </p:txEl>
                                          </p:spTgt>
                                        </p:tgtEl>
                                      </p:cBhvr>
                                    </p:animEffect>
                                    <p:anim calcmode="lin" valueType="num">
                                      <p:cBhvr>
                                        <p:cTn id="49"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animEffect transition="in" filter="fade">
                                      <p:cBhvr>
                                        <p:cTn id="55" dur="1000"/>
                                        <p:tgtEl>
                                          <p:spTgt spid="4">
                                            <p:txEl>
                                              <p:pRg st="10" end="10"/>
                                            </p:txEl>
                                          </p:spTgt>
                                        </p:tgtEl>
                                      </p:cBhvr>
                                    </p:animEffect>
                                    <p:anim calcmode="lin" valueType="num">
                                      <p:cBhvr>
                                        <p:cTn id="56"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57"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FC70C-7690-8EDC-0372-D1A1DE3C7DC7}"/>
              </a:ext>
            </a:extLst>
          </p:cNvPr>
          <p:cNvSpPr txBox="1">
            <a:spLocks/>
          </p:cNvSpPr>
          <p:nvPr/>
        </p:nvSpPr>
        <p:spPr>
          <a:xfrm>
            <a:off x="2441123" y="1616076"/>
            <a:ext cx="12781270" cy="1127124"/>
          </a:xfrm>
          <a:prstGeom prst="rect">
            <a:avLst/>
          </a:prstGeom>
        </p:spPr>
        <p:txBody>
          <a:bodyPr vert="horz" lIns="182880" tIns="91440" rIns="182880" bIns="9144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600" b="1" dirty="0">
                <a:solidFill>
                  <a:srgbClr val="002060"/>
                </a:solidFill>
                <a:latin typeface="Times New Roman" panose="02020603050405020304" pitchFamily="18" charset="0"/>
                <a:ea typeface="Aachen" panose="02020500000000000000" pitchFamily="18" charset="0"/>
                <a:cs typeface="Times New Roman" panose="02020603050405020304" pitchFamily="18" charset="0"/>
              </a:rPr>
              <a:t>2. SLĐ – CHÌA KHÓA CHO MÂU THUẪN CT CHUNG CỦA TƯ BẢN</a:t>
            </a:r>
          </a:p>
        </p:txBody>
      </p:sp>
      <p:sp>
        <p:nvSpPr>
          <p:cNvPr id="3" name="Text Box 14">
            <a:extLst>
              <a:ext uri="{FF2B5EF4-FFF2-40B4-BE49-F238E27FC236}">
                <a16:creationId xmlns:a16="http://schemas.microsoft.com/office/drawing/2014/main" id="{B98E09C7-5B0F-51DC-DED6-C608ACD175FE}"/>
              </a:ext>
            </a:extLst>
          </p:cNvPr>
          <p:cNvSpPr txBox="1">
            <a:spLocks noChangeArrowheads="1"/>
          </p:cNvSpPr>
          <p:nvPr/>
        </p:nvSpPr>
        <p:spPr bwMode="ltGray">
          <a:xfrm>
            <a:off x="1630219" y="6001861"/>
            <a:ext cx="15522574" cy="90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lnSpc>
                <a:spcPct val="150000"/>
              </a:lnSpc>
            </a:pPr>
            <a:r>
              <a:rPr lang="en-US" altLang="en-US" sz="4000" dirty="0">
                <a:solidFill>
                  <a:srgbClr val="002060"/>
                </a:solidFill>
                <a:latin typeface="Arial" panose="020B0604020202020204" pitchFamily="34" charset="0"/>
                <a:sym typeface="Wingdings" panose="05000000000000000000" pitchFamily="2" charset="2"/>
              </a:rPr>
              <a:t>GT H = </a:t>
            </a:r>
            <a:r>
              <a:rPr lang="en-US" altLang="en-US" sz="4000" dirty="0">
                <a:solidFill>
                  <a:srgbClr val="00B050"/>
                </a:solidFill>
                <a:latin typeface="Arial" panose="020B0604020202020204" pitchFamily="34" charset="0"/>
                <a:sym typeface="Wingdings" panose="05000000000000000000" pitchFamily="2" charset="2"/>
              </a:rPr>
              <a:t>GT TLSX </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a:solidFill>
                  <a:srgbClr val="FF0000"/>
                </a:solidFill>
                <a:latin typeface="Arial" panose="020B0604020202020204" pitchFamily="34" charset="0"/>
                <a:sym typeface="Wingdings" panose="05000000000000000000" pitchFamily="2" charset="2"/>
              </a:rPr>
              <a:t>GT SLĐ </a:t>
            </a:r>
            <a:r>
              <a:rPr lang="en-US" altLang="en-US" sz="4000" dirty="0">
                <a:solidFill>
                  <a:srgbClr val="002060"/>
                </a:solidFill>
                <a:latin typeface="Arial" panose="020B0604020202020204" pitchFamily="34" charset="0"/>
                <a:sym typeface="Wingdings" panose="05000000000000000000" pitchFamily="2" charset="2"/>
              </a:rPr>
              <a:t> GT H’ = </a:t>
            </a:r>
            <a:r>
              <a:rPr lang="en-US" altLang="en-US" sz="4000" dirty="0">
                <a:solidFill>
                  <a:srgbClr val="00B050"/>
                </a:solidFill>
                <a:latin typeface="Arial" panose="020B0604020202020204" pitchFamily="34" charset="0"/>
                <a:sym typeface="Wingdings" panose="05000000000000000000" pitchFamily="2" charset="2"/>
              </a:rPr>
              <a:t>GT </a:t>
            </a:r>
            <a:r>
              <a:rPr lang="en-US" altLang="en-US" sz="4000" dirty="0" err="1">
                <a:solidFill>
                  <a:srgbClr val="00B050"/>
                </a:solidFill>
                <a:latin typeface="Arial" panose="020B0604020202020204" pitchFamily="34" charset="0"/>
                <a:sym typeface="Wingdings" panose="05000000000000000000" pitchFamily="2" charset="2"/>
              </a:rPr>
              <a:t>cũ</a:t>
            </a:r>
            <a:r>
              <a:rPr lang="en-US" altLang="en-US" sz="4000" dirty="0">
                <a:solidFill>
                  <a:srgbClr val="002060"/>
                </a:solidFill>
                <a:latin typeface="Arial" panose="020B0604020202020204" pitchFamily="34" charset="0"/>
                <a:sym typeface="Wingdings" panose="05000000000000000000" pitchFamily="2" charset="2"/>
              </a:rPr>
              <a:t> + </a:t>
            </a:r>
            <a:r>
              <a:rPr lang="en-US" altLang="en-US" sz="4000" dirty="0">
                <a:solidFill>
                  <a:srgbClr val="FF0000"/>
                </a:solidFill>
                <a:latin typeface="Arial" panose="020B0604020202020204" pitchFamily="34" charset="0"/>
                <a:sym typeface="Wingdings" panose="05000000000000000000" pitchFamily="2" charset="2"/>
              </a:rPr>
              <a:t>GT </a:t>
            </a:r>
            <a:r>
              <a:rPr lang="en-US" altLang="en-US" sz="4000" dirty="0" err="1">
                <a:solidFill>
                  <a:srgbClr val="FF0000"/>
                </a:solidFill>
                <a:latin typeface="Arial" panose="020B0604020202020204" pitchFamily="34" charset="0"/>
                <a:sym typeface="Wingdings" panose="05000000000000000000" pitchFamily="2" charset="2"/>
              </a:rPr>
              <a:t>mới</a:t>
            </a:r>
            <a:endParaRPr lang="vi-VN" altLang="en-US" sz="4000" dirty="0">
              <a:solidFill>
                <a:srgbClr val="FF0000"/>
              </a:solidFill>
              <a:latin typeface="Arial" panose="020B0604020202020204" pitchFamily="34" charset="0"/>
              <a:sym typeface="Wingdings" panose="05000000000000000000" pitchFamily="2" charset="2"/>
            </a:endParaRPr>
          </a:p>
        </p:txBody>
      </p:sp>
      <p:cxnSp>
        <p:nvCxnSpPr>
          <p:cNvPr id="12" name="Straight Connector 11">
            <a:extLst>
              <a:ext uri="{FF2B5EF4-FFF2-40B4-BE49-F238E27FC236}">
                <a16:creationId xmlns:a16="http://schemas.microsoft.com/office/drawing/2014/main" id="{141DAB32-BD1D-4291-9660-7FAE31B84C17}"/>
              </a:ext>
            </a:extLst>
          </p:cNvPr>
          <p:cNvCxnSpPr/>
          <p:nvPr/>
        </p:nvCxnSpPr>
        <p:spPr>
          <a:xfrm>
            <a:off x="5804806" y="7927514"/>
            <a:ext cx="70784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3239FCE-45BF-4BCE-BB4F-C4255AC14E98}"/>
              </a:ext>
            </a:extLst>
          </p:cNvPr>
          <p:cNvCxnSpPr/>
          <p:nvPr/>
        </p:nvCxnSpPr>
        <p:spPr>
          <a:xfrm flipV="1">
            <a:off x="12915900" y="6995852"/>
            <a:ext cx="0" cy="956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73BA94D-7D15-415D-A3C3-755D38223851}"/>
              </a:ext>
            </a:extLst>
          </p:cNvPr>
          <p:cNvCxnSpPr/>
          <p:nvPr/>
        </p:nvCxnSpPr>
        <p:spPr>
          <a:xfrm flipV="1">
            <a:off x="5821136" y="6833504"/>
            <a:ext cx="0" cy="1118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6E4A03-FA11-45AD-BEC4-525461073943}"/>
              </a:ext>
            </a:extLst>
          </p:cNvPr>
          <p:cNvCxnSpPr/>
          <p:nvPr/>
        </p:nvCxnSpPr>
        <p:spPr>
          <a:xfrm flipV="1">
            <a:off x="8444594" y="5236026"/>
            <a:ext cx="0" cy="111850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45950FF-D167-432D-987C-D81E386631E4}"/>
              </a:ext>
            </a:extLst>
          </p:cNvPr>
          <p:cNvCxnSpPr>
            <a:cxnSpLocks/>
          </p:cNvCxnSpPr>
          <p:nvPr/>
        </p:nvCxnSpPr>
        <p:spPr>
          <a:xfrm flipV="1">
            <a:off x="8444594" y="5233302"/>
            <a:ext cx="6120492" cy="27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40EAECB-8DA6-4822-8E0B-03BF4CD53410}"/>
              </a:ext>
            </a:extLst>
          </p:cNvPr>
          <p:cNvCxnSpPr/>
          <p:nvPr/>
        </p:nvCxnSpPr>
        <p:spPr>
          <a:xfrm>
            <a:off x="14581414" y="5221754"/>
            <a:ext cx="0" cy="974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37DC981-DBF1-45EB-821A-50626B213087}"/>
              </a:ext>
            </a:extLst>
          </p:cNvPr>
          <p:cNvSpPr txBox="1"/>
          <p:nvPr/>
        </p:nvSpPr>
        <p:spPr>
          <a:xfrm>
            <a:off x="7331529" y="7135583"/>
            <a:ext cx="4065806" cy="553998"/>
          </a:xfrm>
          <a:prstGeom prst="rect">
            <a:avLst/>
          </a:prstGeom>
          <a:noFill/>
        </p:spPr>
        <p:txBody>
          <a:bodyPr wrap="square" rtlCol="0">
            <a:spAutoFit/>
          </a:bodyPr>
          <a:lstStyle/>
          <a:p>
            <a:pPr algn="ctr"/>
            <a:r>
              <a:rPr lang="en-US" sz="3000" dirty="0"/>
              <a:t>LĐ </a:t>
            </a:r>
            <a:r>
              <a:rPr lang="en-US" sz="3000" dirty="0" err="1"/>
              <a:t>cụ</a:t>
            </a:r>
            <a:r>
              <a:rPr lang="en-US" sz="3000" dirty="0"/>
              <a:t> </a:t>
            </a:r>
            <a:r>
              <a:rPr lang="en-US" sz="3000" dirty="0" err="1"/>
              <a:t>thể</a:t>
            </a:r>
            <a:endParaRPr lang="en-US" sz="3000" dirty="0"/>
          </a:p>
        </p:txBody>
      </p:sp>
      <p:sp>
        <p:nvSpPr>
          <p:cNvPr id="25" name="TextBox 24">
            <a:extLst>
              <a:ext uri="{FF2B5EF4-FFF2-40B4-BE49-F238E27FC236}">
                <a16:creationId xmlns:a16="http://schemas.microsoft.com/office/drawing/2014/main" id="{9622F293-1F0A-4766-8829-CD3B32FFA266}"/>
              </a:ext>
            </a:extLst>
          </p:cNvPr>
          <p:cNvSpPr txBox="1"/>
          <p:nvPr/>
        </p:nvSpPr>
        <p:spPr>
          <a:xfrm>
            <a:off x="7358600" y="8013976"/>
            <a:ext cx="4283672" cy="553998"/>
          </a:xfrm>
          <a:prstGeom prst="rect">
            <a:avLst/>
          </a:prstGeom>
          <a:noFill/>
        </p:spPr>
        <p:txBody>
          <a:bodyPr wrap="square" rtlCol="0">
            <a:spAutoFit/>
          </a:bodyPr>
          <a:lstStyle/>
          <a:p>
            <a:pPr algn="ctr"/>
            <a:r>
              <a:rPr lang="en-US" sz="3000" dirty="0" err="1"/>
              <a:t>Bảo</a:t>
            </a:r>
            <a:r>
              <a:rPr lang="en-US" sz="3000" dirty="0"/>
              <a:t> </a:t>
            </a:r>
            <a:r>
              <a:rPr lang="en-US" sz="3000" dirty="0" err="1"/>
              <a:t>tồn</a:t>
            </a:r>
            <a:r>
              <a:rPr lang="en-US" sz="3000" dirty="0"/>
              <a:t> &amp; di </a:t>
            </a:r>
            <a:r>
              <a:rPr lang="en-US" sz="3000" dirty="0" err="1"/>
              <a:t>chuyển</a:t>
            </a:r>
            <a:endParaRPr lang="en-US" sz="3000" dirty="0"/>
          </a:p>
        </p:txBody>
      </p:sp>
      <p:sp>
        <p:nvSpPr>
          <p:cNvPr id="27" name="TextBox 26">
            <a:extLst>
              <a:ext uri="{FF2B5EF4-FFF2-40B4-BE49-F238E27FC236}">
                <a16:creationId xmlns:a16="http://schemas.microsoft.com/office/drawing/2014/main" id="{21E6F750-4F62-419B-BF4A-ADE3F2D099DB}"/>
              </a:ext>
            </a:extLst>
          </p:cNvPr>
          <p:cNvSpPr txBox="1"/>
          <p:nvPr/>
        </p:nvSpPr>
        <p:spPr>
          <a:xfrm>
            <a:off x="9473293" y="4433946"/>
            <a:ext cx="4065806" cy="553998"/>
          </a:xfrm>
          <a:prstGeom prst="rect">
            <a:avLst/>
          </a:prstGeom>
          <a:noFill/>
        </p:spPr>
        <p:txBody>
          <a:bodyPr wrap="square" rtlCol="0">
            <a:spAutoFit/>
          </a:bodyPr>
          <a:lstStyle/>
          <a:p>
            <a:pPr algn="ctr"/>
            <a:r>
              <a:rPr lang="en-US" sz="3000" dirty="0"/>
              <a:t>LĐ </a:t>
            </a:r>
            <a:r>
              <a:rPr lang="en-US" sz="3000" dirty="0" err="1"/>
              <a:t>trừu</a:t>
            </a:r>
            <a:r>
              <a:rPr lang="en-US" sz="3000" dirty="0"/>
              <a:t> </a:t>
            </a:r>
            <a:r>
              <a:rPr lang="en-US" sz="3000" dirty="0" err="1"/>
              <a:t>tượng</a:t>
            </a:r>
            <a:endParaRPr lang="en-US" sz="3000" dirty="0"/>
          </a:p>
        </p:txBody>
      </p:sp>
      <p:sp>
        <p:nvSpPr>
          <p:cNvPr id="28" name="TextBox 27">
            <a:extLst>
              <a:ext uri="{FF2B5EF4-FFF2-40B4-BE49-F238E27FC236}">
                <a16:creationId xmlns:a16="http://schemas.microsoft.com/office/drawing/2014/main" id="{5375F628-9CCE-4BA6-A88F-344D996A33D6}"/>
              </a:ext>
            </a:extLst>
          </p:cNvPr>
          <p:cNvSpPr txBox="1"/>
          <p:nvPr/>
        </p:nvSpPr>
        <p:spPr>
          <a:xfrm>
            <a:off x="9500364" y="5312340"/>
            <a:ext cx="4283672" cy="553998"/>
          </a:xfrm>
          <a:prstGeom prst="rect">
            <a:avLst/>
          </a:prstGeom>
          <a:noFill/>
        </p:spPr>
        <p:txBody>
          <a:bodyPr wrap="square" rtlCol="0">
            <a:spAutoFit/>
          </a:bodyPr>
          <a:lstStyle/>
          <a:p>
            <a:pPr algn="ctr"/>
            <a:r>
              <a:rPr lang="en-US" sz="3000" dirty="0" err="1"/>
              <a:t>Tạo</a:t>
            </a:r>
            <a:r>
              <a:rPr lang="en-US" sz="3000" dirty="0"/>
              <a:t> ra</a:t>
            </a:r>
          </a:p>
        </p:txBody>
      </p:sp>
      <p:sp>
        <p:nvSpPr>
          <p:cNvPr id="29" name="Text Box 14">
            <a:extLst>
              <a:ext uri="{FF2B5EF4-FFF2-40B4-BE49-F238E27FC236}">
                <a16:creationId xmlns:a16="http://schemas.microsoft.com/office/drawing/2014/main" id="{10377ABF-84E0-46C3-AD34-6F1B48D4F4B1}"/>
              </a:ext>
            </a:extLst>
          </p:cNvPr>
          <p:cNvSpPr txBox="1">
            <a:spLocks noChangeArrowheads="1"/>
          </p:cNvSpPr>
          <p:nvPr/>
        </p:nvSpPr>
        <p:spPr bwMode="ltGray">
          <a:xfrm>
            <a:off x="1630219" y="9049861"/>
            <a:ext cx="15522574" cy="367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lnSpc>
                <a:spcPct val="150000"/>
              </a:lnSpc>
            </a:pPr>
            <a:r>
              <a:rPr lang="en-US" altLang="en-US" sz="4000" dirty="0" err="1">
                <a:solidFill>
                  <a:srgbClr val="002060"/>
                </a:solidFill>
                <a:latin typeface="Arial" panose="020B0604020202020204" pitchFamily="34" charset="0"/>
                <a:sym typeface="Wingdings" panose="05000000000000000000" pitchFamily="2" charset="2"/>
              </a:rPr>
              <a:t>Muốn</a:t>
            </a:r>
            <a:r>
              <a:rPr lang="en-US" altLang="en-US" sz="4000" dirty="0">
                <a:solidFill>
                  <a:srgbClr val="002060"/>
                </a:solidFill>
                <a:latin typeface="Arial" panose="020B0604020202020204" pitchFamily="34" charset="0"/>
                <a:sym typeface="Wingdings" panose="05000000000000000000" pitchFamily="2" charset="2"/>
              </a:rPr>
              <a:t>: GT H’ &gt; GT H </a:t>
            </a:r>
            <a:r>
              <a:rPr lang="en-US" altLang="en-US" sz="4000" dirty="0" err="1">
                <a:solidFill>
                  <a:srgbClr val="002060"/>
                </a:solidFill>
                <a:latin typeface="Arial" panose="020B0604020202020204" pitchFamily="34" charset="0"/>
                <a:sym typeface="Wingdings" panose="05000000000000000000" pitchFamily="2" charset="2"/>
              </a:rPr>
              <a:t>thì</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a:solidFill>
                  <a:srgbClr val="00B050"/>
                </a:solidFill>
                <a:latin typeface="Arial" panose="020B0604020202020204" pitchFamily="34" charset="0"/>
                <a:sym typeface="Wingdings" panose="05000000000000000000" pitchFamily="2" charset="2"/>
              </a:rPr>
              <a:t>GT </a:t>
            </a:r>
            <a:r>
              <a:rPr lang="en-US" altLang="en-US" sz="4000" dirty="0" err="1">
                <a:solidFill>
                  <a:srgbClr val="00B050"/>
                </a:solidFill>
                <a:latin typeface="Arial" panose="020B0604020202020204" pitchFamily="34" charset="0"/>
                <a:sym typeface="Wingdings" panose="05000000000000000000" pitchFamily="2" charset="2"/>
              </a:rPr>
              <a:t>cũ</a:t>
            </a:r>
            <a:r>
              <a:rPr lang="en-US" altLang="en-US" sz="4000" dirty="0">
                <a:solidFill>
                  <a:srgbClr val="00B050"/>
                </a:solidFill>
                <a:latin typeface="Arial" panose="020B0604020202020204" pitchFamily="34" charset="0"/>
                <a:sym typeface="Wingdings" panose="05000000000000000000" pitchFamily="2" charset="2"/>
              </a:rPr>
              <a:t> </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a:solidFill>
                  <a:srgbClr val="FF0000"/>
                </a:solidFill>
                <a:latin typeface="Arial" panose="020B0604020202020204" pitchFamily="34" charset="0"/>
                <a:sym typeface="Wingdings" panose="05000000000000000000" pitchFamily="2" charset="2"/>
              </a:rPr>
              <a:t>GT </a:t>
            </a:r>
            <a:r>
              <a:rPr lang="en-US" altLang="en-US" sz="4000" dirty="0" err="1">
                <a:solidFill>
                  <a:srgbClr val="FF0000"/>
                </a:solidFill>
                <a:latin typeface="Arial" panose="020B0604020202020204" pitchFamily="34" charset="0"/>
                <a:sym typeface="Wingdings" panose="05000000000000000000" pitchFamily="2" charset="2"/>
              </a:rPr>
              <a:t>mới</a:t>
            </a:r>
            <a:r>
              <a:rPr lang="en-US" altLang="en-US" sz="4000" dirty="0">
                <a:solidFill>
                  <a:srgbClr val="002060"/>
                </a:solidFill>
                <a:latin typeface="Arial" panose="020B0604020202020204" pitchFamily="34" charset="0"/>
                <a:sym typeface="Wingdings" panose="05000000000000000000" pitchFamily="2" charset="2"/>
              </a:rPr>
              <a:t>] &gt; [</a:t>
            </a:r>
            <a:r>
              <a:rPr lang="en-US" altLang="en-US" sz="4000" dirty="0">
                <a:solidFill>
                  <a:srgbClr val="00B050"/>
                </a:solidFill>
                <a:latin typeface="Arial" panose="020B0604020202020204" pitchFamily="34" charset="0"/>
                <a:sym typeface="Wingdings" panose="05000000000000000000" pitchFamily="2" charset="2"/>
              </a:rPr>
              <a:t>GT TLSX </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a:solidFill>
                  <a:srgbClr val="FF0000"/>
                </a:solidFill>
                <a:latin typeface="Arial" panose="020B0604020202020204" pitchFamily="34" charset="0"/>
                <a:sym typeface="Wingdings" panose="05000000000000000000" pitchFamily="2" charset="2"/>
              </a:rPr>
              <a:t>GTSLĐ</a:t>
            </a:r>
            <a:r>
              <a:rPr lang="en-US" altLang="en-US" sz="4000" dirty="0">
                <a:solidFill>
                  <a:srgbClr val="002060"/>
                </a:solidFill>
                <a:latin typeface="Arial" panose="020B0604020202020204" pitchFamily="34" charset="0"/>
                <a:sym typeface="Wingdings" panose="05000000000000000000" pitchFamily="2" charset="2"/>
              </a:rPr>
              <a:t>]</a:t>
            </a:r>
          </a:p>
          <a:p>
            <a:pPr algn="just">
              <a:lnSpc>
                <a:spcPct val="150000"/>
              </a:lnSpc>
            </a:pPr>
            <a:r>
              <a:rPr lang="en-US" altLang="en-US" sz="4000" dirty="0" err="1">
                <a:solidFill>
                  <a:srgbClr val="002060"/>
                </a:solidFill>
                <a:latin typeface="Arial" panose="020B0604020202020204" pitchFamily="34" charset="0"/>
                <a:sym typeface="Wingdings" panose="05000000000000000000" pitchFamily="2" charset="2"/>
              </a:rPr>
              <a:t>Mà</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a:solidFill>
                  <a:srgbClr val="00B050"/>
                </a:solidFill>
                <a:latin typeface="Arial" panose="020B0604020202020204" pitchFamily="34" charset="0"/>
                <a:sym typeface="Wingdings" panose="05000000000000000000" pitchFamily="2" charset="2"/>
              </a:rPr>
              <a:t>GT TLSX </a:t>
            </a:r>
            <a:r>
              <a:rPr lang="en-US" altLang="en-US" sz="4000" dirty="0" err="1">
                <a:solidFill>
                  <a:srgbClr val="002060"/>
                </a:solidFill>
                <a:latin typeface="Arial" panose="020B0604020202020204" pitchFamily="34" charset="0"/>
                <a:sym typeface="Wingdings" panose="05000000000000000000" pitchFamily="2" charset="2"/>
              </a:rPr>
              <a:t>hoàn</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nguyên</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vào</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a:solidFill>
                  <a:srgbClr val="00B050"/>
                </a:solidFill>
                <a:latin typeface="Arial" panose="020B0604020202020204" pitchFamily="34" charset="0"/>
                <a:sym typeface="Wingdings" panose="05000000000000000000" pitchFamily="2" charset="2"/>
              </a:rPr>
              <a:t>GT </a:t>
            </a:r>
            <a:r>
              <a:rPr lang="en-US" altLang="en-US" sz="4000" dirty="0" err="1">
                <a:solidFill>
                  <a:srgbClr val="00B050"/>
                </a:solidFill>
                <a:latin typeface="Arial" panose="020B0604020202020204" pitchFamily="34" charset="0"/>
                <a:sym typeface="Wingdings" panose="05000000000000000000" pitchFamily="2" charset="2"/>
              </a:rPr>
              <a:t>cũ</a:t>
            </a:r>
            <a:r>
              <a:rPr lang="en-US" altLang="en-US" sz="4000" dirty="0">
                <a:solidFill>
                  <a:srgbClr val="00B050"/>
                </a:solidFill>
                <a:latin typeface="Arial" panose="020B0604020202020204" pitchFamily="34" charset="0"/>
                <a:sym typeface="Wingdings" panose="05000000000000000000" pitchFamily="2" charset="2"/>
              </a:rPr>
              <a:t> </a:t>
            </a:r>
            <a:r>
              <a:rPr lang="en-US" altLang="en-US" sz="4000" dirty="0" err="1">
                <a:latin typeface="Arial" panose="020B0604020202020204" pitchFamily="34" charset="0"/>
                <a:sym typeface="Wingdings" panose="05000000000000000000" pitchFamily="2" charset="2"/>
              </a:rPr>
              <a:t>nhờ</a:t>
            </a:r>
            <a:r>
              <a:rPr lang="en-US" altLang="en-US" sz="4000" dirty="0">
                <a:latin typeface="Arial" panose="020B0604020202020204" pitchFamily="34" charset="0"/>
                <a:sym typeface="Wingdings" panose="05000000000000000000" pitchFamily="2" charset="2"/>
              </a:rPr>
              <a:t> LĐCT</a:t>
            </a:r>
            <a:endParaRPr lang="en-US" altLang="en-US" sz="4000" dirty="0">
              <a:solidFill>
                <a:srgbClr val="00B050"/>
              </a:solidFill>
              <a:latin typeface="Arial" panose="020B0604020202020204" pitchFamily="34" charset="0"/>
              <a:sym typeface="Wingdings" panose="05000000000000000000" pitchFamily="2" charset="2"/>
            </a:endParaRPr>
          </a:p>
          <a:p>
            <a:pPr algn="just">
              <a:lnSpc>
                <a:spcPct val="150000"/>
              </a:lnSpc>
            </a:pPr>
            <a:r>
              <a:rPr lang="en-US" altLang="en-US" sz="4000" dirty="0" err="1">
                <a:solidFill>
                  <a:srgbClr val="002060"/>
                </a:solidFill>
                <a:latin typeface="Arial" panose="020B0604020202020204" pitchFamily="34" charset="0"/>
                <a:sym typeface="Wingdings" panose="05000000000000000000" pitchFamily="2" charset="2"/>
              </a:rPr>
              <a:t>Vậy</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chỉ</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có</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thể</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a:solidFill>
                  <a:srgbClr val="FF0000"/>
                </a:solidFill>
                <a:latin typeface="Arial" panose="020B0604020202020204" pitchFamily="34" charset="0"/>
                <a:sym typeface="Wingdings" panose="05000000000000000000" pitchFamily="2" charset="2"/>
              </a:rPr>
              <a:t>GTSLĐ</a:t>
            </a:r>
            <a:r>
              <a:rPr lang="en-US" altLang="en-US" sz="4000" dirty="0">
                <a:solidFill>
                  <a:srgbClr val="002060"/>
                </a:solidFill>
                <a:latin typeface="Arial" panose="020B0604020202020204" pitchFamily="34" charset="0"/>
                <a:sym typeface="Wingdings" panose="05000000000000000000" pitchFamily="2" charset="2"/>
              </a:rPr>
              <a:t>  </a:t>
            </a:r>
            <a:r>
              <a:rPr lang="en-US" altLang="en-US" sz="4000" dirty="0">
                <a:solidFill>
                  <a:srgbClr val="FF0000"/>
                </a:solidFill>
                <a:latin typeface="Arial" panose="020B0604020202020204" pitchFamily="34" charset="0"/>
                <a:sym typeface="Wingdings" panose="05000000000000000000" pitchFamily="2" charset="2"/>
              </a:rPr>
              <a:t>GT </a:t>
            </a:r>
            <a:r>
              <a:rPr lang="en-US" altLang="en-US" sz="4000" dirty="0" err="1">
                <a:solidFill>
                  <a:srgbClr val="FF0000"/>
                </a:solidFill>
                <a:latin typeface="Arial" panose="020B0604020202020204" pitchFamily="34" charset="0"/>
                <a:sym typeface="Wingdings" panose="05000000000000000000" pitchFamily="2" charset="2"/>
              </a:rPr>
              <a:t>mới</a:t>
            </a:r>
            <a:r>
              <a:rPr lang="en-US" altLang="en-US" sz="4000" dirty="0">
                <a:solidFill>
                  <a:srgbClr val="FF000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lớn</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hơn</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chính</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nó</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nhờ</a:t>
            </a:r>
            <a:r>
              <a:rPr lang="en-US" altLang="en-US" sz="4000" dirty="0">
                <a:solidFill>
                  <a:srgbClr val="002060"/>
                </a:solidFill>
                <a:latin typeface="Arial" panose="020B0604020202020204" pitchFamily="34" charset="0"/>
                <a:sym typeface="Wingdings" panose="05000000000000000000" pitchFamily="2" charset="2"/>
              </a:rPr>
              <a:t> LĐTT</a:t>
            </a:r>
          </a:p>
          <a:p>
            <a:pPr algn="just">
              <a:lnSpc>
                <a:spcPct val="150000"/>
              </a:lnSpc>
            </a:pP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Hàng</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hóa</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đặc</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biệt</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là</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hàng</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hóa</a:t>
            </a:r>
            <a:r>
              <a:rPr lang="en-US" altLang="en-US" sz="4000" dirty="0">
                <a:solidFill>
                  <a:srgbClr val="002060"/>
                </a:solidFill>
                <a:latin typeface="Arial" panose="020B0604020202020204" pitchFamily="34" charset="0"/>
                <a:sym typeface="Wingdings" panose="05000000000000000000" pitchFamily="2" charset="2"/>
              </a:rPr>
              <a:t> SỨC LAO ĐỘNG</a:t>
            </a:r>
            <a:endParaRPr lang="vi-VN" altLang="en-US" sz="4000" dirty="0">
              <a:solidFill>
                <a:srgbClr val="002060"/>
              </a:solidFill>
              <a:latin typeface="Arial" panose="020B0604020202020204" pitchFamily="34" charset="0"/>
              <a:sym typeface="Wingdings" panose="05000000000000000000" pitchFamily="2" charset="2"/>
            </a:endParaRPr>
          </a:p>
        </p:txBody>
      </p:sp>
      <p:sp>
        <p:nvSpPr>
          <p:cNvPr id="30" name="Text Box 14">
            <a:extLst>
              <a:ext uri="{FF2B5EF4-FFF2-40B4-BE49-F238E27FC236}">
                <a16:creationId xmlns:a16="http://schemas.microsoft.com/office/drawing/2014/main" id="{47B3A877-7BE2-4D9E-9419-204700D2110B}"/>
              </a:ext>
            </a:extLst>
          </p:cNvPr>
          <p:cNvSpPr txBox="1">
            <a:spLocks noChangeArrowheads="1"/>
          </p:cNvSpPr>
          <p:nvPr/>
        </p:nvSpPr>
        <p:spPr bwMode="ltGray">
          <a:xfrm>
            <a:off x="1630219" y="2967531"/>
            <a:ext cx="14211074" cy="901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lnSpc>
                <a:spcPct val="150000"/>
              </a:lnSpc>
            </a:pPr>
            <a:r>
              <a:rPr lang="en-US" altLang="en-US" sz="4000" b="1" dirty="0">
                <a:solidFill>
                  <a:srgbClr val="002060"/>
                </a:solidFill>
                <a:latin typeface="Arial" panose="020B0604020202020204" pitchFamily="34" charset="0"/>
                <a:sym typeface="Wingdings" panose="05000000000000000000" pitchFamily="2" charset="2"/>
              </a:rPr>
              <a:t>Theo </a:t>
            </a:r>
            <a:r>
              <a:rPr lang="en-US" altLang="en-US" sz="4000" b="1" dirty="0" err="1">
                <a:solidFill>
                  <a:srgbClr val="002060"/>
                </a:solidFill>
                <a:latin typeface="Arial" panose="020B0604020202020204" pitchFamily="34" charset="0"/>
                <a:sym typeface="Wingdings" panose="05000000000000000000" pitchFamily="2" charset="2"/>
              </a:rPr>
              <a:t>lý</a:t>
            </a:r>
            <a:r>
              <a:rPr lang="en-US" altLang="en-US" sz="4000" b="1" dirty="0">
                <a:solidFill>
                  <a:srgbClr val="002060"/>
                </a:solidFill>
                <a:latin typeface="Arial" panose="020B0604020202020204" pitchFamily="34" charset="0"/>
                <a:sym typeface="Wingdings" panose="05000000000000000000" pitchFamily="2" charset="2"/>
              </a:rPr>
              <a:t> </a:t>
            </a:r>
            <a:r>
              <a:rPr lang="en-US" altLang="en-US" sz="4000" b="1" dirty="0" err="1">
                <a:solidFill>
                  <a:srgbClr val="002060"/>
                </a:solidFill>
                <a:latin typeface="Arial" panose="020B0604020202020204" pitchFamily="34" charset="0"/>
                <a:sym typeface="Wingdings" panose="05000000000000000000" pitchFamily="2" charset="2"/>
              </a:rPr>
              <a:t>luận</a:t>
            </a:r>
            <a:r>
              <a:rPr lang="en-US" altLang="en-US" sz="4000" b="1" dirty="0">
                <a:solidFill>
                  <a:srgbClr val="002060"/>
                </a:solidFill>
                <a:latin typeface="Arial" panose="020B0604020202020204" pitchFamily="34" charset="0"/>
                <a:sym typeface="Wingdings" panose="05000000000000000000" pitchFamily="2" charset="2"/>
              </a:rPr>
              <a:t> </a:t>
            </a:r>
            <a:r>
              <a:rPr lang="en-US" altLang="en-US" sz="4000" b="1" dirty="0" err="1">
                <a:solidFill>
                  <a:srgbClr val="002060"/>
                </a:solidFill>
                <a:latin typeface="Arial" panose="020B0604020202020204" pitchFamily="34" charset="0"/>
                <a:sym typeface="Wingdings" panose="05000000000000000000" pitchFamily="2" charset="2"/>
              </a:rPr>
              <a:t>giá</a:t>
            </a:r>
            <a:r>
              <a:rPr lang="en-US" altLang="en-US" sz="4000" b="1" dirty="0">
                <a:solidFill>
                  <a:srgbClr val="002060"/>
                </a:solidFill>
                <a:latin typeface="Arial" panose="020B0604020202020204" pitchFamily="34" charset="0"/>
                <a:sym typeface="Wingdings" panose="05000000000000000000" pitchFamily="2" charset="2"/>
              </a:rPr>
              <a:t> </a:t>
            </a:r>
            <a:r>
              <a:rPr lang="en-US" altLang="en-US" sz="4000" b="1" dirty="0" err="1">
                <a:solidFill>
                  <a:srgbClr val="002060"/>
                </a:solidFill>
                <a:latin typeface="Arial" panose="020B0604020202020204" pitchFamily="34" charset="0"/>
                <a:sym typeface="Wingdings" panose="05000000000000000000" pitchFamily="2" charset="2"/>
              </a:rPr>
              <a:t>trị</a:t>
            </a:r>
            <a:r>
              <a:rPr lang="en-US" altLang="en-US" sz="4000" b="1" dirty="0">
                <a:solidFill>
                  <a:srgbClr val="002060"/>
                </a:solidFill>
                <a:latin typeface="Arial" panose="020B0604020202020204" pitchFamily="34" charset="0"/>
                <a:sym typeface="Wingdings" panose="05000000000000000000" pitchFamily="2" charset="2"/>
              </a:rPr>
              <a:t> - </a:t>
            </a:r>
            <a:r>
              <a:rPr lang="en-US" altLang="en-US" sz="4000" b="1" dirty="0" err="1">
                <a:solidFill>
                  <a:srgbClr val="002060"/>
                </a:solidFill>
                <a:latin typeface="Arial" panose="020B0604020202020204" pitchFamily="34" charset="0"/>
                <a:sym typeface="Wingdings" panose="05000000000000000000" pitchFamily="2" charset="2"/>
              </a:rPr>
              <a:t>lao</a:t>
            </a:r>
            <a:r>
              <a:rPr lang="en-US" altLang="en-US" sz="4000" b="1" dirty="0">
                <a:solidFill>
                  <a:srgbClr val="002060"/>
                </a:solidFill>
                <a:latin typeface="Arial" panose="020B0604020202020204" pitchFamily="34" charset="0"/>
                <a:sym typeface="Wingdings" panose="05000000000000000000" pitchFamily="2" charset="2"/>
              </a:rPr>
              <a:t> </a:t>
            </a:r>
            <a:r>
              <a:rPr lang="en-US" altLang="en-US" sz="4000" b="1" dirty="0" err="1">
                <a:solidFill>
                  <a:srgbClr val="002060"/>
                </a:solidFill>
                <a:latin typeface="Arial" panose="020B0604020202020204" pitchFamily="34" charset="0"/>
                <a:sym typeface="Wingdings" panose="05000000000000000000" pitchFamily="2" charset="2"/>
              </a:rPr>
              <a:t>động</a:t>
            </a:r>
            <a:r>
              <a:rPr lang="en-US" altLang="en-US" sz="4000" b="1" dirty="0">
                <a:solidFill>
                  <a:srgbClr val="002060"/>
                </a:solidFill>
                <a:latin typeface="Arial" panose="020B0604020202020204" pitchFamily="34" charset="0"/>
                <a:sym typeface="Wingdings" panose="05000000000000000000" pitchFamily="2" charset="2"/>
              </a:rPr>
              <a:t>:</a:t>
            </a:r>
            <a:endParaRPr lang="vi-VN" altLang="en-US" sz="4000" b="1" dirty="0">
              <a:solidFill>
                <a:srgbClr val="FF0000"/>
              </a:solidFill>
              <a:latin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165509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wipe(down)">
                                      <p:cBhvr>
                                        <p:cTn id="7" dur="5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1000"/>
                                        <p:tgtEl>
                                          <p:spTgt spid="19"/>
                                        </p:tgtEl>
                                      </p:cBhvr>
                                    </p:animEffec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0" fill="hold"/>
                                        <p:tgtEl>
                                          <p:spTgt spid="1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1000"/>
                                        <p:tgtEl>
                                          <p:spTgt spid="28"/>
                                        </p:tgtEl>
                                      </p:cBhvr>
                                    </p:animEffect>
                                    <p:anim calcmode="lin" valueType="num">
                                      <p:cBhvr>
                                        <p:cTn id="23" dur="1000" fill="hold"/>
                                        <p:tgtEl>
                                          <p:spTgt spid="28"/>
                                        </p:tgtEl>
                                        <p:attrNameLst>
                                          <p:attrName>ppt_x</p:attrName>
                                        </p:attrNameLst>
                                      </p:cBhvr>
                                      <p:tavLst>
                                        <p:tav tm="0">
                                          <p:val>
                                            <p:strVal val="#ppt_x"/>
                                          </p:val>
                                        </p:tav>
                                        <p:tav tm="100000">
                                          <p:val>
                                            <p:strVal val="#ppt_x"/>
                                          </p:val>
                                        </p:tav>
                                      </p:tavLst>
                                    </p:anim>
                                    <p:anim calcmode="lin" valueType="num">
                                      <p:cBhvr>
                                        <p:cTn id="24" dur="1000" fill="hold"/>
                                        <p:tgtEl>
                                          <p:spTgt spid="2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1000"/>
                                        <p:tgtEl>
                                          <p:spTgt spid="27"/>
                                        </p:tgtEl>
                                      </p:cBhvr>
                                    </p:animEffect>
                                    <p:anim calcmode="lin" valueType="num">
                                      <p:cBhvr>
                                        <p:cTn id="28" dur="1000" fill="hold"/>
                                        <p:tgtEl>
                                          <p:spTgt spid="27"/>
                                        </p:tgtEl>
                                        <p:attrNameLst>
                                          <p:attrName>ppt_x</p:attrName>
                                        </p:attrNameLst>
                                      </p:cBhvr>
                                      <p:tavLst>
                                        <p:tav tm="0">
                                          <p:val>
                                            <p:strVal val="#ppt_x"/>
                                          </p:val>
                                        </p:tav>
                                        <p:tav tm="100000">
                                          <p:val>
                                            <p:strVal val="#ppt_x"/>
                                          </p:val>
                                        </p:tav>
                                      </p:tavLst>
                                    </p:anim>
                                    <p:anim calcmode="lin" valueType="num">
                                      <p:cBhvr>
                                        <p:cTn id="29" dur="1000" fill="hold"/>
                                        <p:tgtEl>
                                          <p:spTgt spid="2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anim calcmode="lin" valueType="num">
                                      <p:cBhvr>
                                        <p:cTn id="33" dur="1000" fill="hold"/>
                                        <p:tgtEl>
                                          <p:spTgt spid="20"/>
                                        </p:tgtEl>
                                        <p:attrNameLst>
                                          <p:attrName>ppt_x</p:attrName>
                                        </p:attrNameLst>
                                      </p:cBhvr>
                                      <p:tavLst>
                                        <p:tav tm="0">
                                          <p:val>
                                            <p:strVal val="#ppt_x"/>
                                          </p:val>
                                        </p:tav>
                                        <p:tav tm="100000">
                                          <p:val>
                                            <p:strVal val="#ppt_x"/>
                                          </p:val>
                                        </p:tav>
                                      </p:tavLst>
                                    </p:anim>
                                    <p:anim calcmode="lin" valueType="num">
                                      <p:cBhvr>
                                        <p:cTn id="34" dur="1000" fill="hold"/>
                                        <p:tgtEl>
                                          <p:spTgt spid="20"/>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1000"/>
                                        <p:tgtEl>
                                          <p:spTgt spid="18"/>
                                        </p:tgtEl>
                                      </p:cBhvr>
                                    </p:animEffect>
                                    <p:anim calcmode="lin" valueType="num">
                                      <p:cBhvr>
                                        <p:cTn id="43" dur="1000" fill="hold"/>
                                        <p:tgtEl>
                                          <p:spTgt spid="18"/>
                                        </p:tgtEl>
                                        <p:attrNameLst>
                                          <p:attrName>ppt_x</p:attrName>
                                        </p:attrNameLst>
                                      </p:cBhvr>
                                      <p:tavLst>
                                        <p:tav tm="0">
                                          <p:val>
                                            <p:strVal val="#ppt_x"/>
                                          </p:val>
                                        </p:tav>
                                        <p:tav tm="100000">
                                          <p:val>
                                            <p:strVal val="#ppt_x"/>
                                          </p:val>
                                        </p:tav>
                                      </p:tavLst>
                                    </p:anim>
                                    <p:anim calcmode="lin" valueType="num">
                                      <p:cBhvr>
                                        <p:cTn id="44" dur="1000" fill="hold"/>
                                        <p:tgtEl>
                                          <p:spTgt spid="18"/>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ppt_x</p:attrName>
                                        </p:attrNameLst>
                                      </p:cBhvr>
                                      <p:tavLst>
                                        <p:tav tm="0">
                                          <p:val>
                                            <p:strVal val="#ppt_x"/>
                                          </p:val>
                                        </p:tav>
                                        <p:tav tm="100000">
                                          <p:val>
                                            <p:strVal val="#ppt_x"/>
                                          </p:val>
                                        </p:tav>
                                      </p:tavLst>
                                    </p:anim>
                                    <p:anim calcmode="lin" valueType="num">
                                      <p:cBhvr>
                                        <p:cTn id="49" dur="100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1000"/>
                                        <p:tgtEl>
                                          <p:spTgt spid="24"/>
                                        </p:tgtEl>
                                      </p:cBhvr>
                                    </p:animEffect>
                                    <p:anim calcmode="lin" valueType="num">
                                      <p:cBhvr>
                                        <p:cTn id="53" dur="1000" fill="hold"/>
                                        <p:tgtEl>
                                          <p:spTgt spid="24"/>
                                        </p:tgtEl>
                                        <p:attrNameLst>
                                          <p:attrName>ppt_x</p:attrName>
                                        </p:attrNameLst>
                                      </p:cBhvr>
                                      <p:tavLst>
                                        <p:tav tm="0">
                                          <p:val>
                                            <p:strVal val="#ppt_x"/>
                                          </p:val>
                                        </p:tav>
                                        <p:tav tm="100000">
                                          <p:val>
                                            <p:strVal val="#ppt_x"/>
                                          </p:val>
                                        </p:tav>
                                      </p:tavLst>
                                    </p:anim>
                                    <p:anim calcmode="lin" valueType="num">
                                      <p:cBhvr>
                                        <p:cTn id="54" dur="1000" fill="hold"/>
                                        <p:tgtEl>
                                          <p:spTgt spid="24"/>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1000"/>
                                        <p:tgtEl>
                                          <p:spTgt spid="25"/>
                                        </p:tgtEl>
                                      </p:cBhvr>
                                    </p:animEffect>
                                    <p:anim calcmode="lin" valueType="num">
                                      <p:cBhvr>
                                        <p:cTn id="58" dur="1000" fill="hold"/>
                                        <p:tgtEl>
                                          <p:spTgt spid="25"/>
                                        </p:tgtEl>
                                        <p:attrNameLst>
                                          <p:attrName>ppt_x</p:attrName>
                                        </p:attrNameLst>
                                      </p:cBhvr>
                                      <p:tavLst>
                                        <p:tav tm="0">
                                          <p:val>
                                            <p:strVal val="#ppt_x"/>
                                          </p:val>
                                        </p:tav>
                                        <p:tav tm="100000">
                                          <p:val>
                                            <p:strVal val="#ppt_x"/>
                                          </p:val>
                                        </p:tav>
                                      </p:tavLst>
                                    </p:anim>
                                    <p:anim calcmode="lin" valueType="num">
                                      <p:cBhvr>
                                        <p:cTn id="59" dur="1000" fill="hold"/>
                                        <p:tgtEl>
                                          <p:spTgt spid="25"/>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1000"/>
                                        <p:tgtEl>
                                          <p:spTgt spid="16"/>
                                        </p:tgtEl>
                                      </p:cBhvr>
                                    </p:animEffect>
                                    <p:anim calcmode="lin" valueType="num">
                                      <p:cBhvr>
                                        <p:cTn id="63" dur="1000" fill="hold"/>
                                        <p:tgtEl>
                                          <p:spTgt spid="16"/>
                                        </p:tgtEl>
                                        <p:attrNameLst>
                                          <p:attrName>ppt_x</p:attrName>
                                        </p:attrNameLst>
                                      </p:cBhvr>
                                      <p:tavLst>
                                        <p:tav tm="0">
                                          <p:val>
                                            <p:strVal val="#ppt_x"/>
                                          </p:val>
                                        </p:tav>
                                        <p:tav tm="100000">
                                          <p:val>
                                            <p:strVal val="#ppt_x"/>
                                          </p:val>
                                        </p:tav>
                                      </p:tavLst>
                                    </p:anim>
                                    <p:anim calcmode="lin" valueType="num">
                                      <p:cBhvr>
                                        <p:cTn id="6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29">
                                            <p:txEl>
                                              <p:pRg st="0" end="0"/>
                                            </p:txEl>
                                          </p:spTgt>
                                        </p:tgtEl>
                                        <p:attrNameLst>
                                          <p:attrName>style.visibility</p:attrName>
                                        </p:attrNameLst>
                                      </p:cBhvr>
                                      <p:to>
                                        <p:strVal val="visible"/>
                                      </p:to>
                                    </p:set>
                                    <p:animEffect transition="in" filter="wipe(down)">
                                      <p:cBhvr>
                                        <p:cTn id="69" dur="500"/>
                                        <p:tgtEl>
                                          <p:spTgt spid="29">
                                            <p:txEl>
                                              <p:pRg st="0" end="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29">
                                            <p:txEl>
                                              <p:pRg st="1" end="1"/>
                                            </p:txEl>
                                          </p:spTgt>
                                        </p:tgtEl>
                                        <p:attrNameLst>
                                          <p:attrName>style.visibility</p:attrName>
                                        </p:attrNameLst>
                                      </p:cBhvr>
                                      <p:to>
                                        <p:strVal val="visible"/>
                                      </p:to>
                                    </p:set>
                                    <p:animEffect transition="in" filter="wipe(down)">
                                      <p:cBhvr>
                                        <p:cTn id="74" dur="500"/>
                                        <p:tgtEl>
                                          <p:spTgt spid="29">
                                            <p:txEl>
                                              <p:pRg st="1" end="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29">
                                            <p:txEl>
                                              <p:pRg st="2" end="2"/>
                                            </p:txEl>
                                          </p:spTgt>
                                        </p:tgtEl>
                                        <p:attrNameLst>
                                          <p:attrName>style.visibility</p:attrName>
                                        </p:attrNameLst>
                                      </p:cBhvr>
                                      <p:to>
                                        <p:strVal val="visible"/>
                                      </p:to>
                                    </p:set>
                                    <p:animEffect transition="in" filter="wipe(down)">
                                      <p:cBhvr>
                                        <p:cTn id="79" dur="500"/>
                                        <p:tgtEl>
                                          <p:spTgt spid="29">
                                            <p:txEl>
                                              <p:pRg st="2" end="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29">
                                            <p:txEl>
                                              <p:pRg st="3" end="3"/>
                                            </p:txEl>
                                          </p:spTgt>
                                        </p:tgtEl>
                                        <p:attrNameLst>
                                          <p:attrName>style.visibility</p:attrName>
                                        </p:attrNameLst>
                                      </p:cBhvr>
                                      <p:to>
                                        <p:strVal val="visible"/>
                                      </p:to>
                                    </p:set>
                                    <p:animEffect transition="in" filter="wipe(down)">
                                      <p:cBhvr>
                                        <p:cTn id="84" dur="500"/>
                                        <p:tgtEl>
                                          <p:spTgt spid="2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4" grpId="0"/>
      <p:bldP spid="25" grpId="0"/>
      <p:bldP spid="27" grpId="0"/>
      <p:bldP spid="28" grpId="0"/>
      <p:bldP spid="29" grpId="0" uiExpand="1" build="p"/>
      <p:bldP spid="30"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FDA7245-2237-598D-13EF-AB6F243ADF96}"/>
              </a:ext>
            </a:extLst>
          </p:cNvPr>
          <p:cNvSpPr txBox="1">
            <a:spLocks/>
          </p:cNvSpPr>
          <p:nvPr/>
        </p:nvSpPr>
        <p:spPr>
          <a:xfrm>
            <a:off x="3184072" y="1088708"/>
            <a:ext cx="10774352" cy="1127124"/>
          </a:xfrm>
          <a:prstGeom prst="rect">
            <a:avLst/>
          </a:prstGeom>
        </p:spPr>
        <p:txBody>
          <a:bodyPr vert="horz" lIns="182880" tIns="91440" rIns="182880" bIns="9144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600" b="1" dirty="0">
                <a:solidFill>
                  <a:srgbClr val="002060"/>
                </a:solidFill>
                <a:latin typeface="Times New Roman" panose="02020603050405020304" pitchFamily="18" charset="0"/>
                <a:ea typeface="Aachen" panose="02020500000000000000" pitchFamily="18" charset="0"/>
                <a:cs typeface="Times New Roman" panose="02020603050405020304" pitchFamily="18" charset="0"/>
              </a:rPr>
              <a:t>3. HÀNG HÓA SỨC LAO ĐỘNG</a:t>
            </a:r>
          </a:p>
        </p:txBody>
      </p:sp>
      <p:sp>
        <p:nvSpPr>
          <p:cNvPr id="5" name="Text Box 14">
            <a:extLst>
              <a:ext uri="{FF2B5EF4-FFF2-40B4-BE49-F238E27FC236}">
                <a16:creationId xmlns:a16="http://schemas.microsoft.com/office/drawing/2014/main" id="{4DBEECBD-3D36-0742-FF81-5379D42414FF}"/>
              </a:ext>
            </a:extLst>
          </p:cNvPr>
          <p:cNvSpPr txBox="1">
            <a:spLocks noChangeArrowheads="1"/>
          </p:cNvSpPr>
          <p:nvPr/>
        </p:nvSpPr>
        <p:spPr bwMode="ltGray">
          <a:xfrm>
            <a:off x="936627" y="2286000"/>
            <a:ext cx="15522574" cy="10123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lnSpc>
                <a:spcPct val="150000"/>
              </a:lnSpc>
            </a:pPr>
            <a:r>
              <a:rPr lang="en-US" altLang="en-US" sz="4400" dirty="0" err="1">
                <a:solidFill>
                  <a:srgbClr val="002060"/>
                </a:solidFill>
                <a:highlight>
                  <a:srgbClr val="FFFF00"/>
                </a:highlight>
                <a:latin typeface="Arial" panose="020B0604020202020204" pitchFamily="34" charset="0"/>
                <a:sym typeface="Wingdings" panose="05000000000000000000" pitchFamily="2" charset="2"/>
              </a:rPr>
              <a:t>Khái</a:t>
            </a:r>
            <a:r>
              <a:rPr lang="en-US" altLang="en-US" sz="4400" dirty="0">
                <a:solidFill>
                  <a:srgbClr val="002060"/>
                </a:solidFill>
                <a:highlight>
                  <a:srgbClr val="FFFF00"/>
                </a:highlight>
                <a:latin typeface="Arial" panose="020B0604020202020204" pitchFamily="34" charset="0"/>
                <a:sym typeface="Wingdings" panose="05000000000000000000" pitchFamily="2" charset="2"/>
              </a:rPr>
              <a:t> </a:t>
            </a:r>
            <a:r>
              <a:rPr lang="en-US" altLang="en-US" sz="4400" dirty="0" err="1">
                <a:solidFill>
                  <a:srgbClr val="002060"/>
                </a:solidFill>
                <a:highlight>
                  <a:srgbClr val="FFFF00"/>
                </a:highlight>
                <a:latin typeface="Arial" panose="020B0604020202020204" pitchFamily="34" charset="0"/>
                <a:sym typeface="Wingdings" panose="05000000000000000000" pitchFamily="2" charset="2"/>
              </a:rPr>
              <a:t>niệm</a:t>
            </a:r>
            <a:r>
              <a:rPr lang="en-US" altLang="en-US" sz="4400" dirty="0">
                <a:solidFill>
                  <a:srgbClr val="002060"/>
                </a:solidFill>
                <a:highlight>
                  <a:srgbClr val="FFFF00"/>
                </a:highlight>
                <a:latin typeface="Arial" panose="020B0604020202020204" pitchFamily="34" charset="0"/>
                <a:sym typeface="Wingdings" panose="05000000000000000000" pitchFamily="2" charset="2"/>
              </a:rPr>
              <a:t> H</a:t>
            </a:r>
            <a:r>
              <a:rPr lang="en-US" altLang="en-US" sz="4400" baseline="30000" dirty="0">
                <a:solidFill>
                  <a:srgbClr val="002060"/>
                </a:solidFill>
                <a:highlight>
                  <a:srgbClr val="FFFF00"/>
                </a:highlight>
                <a:latin typeface="Arial" panose="020B0604020202020204" pitchFamily="34" charset="0"/>
                <a:sym typeface="Wingdings" panose="05000000000000000000" pitchFamily="2" charset="2"/>
              </a:rPr>
              <a:t>2</a:t>
            </a:r>
            <a:r>
              <a:rPr lang="en-US" altLang="en-US" sz="4400" dirty="0">
                <a:solidFill>
                  <a:srgbClr val="002060"/>
                </a:solidFill>
                <a:highlight>
                  <a:srgbClr val="FFFF00"/>
                </a:highlight>
                <a:latin typeface="Arial" panose="020B0604020202020204" pitchFamily="34" charset="0"/>
                <a:sym typeface="Wingdings" panose="05000000000000000000" pitchFamily="2" charset="2"/>
              </a:rPr>
              <a:t> SLĐ</a:t>
            </a:r>
          </a:p>
          <a:p>
            <a:pPr marL="914400" indent="-914400" algn="just">
              <a:lnSpc>
                <a:spcPct val="150000"/>
              </a:lnSpc>
              <a:buFont typeface="Wingdings" panose="05000000000000000000" pitchFamily="2" charset="2"/>
              <a:buChar char="§"/>
            </a:pPr>
            <a:r>
              <a:rPr lang="vi-VN" altLang="en-US" sz="4400" dirty="0">
                <a:solidFill>
                  <a:srgbClr val="002060"/>
                </a:solidFill>
                <a:latin typeface="Arial" panose="020B0604020202020204" pitchFamily="34" charset="0"/>
                <a:sym typeface="Wingdings" panose="05000000000000000000" pitchFamily="2" charset="2"/>
              </a:rPr>
              <a:t>Sức lao động là tổng hợp </a:t>
            </a:r>
            <a:r>
              <a:rPr lang="vi-VN" altLang="en-US" sz="4400" dirty="0">
                <a:solidFill>
                  <a:srgbClr val="FF0000"/>
                </a:solidFill>
                <a:latin typeface="Arial" panose="020B0604020202020204" pitchFamily="34" charset="0"/>
                <a:sym typeface="Wingdings" panose="05000000000000000000" pitchFamily="2" charset="2"/>
              </a:rPr>
              <a:t>sức thân thể </a:t>
            </a:r>
            <a:r>
              <a:rPr lang="vi-VN" altLang="en-US" sz="4400" dirty="0">
                <a:solidFill>
                  <a:srgbClr val="002060"/>
                </a:solidFill>
                <a:latin typeface="Arial" panose="020B0604020202020204" pitchFamily="34" charset="0"/>
                <a:sym typeface="Wingdings" panose="05000000000000000000" pitchFamily="2" charset="2"/>
              </a:rPr>
              <a:t>và </a:t>
            </a:r>
            <a:r>
              <a:rPr lang="vi-VN" altLang="en-US" sz="4400" dirty="0">
                <a:solidFill>
                  <a:srgbClr val="FF0000"/>
                </a:solidFill>
                <a:latin typeface="Arial" panose="020B0604020202020204" pitchFamily="34" charset="0"/>
                <a:sym typeface="Wingdings" panose="05000000000000000000" pitchFamily="2" charset="2"/>
              </a:rPr>
              <a:t>sức tinh thần </a:t>
            </a:r>
            <a:r>
              <a:rPr lang="vi-VN" altLang="en-US" sz="4400" dirty="0">
                <a:solidFill>
                  <a:srgbClr val="002060"/>
                </a:solidFill>
                <a:latin typeface="Arial" panose="020B0604020202020204" pitchFamily="34" charset="0"/>
                <a:sym typeface="Wingdings" panose="05000000000000000000" pitchFamily="2" charset="2"/>
              </a:rPr>
              <a:t>tiềm tàng trong một con người, sức lực mà con người phải vận dụng để </a:t>
            </a:r>
            <a:r>
              <a:rPr lang="vi-VN" altLang="en-US" sz="4400" dirty="0">
                <a:solidFill>
                  <a:srgbClr val="FF0000"/>
                </a:solidFill>
                <a:latin typeface="Arial" panose="020B0604020202020204" pitchFamily="34" charset="0"/>
                <a:sym typeface="Wingdings" panose="05000000000000000000" pitchFamily="2" charset="2"/>
              </a:rPr>
              <a:t>sản xuất ra của cải vật chất</a:t>
            </a:r>
            <a:r>
              <a:rPr lang="vi-VN" altLang="en-US" sz="4400" dirty="0">
                <a:solidFill>
                  <a:srgbClr val="002060"/>
                </a:solidFill>
                <a:latin typeface="Arial" panose="020B0604020202020204" pitchFamily="34" charset="0"/>
                <a:sym typeface="Wingdings" panose="05000000000000000000" pitchFamily="2" charset="2"/>
              </a:rPr>
              <a:t>. </a:t>
            </a:r>
          </a:p>
          <a:p>
            <a:pPr marL="914400" indent="-914400" algn="just">
              <a:lnSpc>
                <a:spcPct val="150000"/>
              </a:lnSpc>
              <a:buFont typeface="Wingdings" panose="05000000000000000000" pitchFamily="2" charset="2"/>
              <a:buChar char="§"/>
            </a:pPr>
            <a:r>
              <a:rPr lang="vi-VN" altLang="en-US" sz="4400" dirty="0">
                <a:solidFill>
                  <a:srgbClr val="002060"/>
                </a:solidFill>
                <a:latin typeface="Arial" panose="020B0604020202020204" pitchFamily="34" charset="0"/>
                <a:sym typeface="Wingdings" panose="05000000000000000000" pitchFamily="2" charset="2"/>
              </a:rPr>
              <a:t>Trong mọi thời đại kinh tế, sức lao động luôn là một trong 3 y</a:t>
            </a:r>
            <a:r>
              <a:rPr lang="en-US" altLang="en-US" sz="4400" dirty="0">
                <a:solidFill>
                  <a:srgbClr val="002060"/>
                </a:solidFill>
                <a:latin typeface="Arial" panose="020B0604020202020204" pitchFamily="34" charset="0"/>
                <a:sym typeface="Wingdings" panose="05000000000000000000" pitchFamily="2" charset="2"/>
              </a:rPr>
              <a:t>ế</a:t>
            </a:r>
            <a:r>
              <a:rPr lang="vi-VN" altLang="en-US" sz="4400" dirty="0">
                <a:solidFill>
                  <a:srgbClr val="002060"/>
                </a:solidFill>
                <a:latin typeface="Arial" panose="020B0604020202020204" pitchFamily="34" charset="0"/>
                <a:sym typeface="Wingdings" panose="05000000000000000000" pitchFamily="2" charset="2"/>
              </a:rPr>
              <a:t>u tố cần thiết cho quá trình lao động sản xuất ra của cải vật chất.</a:t>
            </a:r>
            <a:endParaRPr lang="en-US" altLang="en-US" sz="4400" dirty="0">
              <a:solidFill>
                <a:srgbClr val="002060"/>
              </a:solidFill>
              <a:latin typeface="Arial" panose="020B0604020202020204" pitchFamily="34" charset="0"/>
              <a:sym typeface="Wingdings" panose="05000000000000000000" pitchFamily="2" charset="2"/>
            </a:endParaRPr>
          </a:p>
          <a:p>
            <a:pPr algn="just">
              <a:lnSpc>
                <a:spcPct val="150000"/>
              </a:lnSpc>
            </a:pPr>
            <a:r>
              <a:rPr lang="en-US" altLang="en-US" sz="4400" dirty="0">
                <a:solidFill>
                  <a:srgbClr val="002060"/>
                </a:solidFill>
                <a:highlight>
                  <a:srgbClr val="FFFF00"/>
                </a:highlight>
                <a:latin typeface="Arial" panose="020B0604020202020204" pitchFamily="34" charset="0"/>
                <a:sym typeface="Wingdings" panose="05000000000000000000" pitchFamily="2" charset="2"/>
              </a:rPr>
              <a:t>Hai </a:t>
            </a:r>
            <a:r>
              <a:rPr lang="en-US" altLang="en-US" sz="4400" dirty="0" err="1">
                <a:solidFill>
                  <a:srgbClr val="002060"/>
                </a:solidFill>
                <a:highlight>
                  <a:srgbClr val="FFFF00"/>
                </a:highlight>
                <a:latin typeface="Arial" panose="020B0604020202020204" pitchFamily="34" charset="0"/>
                <a:sym typeface="Wingdings" panose="05000000000000000000" pitchFamily="2" charset="2"/>
              </a:rPr>
              <a:t>điều</a:t>
            </a:r>
            <a:r>
              <a:rPr lang="en-US" altLang="en-US" sz="4400" dirty="0">
                <a:solidFill>
                  <a:srgbClr val="002060"/>
                </a:solidFill>
                <a:highlight>
                  <a:srgbClr val="FFFF00"/>
                </a:highlight>
                <a:latin typeface="Arial" panose="020B0604020202020204" pitchFamily="34" charset="0"/>
                <a:sym typeface="Wingdings" panose="05000000000000000000" pitchFamily="2" charset="2"/>
              </a:rPr>
              <a:t> </a:t>
            </a:r>
            <a:r>
              <a:rPr lang="en-US" altLang="en-US" sz="4400" dirty="0" err="1">
                <a:solidFill>
                  <a:srgbClr val="002060"/>
                </a:solidFill>
                <a:highlight>
                  <a:srgbClr val="FFFF00"/>
                </a:highlight>
                <a:latin typeface="Arial" panose="020B0604020202020204" pitchFamily="34" charset="0"/>
                <a:sym typeface="Wingdings" panose="05000000000000000000" pitchFamily="2" charset="2"/>
              </a:rPr>
              <a:t>kiện</a:t>
            </a:r>
            <a:r>
              <a:rPr lang="en-US" altLang="en-US" sz="4400" dirty="0">
                <a:solidFill>
                  <a:srgbClr val="002060"/>
                </a:solidFill>
                <a:highlight>
                  <a:srgbClr val="FFFF00"/>
                </a:highlight>
                <a:latin typeface="Arial" panose="020B0604020202020204" pitchFamily="34" charset="0"/>
                <a:sym typeface="Wingdings" panose="05000000000000000000" pitchFamily="2" charset="2"/>
              </a:rPr>
              <a:t> </a:t>
            </a:r>
            <a:r>
              <a:rPr lang="en-US" altLang="en-US" sz="4400" dirty="0" err="1">
                <a:solidFill>
                  <a:srgbClr val="002060"/>
                </a:solidFill>
                <a:highlight>
                  <a:srgbClr val="FFFF00"/>
                </a:highlight>
                <a:latin typeface="Arial" panose="020B0604020202020204" pitchFamily="34" charset="0"/>
                <a:sym typeface="Wingdings" panose="05000000000000000000" pitchFamily="2" charset="2"/>
              </a:rPr>
              <a:t>để</a:t>
            </a:r>
            <a:r>
              <a:rPr lang="en-US" altLang="en-US" sz="4400" dirty="0">
                <a:solidFill>
                  <a:srgbClr val="002060"/>
                </a:solidFill>
                <a:highlight>
                  <a:srgbClr val="FFFF00"/>
                </a:highlight>
                <a:latin typeface="Arial" panose="020B0604020202020204" pitchFamily="34" charset="0"/>
                <a:sym typeface="Wingdings" panose="05000000000000000000" pitchFamily="2" charset="2"/>
              </a:rPr>
              <a:t> SLĐ  H</a:t>
            </a:r>
            <a:r>
              <a:rPr lang="en-US" altLang="en-US" sz="4400" baseline="30000" dirty="0">
                <a:solidFill>
                  <a:srgbClr val="002060"/>
                </a:solidFill>
                <a:highlight>
                  <a:srgbClr val="FFFF00"/>
                </a:highlight>
                <a:latin typeface="Arial" panose="020B0604020202020204" pitchFamily="34" charset="0"/>
                <a:sym typeface="Wingdings" panose="05000000000000000000" pitchFamily="2" charset="2"/>
              </a:rPr>
              <a:t>2</a:t>
            </a:r>
          </a:p>
          <a:p>
            <a:pPr marL="685800" indent="-685800" algn="just">
              <a:lnSpc>
                <a:spcPct val="150000"/>
              </a:lnSpc>
              <a:buFont typeface="Wingdings" panose="05000000000000000000" pitchFamily="2" charset="2"/>
              <a:buChar char="§"/>
            </a:pPr>
            <a:r>
              <a:rPr lang="vi-VN" altLang="en-US" sz="4400" dirty="0">
                <a:solidFill>
                  <a:srgbClr val="002060"/>
                </a:solidFill>
                <a:latin typeface="Arial" panose="020B0604020202020204" pitchFamily="34" charset="0"/>
                <a:sym typeface="Wingdings" panose="05000000000000000000" pitchFamily="2" charset="2"/>
              </a:rPr>
              <a:t>Người lao động tự do về thân thể</a:t>
            </a:r>
          </a:p>
          <a:p>
            <a:pPr marL="685800" indent="-685800" algn="just">
              <a:lnSpc>
                <a:spcPct val="150000"/>
              </a:lnSpc>
              <a:buFont typeface="Wingdings" panose="05000000000000000000" pitchFamily="2" charset="2"/>
              <a:buChar char="§"/>
            </a:pPr>
            <a:r>
              <a:rPr lang="vi-VN" altLang="en-US" sz="4400" dirty="0">
                <a:solidFill>
                  <a:srgbClr val="002060"/>
                </a:solidFill>
                <a:latin typeface="Arial" panose="020B0604020202020204" pitchFamily="34" charset="0"/>
                <a:sym typeface="Wingdings" panose="05000000000000000000" pitchFamily="2" charset="2"/>
              </a:rPr>
              <a:t>Người lao động không còn TLSX</a:t>
            </a:r>
          </a:p>
        </p:txBody>
      </p:sp>
    </p:spTree>
    <p:extLst>
      <p:ext uri="{BB962C8B-B14F-4D97-AF65-F5344CB8AC3E}">
        <p14:creationId xmlns:p14="http://schemas.microsoft.com/office/powerpoint/2010/main" val="1053294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down)">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down)">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30900-9AFE-A36A-D675-93264272BB23}"/>
              </a:ext>
            </a:extLst>
          </p:cNvPr>
          <p:cNvSpPr txBox="1">
            <a:spLocks/>
          </p:cNvSpPr>
          <p:nvPr/>
        </p:nvSpPr>
        <p:spPr>
          <a:xfrm>
            <a:off x="3564002" y="1914154"/>
            <a:ext cx="10521024" cy="1127124"/>
          </a:xfrm>
          <a:prstGeom prst="rect">
            <a:avLst/>
          </a:prstGeom>
        </p:spPr>
        <p:txBody>
          <a:bodyPr vert="horz" lIns="182880" tIns="91440" rIns="182880" bIns="9144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600" b="1" dirty="0">
                <a:solidFill>
                  <a:srgbClr val="002060"/>
                </a:solidFill>
                <a:latin typeface="Times New Roman" panose="02020603050405020304" pitchFamily="18" charset="0"/>
                <a:ea typeface="Aachen" panose="02020500000000000000" pitchFamily="18" charset="0"/>
                <a:cs typeface="Times New Roman" panose="02020603050405020304" pitchFamily="18" charset="0"/>
              </a:rPr>
              <a:t>4. HAI THUỘC TÍNH CỦA HÀNG HÓA SỨC LAO ĐỘNG</a:t>
            </a:r>
          </a:p>
        </p:txBody>
      </p:sp>
      <p:sp>
        <p:nvSpPr>
          <p:cNvPr id="3" name="Text Box 14">
            <a:extLst>
              <a:ext uri="{FF2B5EF4-FFF2-40B4-BE49-F238E27FC236}">
                <a16:creationId xmlns:a16="http://schemas.microsoft.com/office/drawing/2014/main" id="{CD54315C-D807-92E9-F6AA-0907095F43FF}"/>
              </a:ext>
            </a:extLst>
          </p:cNvPr>
          <p:cNvSpPr txBox="1">
            <a:spLocks noChangeArrowheads="1"/>
          </p:cNvSpPr>
          <p:nvPr/>
        </p:nvSpPr>
        <p:spPr bwMode="ltGray">
          <a:xfrm>
            <a:off x="1382713" y="3537857"/>
            <a:ext cx="15522574" cy="8288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lnSpc>
                <a:spcPct val="150000"/>
              </a:lnSpc>
            </a:pPr>
            <a:r>
              <a:rPr lang="en-US" altLang="en-US" sz="4000" b="1" dirty="0">
                <a:solidFill>
                  <a:srgbClr val="002060"/>
                </a:solidFill>
                <a:highlight>
                  <a:srgbClr val="FFFF00"/>
                </a:highlight>
                <a:latin typeface="Arial" panose="020B0604020202020204" pitchFamily="34" charset="0"/>
                <a:sym typeface="Wingdings" panose="05000000000000000000" pitchFamily="2" charset="2"/>
              </a:rPr>
              <a:t>GIÁ TRỊ CỦA HH SLĐ</a:t>
            </a:r>
          </a:p>
          <a:p>
            <a:pPr algn="just">
              <a:lnSpc>
                <a:spcPct val="150000"/>
              </a:lnSpc>
            </a:pPr>
            <a:r>
              <a:rPr lang="vi-VN" altLang="en-US" sz="4000" b="1" dirty="0">
                <a:solidFill>
                  <a:srgbClr val="002060"/>
                </a:solidFill>
                <a:highlight>
                  <a:srgbClr val="FFFF00"/>
                </a:highlight>
                <a:latin typeface="Arial" panose="020B0604020202020204" pitchFamily="34" charset="0"/>
                <a:sym typeface="Wingdings" panose="05000000000000000000" pitchFamily="2" charset="2"/>
              </a:rPr>
              <a:t>Thước đo: </a:t>
            </a:r>
            <a:r>
              <a:rPr lang="vi-VN" altLang="en-US" sz="4000" dirty="0">
                <a:solidFill>
                  <a:srgbClr val="002060"/>
                </a:solidFill>
                <a:latin typeface="Arial" panose="020B0604020202020204" pitchFamily="34" charset="0"/>
                <a:sym typeface="Wingdings" panose="05000000000000000000" pitchFamily="2" charset="2"/>
              </a:rPr>
              <a:t>Thời gian LĐ xã hội cần thiết sản xuất ra </a:t>
            </a:r>
            <a:r>
              <a:rPr lang="en-US" altLang="en-US" sz="4000" dirty="0">
                <a:solidFill>
                  <a:srgbClr val="002060"/>
                </a:solidFill>
                <a:latin typeface="Arial" panose="020B0604020202020204" pitchFamily="34" charset="0"/>
                <a:sym typeface="Wingdings" panose="05000000000000000000" pitchFamily="2" charset="2"/>
              </a:rPr>
              <a:t>SLĐ</a:t>
            </a:r>
            <a:endParaRPr lang="vi-VN" altLang="en-US" sz="4000" dirty="0">
              <a:solidFill>
                <a:srgbClr val="002060"/>
              </a:solidFill>
              <a:latin typeface="Arial" panose="020B0604020202020204" pitchFamily="34" charset="0"/>
              <a:sym typeface="Wingdings" panose="05000000000000000000" pitchFamily="2" charset="2"/>
            </a:endParaRPr>
          </a:p>
          <a:p>
            <a:pPr algn="just">
              <a:lnSpc>
                <a:spcPct val="150000"/>
              </a:lnSpc>
            </a:pPr>
            <a:r>
              <a:rPr lang="vi-VN" altLang="en-US" sz="4000" b="1" dirty="0">
                <a:solidFill>
                  <a:srgbClr val="002060"/>
                </a:solidFill>
                <a:highlight>
                  <a:srgbClr val="FFFF00"/>
                </a:highlight>
                <a:latin typeface="Arial" panose="020B0604020202020204" pitchFamily="34" charset="0"/>
                <a:sym typeface="Wingdings" panose="05000000000000000000" pitchFamily="2" charset="2"/>
              </a:rPr>
              <a:t>Đặc thù: </a:t>
            </a:r>
            <a:r>
              <a:rPr lang="en-US" altLang="en-US" sz="4000" dirty="0" err="1">
                <a:solidFill>
                  <a:srgbClr val="002060"/>
                </a:solidFill>
                <a:latin typeface="Arial" panose="020B0604020202020204" pitchFamily="34" charset="0"/>
                <a:sym typeface="Wingdings" panose="05000000000000000000" pitchFamily="2" charset="2"/>
              </a:rPr>
              <a:t>Vì</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gắn</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liền</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với</a:t>
            </a:r>
            <a:r>
              <a:rPr lang="en-US" altLang="en-US" sz="4000" dirty="0">
                <a:solidFill>
                  <a:srgbClr val="002060"/>
                </a:solidFill>
                <a:latin typeface="Arial" panose="020B0604020202020204" pitchFamily="34" charset="0"/>
                <a:sym typeface="Wingdings" panose="05000000000000000000" pitchFamily="2" charset="2"/>
              </a:rPr>
              <a:t> con </a:t>
            </a:r>
            <a:r>
              <a:rPr lang="en-US" altLang="en-US" sz="4000" dirty="0" err="1">
                <a:solidFill>
                  <a:srgbClr val="002060"/>
                </a:solidFill>
                <a:latin typeface="Arial" panose="020B0604020202020204" pitchFamily="34" charset="0"/>
                <a:sym typeface="Wingdings" panose="05000000000000000000" pitchFamily="2" charset="2"/>
              </a:rPr>
              <a:t>người</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nên</a:t>
            </a:r>
            <a:r>
              <a:rPr lang="en-US" altLang="en-US" sz="4000" dirty="0">
                <a:solidFill>
                  <a:srgbClr val="002060"/>
                </a:solidFill>
                <a:latin typeface="Arial" panose="020B0604020202020204" pitchFamily="34" charset="0"/>
                <a:sym typeface="Wingdings" panose="05000000000000000000" pitchFamily="2" charset="2"/>
              </a:rPr>
              <a:t> k</a:t>
            </a:r>
            <a:r>
              <a:rPr lang="vi-VN" altLang="en-US" sz="4000" dirty="0">
                <a:solidFill>
                  <a:srgbClr val="002060"/>
                </a:solidFill>
                <a:latin typeface="Arial" panose="020B0604020202020204" pitchFamily="34" charset="0"/>
                <a:sym typeface="Wingdings" panose="05000000000000000000" pitchFamily="2" charset="2"/>
              </a:rPr>
              <a:t>hông thể đo trực tiếp mà phải đo gián tiếp thông qua </a:t>
            </a:r>
            <a:r>
              <a:rPr lang="en-US" altLang="en-US" sz="4000" dirty="0" err="1">
                <a:solidFill>
                  <a:srgbClr val="002060"/>
                </a:solidFill>
                <a:latin typeface="Arial" panose="020B0604020202020204" pitchFamily="34" charset="0"/>
                <a:sym typeface="Wingdings" panose="05000000000000000000" pitchFamily="2" charset="2"/>
              </a:rPr>
              <a:t>giá</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trị</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của</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những</a:t>
            </a:r>
            <a:r>
              <a:rPr lang="en-US" altLang="en-US" sz="4000" dirty="0">
                <a:solidFill>
                  <a:srgbClr val="002060"/>
                </a:solidFill>
                <a:latin typeface="Arial" panose="020B0604020202020204" pitchFamily="34" charset="0"/>
                <a:sym typeface="Wingdings" panose="05000000000000000000" pitchFamily="2" charset="2"/>
              </a:rPr>
              <a:t> HH </a:t>
            </a:r>
            <a:r>
              <a:rPr lang="en-US" altLang="en-US" sz="4000" dirty="0" err="1">
                <a:solidFill>
                  <a:srgbClr val="002060"/>
                </a:solidFill>
                <a:latin typeface="Arial" panose="020B0604020202020204" pitchFamily="34" charset="0"/>
                <a:sym typeface="Wingdings" panose="05000000000000000000" pitchFamily="2" charset="2"/>
              </a:rPr>
              <a:t>là</a:t>
            </a:r>
            <a:r>
              <a:rPr lang="en-US" altLang="en-US" sz="4000" dirty="0">
                <a:solidFill>
                  <a:srgbClr val="002060"/>
                </a:solidFill>
                <a:latin typeface="Arial" panose="020B0604020202020204" pitchFamily="34" charset="0"/>
                <a:sym typeface="Wingdings" panose="05000000000000000000" pitchFamily="2" charset="2"/>
              </a:rPr>
              <a:t> </a:t>
            </a:r>
            <a:r>
              <a:rPr lang="vi-VN" altLang="en-US" sz="4000" dirty="0">
                <a:solidFill>
                  <a:srgbClr val="002060"/>
                </a:solidFill>
                <a:latin typeface="Arial" panose="020B0604020202020204" pitchFamily="34" charset="0"/>
                <a:sym typeface="Wingdings" panose="05000000000000000000" pitchFamily="2" charset="2"/>
              </a:rPr>
              <a:t>tư liệu </a:t>
            </a:r>
            <a:r>
              <a:rPr lang="en-US" altLang="en-US" sz="4000" dirty="0" err="1">
                <a:solidFill>
                  <a:srgbClr val="002060"/>
                </a:solidFill>
                <a:latin typeface="Arial" panose="020B0604020202020204" pitchFamily="34" charset="0"/>
                <a:sym typeface="Wingdings" panose="05000000000000000000" pitchFamily="2" charset="2"/>
              </a:rPr>
              <a:t>sinh</a:t>
            </a:r>
            <a:r>
              <a:rPr lang="en-US" altLang="en-US" sz="4000" dirty="0">
                <a:solidFill>
                  <a:srgbClr val="002060"/>
                </a:solidFill>
                <a:latin typeface="Arial" panose="020B0604020202020204" pitchFamily="34" charset="0"/>
                <a:sym typeface="Wingdings" panose="05000000000000000000" pitchFamily="2" charset="2"/>
              </a:rPr>
              <a:t> </a:t>
            </a:r>
            <a:r>
              <a:rPr lang="en-US" altLang="en-US" sz="4000" dirty="0" err="1">
                <a:solidFill>
                  <a:srgbClr val="002060"/>
                </a:solidFill>
                <a:latin typeface="Arial" panose="020B0604020202020204" pitchFamily="34" charset="0"/>
                <a:sym typeface="Wingdings" panose="05000000000000000000" pitchFamily="2" charset="2"/>
              </a:rPr>
              <a:t>hoạt</a:t>
            </a:r>
            <a:r>
              <a:rPr lang="vi-VN" altLang="en-US" sz="4000" dirty="0">
                <a:solidFill>
                  <a:srgbClr val="002060"/>
                </a:solidFill>
                <a:latin typeface="Arial" panose="020B0604020202020204" pitchFamily="34" charset="0"/>
                <a:sym typeface="Wingdings" panose="05000000000000000000" pitchFamily="2" charset="2"/>
              </a:rPr>
              <a:t> cần thiết nuôi sống công nhân và gia đình anh ta.</a:t>
            </a:r>
          </a:p>
          <a:p>
            <a:pPr algn="just">
              <a:lnSpc>
                <a:spcPct val="150000"/>
              </a:lnSpc>
            </a:pPr>
            <a:r>
              <a:rPr lang="vi-VN" altLang="en-US" sz="4000" b="1" dirty="0">
                <a:solidFill>
                  <a:srgbClr val="002060"/>
                </a:solidFill>
                <a:highlight>
                  <a:srgbClr val="FFFF00"/>
                </a:highlight>
                <a:latin typeface="Arial" panose="020B0604020202020204" pitchFamily="34" charset="0"/>
                <a:sym typeface="Wingdings" panose="05000000000000000000" pitchFamily="2" charset="2"/>
              </a:rPr>
              <a:t>Cơ cấu</a:t>
            </a:r>
            <a:r>
              <a:rPr lang="en-US" altLang="en-US" sz="4000" b="1" dirty="0">
                <a:solidFill>
                  <a:srgbClr val="002060"/>
                </a:solidFill>
                <a:highlight>
                  <a:srgbClr val="FFFF00"/>
                </a:highlight>
                <a:latin typeface="Arial" panose="020B0604020202020204" pitchFamily="34" charset="0"/>
                <a:sym typeface="Wingdings" panose="05000000000000000000" pitchFamily="2" charset="2"/>
              </a:rPr>
              <a:t>:</a:t>
            </a:r>
          </a:p>
          <a:p>
            <a:pPr algn="just">
              <a:lnSpc>
                <a:spcPct val="150000"/>
              </a:lnSpc>
            </a:pPr>
            <a:r>
              <a:rPr lang="vi-VN" altLang="en-US" sz="4000" dirty="0">
                <a:solidFill>
                  <a:srgbClr val="002060"/>
                </a:solidFill>
                <a:latin typeface="Arial" panose="020B0604020202020204" pitchFamily="34" charset="0"/>
                <a:sym typeface="Wingdings" panose="05000000000000000000" pitchFamily="2" charset="2"/>
              </a:rPr>
              <a:t> Giá trị TLSH cần thiết nuôi sống công nhân.</a:t>
            </a:r>
          </a:p>
          <a:p>
            <a:pPr algn="just">
              <a:lnSpc>
                <a:spcPct val="150000"/>
              </a:lnSpc>
            </a:pPr>
            <a:r>
              <a:rPr lang="vi-VN" altLang="en-US" sz="4000" dirty="0">
                <a:solidFill>
                  <a:srgbClr val="002060"/>
                </a:solidFill>
                <a:latin typeface="Arial" panose="020B0604020202020204" pitchFamily="34" charset="0"/>
                <a:sym typeface="Wingdings" panose="05000000000000000000" pitchFamily="2" charset="2"/>
              </a:rPr>
              <a:t> Giá trị TLSH cần thiết nuôi sống gia đình công nhân</a:t>
            </a:r>
            <a:r>
              <a:rPr lang="en-US" altLang="en-US" sz="4000" dirty="0">
                <a:solidFill>
                  <a:srgbClr val="002060"/>
                </a:solidFill>
                <a:latin typeface="Arial" panose="020B0604020202020204" pitchFamily="34" charset="0"/>
                <a:sym typeface="Wingdings" panose="05000000000000000000" pitchFamily="2" charset="2"/>
              </a:rPr>
              <a:t>.</a:t>
            </a:r>
            <a:endParaRPr lang="vi-VN" altLang="en-US" sz="4000" dirty="0">
              <a:solidFill>
                <a:srgbClr val="002060"/>
              </a:solidFill>
              <a:latin typeface="Arial" panose="020B0604020202020204" pitchFamily="34" charset="0"/>
              <a:sym typeface="Wingdings" panose="05000000000000000000" pitchFamily="2" charset="2"/>
            </a:endParaRPr>
          </a:p>
          <a:p>
            <a:pPr algn="just">
              <a:lnSpc>
                <a:spcPct val="150000"/>
              </a:lnSpc>
            </a:pPr>
            <a:r>
              <a:rPr lang="vi-VN" altLang="en-US" sz="4000" dirty="0">
                <a:solidFill>
                  <a:srgbClr val="002060"/>
                </a:solidFill>
                <a:latin typeface="Arial" panose="020B0604020202020204" pitchFamily="34" charset="0"/>
                <a:sym typeface="Wingdings" panose="05000000000000000000" pitchFamily="2" charset="2"/>
              </a:rPr>
              <a:t> Phí tổn đào tạo tay nghề cho công nhân.</a:t>
            </a:r>
          </a:p>
        </p:txBody>
      </p:sp>
    </p:spTree>
    <p:extLst>
      <p:ext uri="{BB962C8B-B14F-4D97-AF65-F5344CB8AC3E}">
        <p14:creationId xmlns:p14="http://schemas.microsoft.com/office/powerpoint/2010/main" val="254879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4">
            <a:extLst>
              <a:ext uri="{FF2B5EF4-FFF2-40B4-BE49-F238E27FC236}">
                <a16:creationId xmlns:a16="http://schemas.microsoft.com/office/drawing/2014/main" id="{9EF753E9-FE2D-EFB5-CE2F-B3A656241352}"/>
              </a:ext>
            </a:extLst>
          </p:cNvPr>
          <p:cNvSpPr txBox="1">
            <a:spLocks noChangeArrowheads="1"/>
          </p:cNvSpPr>
          <p:nvPr/>
        </p:nvSpPr>
        <p:spPr bwMode="ltGray">
          <a:xfrm>
            <a:off x="1533347" y="3600088"/>
            <a:ext cx="15522574" cy="9038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lnSpc>
                <a:spcPct val="150000"/>
              </a:lnSpc>
            </a:pPr>
            <a:r>
              <a:rPr lang="en-US" altLang="en-US" sz="4000" b="1" dirty="0">
                <a:solidFill>
                  <a:srgbClr val="002060"/>
                </a:solidFill>
                <a:highlight>
                  <a:srgbClr val="FFFF00"/>
                </a:highlight>
                <a:latin typeface="Arial" panose="020B0604020202020204" pitchFamily="34" charset="0"/>
                <a:sym typeface="Wingdings" panose="05000000000000000000" pitchFamily="2" charset="2"/>
              </a:rPr>
              <a:t>GIÁ TRỊ SỬ DỤNG CỦA HH SLĐ</a:t>
            </a:r>
          </a:p>
          <a:p>
            <a:pPr algn="just">
              <a:lnSpc>
                <a:spcPct val="150000"/>
              </a:lnSpc>
            </a:pPr>
            <a:r>
              <a:rPr lang="vi-VN" altLang="en-US" sz="4000" dirty="0">
                <a:solidFill>
                  <a:srgbClr val="002060"/>
                </a:solidFill>
                <a:highlight>
                  <a:srgbClr val="FFFF00"/>
                </a:highlight>
                <a:latin typeface="Arial" panose="020B0604020202020204" pitchFamily="34" charset="0"/>
                <a:sym typeface="Wingdings" panose="05000000000000000000" pitchFamily="2" charset="2"/>
              </a:rPr>
              <a:t>Hình thức biểu hiện: </a:t>
            </a:r>
            <a:r>
              <a:rPr lang="vi-VN" altLang="en-US" sz="4000" dirty="0">
                <a:solidFill>
                  <a:srgbClr val="002060"/>
                </a:solidFill>
                <a:latin typeface="Arial" panose="020B0604020202020204" pitchFamily="34" charset="0"/>
                <a:sym typeface="Wingdings" panose="05000000000000000000" pitchFamily="2" charset="2"/>
              </a:rPr>
              <a:t>quá trình tiêu dùng SLĐ, tức quá trình lao động của người công nhân;</a:t>
            </a:r>
          </a:p>
          <a:p>
            <a:pPr algn="just">
              <a:lnSpc>
                <a:spcPct val="150000"/>
              </a:lnSpc>
            </a:pPr>
            <a:r>
              <a:rPr lang="vi-VN" altLang="en-US" sz="4000" dirty="0">
                <a:solidFill>
                  <a:srgbClr val="002060"/>
                </a:solidFill>
                <a:latin typeface="Arial" panose="020B0604020202020204" pitchFamily="34" charset="0"/>
                <a:sym typeface="Wingdings" panose="05000000000000000000" pitchFamily="2" charset="2"/>
              </a:rPr>
              <a:t>Trong lao động, người công nhân sáng tạo ra </a:t>
            </a:r>
            <a:r>
              <a:rPr lang="vi-VN" altLang="en-US" sz="4000" b="1" dirty="0">
                <a:solidFill>
                  <a:srgbClr val="002060"/>
                </a:solidFill>
                <a:latin typeface="Arial" panose="020B0604020202020204" pitchFamily="34" charset="0"/>
                <a:sym typeface="Wingdings" panose="05000000000000000000" pitchFamily="2" charset="2"/>
              </a:rPr>
              <a:t>giá trị mới</a:t>
            </a:r>
            <a:r>
              <a:rPr lang="vi-VN" altLang="en-US" sz="4000" dirty="0">
                <a:solidFill>
                  <a:srgbClr val="002060"/>
                </a:solidFill>
                <a:latin typeface="Arial" panose="020B0604020202020204" pitchFamily="34" charset="0"/>
                <a:sym typeface="Wingdings" panose="05000000000000000000" pitchFamily="2" charset="2"/>
              </a:rPr>
              <a:t>.</a:t>
            </a:r>
            <a:r>
              <a:rPr lang="en-US" altLang="en-US" sz="4000" dirty="0">
                <a:solidFill>
                  <a:srgbClr val="002060"/>
                </a:solidFill>
                <a:latin typeface="Arial" panose="020B0604020202020204" pitchFamily="34" charset="0"/>
                <a:sym typeface="Wingdings" panose="05000000000000000000" pitchFamily="2" charset="2"/>
              </a:rPr>
              <a:t> </a:t>
            </a:r>
            <a:r>
              <a:rPr lang="vi-VN" altLang="en-US" sz="4000" dirty="0">
                <a:solidFill>
                  <a:srgbClr val="002060"/>
                </a:solidFill>
                <a:highlight>
                  <a:srgbClr val="FFFF00"/>
                </a:highlight>
                <a:latin typeface="Arial" panose="020B0604020202020204" pitchFamily="34" charset="0"/>
                <a:sym typeface="Wingdings" panose="05000000000000000000" pitchFamily="2" charset="2"/>
              </a:rPr>
              <a:t>Khả năng: </a:t>
            </a:r>
            <a:r>
              <a:rPr lang="vi-VN" altLang="en-US" sz="4000" dirty="0">
                <a:solidFill>
                  <a:srgbClr val="002060"/>
                </a:solidFill>
                <a:latin typeface="Arial" panose="020B0604020202020204" pitchFamily="34" charset="0"/>
                <a:sym typeface="Wingdings" panose="05000000000000000000" pitchFamily="2" charset="2"/>
              </a:rPr>
              <a:t>giá trị mới sáng tạo sẽ lớn hơn giá trị SLĐ;</a:t>
            </a:r>
          </a:p>
          <a:p>
            <a:pPr algn="just">
              <a:lnSpc>
                <a:spcPct val="150000"/>
              </a:lnSpc>
            </a:pPr>
            <a:r>
              <a:rPr lang="en-US" altLang="en-US" sz="4000" dirty="0">
                <a:solidFill>
                  <a:srgbClr val="002060"/>
                </a:solidFill>
                <a:latin typeface="Arial" panose="020B0604020202020204" pitchFamily="34" charset="0"/>
                <a:sym typeface="Wingdings" panose="05000000000000000000" pitchFamily="2" charset="2"/>
              </a:rPr>
              <a:t>                      </a:t>
            </a:r>
            <a:r>
              <a:rPr lang="vi-VN" altLang="en-US" sz="4000" b="1" dirty="0">
                <a:solidFill>
                  <a:srgbClr val="FF0000"/>
                </a:solidFill>
                <a:latin typeface="Arial" panose="020B0604020202020204" pitchFamily="34" charset="0"/>
                <a:sym typeface="Wingdings" panose="05000000000000000000" pitchFamily="2" charset="2"/>
              </a:rPr>
              <a:t>GTTD = GT mới – GT SLĐ</a:t>
            </a:r>
            <a:r>
              <a:rPr lang="en-US" altLang="en-US" sz="4000" b="1" dirty="0">
                <a:solidFill>
                  <a:srgbClr val="FF0000"/>
                </a:solidFill>
                <a:latin typeface="Arial" panose="020B0604020202020204" pitchFamily="34" charset="0"/>
                <a:sym typeface="Wingdings" panose="05000000000000000000" pitchFamily="2" charset="2"/>
              </a:rPr>
              <a:t> ban </a:t>
            </a:r>
            <a:r>
              <a:rPr lang="en-US" altLang="en-US" sz="4000" b="1" dirty="0" err="1">
                <a:solidFill>
                  <a:srgbClr val="FF0000"/>
                </a:solidFill>
                <a:latin typeface="Arial" panose="020B0604020202020204" pitchFamily="34" charset="0"/>
                <a:sym typeface="Wingdings" panose="05000000000000000000" pitchFamily="2" charset="2"/>
              </a:rPr>
              <a:t>đầu</a:t>
            </a:r>
            <a:endParaRPr lang="en-US" altLang="en-US" sz="4000" b="1" dirty="0">
              <a:solidFill>
                <a:srgbClr val="FF0000"/>
              </a:solidFill>
              <a:latin typeface="Arial" panose="020B0604020202020204" pitchFamily="34" charset="0"/>
              <a:sym typeface="Wingdings" panose="05000000000000000000" pitchFamily="2" charset="2"/>
            </a:endParaRPr>
          </a:p>
          <a:p>
            <a:pPr algn="ctr">
              <a:lnSpc>
                <a:spcPct val="150000"/>
              </a:lnSpc>
            </a:pPr>
            <a:r>
              <a:rPr lang="en-US" altLang="en-US" sz="4000" b="1" dirty="0">
                <a:solidFill>
                  <a:srgbClr val="FF0000"/>
                </a:solidFill>
                <a:latin typeface="Arial" panose="020B0604020202020204" pitchFamily="34" charset="0"/>
                <a:sym typeface="Wingdings" panose="05000000000000000000" pitchFamily="2" charset="2"/>
              </a:rPr>
              <a:t>GTSLĐ  GT </a:t>
            </a:r>
            <a:r>
              <a:rPr lang="en-US" altLang="en-US" sz="4000" b="1" dirty="0" err="1">
                <a:solidFill>
                  <a:srgbClr val="FF0000"/>
                </a:solidFill>
                <a:latin typeface="Arial" panose="020B0604020202020204" pitchFamily="34" charset="0"/>
                <a:sym typeface="Wingdings" panose="05000000000000000000" pitchFamily="2" charset="2"/>
              </a:rPr>
              <a:t>mới</a:t>
            </a:r>
            <a:r>
              <a:rPr lang="en-US" altLang="en-US" sz="4000" b="1" dirty="0">
                <a:solidFill>
                  <a:srgbClr val="FF0000"/>
                </a:solidFill>
                <a:latin typeface="Arial" panose="020B0604020202020204" pitchFamily="34" charset="0"/>
                <a:sym typeface="Wingdings" panose="05000000000000000000" pitchFamily="2" charset="2"/>
              </a:rPr>
              <a:t> = GT SLĐ ban </a:t>
            </a:r>
            <a:r>
              <a:rPr lang="en-US" altLang="en-US" sz="4000" b="1" dirty="0" err="1">
                <a:solidFill>
                  <a:srgbClr val="FF0000"/>
                </a:solidFill>
                <a:latin typeface="Arial" panose="020B0604020202020204" pitchFamily="34" charset="0"/>
                <a:sym typeface="Wingdings" panose="05000000000000000000" pitchFamily="2" charset="2"/>
              </a:rPr>
              <a:t>đầu</a:t>
            </a:r>
            <a:r>
              <a:rPr lang="en-US" altLang="en-US" sz="4000" b="1" dirty="0">
                <a:solidFill>
                  <a:srgbClr val="FF0000"/>
                </a:solidFill>
                <a:latin typeface="Arial" panose="020B0604020202020204" pitchFamily="34" charset="0"/>
                <a:sym typeface="Wingdings" panose="05000000000000000000" pitchFamily="2" charset="2"/>
              </a:rPr>
              <a:t> + GTTD</a:t>
            </a:r>
            <a:endParaRPr lang="vi-VN" altLang="en-US" sz="4000" b="1" dirty="0">
              <a:solidFill>
                <a:srgbClr val="FF0000"/>
              </a:solidFill>
              <a:latin typeface="Arial" panose="020B0604020202020204" pitchFamily="34" charset="0"/>
              <a:sym typeface="Wingdings" panose="05000000000000000000" pitchFamily="2" charset="2"/>
            </a:endParaRPr>
          </a:p>
          <a:p>
            <a:pPr algn="just">
              <a:lnSpc>
                <a:spcPct val="150000"/>
              </a:lnSpc>
            </a:pPr>
            <a:r>
              <a:rPr lang="vi-VN" altLang="en-US" sz="4000" dirty="0">
                <a:solidFill>
                  <a:srgbClr val="002060"/>
                </a:solidFill>
                <a:latin typeface="Arial" panose="020B0604020202020204" pitchFamily="34" charset="0"/>
                <a:sym typeface="Wingdings" panose="05000000000000000000" pitchFamily="2" charset="2"/>
              </a:rPr>
              <a:t> </a:t>
            </a:r>
            <a:r>
              <a:rPr lang="vi-VN" altLang="en-US" sz="3600" dirty="0">
                <a:solidFill>
                  <a:srgbClr val="002060"/>
                </a:solidFill>
                <a:latin typeface="Arial" panose="020B0604020202020204" pitchFamily="34" charset="0"/>
                <a:sym typeface="Wingdings" panose="05000000000000000000" pitchFamily="2" charset="2"/>
              </a:rPr>
              <a:t>Kết luận: HH SLĐ có GTSD đặc biệt, thể hiện ở chỗ khi sử dụng nó, nó có khả năng sáng </a:t>
            </a:r>
            <a:r>
              <a:rPr lang="vi-VN" altLang="en-US" sz="3600" dirty="0">
                <a:solidFill>
                  <a:srgbClr val="002060"/>
                </a:solidFill>
                <a:highlight>
                  <a:srgbClr val="FFFF00"/>
                </a:highlight>
                <a:latin typeface="Arial" panose="020B0604020202020204" pitchFamily="34" charset="0"/>
                <a:sym typeface="Wingdings" panose="05000000000000000000" pitchFamily="2" charset="2"/>
              </a:rPr>
              <a:t>tạo ra một lượng giá trị mới lớn hơn giá trị bản thân nó, đó chính là nguồn gốc tạo ra GTTD</a:t>
            </a:r>
            <a:endParaRPr lang="vi-VN" altLang="en-US" sz="4000" dirty="0">
              <a:solidFill>
                <a:srgbClr val="002060"/>
              </a:solidFill>
              <a:highlight>
                <a:srgbClr val="FFFF00"/>
              </a:highlight>
              <a:latin typeface="Arial" panose="020B0604020202020204" pitchFamily="34" charset="0"/>
              <a:sym typeface="Wingdings" panose="05000000000000000000" pitchFamily="2" charset="2"/>
            </a:endParaRPr>
          </a:p>
        </p:txBody>
      </p:sp>
      <p:sp>
        <p:nvSpPr>
          <p:cNvPr id="4" name="Title 1">
            <a:extLst>
              <a:ext uri="{FF2B5EF4-FFF2-40B4-BE49-F238E27FC236}">
                <a16:creationId xmlns:a16="http://schemas.microsoft.com/office/drawing/2014/main" id="{8207135E-41F3-4C86-9F38-9089D8DD2662}"/>
              </a:ext>
            </a:extLst>
          </p:cNvPr>
          <p:cNvSpPr txBox="1">
            <a:spLocks/>
          </p:cNvSpPr>
          <p:nvPr/>
        </p:nvSpPr>
        <p:spPr>
          <a:xfrm>
            <a:off x="3564002" y="1914154"/>
            <a:ext cx="10521024" cy="1127124"/>
          </a:xfrm>
          <a:prstGeom prst="rect">
            <a:avLst/>
          </a:prstGeom>
        </p:spPr>
        <p:txBody>
          <a:bodyPr vert="horz" lIns="182880" tIns="91440" rIns="182880" bIns="9144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600" b="1" dirty="0">
                <a:solidFill>
                  <a:srgbClr val="002060"/>
                </a:solidFill>
                <a:latin typeface="Times New Roman" panose="02020603050405020304" pitchFamily="18" charset="0"/>
                <a:ea typeface="Aachen" panose="02020500000000000000" pitchFamily="18" charset="0"/>
                <a:cs typeface="Times New Roman" panose="02020603050405020304" pitchFamily="18" charset="0"/>
              </a:rPr>
              <a:t>4. HAI THUỘC TÍNH CỦA HÀNG HÓA SỨC LAO ĐỘNG</a:t>
            </a:r>
          </a:p>
        </p:txBody>
      </p:sp>
    </p:spTree>
    <p:extLst>
      <p:ext uri="{BB962C8B-B14F-4D97-AF65-F5344CB8AC3E}">
        <p14:creationId xmlns:p14="http://schemas.microsoft.com/office/powerpoint/2010/main" val="257322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B3843A1-23E5-90BB-DFF5-9C1235350549}"/>
              </a:ext>
            </a:extLst>
          </p:cNvPr>
          <p:cNvSpPr txBox="1">
            <a:spLocks/>
          </p:cNvSpPr>
          <p:nvPr/>
        </p:nvSpPr>
        <p:spPr>
          <a:xfrm>
            <a:off x="3078504" y="1568848"/>
            <a:ext cx="12349824" cy="1127124"/>
          </a:xfrm>
          <a:prstGeom prst="rect">
            <a:avLst/>
          </a:prstGeom>
        </p:spPr>
        <p:txBody>
          <a:bodyPr vert="horz" lIns="182880" tIns="91440" rIns="182880" bIns="9144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rgbClr val="002060"/>
                </a:solidFill>
                <a:latin typeface="Times New Roman" panose="02020603050405020304" pitchFamily="18" charset="0"/>
                <a:ea typeface="Aachen" panose="02020500000000000000" pitchFamily="18" charset="0"/>
                <a:cs typeface="Times New Roman" panose="02020603050405020304" pitchFamily="18" charset="0"/>
              </a:rPr>
              <a:t>5. SỰ SẢN XUẤT GIÁ TRỊ THẶNG DƯ</a:t>
            </a:r>
          </a:p>
        </p:txBody>
      </p:sp>
      <p:sp>
        <p:nvSpPr>
          <p:cNvPr id="5" name="Text Box 14">
            <a:extLst>
              <a:ext uri="{FF2B5EF4-FFF2-40B4-BE49-F238E27FC236}">
                <a16:creationId xmlns:a16="http://schemas.microsoft.com/office/drawing/2014/main" id="{8DC3E7FE-2151-C2DC-E8F1-2925D5E6B690}"/>
              </a:ext>
            </a:extLst>
          </p:cNvPr>
          <p:cNvSpPr txBox="1">
            <a:spLocks noChangeArrowheads="1"/>
          </p:cNvSpPr>
          <p:nvPr/>
        </p:nvSpPr>
        <p:spPr bwMode="ltGray">
          <a:xfrm>
            <a:off x="1708787" y="3620335"/>
            <a:ext cx="15522574" cy="8346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lnSpc>
                <a:spcPct val="150000"/>
              </a:lnSpc>
            </a:pPr>
            <a:r>
              <a:rPr lang="vi-VN" altLang="en-US" sz="5200" b="1" dirty="0">
                <a:solidFill>
                  <a:srgbClr val="002060"/>
                </a:solidFill>
                <a:latin typeface="Arial" panose="020B0604020202020204" pitchFamily="34" charset="0"/>
                <a:sym typeface="Wingdings" panose="05000000000000000000" pitchFamily="2" charset="2"/>
              </a:rPr>
              <a:t>Quá trình sản xuất ra giá trị sử dụng:</a:t>
            </a:r>
            <a:endParaRPr lang="en-US" altLang="en-US" sz="5200" b="1" dirty="0">
              <a:solidFill>
                <a:srgbClr val="002060"/>
              </a:solidFill>
              <a:latin typeface="Arial" panose="020B0604020202020204" pitchFamily="34" charset="0"/>
              <a:sym typeface="Wingdings" panose="05000000000000000000" pitchFamily="2" charset="2"/>
            </a:endParaRPr>
          </a:p>
          <a:p>
            <a:pPr algn="just">
              <a:lnSpc>
                <a:spcPct val="150000"/>
              </a:lnSpc>
            </a:pPr>
            <a:r>
              <a:rPr lang="en-US" altLang="en-US" sz="5200" dirty="0">
                <a:solidFill>
                  <a:srgbClr val="002060"/>
                </a:solidFill>
                <a:latin typeface="Arial" panose="020B0604020202020204" pitchFamily="34" charset="0"/>
                <a:sym typeface="Wingdings" panose="05000000000000000000" pitchFamily="2" charset="2"/>
              </a:rPr>
              <a:t>	</a:t>
            </a:r>
            <a:r>
              <a:rPr lang="vi-VN" altLang="en-US" sz="5200" dirty="0">
                <a:solidFill>
                  <a:srgbClr val="002060"/>
                </a:solidFill>
                <a:latin typeface="Arial" panose="020B0604020202020204" pitchFamily="34" charset="0"/>
                <a:sym typeface="Wingdings" panose="05000000000000000000" pitchFamily="2" charset="2"/>
              </a:rPr>
              <a:t>Là quá trình sản xuất ra của cải vật chất, trong đó có </a:t>
            </a:r>
            <a:r>
              <a:rPr lang="en-US" altLang="en-US" sz="5200" dirty="0">
                <a:solidFill>
                  <a:srgbClr val="002060"/>
                </a:solidFill>
                <a:latin typeface="Arial" panose="020B0604020202020204" pitchFamily="34" charset="0"/>
                <a:sym typeface="Wingdings" panose="05000000000000000000" pitchFamily="2" charset="2"/>
              </a:rPr>
              <a:t>	</a:t>
            </a:r>
            <a:r>
              <a:rPr lang="vi-VN" altLang="en-US" sz="5200" dirty="0">
                <a:solidFill>
                  <a:srgbClr val="002060"/>
                </a:solidFill>
                <a:latin typeface="Arial" panose="020B0604020202020204" pitchFamily="34" charset="0"/>
                <a:sym typeface="Wingdings" panose="05000000000000000000" pitchFamily="2" charset="2"/>
              </a:rPr>
              <a:t>sự kết hợp </a:t>
            </a:r>
            <a:r>
              <a:rPr lang="vi-VN" altLang="en-US" sz="5200" dirty="0">
                <a:solidFill>
                  <a:srgbClr val="002060"/>
                </a:solidFill>
                <a:highlight>
                  <a:srgbClr val="FFFF00"/>
                </a:highlight>
                <a:latin typeface="Arial" panose="020B0604020202020204" pitchFamily="34" charset="0"/>
                <a:sym typeface="Wingdings" panose="05000000000000000000" pitchFamily="2" charset="2"/>
              </a:rPr>
              <a:t>tư liệu sản xuất </a:t>
            </a:r>
            <a:r>
              <a:rPr lang="vi-VN" altLang="en-US" sz="5200" dirty="0">
                <a:solidFill>
                  <a:srgbClr val="002060"/>
                </a:solidFill>
                <a:latin typeface="Arial" panose="020B0604020202020204" pitchFamily="34" charset="0"/>
                <a:sym typeface="Wingdings" panose="05000000000000000000" pitchFamily="2" charset="2"/>
              </a:rPr>
              <a:t>và </a:t>
            </a:r>
            <a:r>
              <a:rPr lang="vi-VN" altLang="en-US" sz="5200" dirty="0">
                <a:solidFill>
                  <a:srgbClr val="002060"/>
                </a:solidFill>
                <a:highlight>
                  <a:srgbClr val="FFFF00"/>
                </a:highlight>
                <a:latin typeface="Arial" panose="020B0604020202020204" pitchFamily="34" charset="0"/>
                <a:sym typeface="Wingdings" panose="05000000000000000000" pitchFamily="2" charset="2"/>
              </a:rPr>
              <a:t>sức lao động</a:t>
            </a:r>
            <a:endParaRPr lang="en-US" altLang="en-US" sz="5200" dirty="0">
              <a:solidFill>
                <a:srgbClr val="002060"/>
              </a:solidFill>
              <a:highlight>
                <a:srgbClr val="FFFF00"/>
              </a:highlight>
              <a:latin typeface="Arial" panose="020B0604020202020204" pitchFamily="34" charset="0"/>
              <a:sym typeface="Wingdings" panose="05000000000000000000" pitchFamily="2" charset="2"/>
            </a:endParaRPr>
          </a:p>
          <a:p>
            <a:pPr algn="just">
              <a:lnSpc>
                <a:spcPct val="150000"/>
              </a:lnSpc>
            </a:pPr>
            <a:r>
              <a:rPr lang="vi-VN" altLang="en-US" sz="5200" b="1" dirty="0">
                <a:solidFill>
                  <a:srgbClr val="002060"/>
                </a:solidFill>
                <a:latin typeface="Arial" panose="020B0604020202020204" pitchFamily="34" charset="0"/>
                <a:sym typeface="Wingdings" panose="05000000000000000000" pitchFamily="2" charset="2"/>
              </a:rPr>
              <a:t>Đặc điểm của quá trình sản xuất ra GTSD:</a:t>
            </a:r>
          </a:p>
          <a:p>
            <a:pPr algn="just">
              <a:lnSpc>
                <a:spcPct val="150000"/>
              </a:lnSpc>
            </a:pPr>
            <a:r>
              <a:rPr lang="en-US" altLang="en-US" sz="5200" dirty="0">
                <a:solidFill>
                  <a:srgbClr val="002060"/>
                </a:solidFill>
                <a:latin typeface="Arial" panose="020B0604020202020204" pitchFamily="34" charset="0"/>
                <a:sym typeface="Wingdings" panose="05000000000000000000" pitchFamily="2" charset="2"/>
              </a:rPr>
              <a:t>	+ </a:t>
            </a:r>
            <a:r>
              <a:rPr lang="vi-VN" altLang="en-US" sz="5200" dirty="0">
                <a:solidFill>
                  <a:srgbClr val="002060"/>
                </a:solidFill>
                <a:latin typeface="Arial" panose="020B0604020202020204" pitchFamily="34" charset="0"/>
                <a:sym typeface="Wingdings" panose="05000000000000000000" pitchFamily="2" charset="2"/>
              </a:rPr>
              <a:t>TLSX và SLĐ </a:t>
            </a:r>
            <a:r>
              <a:rPr lang="en-US" altLang="en-US" sz="5200" dirty="0" err="1">
                <a:solidFill>
                  <a:srgbClr val="002060"/>
                </a:solidFill>
                <a:latin typeface="Arial" panose="020B0604020202020204" pitchFamily="34" charset="0"/>
                <a:sym typeface="Wingdings" panose="05000000000000000000" pitchFamily="2" charset="2"/>
              </a:rPr>
              <a:t>tập</a:t>
            </a:r>
            <a:r>
              <a:rPr lang="en-US" altLang="en-US" sz="5200" dirty="0">
                <a:solidFill>
                  <a:srgbClr val="002060"/>
                </a:solidFill>
                <a:latin typeface="Arial" panose="020B0604020202020204" pitchFamily="34" charset="0"/>
                <a:sym typeface="Wingdings" panose="05000000000000000000" pitchFamily="2" charset="2"/>
              </a:rPr>
              <a:t> </a:t>
            </a:r>
            <a:r>
              <a:rPr lang="en-US" altLang="en-US" sz="5200" dirty="0" err="1">
                <a:solidFill>
                  <a:srgbClr val="002060"/>
                </a:solidFill>
                <a:latin typeface="Arial" panose="020B0604020202020204" pitchFamily="34" charset="0"/>
                <a:sym typeface="Wingdings" panose="05000000000000000000" pitchFamily="2" charset="2"/>
              </a:rPr>
              <a:t>trung</a:t>
            </a:r>
            <a:r>
              <a:rPr lang="en-US" altLang="en-US" sz="5200" dirty="0">
                <a:solidFill>
                  <a:srgbClr val="002060"/>
                </a:solidFill>
                <a:latin typeface="Arial" panose="020B0604020202020204" pitchFamily="34" charset="0"/>
                <a:sym typeface="Wingdings" panose="05000000000000000000" pitchFamily="2" charset="2"/>
              </a:rPr>
              <a:t> </a:t>
            </a:r>
            <a:r>
              <a:rPr lang="en-US" altLang="en-US" sz="5200" dirty="0" err="1">
                <a:solidFill>
                  <a:srgbClr val="002060"/>
                </a:solidFill>
                <a:latin typeface="Arial" panose="020B0604020202020204" pitchFamily="34" charset="0"/>
                <a:sym typeface="Wingdings" panose="05000000000000000000" pitchFamily="2" charset="2"/>
              </a:rPr>
              <a:t>trong</a:t>
            </a:r>
            <a:r>
              <a:rPr lang="en-US" altLang="en-US" sz="5200" dirty="0">
                <a:solidFill>
                  <a:srgbClr val="002060"/>
                </a:solidFill>
                <a:latin typeface="Arial" panose="020B0604020202020204" pitchFamily="34" charset="0"/>
                <a:sym typeface="Wingdings" panose="05000000000000000000" pitchFamily="2" charset="2"/>
              </a:rPr>
              <a:t> </a:t>
            </a:r>
            <a:r>
              <a:rPr lang="en-US" altLang="en-US" sz="5200" dirty="0" err="1">
                <a:solidFill>
                  <a:srgbClr val="002060"/>
                </a:solidFill>
                <a:latin typeface="Arial" panose="020B0604020202020204" pitchFamily="34" charset="0"/>
                <a:sym typeface="Wingdings" panose="05000000000000000000" pitchFamily="2" charset="2"/>
              </a:rPr>
              <a:t>tay</a:t>
            </a:r>
            <a:r>
              <a:rPr lang="vi-VN" altLang="en-US" sz="5200" dirty="0">
                <a:solidFill>
                  <a:srgbClr val="002060"/>
                </a:solidFill>
                <a:latin typeface="Arial" panose="020B0604020202020204" pitchFamily="34" charset="0"/>
                <a:sym typeface="Wingdings" panose="05000000000000000000" pitchFamily="2" charset="2"/>
              </a:rPr>
              <a:t> nhà TB.</a:t>
            </a:r>
          </a:p>
          <a:p>
            <a:pPr algn="just">
              <a:lnSpc>
                <a:spcPct val="150000"/>
              </a:lnSpc>
            </a:pPr>
            <a:r>
              <a:rPr lang="en-US" altLang="en-US" sz="5200" dirty="0">
                <a:solidFill>
                  <a:srgbClr val="002060"/>
                </a:solidFill>
                <a:latin typeface="Arial" panose="020B0604020202020204" pitchFamily="34" charset="0"/>
                <a:sym typeface="Wingdings" panose="05000000000000000000" pitchFamily="2" charset="2"/>
              </a:rPr>
              <a:t>	+ NTB </a:t>
            </a:r>
            <a:r>
              <a:rPr lang="en-US" altLang="en-US" sz="5200" dirty="0" err="1">
                <a:solidFill>
                  <a:srgbClr val="002060"/>
                </a:solidFill>
                <a:latin typeface="Arial" panose="020B0604020202020204" pitchFamily="34" charset="0"/>
                <a:sym typeface="Wingdings" panose="05000000000000000000" pitchFamily="2" charset="2"/>
              </a:rPr>
              <a:t>kiểm</a:t>
            </a:r>
            <a:r>
              <a:rPr lang="en-US" altLang="en-US" sz="5200" dirty="0">
                <a:solidFill>
                  <a:srgbClr val="002060"/>
                </a:solidFill>
                <a:latin typeface="Arial" panose="020B0604020202020204" pitchFamily="34" charset="0"/>
                <a:sym typeface="Wingdings" panose="05000000000000000000" pitchFamily="2" charset="2"/>
              </a:rPr>
              <a:t> </a:t>
            </a:r>
            <a:r>
              <a:rPr lang="en-US" altLang="en-US" sz="5200" dirty="0" err="1">
                <a:solidFill>
                  <a:srgbClr val="002060"/>
                </a:solidFill>
                <a:latin typeface="Arial" panose="020B0604020202020204" pitchFamily="34" charset="0"/>
                <a:sym typeface="Wingdings" panose="05000000000000000000" pitchFamily="2" charset="2"/>
              </a:rPr>
              <a:t>soát</a:t>
            </a:r>
            <a:r>
              <a:rPr lang="en-US" altLang="en-US" sz="5200" dirty="0">
                <a:solidFill>
                  <a:srgbClr val="002060"/>
                </a:solidFill>
                <a:latin typeface="Arial" panose="020B0604020202020204" pitchFamily="34" charset="0"/>
                <a:sym typeface="Wingdings" panose="05000000000000000000" pitchFamily="2" charset="2"/>
              </a:rPr>
              <a:t> c</a:t>
            </a:r>
            <a:r>
              <a:rPr lang="vi-VN" altLang="en-US" sz="5200" dirty="0">
                <a:solidFill>
                  <a:srgbClr val="002060"/>
                </a:solidFill>
                <a:latin typeface="Arial" panose="020B0604020202020204" pitchFamily="34" charset="0"/>
                <a:sym typeface="Wingdings" panose="05000000000000000000" pitchFamily="2" charset="2"/>
              </a:rPr>
              <a:t>ông nhân làm việc.</a:t>
            </a:r>
          </a:p>
          <a:p>
            <a:pPr algn="just">
              <a:lnSpc>
                <a:spcPct val="150000"/>
              </a:lnSpc>
            </a:pPr>
            <a:r>
              <a:rPr lang="en-US" altLang="en-US" sz="5200" dirty="0">
                <a:solidFill>
                  <a:srgbClr val="002060"/>
                </a:solidFill>
                <a:latin typeface="Arial" panose="020B0604020202020204" pitchFamily="34" charset="0"/>
                <a:sym typeface="Wingdings" panose="05000000000000000000" pitchFamily="2" charset="2"/>
              </a:rPr>
              <a:t>	+ </a:t>
            </a:r>
            <a:r>
              <a:rPr lang="vi-VN" altLang="en-US" sz="5200" dirty="0">
                <a:solidFill>
                  <a:srgbClr val="002060"/>
                </a:solidFill>
                <a:latin typeface="Arial" panose="020B0604020202020204" pitchFamily="34" charset="0"/>
                <a:sym typeface="Wingdings" panose="05000000000000000000" pitchFamily="2" charset="2"/>
              </a:rPr>
              <a:t>Sản phẩm làm ra thuộ</a:t>
            </a:r>
            <a:r>
              <a:rPr lang="en-US" altLang="en-US" sz="5200" dirty="0">
                <a:solidFill>
                  <a:srgbClr val="002060"/>
                </a:solidFill>
                <a:latin typeface="Arial" panose="020B0604020202020204" pitchFamily="34" charset="0"/>
                <a:sym typeface="Wingdings" panose="05000000000000000000" pitchFamily="2" charset="2"/>
              </a:rPr>
              <a:t>c </a:t>
            </a:r>
            <a:r>
              <a:rPr lang="en-US" altLang="en-US" sz="5200" dirty="0" err="1">
                <a:solidFill>
                  <a:srgbClr val="002060"/>
                </a:solidFill>
                <a:latin typeface="Arial" panose="020B0604020202020204" pitchFamily="34" charset="0"/>
                <a:sym typeface="Wingdings" panose="05000000000000000000" pitchFamily="2" charset="2"/>
              </a:rPr>
              <a:t>về</a:t>
            </a:r>
            <a:r>
              <a:rPr lang="vi-VN" altLang="en-US" sz="5200" dirty="0">
                <a:solidFill>
                  <a:srgbClr val="002060"/>
                </a:solidFill>
                <a:latin typeface="Arial" panose="020B0604020202020204" pitchFamily="34" charset="0"/>
                <a:sym typeface="Wingdings" panose="05000000000000000000" pitchFamily="2" charset="2"/>
              </a:rPr>
              <a:t> của nhà TB</a:t>
            </a:r>
          </a:p>
        </p:txBody>
      </p:sp>
    </p:spTree>
    <p:extLst>
      <p:ext uri="{BB962C8B-B14F-4D97-AF65-F5344CB8AC3E}">
        <p14:creationId xmlns:p14="http://schemas.microsoft.com/office/powerpoint/2010/main" val="399746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down)">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down)">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941CD-C235-BB30-3335-2EF5FDF917A1}"/>
              </a:ext>
            </a:extLst>
          </p:cNvPr>
          <p:cNvSpPr txBox="1">
            <a:spLocks/>
          </p:cNvSpPr>
          <p:nvPr/>
        </p:nvSpPr>
        <p:spPr>
          <a:xfrm>
            <a:off x="3192608" y="843916"/>
            <a:ext cx="123498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Ví dụ sự sản xuất giá trị thặng dư</a:t>
            </a:r>
          </a:p>
        </p:txBody>
      </p:sp>
      <p:sp>
        <p:nvSpPr>
          <p:cNvPr id="5" name="Rectangle 3">
            <a:extLst>
              <a:ext uri="{FF2B5EF4-FFF2-40B4-BE49-F238E27FC236}">
                <a16:creationId xmlns:a16="http://schemas.microsoft.com/office/drawing/2014/main" id="{0C68D58D-778E-A88A-4333-144048C3E033}"/>
              </a:ext>
            </a:extLst>
          </p:cNvPr>
          <p:cNvSpPr>
            <a:spLocks noGrp="1" noChangeArrowheads="1"/>
          </p:cNvSpPr>
          <p:nvPr>
            <p:ph type="subTitle" idx="1"/>
          </p:nvPr>
        </p:nvSpPr>
        <p:spPr>
          <a:xfrm>
            <a:off x="1696720" y="1971040"/>
            <a:ext cx="15087600" cy="11226800"/>
          </a:xfrm>
        </p:spPr>
        <p:txBody>
          <a:bodyPr>
            <a:normAutofit fontScale="92500" lnSpcReduction="20000"/>
          </a:bodyPr>
          <a:lstStyle/>
          <a:p>
            <a:pPr algn="just" eaLnBrk="1" hangingPunct="1">
              <a:lnSpc>
                <a:spcPct val="115000"/>
              </a:lnSpc>
              <a:spcBef>
                <a:spcPct val="10000"/>
              </a:spcBef>
            </a:pPr>
            <a:r>
              <a:rPr lang="en-US" altLang="en-US" sz="64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Một</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nhà</a:t>
            </a:r>
            <a:r>
              <a:rPr lang="en-US" altLang="en-US" sz="4000" dirty="0">
                <a:solidFill>
                  <a:schemeClr val="tx1"/>
                </a:solidFill>
                <a:latin typeface="Times New Roman" panose="02020603050405020304" pitchFamily="18" charset="0"/>
                <a:cs typeface="Times New Roman" panose="02020603050405020304" pitchFamily="18" charset="0"/>
              </a:rPr>
              <a:t> TB </a:t>
            </a:r>
            <a:r>
              <a:rPr lang="en-US" altLang="en-US" sz="4000" dirty="0" err="1">
                <a:solidFill>
                  <a:schemeClr val="tx1"/>
                </a:solidFill>
                <a:latin typeface="Times New Roman" panose="02020603050405020304" pitchFamily="18" charset="0"/>
                <a:cs typeface="Times New Roman" panose="02020603050405020304" pitchFamily="18" charset="0"/>
              </a:rPr>
              <a:t>kinh</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doanh</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trong</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lĩnh</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vực</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kéo</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sợi</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tổ</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chức</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quá</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trình</a:t>
            </a:r>
            <a:r>
              <a:rPr lang="en-US" altLang="en-US" sz="4000" dirty="0">
                <a:solidFill>
                  <a:schemeClr val="tx1"/>
                </a:solidFill>
                <a:latin typeface="Times New Roman" panose="02020603050405020304" pitchFamily="18" charset="0"/>
                <a:cs typeface="Times New Roman" panose="02020603050405020304" pitchFamily="18" charset="0"/>
              </a:rPr>
              <a:t> LĐ </a:t>
            </a:r>
            <a:r>
              <a:rPr lang="en-US" altLang="en-US" sz="4000" dirty="0" err="1">
                <a:solidFill>
                  <a:schemeClr val="tx1"/>
                </a:solidFill>
                <a:latin typeface="Times New Roman" panose="02020603050405020304" pitchFamily="18" charset="0"/>
                <a:cs typeface="Times New Roman" panose="02020603050405020304" pitchFamily="18" charset="0"/>
              </a:rPr>
              <a:t>để</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công</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nhân</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chế</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biến</a:t>
            </a:r>
            <a:r>
              <a:rPr lang="en-US" altLang="en-US" sz="4000" dirty="0">
                <a:solidFill>
                  <a:schemeClr val="tx1"/>
                </a:solidFill>
                <a:latin typeface="Times New Roman" panose="02020603050405020304" pitchFamily="18" charset="0"/>
                <a:cs typeface="Times New Roman" panose="02020603050405020304" pitchFamily="18" charset="0"/>
              </a:rPr>
              <a:t> 10 kg </a:t>
            </a:r>
            <a:r>
              <a:rPr lang="en-US" altLang="en-US" sz="4000" dirty="0" err="1">
                <a:solidFill>
                  <a:schemeClr val="tx1"/>
                </a:solidFill>
                <a:latin typeface="Times New Roman" panose="02020603050405020304" pitchFamily="18" charset="0"/>
                <a:cs typeface="Times New Roman" panose="02020603050405020304" pitchFamily="18" charset="0"/>
              </a:rPr>
              <a:t>bông</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thành</a:t>
            </a:r>
            <a:r>
              <a:rPr lang="en-US" altLang="en-US" sz="4000" dirty="0">
                <a:solidFill>
                  <a:schemeClr val="tx1"/>
                </a:solidFill>
                <a:latin typeface="Times New Roman" panose="02020603050405020304" pitchFamily="18" charset="0"/>
                <a:cs typeface="Times New Roman" panose="02020603050405020304" pitchFamily="18" charset="0"/>
              </a:rPr>
              <a:t> 10kg </a:t>
            </a:r>
            <a:r>
              <a:rPr lang="en-US" altLang="en-US" sz="4000" dirty="0" err="1">
                <a:solidFill>
                  <a:schemeClr val="tx1"/>
                </a:solidFill>
                <a:latin typeface="Times New Roman" panose="02020603050405020304" pitchFamily="18" charset="0"/>
                <a:cs typeface="Times New Roman" panose="02020603050405020304" pitchFamily="18" charset="0"/>
              </a:rPr>
              <a:t>sợi</a:t>
            </a:r>
            <a:r>
              <a:rPr lang="en-US" altLang="en-US" sz="4000" dirty="0">
                <a:solidFill>
                  <a:schemeClr val="tx1"/>
                </a:solidFill>
                <a:latin typeface="Times New Roman" panose="02020603050405020304" pitchFamily="18" charset="0"/>
                <a:cs typeface="Times New Roman" panose="02020603050405020304" pitchFamily="18" charset="0"/>
              </a:rPr>
              <a:t>.</a:t>
            </a:r>
          </a:p>
          <a:p>
            <a:pPr algn="just" eaLnBrk="1" hangingPunct="1">
              <a:lnSpc>
                <a:spcPct val="115000"/>
              </a:lnSpc>
              <a:spcBef>
                <a:spcPct val="10000"/>
              </a:spcBef>
            </a:pPr>
            <a:r>
              <a:rPr lang="en-US" altLang="en-US" sz="4000" b="1" u="sng" dirty="0" err="1">
                <a:solidFill>
                  <a:schemeClr val="tx1"/>
                </a:solidFill>
                <a:latin typeface="Times New Roman" panose="02020603050405020304" pitchFamily="18" charset="0"/>
                <a:cs typeface="Times New Roman" panose="02020603050405020304" pitchFamily="18" charset="0"/>
              </a:rPr>
              <a:t>Giả</a:t>
            </a:r>
            <a:r>
              <a:rPr lang="en-US" altLang="en-US" sz="4000" b="1" u="sng" dirty="0">
                <a:solidFill>
                  <a:schemeClr val="tx1"/>
                </a:solidFill>
                <a:latin typeface="Times New Roman" panose="02020603050405020304" pitchFamily="18" charset="0"/>
                <a:cs typeface="Times New Roman" panose="02020603050405020304" pitchFamily="18" charset="0"/>
              </a:rPr>
              <a:t> </a:t>
            </a:r>
            <a:r>
              <a:rPr lang="en-US" altLang="en-US" sz="4000" b="1" u="sng" dirty="0" err="1">
                <a:solidFill>
                  <a:schemeClr val="tx1"/>
                </a:solidFill>
                <a:latin typeface="Times New Roman" panose="02020603050405020304" pitchFamily="18" charset="0"/>
                <a:cs typeface="Times New Roman" panose="02020603050405020304" pitchFamily="18" charset="0"/>
              </a:rPr>
              <a:t>sử</a:t>
            </a:r>
            <a:r>
              <a:rPr lang="en-US" altLang="en-US" sz="4000" b="1" u="sng" dirty="0">
                <a:solidFill>
                  <a:schemeClr val="tx1"/>
                </a:solidFill>
                <a:latin typeface="Times New Roman" panose="02020603050405020304" pitchFamily="18" charset="0"/>
                <a:cs typeface="Times New Roman" panose="02020603050405020304" pitchFamily="18" charset="0"/>
              </a:rPr>
              <a:t>:</a:t>
            </a:r>
          </a:p>
          <a:p>
            <a:pPr algn="just" eaLnBrk="1" hangingPunct="1">
              <a:lnSpc>
                <a:spcPct val="115000"/>
              </a:lnSpc>
              <a:spcBef>
                <a:spcPct val="10000"/>
              </a:spcBef>
            </a:pPr>
            <a:r>
              <a:rPr lang="en-US" altLang="en-US" sz="4000" b="1" dirty="0">
                <a:solidFill>
                  <a:schemeClr val="tx1"/>
                </a:solidFill>
                <a:latin typeface="Times New Roman" panose="02020603050405020304" pitchFamily="18" charset="0"/>
                <a:cs typeface="Times New Roman" panose="02020603050405020304" pitchFamily="18" charset="0"/>
              </a:rPr>
              <a:t>	</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Giá</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trị</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của</a:t>
            </a:r>
            <a:r>
              <a:rPr lang="en-US" altLang="en-US" sz="4000" dirty="0">
                <a:solidFill>
                  <a:schemeClr val="tx1"/>
                </a:solidFill>
                <a:latin typeface="Times New Roman" panose="02020603050405020304" pitchFamily="18" charset="0"/>
                <a:cs typeface="Times New Roman" panose="02020603050405020304" pitchFamily="18" charset="0"/>
              </a:rPr>
              <a:t> 10 kg </a:t>
            </a:r>
            <a:r>
              <a:rPr lang="en-US" altLang="en-US" sz="4000" dirty="0" err="1">
                <a:solidFill>
                  <a:schemeClr val="tx1"/>
                </a:solidFill>
                <a:latin typeface="Times New Roman" panose="02020603050405020304" pitchFamily="18" charset="0"/>
                <a:cs typeface="Times New Roman" panose="02020603050405020304" pitchFamily="18" charset="0"/>
              </a:rPr>
              <a:t>bông</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biểu</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hiện</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thành</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tiền</a:t>
            </a:r>
            <a:r>
              <a:rPr lang="en-US" altLang="en-US" sz="4000" dirty="0">
                <a:solidFill>
                  <a:schemeClr val="tx1"/>
                </a:solidFill>
                <a:latin typeface="Times New Roman" panose="02020603050405020304" pitchFamily="18" charset="0"/>
                <a:cs typeface="Times New Roman" panose="02020603050405020304" pitchFamily="18" charset="0"/>
              </a:rPr>
              <a:t> = 10$</a:t>
            </a:r>
          </a:p>
          <a:p>
            <a:pPr algn="just" eaLnBrk="1" hangingPunct="1">
              <a:lnSpc>
                <a:spcPct val="115000"/>
              </a:lnSpc>
              <a:spcBef>
                <a:spcPct val="10000"/>
              </a:spcBef>
            </a:pPr>
            <a:r>
              <a:rPr lang="en-US" altLang="en-US" sz="4000" dirty="0">
                <a:solidFill>
                  <a:schemeClr val="tx1"/>
                </a:solidFill>
                <a:latin typeface="Times New Roman" panose="02020603050405020304" pitchFamily="18" charset="0"/>
                <a:cs typeface="Times New Roman" panose="02020603050405020304" pitchFamily="18" charset="0"/>
              </a:rPr>
              <a:t>	- Hao </a:t>
            </a:r>
            <a:r>
              <a:rPr lang="en-US" altLang="en-US" sz="4000" dirty="0" err="1">
                <a:solidFill>
                  <a:schemeClr val="tx1"/>
                </a:solidFill>
                <a:latin typeface="Times New Roman" panose="02020603050405020304" pitchFamily="18" charset="0"/>
                <a:cs typeface="Times New Roman" panose="02020603050405020304" pitchFamily="18" charset="0"/>
              </a:rPr>
              <a:t>mòn</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máy</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để</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chế</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biến</a:t>
            </a:r>
            <a:r>
              <a:rPr lang="en-US" altLang="en-US" sz="4000" dirty="0">
                <a:solidFill>
                  <a:schemeClr val="tx1"/>
                </a:solidFill>
                <a:latin typeface="Times New Roman" panose="02020603050405020304" pitchFamily="18" charset="0"/>
                <a:cs typeface="Times New Roman" panose="02020603050405020304" pitchFamily="18" charset="0"/>
              </a:rPr>
              <a:t> 10 kg </a:t>
            </a:r>
            <a:r>
              <a:rPr lang="en-US" altLang="en-US" sz="4000" dirty="0" err="1">
                <a:solidFill>
                  <a:schemeClr val="tx1"/>
                </a:solidFill>
                <a:latin typeface="Times New Roman" panose="02020603050405020304" pitchFamily="18" charset="0"/>
                <a:cs typeface="Times New Roman" panose="02020603050405020304" pitchFamily="18" charset="0"/>
              </a:rPr>
              <a:t>bông</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thành</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sợi</a:t>
            </a:r>
            <a:r>
              <a:rPr lang="en-US" altLang="en-US" sz="4000" dirty="0">
                <a:solidFill>
                  <a:schemeClr val="tx1"/>
                </a:solidFill>
                <a:latin typeface="Times New Roman" panose="02020603050405020304" pitchFamily="18" charset="0"/>
                <a:cs typeface="Times New Roman" panose="02020603050405020304" pitchFamily="18" charset="0"/>
              </a:rPr>
              <a:t> = 2 $</a:t>
            </a:r>
          </a:p>
          <a:p>
            <a:pPr algn="just" eaLnBrk="1" hangingPunct="1">
              <a:lnSpc>
                <a:spcPct val="115000"/>
              </a:lnSpc>
              <a:spcBef>
                <a:spcPct val="10000"/>
              </a:spcBef>
            </a:pPr>
            <a:r>
              <a:rPr lang="en-US" altLang="en-US" sz="4000" dirty="0">
                <a:solidFill>
                  <a:schemeClr val="tx1"/>
                </a:solidFill>
                <a:latin typeface="Times New Roman" panose="02020603050405020304" pitchFamily="18" charset="0"/>
                <a:cs typeface="Times New Roman" panose="02020603050405020304" pitchFamily="18" charset="0"/>
              </a:rPr>
              <a:t>	- </a:t>
            </a:r>
            <a:r>
              <a:rPr lang="en-US" altLang="en-US" sz="4000" dirty="0" err="1">
                <a:solidFill>
                  <a:schemeClr val="tx1"/>
                </a:solidFill>
                <a:latin typeface="Times New Roman" panose="02020603050405020304" pitchFamily="18" charset="0"/>
                <a:cs typeface="Times New Roman" panose="02020603050405020304" pitchFamily="18" charset="0"/>
              </a:rPr>
              <a:t>Thời</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gian</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dệt</a:t>
            </a:r>
            <a:r>
              <a:rPr lang="en-US" altLang="en-US" sz="4000" dirty="0">
                <a:solidFill>
                  <a:schemeClr val="tx1"/>
                </a:solidFill>
                <a:latin typeface="Times New Roman" panose="02020603050405020304" pitchFamily="18" charset="0"/>
                <a:cs typeface="Times New Roman" panose="02020603050405020304" pitchFamily="18" charset="0"/>
              </a:rPr>
              <a:t> 10 kg </a:t>
            </a:r>
            <a:r>
              <a:rPr lang="en-US" altLang="en-US" sz="4000" dirty="0" err="1">
                <a:solidFill>
                  <a:schemeClr val="tx1"/>
                </a:solidFill>
                <a:latin typeface="Times New Roman" panose="02020603050405020304" pitchFamily="18" charset="0"/>
                <a:cs typeface="Times New Roman" panose="02020603050405020304" pitchFamily="18" charset="0"/>
              </a:rPr>
              <a:t>bông</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thành</a:t>
            </a:r>
            <a:r>
              <a:rPr lang="en-US" altLang="en-US" sz="4000" dirty="0">
                <a:solidFill>
                  <a:schemeClr val="tx1"/>
                </a:solidFill>
                <a:latin typeface="Times New Roman" panose="02020603050405020304" pitchFamily="18" charset="0"/>
                <a:cs typeface="Times New Roman" panose="02020603050405020304" pitchFamily="18" charset="0"/>
              </a:rPr>
              <a:t> 10kg </a:t>
            </a:r>
            <a:r>
              <a:rPr lang="en-US" altLang="en-US" sz="4000" dirty="0" err="1">
                <a:solidFill>
                  <a:schemeClr val="tx1"/>
                </a:solidFill>
                <a:latin typeface="Times New Roman" panose="02020603050405020304" pitchFamily="18" charset="0"/>
                <a:cs typeface="Times New Roman" panose="02020603050405020304" pitchFamily="18" charset="0"/>
              </a:rPr>
              <a:t>sợi</a:t>
            </a:r>
            <a:r>
              <a:rPr lang="en-US" altLang="en-US" sz="4000" dirty="0">
                <a:solidFill>
                  <a:schemeClr val="tx1"/>
                </a:solidFill>
                <a:latin typeface="Times New Roman" panose="02020603050405020304" pitchFamily="18" charset="0"/>
                <a:cs typeface="Times New Roman" panose="02020603050405020304" pitchFamily="18" charset="0"/>
              </a:rPr>
              <a:t> = 6 </a:t>
            </a:r>
            <a:r>
              <a:rPr lang="en-US" altLang="en-US" sz="4000" dirty="0" err="1">
                <a:solidFill>
                  <a:schemeClr val="tx1"/>
                </a:solidFill>
                <a:latin typeface="Times New Roman" panose="02020603050405020304" pitchFamily="18" charset="0"/>
                <a:cs typeface="Times New Roman" panose="02020603050405020304" pitchFamily="18" charset="0"/>
              </a:rPr>
              <a:t>giờ</a:t>
            </a:r>
            <a:endParaRPr lang="en-US" altLang="en-US" sz="4000" dirty="0">
              <a:solidFill>
                <a:schemeClr val="tx1"/>
              </a:solidFill>
              <a:latin typeface="Times New Roman" panose="02020603050405020304" pitchFamily="18" charset="0"/>
              <a:cs typeface="Times New Roman" panose="02020603050405020304" pitchFamily="18" charset="0"/>
            </a:endParaRPr>
          </a:p>
          <a:p>
            <a:pPr algn="just" eaLnBrk="1" hangingPunct="1">
              <a:lnSpc>
                <a:spcPct val="115000"/>
              </a:lnSpc>
              <a:spcBef>
                <a:spcPct val="10000"/>
              </a:spcBef>
            </a:pPr>
            <a:r>
              <a:rPr lang="en-US" altLang="en-US" sz="4000" dirty="0">
                <a:solidFill>
                  <a:schemeClr val="tx1"/>
                </a:solidFill>
                <a:latin typeface="Times New Roman" panose="02020603050405020304" pitchFamily="18" charset="0"/>
                <a:cs typeface="Times New Roman" panose="02020603050405020304" pitchFamily="18" charset="0"/>
              </a:rPr>
              <a:t>	- 1 </a:t>
            </a:r>
            <a:r>
              <a:rPr lang="en-US" altLang="en-US" sz="4000" dirty="0" err="1">
                <a:solidFill>
                  <a:schemeClr val="tx1"/>
                </a:solidFill>
                <a:latin typeface="Times New Roman" panose="02020603050405020304" pitchFamily="18" charset="0"/>
                <a:cs typeface="Times New Roman" panose="02020603050405020304" pitchFamily="18" charset="0"/>
              </a:rPr>
              <a:t>giờ</a:t>
            </a:r>
            <a:r>
              <a:rPr lang="en-US" altLang="en-US" sz="4000" dirty="0">
                <a:solidFill>
                  <a:schemeClr val="tx1"/>
                </a:solidFill>
                <a:latin typeface="Times New Roman" panose="02020603050405020304" pitchFamily="18" charset="0"/>
                <a:cs typeface="Times New Roman" panose="02020603050405020304" pitchFamily="18" charset="0"/>
              </a:rPr>
              <a:t> LĐ </a:t>
            </a:r>
            <a:r>
              <a:rPr lang="en-US" altLang="en-US" sz="4000" dirty="0" err="1">
                <a:solidFill>
                  <a:schemeClr val="tx1"/>
                </a:solidFill>
                <a:latin typeface="Times New Roman" panose="02020603050405020304" pitchFamily="18" charset="0"/>
                <a:cs typeface="Times New Roman" panose="02020603050405020304" pitchFamily="18" charset="0"/>
              </a:rPr>
              <a:t>người</a:t>
            </a:r>
            <a:r>
              <a:rPr lang="en-US" altLang="en-US" sz="4000" dirty="0">
                <a:solidFill>
                  <a:schemeClr val="tx1"/>
                </a:solidFill>
                <a:latin typeface="Times New Roman" panose="02020603050405020304" pitchFamily="18" charset="0"/>
                <a:cs typeface="Times New Roman" panose="02020603050405020304" pitchFamily="18" charset="0"/>
              </a:rPr>
              <a:t> CN </a:t>
            </a:r>
            <a:r>
              <a:rPr lang="en-US" altLang="en-US" sz="4000" dirty="0" err="1">
                <a:solidFill>
                  <a:schemeClr val="tx1"/>
                </a:solidFill>
                <a:latin typeface="Times New Roman" panose="02020603050405020304" pitchFamily="18" charset="0"/>
                <a:cs typeface="Times New Roman" panose="02020603050405020304" pitchFamily="18" charset="0"/>
              </a:rPr>
              <a:t>tạo</a:t>
            </a:r>
            <a:r>
              <a:rPr lang="en-US" altLang="en-US" sz="4000" dirty="0">
                <a:solidFill>
                  <a:schemeClr val="tx1"/>
                </a:solidFill>
                <a:latin typeface="Times New Roman" panose="02020603050405020304" pitchFamily="18" charset="0"/>
                <a:cs typeface="Times New Roman" panose="02020603050405020304" pitchFamily="18" charset="0"/>
              </a:rPr>
              <a:t> ra </a:t>
            </a:r>
            <a:r>
              <a:rPr lang="en-US" altLang="en-US" sz="4000" dirty="0" err="1">
                <a:solidFill>
                  <a:schemeClr val="tx1"/>
                </a:solidFill>
                <a:latin typeface="Times New Roman" panose="02020603050405020304" pitchFamily="18" charset="0"/>
                <a:cs typeface="Times New Roman" panose="02020603050405020304" pitchFamily="18" charset="0"/>
              </a:rPr>
              <a:t>giá</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trị</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mới</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là</a:t>
            </a:r>
            <a:r>
              <a:rPr lang="en-US" altLang="en-US" sz="4000" dirty="0">
                <a:solidFill>
                  <a:schemeClr val="tx1"/>
                </a:solidFill>
                <a:latin typeface="Times New Roman" panose="02020603050405020304" pitchFamily="18" charset="0"/>
                <a:cs typeface="Times New Roman" panose="02020603050405020304" pitchFamily="18" charset="0"/>
              </a:rPr>
              <a:t> 0,5 $</a:t>
            </a:r>
          </a:p>
          <a:p>
            <a:pPr algn="just" eaLnBrk="1" hangingPunct="1">
              <a:lnSpc>
                <a:spcPct val="115000"/>
              </a:lnSpc>
              <a:spcBef>
                <a:spcPct val="10000"/>
              </a:spcBef>
            </a:pPr>
            <a:r>
              <a:rPr lang="en-US" altLang="en-US" sz="4000" dirty="0">
                <a:solidFill>
                  <a:schemeClr val="tx1"/>
                </a:solidFill>
                <a:latin typeface="Times New Roman" panose="02020603050405020304" pitchFamily="18" charset="0"/>
                <a:cs typeface="Times New Roman" panose="02020603050405020304" pitchFamily="18" charset="0"/>
              </a:rPr>
              <a:t>	- </a:t>
            </a:r>
            <a:r>
              <a:rPr lang="en-US" altLang="en-US" sz="4000" dirty="0" err="1">
                <a:solidFill>
                  <a:schemeClr val="tx1"/>
                </a:solidFill>
                <a:latin typeface="Times New Roman" panose="02020603050405020304" pitchFamily="18" charset="0"/>
                <a:cs typeface="Times New Roman" panose="02020603050405020304" pitchFamily="18" charset="0"/>
              </a:rPr>
              <a:t>Giá</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trị</a:t>
            </a:r>
            <a:r>
              <a:rPr lang="en-US" altLang="en-US" sz="4000" dirty="0">
                <a:solidFill>
                  <a:schemeClr val="tx1"/>
                </a:solidFill>
                <a:latin typeface="Times New Roman" panose="02020603050405020304" pitchFamily="18" charset="0"/>
                <a:cs typeface="Times New Roman" panose="02020603050405020304" pitchFamily="18" charset="0"/>
              </a:rPr>
              <a:t> SLĐ </a:t>
            </a:r>
            <a:r>
              <a:rPr lang="en-US" altLang="en-US" sz="4000" dirty="0" err="1">
                <a:solidFill>
                  <a:schemeClr val="tx1"/>
                </a:solidFill>
                <a:latin typeface="Times New Roman" panose="02020603050405020304" pitchFamily="18" charset="0"/>
                <a:cs typeface="Times New Roman" panose="02020603050405020304" pitchFamily="18" charset="0"/>
              </a:rPr>
              <a:t>trong</a:t>
            </a:r>
            <a:r>
              <a:rPr lang="en-US" altLang="en-US" sz="4000" dirty="0">
                <a:solidFill>
                  <a:schemeClr val="tx1"/>
                </a:solidFill>
                <a:latin typeface="Times New Roman" panose="02020603050405020304" pitchFamily="18" charset="0"/>
                <a:cs typeface="Times New Roman" panose="02020603050405020304" pitchFamily="18" charset="0"/>
              </a:rPr>
              <a:t> 1 </a:t>
            </a:r>
            <a:r>
              <a:rPr lang="en-US" altLang="en-US" sz="4000" dirty="0" err="1">
                <a:solidFill>
                  <a:schemeClr val="tx1"/>
                </a:solidFill>
                <a:latin typeface="Times New Roman" panose="02020603050405020304" pitchFamily="18" charset="0"/>
                <a:cs typeface="Times New Roman" panose="02020603050405020304" pitchFamily="18" charset="0"/>
              </a:rPr>
              <a:t>ngày</a:t>
            </a:r>
            <a:r>
              <a:rPr lang="en-US" altLang="en-US" sz="4000" dirty="0">
                <a:solidFill>
                  <a:schemeClr val="tx1"/>
                </a:solidFill>
                <a:latin typeface="Times New Roman" panose="02020603050405020304" pitchFamily="18" charset="0"/>
                <a:cs typeface="Times New Roman" panose="02020603050405020304" pitchFamily="18" charset="0"/>
              </a:rPr>
              <a:t> = 3 $</a:t>
            </a:r>
          </a:p>
          <a:p>
            <a:pPr algn="just" eaLnBrk="1" hangingPunct="1">
              <a:lnSpc>
                <a:spcPct val="115000"/>
              </a:lnSpc>
              <a:spcBef>
                <a:spcPct val="10000"/>
              </a:spcBef>
            </a:pPr>
            <a:endParaRPr lang="en-US" altLang="en-US" sz="4000" dirty="0">
              <a:solidFill>
                <a:schemeClr val="tx1"/>
              </a:solidFill>
              <a:latin typeface="Times New Roman" panose="02020603050405020304" pitchFamily="18" charset="0"/>
              <a:cs typeface="Times New Roman" panose="02020603050405020304" pitchFamily="18" charset="0"/>
            </a:endParaRPr>
          </a:p>
          <a:p>
            <a:pPr algn="just" eaLnBrk="1" hangingPunct="1">
              <a:lnSpc>
                <a:spcPct val="115000"/>
              </a:lnSpc>
              <a:spcBef>
                <a:spcPct val="10000"/>
              </a:spcBef>
            </a:pPr>
            <a:r>
              <a:rPr lang="en-US" altLang="en-US" sz="4000" dirty="0" err="1">
                <a:solidFill>
                  <a:schemeClr val="tx1"/>
                </a:solidFill>
                <a:highlight>
                  <a:srgbClr val="FFFF00"/>
                </a:highlight>
                <a:latin typeface="Times New Roman" panose="02020603050405020304" pitchFamily="18" charset="0"/>
                <a:cs typeface="Times New Roman" panose="02020603050405020304" pitchFamily="18" charset="0"/>
              </a:rPr>
              <a:t>Trường</a:t>
            </a:r>
            <a:r>
              <a:rPr lang="en-US" altLang="en-US" sz="4000" dirty="0">
                <a:solidFill>
                  <a:schemeClr val="tx1"/>
                </a:solidFill>
                <a:highlight>
                  <a:srgbClr val="FFFF00"/>
                </a:highlight>
                <a:latin typeface="Times New Roman" panose="02020603050405020304" pitchFamily="18" charset="0"/>
                <a:cs typeface="Times New Roman" panose="02020603050405020304" pitchFamily="18" charset="0"/>
              </a:rPr>
              <a:t> </a:t>
            </a:r>
            <a:r>
              <a:rPr lang="en-US" altLang="en-US" sz="4000" dirty="0" err="1">
                <a:solidFill>
                  <a:schemeClr val="tx1"/>
                </a:solidFill>
                <a:highlight>
                  <a:srgbClr val="FFFF00"/>
                </a:highlight>
                <a:latin typeface="Times New Roman" panose="02020603050405020304" pitchFamily="18" charset="0"/>
                <a:cs typeface="Times New Roman" panose="02020603050405020304" pitchFamily="18" charset="0"/>
              </a:rPr>
              <a:t>hợp</a:t>
            </a:r>
            <a:r>
              <a:rPr lang="en-US" altLang="en-US" sz="4000" dirty="0">
                <a:solidFill>
                  <a:schemeClr val="tx1"/>
                </a:solidFill>
                <a:highlight>
                  <a:srgbClr val="FFFF00"/>
                </a:highlight>
                <a:latin typeface="Times New Roman" panose="02020603050405020304" pitchFamily="18" charset="0"/>
                <a:cs typeface="Times New Roman" panose="02020603050405020304" pitchFamily="18" charset="0"/>
              </a:rPr>
              <a:t> 1: </a:t>
            </a:r>
            <a:r>
              <a:rPr lang="en-US" altLang="en-US" sz="4000" dirty="0" err="1">
                <a:solidFill>
                  <a:schemeClr val="tx1"/>
                </a:solidFill>
                <a:highlight>
                  <a:srgbClr val="FFFF00"/>
                </a:highlight>
                <a:latin typeface="Times New Roman" panose="02020603050405020304" pitchFamily="18" charset="0"/>
                <a:cs typeface="Times New Roman" panose="02020603050405020304" pitchFamily="18" charset="0"/>
              </a:rPr>
              <a:t>Ngày</a:t>
            </a:r>
            <a:r>
              <a:rPr lang="en-US" altLang="en-US" sz="4000" dirty="0">
                <a:solidFill>
                  <a:schemeClr val="tx1"/>
                </a:solidFill>
                <a:highlight>
                  <a:srgbClr val="FFFF00"/>
                </a:highlight>
                <a:latin typeface="Times New Roman" panose="02020603050405020304" pitchFamily="18" charset="0"/>
                <a:cs typeface="Times New Roman" panose="02020603050405020304" pitchFamily="18" charset="0"/>
              </a:rPr>
              <a:t> LĐ 6 </a:t>
            </a:r>
            <a:r>
              <a:rPr lang="en-US" altLang="en-US" sz="4000" dirty="0" err="1">
                <a:solidFill>
                  <a:schemeClr val="tx1"/>
                </a:solidFill>
                <a:highlight>
                  <a:srgbClr val="FFFF00"/>
                </a:highlight>
                <a:latin typeface="Times New Roman" panose="02020603050405020304" pitchFamily="18" charset="0"/>
                <a:cs typeface="Times New Roman" panose="02020603050405020304" pitchFamily="18" charset="0"/>
              </a:rPr>
              <a:t>giờ</a:t>
            </a:r>
            <a:endParaRPr lang="en-US" altLang="en-US" sz="4000" dirty="0">
              <a:solidFill>
                <a:schemeClr val="tx1"/>
              </a:solidFill>
              <a:highlight>
                <a:srgbClr val="FFFF00"/>
              </a:highlight>
              <a:latin typeface="Times New Roman" panose="02020603050405020304" pitchFamily="18" charset="0"/>
              <a:cs typeface="Times New Roman" panose="02020603050405020304" pitchFamily="18" charset="0"/>
            </a:endParaRPr>
          </a:p>
          <a:p>
            <a:pPr algn="just" eaLnBrk="1" hangingPunct="1">
              <a:lnSpc>
                <a:spcPct val="115000"/>
              </a:lnSpc>
              <a:spcBef>
                <a:spcPct val="10000"/>
              </a:spcBef>
            </a:pPr>
            <a:endParaRPr lang="en-US" altLang="en-US" sz="4000" dirty="0">
              <a:solidFill>
                <a:schemeClr val="tx1"/>
              </a:solidFill>
              <a:latin typeface="Times New Roman" panose="02020603050405020304" pitchFamily="18" charset="0"/>
              <a:cs typeface="Times New Roman" panose="02020603050405020304" pitchFamily="18" charset="0"/>
            </a:endParaRPr>
          </a:p>
          <a:p>
            <a:pPr algn="just" eaLnBrk="1" hangingPunct="1">
              <a:lnSpc>
                <a:spcPct val="115000"/>
              </a:lnSpc>
              <a:spcBef>
                <a:spcPct val="10000"/>
              </a:spcBef>
            </a:pPr>
            <a:r>
              <a:rPr lang="en-US" altLang="en-US" sz="4000" dirty="0" err="1">
                <a:solidFill>
                  <a:schemeClr val="tx1"/>
                </a:solidFill>
                <a:latin typeface="Times New Roman" panose="02020603050405020304" pitchFamily="18" charset="0"/>
                <a:cs typeface="Times New Roman" panose="02020603050405020304" pitchFamily="18" charset="0"/>
              </a:rPr>
              <a:t>Sẽ</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có</a:t>
            </a:r>
            <a:r>
              <a:rPr lang="en-US" altLang="en-US" sz="4000" dirty="0">
                <a:solidFill>
                  <a:schemeClr val="tx1"/>
                </a:solidFill>
                <a:latin typeface="Times New Roman" panose="02020603050405020304" pitchFamily="18" charset="0"/>
                <a:cs typeface="Times New Roman" panose="02020603050405020304" pitchFamily="18" charset="0"/>
              </a:rPr>
              <a:t> 10 kg </a:t>
            </a:r>
            <a:r>
              <a:rPr lang="en-US" altLang="en-US" sz="4000" dirty="0" err="1">
                <a:solidFill>
                  <a:schemeClr val="tx1"/>
                </a:solidFill>
                <a:latin typeface="Times New Roman" panose="02020603050405020304" pitchFamily="18" charset="0"/>
                <a:cs typeface="Times New Roman" panose="02020603050405020304" pitchFamily="18" charset="0"/>
              </a:rPr>
              <a:t>Sợi</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được</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tạo</a:t>
            </a:r>
            <a:r>
              <a:rPr lang="en-US" altLang="en-US" sz="4000" dirty="0">
                <a:solidFill>
                  <a:schemeClr val="tx1"/>
                </a:solidFill>
                <a:latin typeface="Times New Roman" panose="02020603050405020304" pitchFamily="18" charset="0"/>
                <a:cs typeface="Times New Roman" panose="02020603050405020304" pitchFamily="18" charset="0"/>
              </a:rPr>
              <a:t> ra</a:t>
            </a:r>
          </a:p>
          <a:p>
            <a:pPr algn="just" eaLnBrk="1" hangingPunct="1">
              <a:lnSpc>
                <a:spcPct val="115000"/>
              </a:lnSpc>
              <a:spcBef>
                <a:spcPct val="10000"/>
              </a:spcBef>
            </a:pPr>
            <a:r>
              <a:rPr lang="en-US" altLang="en-US" sz="4000" dirty="0" err="1">
                <a:solidFill>
                  <a:schemeClr val="tx1"/>
                </a:solidFill>
                <a:latin typeface="Times New Roman" panose="02020603050405020304" pitchFamily="18" charset="0"/>
                <a:cs typeface="Times New Roman" panose="02020603050405020304" pitchFamily="18" charset="0"/>
              </a:rPr>
              <a:t>Giá</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trị</a:t>
            </a:r>
            <a:r>
              <a:rPr lang="en-US" altLang="en-US" sz="4000" dirty="0">
                <a:solidFill>
                  <a:schemeClr val="tx1"/>
                </a:solidFill>
                <a:latin typeface="Times New Roman" panose="02020603050405020304" pitchFamily="18" charset="0"/>
                <a:cs typeface="Times New Roman" panose="02020603050405020304" pitchFamily="18" charset="0"/>
              </a:rPr>
              <a:t> 10 kg </a:t>
            </a:r>
            <a:r>
              <a:rPr lang="en-US" altLang="en-US" sz="4000" dirty="0" err="1">
                <a:solidFill>
                  <a:schemeClr val="tx1"/>
                </a:solidFill>
                <a:latin typeface="Times New Roman" panose="02020603050405020304" pitchFamily="18" charset="0"/>
                <a:cs typeface="Times New Roman" panose="02020603050405020304" pitchFamily="18" charset="0"/>
              </a:rPr>
              <a:t>sợi</a:t>
            </a:r>
            <a:r>
              <a:rPr lang="en-US" altLang="en-US" sz="4000" dirty="0">
                <a:solidFill>
                  <a:schemeClr val="tx1"/>
                </a:solidFill>
                <a:latin typeface="Times New Roman" panose="02020603050405020304" pitchFamily="18" charset="0"/>
                <a:cs typeface="Times New Roman" panose="02020603050405020304" pitchFamily="18" charset="0"/>
              </a:rPr>
              <a:t> = 10$ (</a:t>
            </a:r>
            <a:r>
              <a:rPr lang="en-US" altLang="en-US" sz="4000" dirty="0" err="1">
                <a:solidFill>
                  <a:schemeClr val="tx1"/>
                </a:solidFill>
                <a:latin typeface="Times New Roman" panose="02020603050405020304" pitchFamily="18" charset="0"/>
                <a:cs typeface="Times New Roman" panose="02020603050405020304" pitchFamily="18" charset="0"/>
              </a:rPr>
              <a:t>gt</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của</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bông</a:t>
            </a:r>
            <a:r>
              <a:rPr lang="en-US" altLang="en-US" sz="4000" dirty="0">
                <a:solidFill>
                  <a:schemeClr val="tx1"/>
                </a:solidFill>
                <a:latin typeface="Times New Roman" panose="02020603050405020304" pitchFamily="18" charset="0"/>
                <a:cs typeface="Times New Roman" panose="02020603050405020304" pitchFamily="18" charset="0"/>
              </a:rPr>
              <a:t>) + 2$ </a:t>
            </a:r>
            <a:r>
              <a:rPr lang="en-US" altLang="en-US" sz="4000" dirty="0" err="1">
                <a:solidFill>
                  <a:schemeClr val="tx1"/>
                </a:solidFill>
                <a:latin typeface="Times New Roman" panose="02020603050405020304" pitchFamily="18" charset="0"/>
                <a:cs typeface="Times New Roman" panose="02020603050405020304" pitchFamily="18" charset="0"/>
              </a:rPr>
              <a:t>khấu</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hao</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máy</a:t>
            </a:r>
            <a:r>
              <a:rPr lang="en-US" altLang="en-US" sz="4000" dirty="0">
                <a:solidFill>
                  <a:schemeClr val="tx1"/>
                </a:solidFill>
                <a:latin typeface="Times New Roman" panose="02020603050405020304" pitchFamily="18" charset="0"/>
                <a:cs typeface="Times New Roman" panose="02020603050405020304" pitchFamily="18" charset="0"/>
              </a:rPr>
              <a:t> + 3$ (</a:t>
            </a:r>
            <a:r>
              <a:rPr lang="en-US" altLang="en-US" sz="4000" dirty="0" err="1">
                <a:solidFill>
                  <a:schemeClr val="tx1"/>
                </a:solidFill>
                <a:latin typeface="Times New Roman" panose="02020603050405020304" pitchFamily="18" charset="0"/>
                <a:cs typeface="Times New Roman" panose="02020603050405020304" pitchFamily="18" charset="0"/>
              </a:rPr>
              <a:t>gt</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mới</a:t>
            </a:r>
            <a:r>
              <a:rPr lang="en-US" altLang="en-US" sz="4000" dirty="0">
                <a:solidFill>
                  <a:schemeClr val="tx1"/>
                </a:solidFill>
                <a:latin typeface="Times New Roman" panose="02020603050405020304" pitchFamily="18" charset="0"/>
                <a:cs typeface="Times New Roman" panose="02020603050405020304" pitchFamily="18" charset="0"/>
              </a:rPr>
              <a:t>) = 15$</a:t>
            </a:r>
          </a:p>
          <a:p>
            <a:pPr algn="just" eaLnBrk="1" hangingPunct="1">
              <a:lnSpc>
                <a:spcPct val="115000"/>
              </a:lnSpc>
              <a:spcBef>
                <a:spcPct val="10000"/>
              </a:spcBef>
            </a:pPr>
            <a:r>
              <a:rPr lang="en-US" altLang="en-US" sz="4000" dirty="0" err="1">
                <a:solidFill>
                  <a:schemeClr val="tx1"/>
                </a:solidFill>
                <a:latin typeface="Times New Roman" panose="02020603050405020304" pitchFamily="18" charset="0"/>
                <a:cs typeface="Times New Roman" panose="02020603050405020304" pitchFamily="18" charset="0"/>
              </a:rPr>
              <a:t>Các</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khoản</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phải</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trang</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trải</a:t>
            </a:r>
            <a:r>
              <a:rPr lang="en-US" altLang="en-US" sz="4000" dirty="0">
                <a:solidFill>
                  <a:schemeClr val="tx1"/>
                </a:solidFill>
                <a:latin typeface="Times New Roman" panose="02020603050405020304" pitchFamily="18" charset="0"/>
                <a:cs typeface="Times New Roman" panose="02020603050405020304" pitchFamily="18" charset="0"/>
              </a:rPr>
              <a:t>: 		- T </a:t>
            </a:r>
            <a:r>
              <a:rPr lang="en-US" altLang="en-US" sz="4000" dirty="0" err="1">
                <a:solidFill>
                  <a:schemeClr val="tx1"/>
                </a:solidFill>
                <a:latin typeface="Times New Roman" panose="02020603050405020304" pitchFamily="18" charset="0"/>
                <a:cs typeface="Times New Roman" panose="02020603050405020304" pitchFamily="18" charset="0"/>
              </a:rPr>
              <a:t>mua</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bông</a:t>
            </a:r>
            <a:r>
              <a:rPr lang="en-US" altLang="en-US" sz="4000" dirty="0">
                <a:solidFill>
                  <a:schemeClr val="tx1"/>
                </a:solidFill>
                <a:latin typeface="Times New Roman" panose="02020603050405020304" pitchFamily="18" charset="0"/>
                <a:cs typeface="Times New Roman" panose="02020603050405020304" pitchFamily="18" charset="0"/>
              </a:rPr>
              <a:t>: 		10$</a:t>
            </a:r>
          </a:p>
          <a:p>
            <a:pPr algn="just" eaLnBrk="1" hangingPunct="1">
              <a:lnSpc>
                <a:spcPct val="115000"/>
              </a:lnSpc>
              <a:spcBef>
                <a:spcPct val="10000"/>
              </a:spcBef>
            </a:pPr>
            <a:r>
              <a:rPr lang="en-US" altLang="en-US" sz="4000" dirty="0">
                <a:solidFill>
                  <a:schemeClr val="tx1"/>
                </a:solidFill>
                <a:latin typeface="Times New Roman" panose="02020603050405020304" pitchFamily="18" charset="0"/>
                <a:cs typeface="Times New Roman" panose="02020603050405020304" pitchFamily="18" charset="0"/>
              </a:rPr>
              <a:t>							- </a:t>
            </a:r>
            <a:r>
              <a:rPr lang="en-US" altLang="en-US" sz="4000" dirty="0" err="1">
                <a:solidFill>
                  <a:schemeClr val="tx1"/>
                </a:solidFill>
                <a:latin typeface="Times New Roman" panose="02020603050405020304" pitchFamily="18" charset="0"/>
                <a:cs typeface="Times New Roman" panose="02020603050405020304" pitchFamily="18" charset="0"/>
              </a:rPr>
              <a:t>Lập</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quỹ</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khấu</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hao</a:t>
            </a:r>
            <a:r>
              <a:rPr lang="en-US" altLang="en-US" sz="4000" dirty="0">
                <a:solidFill>
                  <a:schemeClr val="tx1"/>
                </a:solidFill>
                <a:latin typeface="Times New Roman" panose="02020603050405020304" pitchFamily="18" charset="0"/>
                <a:cs typeface="Times New Roman" panose="02020603050405020304" pitchFamily="18" charset="0"/>
              </a:rPr>
              <a:t>: 	2$</a:t>
            </a:r>
          </a:p>
          <a:p>
            <a:pPr algn="just" eaLnBrk="1" hangingPunct="1">
              <a:lnSpc>
                <a:spcPct val="115000"/>
              </a:lnSpc>
              <a:spcBef>
                <a:spcPct val="10000"/>
              </a:spcBef>
            </a:pPr>
            <a:r>
              <a:rPr lang="en-US" altLang="en-US" sz="4000" dirty="0">
                <a:solidFill>
                  <a:schemeClr val="tx1"/>
                </a:solidFill>
                <a:latin typeface="Times New Roman" panose="02020603050405020304" pitchFamily="18" charset="0"/>
                <a:cs typeface="Times New Roman" panose="02020603050405020304" pitchFamily="18" charset="0"/>
              </a:rPr>
              <a:t>							- </a:t>
            </a:r>
            <a:r>
              <a:rPr lang="en-US" altLang="en-US" sz="4000" dirty="0" err="1">
                <a:solidFill>
                  <a:schemeClr val="tx1"/>
                </a:solidFill>
                <a:latin typeface="Times New Roman" panose="02020603050405020304" pitchFamily="18" charset="0"/>
                <a:cs typeface="Times New Roman" panose="02020603050405020304" pitchFamily="18" charset="0"/>
              </a:rPr>
              <a:t>Lương</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công</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nhân</a:t>
            </a:r>
            <a:r>
              <a:rPr lang="en-US" altLang="en-US" sz="4000" dirty="0">
                <a:solidFill>
                  <a:schemeClr val="tx1"/>
                </a:solidFill>
                <a:latin typeface="Times New Roman" panose="02020603050405020304" pitchFamily="18" charset="0"/>
                <a:cs typeface="Times New Roman" panose="02020603050405020304" pitchFamily="18" charset="0"/>
              </a:rPr>
              <a:t>: 	3$ </a:t>
            </a:r>
          </a:p>
          <a:p>
            <a:pPr algn="just" eaLnBrk="1" hangingPunct="1">
              <a:lnSpc>
                <a:spcPct val="115000"/>
              </a:lnSpc>
              <a:spcBef>
                <a:spcPct val="10000"/>
              </a:spcBef>
            </a:pP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Tổng</a:t>
            </a:r>
            <a:r>
              <a:rPr lang="en-US" altLang="en-US" sz="4000" dirty="0">
                <a:solidFill>
                  <a:schemeClr val="tx1"/>
                </a:solidFill>
                <a:latin typeface="Times New Roman" panose="02020603050405020304" pitchFamily="18" charset="0"/>
                <a:cs typeface="Times New Roman" panose="02020603050405020304" pitchFamily="18" charset="0"/>
              </a:rPr>
              <a:t> </a:t>
            </a:r>
            <a:r>
              <a:rPr lang="en-US" altLang="en-US" sz="4000" dirty="0" err="1">
                <a:solidFill>
                  <a:schemeClr val="tx1"/>
                </a:solidFill>
                <a:latin typeface="Times New Roman" panose="02020603050405020304" pitchFamily="18" charset="0"/>
                <a:cs typeface="Times New Roman" panose="02020603050405020304" pitchFamily="18" charset="0"/>
              </a:rPr>
              <a:t>cộng</a:t>
            </a:r>
            <a:r>
              <a:rPr lang="en-US" altLang="en-US" sz="4000" dirty="0">
                <a:solidFill>
                  <a:schemeClr val="tx1"/>
                </a:solidFill>
                <a:latin typeface="Times New Roman" panose="02020603050405020304" pitchFamily="18" charset="0"/>
                <a:cs typeface="Times New Roman" panose="02020603050405020304" pitchFamily="18" charset="0"/>
              </a:rPr>
              <a:t>:   15$</a:t>
            </a:r>
          </a:p>
        </p:txBody>
      </p:sp>
      <p:sp>
        <p:nvSpPr>
          <p:cNvPr id="6" name="Line 3">
            <a:extLst>
              <a:ext uri="{FF2B5EF4-FFF2-40B4-BE49-F238E27FC236}">
                <a16:creationId xmlns:a16="http://schemas.microsoft.com/office/drawing/2014/main" id="{8E573BC7-1F9C-6D94-91F9-E8DAB307814B}"/>
              </a:ext>
            </a:extLst>
          </p:cNvPr>
          <p:cNvSpPr>
            <a:spLocks noChangeShapeType="1"/>
          </p:cNvSpPr>
          <p:nvPr/>
        </p:nvSpPr>
        <p:spPr bwMode="auto">
          <a:xfrm flipV="1">
            <a:off x="1828800" y="7294880"/>
            <a:ext cx="11125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600"/>
          </a:p>
        </p:txBody>
      </p:sp>
    </p:spTree>
    <p:extLst>
      <p:ext uri="{BB962C8B-B14F-4D97-AF65-F5344CB8AC3E}">
        <p14:creationId xmlns:p14="http://schemas.microsoft.com/office/powerpoint/2010/main" val="248457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0" end="10"/>
                                            </p:txEl>
                                          </p:spTgt>
                                        </p:tgtEl>
                                        <p:attrNameLst>
                                          <p:attrName>style.visibility</p:attrName>
                                        </p:attrNameLst>
                                      </p:cBhvr>
                                      <p:to>
                                        <p:strVal val="visible"/>
                                      </p:to>
                                    </p:set>
                                    <p:animEffect transition="in" filter="blinds(horizontal)">
                                      <p:cBhvr>
                                        <p:cTn id="7" dur="500"/>
                                        <p:tgtEl>
                                          <p:spTgt spid="5">
                                            <p:txEl>
                                              <p:pRg st="1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1" end="11"/>
                                            </p:txEl>
                                          </p:spTgt>
                                        </p:tgtEl>
                                        <p:attrNameLst>
                                          <p:attrName>style.visibility</p:attrName>
                                        </p:attrNameLst>
                                      </p:cBhvr>
                                      <p:to>
                                        <p:strVal val="visible"/>
                                      </p:to>
                                    </p:set>
                                    <p:animEffect transition="in" filter="blinds(horizontal)">
                                      <p:cBhvr>
                                        <p:cTn id="12" dur="500"/>
                                        <p:tgtEl>
                                          <p:spTgt spid="5">
                                            <p:txEl>
                                              <p:pRg st="11"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12" end="12"/>
                                            </p:txEl>
                                          </p:spTgt>
                                        </p:tgtEl>
                                        <p:attrNameLst>
                                          <p:attrName>style.visibility</p:attrName>
                                        </p:attrNameLst>
                                      </p:cBhvr>
                                      <p:to>
                                        <p:strVal val="visible"/>
                                      </p:to>
                                    </p:set>
                                    <p:animEffect transition="in" filter="blinds(horizontal)">
                                      <p:cBhvr>
                                        <p:cTn id="17" dur="500"/>
                                        <p:tgtEl>
                                          <p:spTgt spid="5">
                                            <p:txEl>
                                              <p:pRg st="12" end="1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5">
                                            <p:txEl>
                                              <p:pRg st="13" end="13"/>
                                            </p:txEl>
                                          </p:spTgt>
                                        </p:tgtEl>
                                        <p:attrNameLst>
                                          <p:attrName>style.visibility</p:attrName>
                                        </p:attrNameLst>
                                      </p:cBhvr>
                                      <p:to>
                                        <p:strVal val="visible"/>
                                      </p:to>
                                    </p:set>
                                    <p:animEffect transition="in" filter="blinds(horizontal)">
                                      <p:cBhvr>
                                        <p:cTn id="20" dur="500"/>
                                        <p:tgtEl>
                                          <p:spTgt spid="5">
                                            <p:txEl>
                                              <p:pRg st="13" end="1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5">
                                            <p:txEl>
                                              <p:pRg st="14" end="14"/>
                                            </p:txEl>
                                          </p:spTgt>
                                        </p:tgtEl>
                                        <p:attrNameLst>
                                          <p:attrName>style.visibility</p:attrName>
                                        </p:attrNameLst>
                                      </p:cBhvr>
                                      <p:to>
                                        <p:strVal val="visible"/>
                                      </p:to>
                                    </p:set>
                                    <p:animEffect transition="in" filter="blinds(horizontal)">
                                      <p:cBhvr>
                                        <p:cTn id="23" dur="500"/>
                                        <p:tgtEl>
                                          <p:spTgt spid="5">
                                            <p:txEl>
                                              <p:pRg st="14" end="1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5">
                                            <p:txEl>
                                              <p:pRg st="15" end="15"/>
                                            </p:txEl>
                                          </p:spTgt>
                                        </p:tgtEl>
                                        <p:attrNameLst>
                                          <p:attrName>style.visibility</p:attrName>
                                        </p:attrNameLst>
                                      </p:cBhvr>
                                      <p:to>
                                        <p:strVal val="visible"/>
                                      </p:to>
                                    </p:set>
                                    <p:animEffect transition="in" filter="blinds(horizontal)">
                                      <p:cBhvr>
                                        <p:cTn id="28" dur="1000"/>
                                        <p:tgtEl>
                                          <p:spTgt spid="5">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941CD-C235-BB30-3335-2EF5FDF917A1}"/>
              </a:ext>
            </a:extLst>
          </p:cNvPr>
          <p:cNvSpPr txBox="1">
            <a:spLocks/>
          </p:cNvSpPr>
          <p:nvPr/>
        </p:nvSpPr>
        <p:spPr>
          <a:xfrm>
            <a:off x="3172288" y="945516"/>
            <a:ext cx="123498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Ví dụ sự sản xuất giá trị thặng dư</a:t>
            </a:r>
          </a:p>
        </p:txBody>
      </p:sp>
      <p:sp>
        <p:nvSpPr>
          <p:cNvPr id="5" name="Rectangle 3">
            <a:extLst>
              <a:ext uri="{FF2B5EF4-FFF2-40B4-BE49-F238E27FC236}">
                <a16:creationId xmlns:a16="http://schemas.microsoft.com/office/drawing/2014/main" id="{0C68D58D-778E-A88A-4333-144048C3E033}"/>
              </a:ext>
            </a:extLst>
          </p:cNvPr>
          <p:cNvSpPr>
            <a:spLocks noGrp="1" noChangeArrowheads="1"/>
          </p:cNvSpPr>
          <p:nvPr>
            <p:ph type="subTitle" idx="1"/>
          </p:nvPr>
        </p:nvSpPr>
        <p:spPr>
          <a:xfrm>
            <a:off x="1676400" y="2661920"/>
            <a:ext cx="15087600" cy="10220960"/>
          </a:xfrm>
        </p:spPr>
        <p:txBody>
          <a:bodyPr>
            <a:normAutofit/>
          </a:bodyPr>
          <a:lstStyle/>
          <a:p>
            <a:pPr algn="just" eaLnBrk="1" hangingPunct="1">
              <a:lnSpc>
                <a:spcPct val="115000"/>
              </a:lnSpc>
              <a:spcBef>
                <a:spcPct val="10000"/>
              </a:spcBef>
            </a:pP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Cách</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1: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Tăng</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năng</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suất</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lao</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động</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lên</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2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lần</a:t>
            </a:r>
            <a:endParaRPr lang="en-US" altLang="en-US" dirty="0">
              <a:solidFill>
                <a:schemeClr val="tx1"/>
              </a:solidFill>
              <a:highlight>
                <a:srgbClr val="FFFF00"/>
              </a:highlight>
              <a:latin typeface="Times New Roman" panose="02020603050405020304" pitchFamily="18" charset="0"/>
              <a:cs typeface="Times New Roman" panose="02020603050405020304" pitchFamily="18" charset="0"/>
            </a:endParaRPr>
          </a:p>
          <a:p>
            <a:pPr algn="just" eaLnBrk="1" hangingPunct="1">
              <a:lnSpc>
                <a:spcPct val="115000"/>
              </a:lnSpc>
              <a:spcBef>
                <a:spcPct val="10000"/>
              </a:spcBef>
            </a:pPr>
            <a:r>
              <a:rPr lang="en-US" altLang="en-US" dirty="0" err="1">
                <a:solidFill>
                  <a:schemeClr val="tx1"/>
                </a:solidFill>
                <a:latin typeface="Times New Roman" panose="02020603050405020304" pitchFamily="18" charset="0"/>
                <a:cs typeface="Times New Roman" panose="02020603050405020304" pitchFamily="18" charset="0"/>
              </a:rPr>
              <a:t>Trong</a:t>
            </a:r>
            <a:r>
              <a:rPr lang="en-US" altLang="en-US" dirty="0">
                <a:solidFill>
                  <a:schemeClr val="tx1"/>
                </a:solidFill>
                <a:latin typeface="Times New Roman" panose="02020603050405020304" pitchFamily="18" charset="0"/>
                <a:cs typeface="Times New Roman" panose="02020603050405020304" pitchFamily="18" charset="0"/>
              </a:rPr>
              <a:t> 6h </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20kg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Sợi</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30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usd</a:t>
            </a:r>
            <a:endPar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algn="just" eaLnBrk="1" hangingPunct="1">
              <a:lnSpc>
                <a:spcPct val="115000"/>
              </a:lnSpc>
              <a:spcBef>
                <a:spcPct val="10000"/>
              </a:spcBef>
            </a:pP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Gía</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20 kg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Sợi</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giá</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cũ</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giá</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mới</a:t>
            </a:r>
            <a:endPar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algn="just" eaLnBrk="1" hangingPunct="1">
              <a:lnSpc>
                <a:spcPct val="115000"/>
              </a:lnSpc>
              <a:spcBef>
                <a:spcPct val="10000"/>
              </a:spcBef>
            </a:pP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Giá</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cũ</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giá</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20 kg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bông</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hao</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mòn</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giá</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máy</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4usd = 24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usd</a:t>
            </a:r>
            <a:endPar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algn="just" eaLnBrk="1" hangingPunct="1">
              <a:lnSpc>
                <a:spcPct val="115000"/>
              </a:lnSpc>
              <a:spcBef>
                <a:spcPct val="10000"/>
              </a:spcBef>
            </a:pP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Giá</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mới</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6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usd</a:t>
            </a:r>
            <a:endPar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algn="just">
              <a:lnSpc>
                <a:spcPct val="115000"/>
              </a:lnSpc>
              <a:spcBef>
                <a:spcPct val="10000"/>
              </a:spcBef>
            </a:pPr>
            <a:r>
              <a:rPr lang="en-US" altLang="en-US" dirty="0" err="1">
                <a:solidFill>
                  <a:schemeClr val="tx1"/>
                </a:solidFill>
                <a:latin typeface="Times New Roman" panose="02020603050405020304" pitchFamily="18" charset="0"/>
                <a:cs typeface="Times New Roman" panose="02020603050405020304" pitchFamily="18" charset="0"/>
              </a:rPr>
              <a:t>Các</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khoản</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phải</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trang</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trải</a:t>
            </a:r>
            <a:r>
              <a:rPr lang="en-US" altLang="en-US" dirty="0">
                <a:solidFill>
                  <a:schemeClr val="tx1"/>
                </a:solidFill>
                <a:latin typeface="Times New Roman" panose="02020603050405020304" pitchFamily="18" charset="0"/>
                <a:cs typeface="Times New Roman" panose="02020603050405020304" pitchFamily="18" charset="0"/>
              </a:rPr>
              <a:t>: 	- </a:t>
            </a:r>
            <a:r>
              <a:rPr lang="en-US" altLang="en-US" dirty="0" err="1">
                <a:solidFill>
                  <a:schemeClr val="tx1"/>
                </a:solidFill>
                <a:latin typeface="Times New Roman" panose="02020603050405020304" pitchFamily="18" charset="0"/>
                <a:cs typeface="Times New Roman" panose="02020603050405020304" pitchFamily="18" charset="0"/>
              </a:rPr>
              <a:t>Tiền</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mua</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bông</a:t>
            </a:r>
            <a:r>
              <a:rPr lang="en-US" altLang="en-US" dirty="0">
                <a:solidFill>
                  <a:schemeClr val="tx1"/>
                </a:solidFill>
                <a:latin typeface="Times New Roman" panose="02020603050405020304" pitchFamily="18" charset="0"/>
                <a:cs typeface="Times New Roman" panose="02020603050405020304" pitchFamily="18" charset="0"/>
              </a:rPr>
              <a:t>: 		20$</a:t>
            </a:r>
          </a:p>
          <a:p>
            <a:pPr algn="just">
              <a:lnSpc>
                <a:spcPct val="115000"/>
              </a:lnSpc>
              <a:spcBef>
                <a:spcPct val="10000"/>
              </a:spcBef>
            </a:pPr>
            <a:r>
              <a:rPr lang="en-US" altLang="en-US" dirty="0">
                <a:solidFill>
                  <a:schemeClr val="tx1"/>
                </a:solidFill>
                <a:latin typeface="Times New Roman" panose="02020603050405020304" pitchFamily="18" charset="0"/>
                <a:cs typeface="Times New Roman" panose="02020603050405020304" pitchFamily="18" charset="0"/>
              </a:rPr>
              <a:t>								- </a:t>
            </a:r>
            <a:r>
              <a:rPr lang="en-US" altLang="en-US" dirty="0" err="1">
                <a:solidFill>
                  <a:schemeClr val="tx1"/>
                </a:solidFill>
                <a:latin typeface="Times New Roman" panose="02020603050405020304" pitchFamily="18" charset="0"/>
                <a:cs typeface="Times New Roman" panose="02020603050405020304" pitchFamily="18" charset="0"/>
              </a:rPr>
              <a:t>Khấu</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hao</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máy</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móc</a:t>
            </a:r>
            <a:r>
              <a:rPr lang="en-US" altLang="en-US" dirty="0">
                <a:solidFill>
                  <a:schemeClr val="tx1"/>
                </a:solidFill>
                <a:latin typeface="Times New Roman" panose="02020603050405020304" pitchFamily="18" charset="0"/>
                <a:cs typeface="Times New Roman" panose="02020603050405020304" pitchFamily="18" charset="0"/>
              </a:rPr>
              <a:t>: 	4$</a:t>
            </a:r>
          </a:p>
          <a:p>
            <a:pPr algn="just">
              <a:lnSpc>
                <a:spcPct val="115000"/>
              </a:lnSpc>
              <a:spcBef>
                <a:spcPct val="10000"/>
              </a:spcBef>
            </a:pPr>
            <a:r>
              <a:rPr lang="en-US" altLang="en-US" dirty="0">
                <a:solidFill>
                  <a:schemeClr val="tx1"/>
                </a:solidFill>
                <a:latin typeface="Times New Roman" panose="02020603050405020304" pitchFamily="18" charset="0"/>
                <a:cs typeface="Times New Roman" panose="02020603050405020304" pitchFamily="18" charset="0"/>
              </a:rPr>
              <a:t>								- </a:t>
            </a:r>
            <a:r>
              <a:rPr lang="en-US" altLang="en-US" dirty="0" err="1">
                <a:solidFill>
                  <a:schemeClr val="tx1"/>
                </a:solidFill>
                <a:latin typeface="Times New Roman" panose="02020603050405020304" pitchFamily="18" charset="0"/>
                <a:cs typeface="Times New Roman" panose="02020603050405020304" pitchFamily="18" charset="0"/>
              </a:rPr>
              <a:t>Lương</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công</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nhân</a:t>
            </a:r>
            <a:r>
              <a:rPr lang="en-US" altLang="en-US" dirty="0">
                <a:solidFill>
                  <a:schemeClr val="tx1"/>
                </a:solidFill>
                <a:latin typeface="Times New Roman" panose="02020603050405020304" pitchFamily="18" charset="0"/>
                <a:cs typeface="Times New Roman" panose="02020603050405020304" pitchFamily="18" charset="0"/>
              </a:rPr>
              <a:t>: 	3$ </a:t>
            </a:r>
          </a:p>
          <a:p>
            <a:pPr algn="just">
              <a:lnSpc>
                <a:spcPct val="115000"/>
              </a:lnSpc>
              <a:spcBef>
                <a:spcPct val="10000"/>
              </a:spcBef>
            </a:pP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Tổng</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cộng</a:t>
            </a:r>
            <a:r>
              <a:rPr lang="en-US" altLang="en-US" dirty="0">
                <a:solidFill>
                  <a:schemeClr val="tx1"/>
                </a:solidFill>
                <a:latin typeface="Times New Roman" panose="02020603050405020304" pitchFamily="18" charset="0"/>
                <a:cs typeface="Times New Roman" panose="02020603050405020304" pitchFamily="18" charset="0"/>
              </a:rPr>
              <a:t>:   	27$</a:t>
            </a:r>
          </a:p>
          <a:p>
            <a:pPr algn="just">
              <a:lnSpc>
                <a:spcPct val="115000"/>
              </a:lnSpc>
              <a:spcBef>
                <a:spcPct val="10000"/>
              </a:spcBef>
            </a:pPr>
            <a:r>
              <a:rPr lang="en-US" altLang="en-US" dirty="0" err="1">
                <a:solidFill>
                  <a:schemeClr val="tx1"/>
                </a:solidFill>
                <a:latin typeface="Times New Roman" panose="02020603050405020304" pitchFamily="18" charset="0"/>
                <a:cs typeface="Times New Roman" panose="02020603050405020304" pitchFamily="18" charset="0"/>
              </a:rPr>
              <a:t>Giá</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trị</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thặng</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dư</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thu</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nhập</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của</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nhà</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tư</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bản</a:t>
            </a:r>
            <a:r>
              <a:rPr lang="en-US" altLang="en-US" dirty="0">
                <a:solidFill>
                  <a:schemeClr val="tx1"/>
                </a:solidFill>
                <a:latin typeface="Times New Roman" panose="02020603050405020304" pitchFamily="18" charset="0"/>
                <a:cs typeface="Times New Roman" panose="02020603050405020304" pitchFamily="18" charset="0"/>
              </a:rPr>
              <a:t>) = 30$ - 27$ = 3$</a:t>
            </a:r>
          </a:p>
        </p:txBody>
      </p:sp>
    </p:spTree>
    <p:extLst>
      <p:ext uri="{BB962C8B-B14F-4D97-AF65-F5344CB8AC3E}">
        <p14:creationId xmlns:p14="http://schemas.microsoft.com/office/powerpoint/2010/main" val="145685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arn(inVertic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arn(inVertic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arn(inVertical)">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wipe(down)">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barn(inVertical)">
                                      <p:cBhvr>
                                        <p:cTn id="27" dur="500"/>
                                        <p:tgtEl>
                                          <p:spTgt spid="5">
                                            <p:txEl>
                                              <p:pRg st="5" end="5"/>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barn(inVertical)">
                                      <p:cBhvr>
                                        <p:cTn id="30" dur="500"/>
                                        <p:tgtEl>
                                          <p:spTgt spid="5">
                                            <p:txEl>
                                              <p:pRg st="6" end="6"/>
                                            </p:txEl>
                                          </p:spTgt>
                                        </p:tgtEl>
                                      </p:cBhvr>
                                    </p:animEffect>
                                  </p:childTnLst>
                                </p:cTn>
                              </p:par>
                              <p:par>
                                <p:cTn id="31" presetID="16" presetClass="entr" presetSubtype="21" fill="hold" nodeType="with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animEffect transition="in" filter="barn(inVertical)">
                                      <p:cBhvr>
                                        <p:cTn id="33" dur="500"/>
                                        <p:tgtEl>
                                          <p:spTgt spid="5">
                                            <p:txEl>
                                              <p:pRg st="7" end="7"/>
                                            </p:txEl>
                                          </p:spTgt>
                                        </p:tgtEl>
                                      </p:cBhvr>
                                    </p:animEffect>
                                  </p:childTnLst>
                                </p:cTn>
                              </p:par>
                              <p:par>
                                <p:cTn id="34" presetID="16" presetClass="entr" presetSubtype="21" fill="hold" nodeType="withEffect">
                                  <p:stCondLst>
                                    <p:cond delay="0"/>
                                  </p:stCondLst>
                                  <p:childTnLst>
                                    <p:set>
                                      <p:cBhvr>
                                        <p:cTn id="35" dur="1" fill="hold">
                                          <p:stCondLst>
                                            <p:cond delay="0"/>
                                          </p:stCondLst>
                                        </p:cTn>
                                        <p:tgtEl>
                                          <p:spTgt spid="5">
                                            <p:txEl>
                                              <p:pRg st="8" end="8"/>
                                            </p:txEl>
                                          </p:spTgt>
                                        </p:tgtEl>
                                        <p:attrNameLst>
                                          <p:attrName>style.visibility</p:attrName>
                                        </p:attrNameLst>
                                      </p:cBhvr>
                                      <p:to>
                                        <p:strVal val="visible"/>
                                      </p:to>
                                    </p:set>
                                    <p:animEffect transition="in" filter="barn(inVertical)">
                                      <p:cBhvr>
                                        <p:cTn id="36" dur="500"/>
                                        <p:tgtEl>
                                          <p:spTgt spid="5">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5">
                                            <p:txEl>
                                              <p:pRg st="9" end="9"/>
                                            </p:txEl>
                                          </p:spTgt>
                                        </p:tgtEl>
                                        <p:attrNameLst>
                                          <p:attrName>style.visibility</p:attrName>
                                        </p:attrNameLst>
                                      </p:cBhvr>
                                      <p:to>
                                        <p:strVal val="visible"/>
                                      </p:to>
                                    </p:set>
                                    <p:animEffect transition="in" filter="barn(inVertical)">
                                      <p:cBhvr>
                                        <p:cTn id="41"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941CD-C235-BB30-3335-2EF5FDF917A1}"/>
              </a:ext>
            </a:extLst>
          </p:cNvPr>
          <p:cNvSpPr txBox="1">
            <a:spLocks/>
          </p:cNvSpPr>
          <p:nvPr/>
        </p:nvSpPr>
        <p:spPr>
          <a:xfrm>
            <a:off x="3172288" y="1209676"/>
            <a:ext cx="123498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Ví dụ sự sản xuất giá trị thặng dư</a:t>
            </a:r>
          </a:p>
        </p:txBody>
      </p:sp>
      <p:sp>
        <p:nvSpPr>
          <p:cNvPr id="5" name="Rectangle 3">
            <a:extLst>
              <a:ext uri="{FF2B5EF4-FFF2-40B4-BE49-F238E27FC236}">
                <a16:creationId xmlns:a16="http://schemas.microsoft.com/office/drawing/2014/main" id="{0C68D58D-778E-A88A-4333-144048C3E033}"/>
              </a:ext>
            </a:extLst>
          </p:cNvPr>
          <p:cNvSpPr>
            <a:spLocks noGrp="1" noChangeArrowheads="1"/>
          </p:cNvSpPr>
          <p:nvPr>
            <p:ph type="subTitle" idx="1"/>
          </p:nvPr>
        </p:nvSpPr>
        <p:spPr>
          <a:xfrm>
            <a:off x="1676400" y="2336800"/>
            <a:ext cx="15087600" cy="10322560"/>
          </a:xfrm>
        </p:spPr>
        <p:txBody>
          <a:bodyPr>
            <a:normAutofit/>
          </a:bodyPr>
          <a:lstStyle/>
          <a:p>
            <a:pPr algn="just" eaLnBrk="1" hangingPunct="1">
              <a:lnSpc>
                <a:spcPct val="115000"/>
              </a:lnSpc>
              <a:spcBef>
                <a:spcPct val="10000"/>
              </a:spcBef>
            </a:pP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Cách</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2: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Tăng</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cường</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độ</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lao</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động</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lên</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2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rPr>
              <a:t>lần</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rPr>
              <a:t> </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sym typeface="Wingdings" panose="05000000000000000000" pitchFamily="2" charset="2"/>
              </a:rPr>
              <a:t> 1 </a:t>
            </a:r>
            <a:r>
              <a:rPr lang="en-US" altLang="en-US" dirty="0" err="1">
                <a:solidFill>
                  <a:schemeClr val="tx1"/>
                </a:solidFill>
                <a:highlight>
                  <a:srgbClr val="FFFF00"/>
                </a:highlight>
                <a:latin typeface="Times New Roman" panose="02020603050405020304" pitchFamily="18" charset="0"/>
                <a:cs typeface="Times New Roman" panose="02020603050405020304" pitchFamily="18" charset="0"/>
                <a:sym typeface="Wingdings" panose="05000000000000000000" pitchFamily="2" charset="2"/>
              </a:rPr>
              <a:t>ngày</a:t>
            </a:r>
            <a:r>
              <a:rPr lang="en-US" altLang="en-US" dirty="0">
                <a:solidFill>
                  <a:schemeClr val="tx1"/>
                </a:solidFill>
                <a:highlight>
                  <a:srgbClr val="FFFF00"/>
                </a:highlight>
                <a:latin typeface="Times New Roman" panose="02020603050405020304" pitchFamily="18" charset="0"/>
                <a:cs typeface="Times New Roman" panose="02020603050405020304" pitchFamily="18" charset="0"/>
                <a:sym typeface="Wingdings" panose="05000000000000000000" pitchFamily="2" charset="2"/>
              </a:rPr>
              <a:t> = 12h</a:t>
            </a:r>
            <a:endParaRPr lang="en-US" altLang="en-US" dirty="0">
              <a:solidFill>
                <a:schemeClr val="tx1"/>
              </a:solidFill>
              <a:highlight>
                <a:srgbClr val="FFFF00"/>
              </a:highlight>
              <a:latin typeface="Times New Roman" panose="02020603050405020304" pitchFamily="18" charset="0"/>
              <a:cs typeface="Times New Roman" panose="02020603050405020304" pitchFamily="18" charset="0"/>
            </a:endParaRPr>
          </a:p>
          <a:p>
            <a:pPr algn="just" eaLnBrk="1" hangingPunct="1">
              <a:lnSpc>
                <a:spcPct val="115000"/>
              </a:lnSpc>
              <a:spcBef>
                <a:spcPct val="10000"/>
              </a:spcBef>
            </a:pPr>
            <a:r>
              <a:rPr lang="en-US" altLang="en-US" dirty="0" err="1">
                <a:solidFill>
                  <a:schemeClr val="tx1"/>
                </a:solidFill>
                <a:latin typeface="Times New Roman" panose="02020603050405020304" pitchFamily="18" charset="0"/>
                <a:cs typeface="Times New Roman" panose="02020603050405020304" pitchFamily="18" charset="0"/>
              </a:rPr>
              <a:t>Trong</a:t>
            </a:r>
            <a:r>
              <a:rPr lang="en-US" altLang="en-US" dirty="0">
                <a:solidFill>
                  <a:schemeClr val="tx1"/>
                </a:solidFill>
                <a:latin typeface="Times New Roman" panose="02020603050405020304" pitchFamily="18" charset="0"/>
                <a:cs typeface="Times New Roman" panose="02020603050405020304" pitchFamily="18" charset="0"/>
              </a:rPr>
              <a:t> 12h </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20kg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Sợi</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30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usd</a:t>
            </a:r>
            <a:endPar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algn="just" eaLnBrk="1" hangingPunct="1">
              <a:lnSpc>
                <a:spcPct val="115000"/>
              </a:lnSpc>
              <a:spcBef>
                <a:spcPct val="10000"/>
              </a:spcBef>
            </a:pP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Gía</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20 kg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Sợi</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giá</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cũ</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giá</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mới</a:t>
            </a:r>
            <a:endPar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algn="just" eaLnBrk="1" hangingPunct="1">
              <a:lnSpc>
                <a:spcPct val="115000"/>
              </a:lnSpc>
              <a:spcBef>
                <a:spcPct val="10000"/>
              </a:spcBef>
            </a:pP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Giá</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cũ</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giá</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20 kg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bông</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hao</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mòn</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giá</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máy</a:t>
            </a:r>
            <a:r>
              <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4usd = 24 </a:t>
            </a:r>
            <a:r>
              <a:rPr lang="en-US" altLang="en-US" sz="4000"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usd</a:t>
            </a:r>
            <a:endParaRPr lang="en-US" altLang="en-US" sz="40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algn="just" eaLnBrk="1" hangingPunct="1">
              <a:lnSpc>
                <a:spcPct val="115000"/>
              </a:lnSpc>
              <a:spcBef>
                <a:spcPct val="10000"/>
              </a:spcBef>
            </a:pP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Giá</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trị</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mới</a:t>
            </a:r>
            <a:r>
              <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 6 </a:t>
            </a:r>
            <a:r>
              <a:rPr lang="en-US" altLang="en-US" dirty="0" err="1">
                <a:solidFill>
                  <a:schemeClr val="tx1"/>
                </a:solidFill>
                <a:latin typeface="Times New Roman" panose="02020603050405020304" pitchFamily="18" charset="0"/>
                <a:cs typeface="Times New Roman" panose="02020603050405020304" pitchFamily="18" charset="0"/>
                <a:sym typeface="Wingdings" panose="05000000000000000000" pitchFamily="2" charset="2"/>
              </a:rPr>
              <a:t>usd</a:t>
            </a:r>
            <a:endParaRPr lang="en-US" altLang="en-US"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endParaRPr>
          </a:p>
          <a:p>
            <a:pPr algn="just">
              <a:lnSpc>
                <a:spcPct val="115000"/>
              </a:lnSpc>
              <a:spcBef>
                <a:spcPct val="10000"/>
              </a:spcBef>
            </a:pPr>
            <a:r>
              <a:rPr lang="en-US" altLang="en-US" dirty="0" err="1">
                <a:solidFill>
                  <a:schemeClr val="tx1"/>
                </a:solidFill>
                <a:latin typeface="Times New Roman" panose="02020603050405020304" pitchFamily="18" charset="0"/>
                <a:cs typeface="Times New Roman" panose="02020603050405020304" pitchFamily="18" charset="0"/>
              </a:rPr>
              <a:t>Các</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khoản</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phải</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trang</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trải</a:t>
            </a:r>
            <a:r>
              <a:rPr lang="en-US" altLang="en-US" dirty="0">
                <a:solidFill>
                  <a:schemeClr val="tx1"/>
                </a:solidFill>
                <a:latin typeface="Times New Roman" panose="02020603050405020304" pitchFamily="18" charset="0"/>
                <a:cs typeface="Times New Roman" panose="02020603050405020304" pitchFamily="18" charset="0"/>
              </a:rPr>
              <a:t>: 	- </a:t>
            </a:r>
            <a:r>
              <a:rPr lang="en-US" altLang="en-US" dirty="0" err="1">
                <a:solidFill>
                  <a:schemeClr val="tx1"/>
                </a:solidFill>
                <a:latin typeface="Times New Roman" panose="02020603050405020304" pitchFamily="18" charset="0"/>
                <a:cs typeface="Times New Roman" panose="02020603050405020304" pitchFamily="18" charset="0"/>
              </a:rPr>
              <a:t>Tiền</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mua</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bông</a:t>
            </a:r>
            <a:r>
              <a:rPr lang="en-US" altLang="en-US" dirty="0">
                <a:solidFill>
                  <a:schemeClr val="tx1"/>
                </a:solidFill>
                <a:latin typeface="Times New Roman" panose="02020603050405020304" pitchFamily="18" charset="0"/>
                <a:cs typeface="Times New Roman" panose="02020603050405020304" pitchFamily="18" charset="0"/>
              </a:rPr>
              <a:t>: 		20$</a:t>
            </a:r>
          </a:p>
          <a:p>
            <a:pPr algn="just">
              <a:lnSpc>
                <a:spcPct val="115000"/>
              </a:lnSpc>
              <a:spcBef>
                <a:spcPct val="10000"/>
              </a:spcBef>
            </a:pPr>
            <a:r>
              <a:rPr lang="en-US" altLang="en-US" dirty="0">
                <a:solidFill>
                  <a:schemeClr val="tx1"/>
                </a:solidFill>
                <a:latin typeface="Times New Roman" panose="02020603050405020304" pitchFamily="18" charset="0"/>
                <a:cs typeface="Times New Roman" panose="02020603050405020304" pitchFamily="18" charset="0"/>
              </a:rPr>
              <a:t>								- </a:t>
            </a:r>
            <a:r>
              <a:rPr lang="en-US" altLang="en-US" dirty="0" err="1">
                <a:solidFill>
                  <a:schemeClr val="tx1"/>
                </a:solidFill>
                <a:latin typeface="Times New Roman" panose="02020603050405020304" pitchFamily="18" charset="0"/>
                <a:cs typeface="Times New Roman" panose="02020603050405020304" pitchFamily="18" charset="0"/>
              </a:rPr>
              <a:t>Khấu</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hao</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máy</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móc</a:t>
            </a:r>
            <a:r>
              <a:rPr lang="en-US" altLang="en-US" dirty="0">
                <a:solidFill>
                  <a:schemeClr val="tx1"/>
                </a:solidFill>
                <a:latin typeface="Times New Roman" panose="02020603050405020304" pitchFamily="18" charset="0"/>
                <a:cs typeface="Times New Roman" panose="02020603050405020304" pitchFamily="18" charset="0"/>
              </a:rPr>
              <a:t>: 	4$</a:t>
            </a:r>
          </a:p>
          <a:p>
            <a:pPr algn="just">
              <a:lnSpc>
                <a:spcPct val="115000"/>
              </a:lnSpc>
              <a:spcBef>
                <a:spcPct val="10000"/>
              </a:spcBef>
            </a:pPr>
            <a:r>
              <a:rPr lang="en-US" altLang="en-US" dirty="0">
                <a:solidFill>
                  <a:schemeClr val="tx1"/>
                </a:solidFill>
                <a:latin typeface="Times New Roman" panose="02020603050405020304" pitchFamily="18" charset="0"/>
                <a:cs typeface="Times New Roman" panose="02020603050405020304" pitchFamily="18" charset="0"/>
              </a:rPr>
              <a:t>								- </a:t>
            </a:r>
            <a:r>
              <a:rPr lang="en-US" altLang="en-US" dirty="0" err="1">
                <a:solidFill>
                  <a:schemeClr val="tx1"/>
                </a:solidFill>
                <a:latin typeface="Times New Roman" panose="02020603050405020304" pitchFamily="18" charset="0"/>
                <a:cs typeface="Times New Roman" panose="02020603050405020304" pitchFamily="18" charset="0"/>
              </a:rPr>
              <a:t>Lương</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công</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nhân</a:t>
            </a:r>
            <a:r>
              <a:rPr lang="en-US" altLang="en-US" dirty="0">
                <a:solidFill>
                  <a:schemeClr val="tx1"/>
                </a:solidFill>
                <a:latin typeface="Times New Roman" panose="02020603050405020304" pitchFamily="18" charset="0"/>
                <a:cs typeface="Times New Roman" panose="02020603050405020304" pitchFamily="18" charset="0"/>
              </a:rPr>
              <a:t>: 	3$ </a:t>
            </a:r>
          </a:p>
          <a:p>
            <a:pPr algn="just">
              <a:lnSpc>
                <a:spcPct val="115000"/>
              </a:lnSpc>
              <a:spcBef>
                <a:spcPct val="10000"/>
              </a:spcBef>
            </a:pP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Tổng</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cộng</a:t>
            </a:r>
            <a:r>
              <a:rPr lang="en-US" altLang="en-US" dirty="0">
                <a:solidFill>
                  <a:schemeClr val="tx1"/>
                </a:solidFill>
                <a:latin typeface="Times New Roman" panose="02020603050405020304" pitchFamily="18" charset="0"/>
                <a:cs typeface="Times New Roman" panose="02020603050405020304" pitchFamily="18" charset="0"/>
              </a:rPr>
              <a:t>:   	27$</a:t>
            </a:r>
          </a:p>
          <a:p>
            <a:pPr algn="just">
              <a:lnSpc>
                <a:spcPct val="115000"/>
              </a:lnSpc>
              <a:spcBef>
                <a:spcPct val="10000"/>
              </a:spcBef>
            </a:pPr>
            <a:r>
              <a:rPr lang="en-US" altLang="en-US" dirty="0" err="1">
                <a:solidFill>
                  <a:schemeClr val="tx1"/>
                </a:solidFill>
                <a:latin typeface="Times New Roman" panose="02020603050405020304" pitchFamily="18" charset="0"/>
                <a:cs typeface="Times New Roman" panose="02020603050405020304" pitchFamily="18" charset="0"/>
              </a:rPr>
              <a:t>Giá</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trị</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thặng</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dư</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thu</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nhập</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của</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nhà</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tư</a:t>
            </a: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err="1">
                <a:solidFill>
                  <a:schemeClr val="tx1"/>
                </a:solidFill>
                <a:latin typeface="Times New Roman" panose="02020603050405020304" pitchFamily="18" charset="0"/>
                <a:cs typeface="Times New Roman" panose="02020603050405020304" pitchFamily="18" charset="0"/>
              </a:rPr>
              <a:t>bản</a:t>
            </a:r>
            <a:r>
              <a:rPr lang="en-US" altLang="en-US" dirty="0">
                <a:solidFill>
                  <a:schemeClr val="tx1"/>
                </a:solidFill>
                <a:latin typeface="Times New Roman" panose="02020603050405020304" pitchFamily="18" charset="0"/>
                <a:cs typeface="Times New Roman" panose="02020603050405020304" pitchFamily="18" charset="0"/>
              </a:rPr>
              <a:t>) = 30$ - 27$ = 3$</a:t>
            </a:r>
          </a:p>
        </p:txBody>
      </p:sp>
    </p:spTree>
    <p:extLst>
      <p:ext uri="{BB962C8B-B14F-4D97-AF65-F5344CB8AC3E}">
        <p14:creationId xmlns:p14="http://schemas.microsoft.com/office/powerpoint/2010/main" val="425412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arn(inVertic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arn(inVertic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arn(inVertical)">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barn(inVertical)">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barn(inVertical)">
                                      <p:cBhvr>
                                        <p:cTn id="27" dur="500"/>
                                        <p:tgtEl>
                                          <p:spTgt spid="5">
                                            <p:txEl>
                                              <p:pRg st="5" end="5"/>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barn(inVertical)">
                                      <p:cBhvr>
                                        <p:cTn id="30" dur="500"/>
                                        <p:tgtEl>
                                          <p:spTgt spid="5">
                                            <p:txEl>
                                              <p:pRg st="6" end="6"/>
                                            </p:txEl>
                                          </p:spTgt>
                                        </p:tgtEl>
                                      </p:cBhvr>
                                    </p:animEffect>
                                  </p:childTnLst>
                                </p:cTn>
                              </p:par>
                              <p:par>
                                <p:cTn id="31" presetID="16" presetClass="entr" presetSubtype="21" fill="hold" nodeType="with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animEffect transition="in" filter="barn(inVertical)">
                                      <p:cBhvr>
                                        <p:cTn id="33" dur="500"/>
                                        <p:tgtEl>
                                          <p:spTgt spid="5">
                                            <p:txEl>
                                              <p:pRg st="7" end="7"/>
                                            </p:txEl>
                                          </p:spTgt>
                                        </p:tgtEl>
                                      </p:cBhvr>
                                    </p:animEffect>
                                  </p:childTnLst>
                                </p:cTn>
                              </p:par>
                              <p:par>
                                <p:cTn id="34" presetID="16" presetClass="entr" presetSubtype="21" fill="hold" nodeType="withEffect">
                                  <p:stCondLst>
                                    <p:cond delay="0"/>
                                  </p:stCondLst>
                                  <p:childTnLst>
                                    <p:set>
                                      <p:cBhvr>
                                        <p:cTn id="35" dur="1" fill="hold">
                                          <p:stCondLst>
                                            <p:cond delay="0"/>
                                          </p:stCondLst>
                                        </p:cTn>
                                        <p:tgtEl>
                                          <p:spTgt spid="5">
                                            <p:txEl>
                                              <p:pRg st="8" end="8"/>
                                            </p:txEl>
                                          </p:spTgt>
                                        </p:tgtEl>
                                        <p:attrNameLst>
                                          <p:attrName>style.visibility</p:attrName>
                                        </p:attrNameLst>
                                      </p:cBhvr>
                                      <p:to>
                                        <p:strVal val="visible"/>
                                      </p:to>
                                    </p:set>
                                    <p:animEffect transition="in" filter="barn(inVertical)">
                                      <p:cBhvr>
                                        <p:cTn id="36" dur="500"/>
                                        <p:tgtEl>
                                          <p:spTgt spid="5">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5">
                                            <p:txEl>
                                              <p:pRg st="9" end="9"/>
                                            </p:txEl>
                                          </p:spTgt>
                                        </p:tgtEl>
                                        <p:attrNameLst>
                                          <p:attrName>style.visibility</p:attrName>
                                        </p:attrNameLst>
                                      </p:cBhvr>
                                      <p:to>
                                        <p:strVal val="visible"/>
                                      </p:to>
                                    </p:set>
                                    <p:animEffect transition="in" filter="barn(inVertical)">
                                      <p:cBhvr>
                                        <p:cTn id="41"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Group 2">
            <a:extLst>
              <a:ext uri="{FF2B5EF4-FFF2-40B4-BE49-F238E27FC236}">
                <a16:creationId xmlns:a16="http://schemas.microsoft.com/office/drawing/2014/main" id="{33931A4E-83E0-49B8-9A11-B713EC7239D0}"/>
              </a:ext>
            </a:extLst>
          </p:cNvPr>
          <p:cNvGraphicFramePr>
            <a:graphicFrameLocks noGrp="1"/>
          </p:cNvGraphicFramePr>
          <p:nvPr/>
        </p:nvGraphicFramePr>
        <p:xfrm>
          <a:off x="914400" y="1524001"/>
          <a:ext cx="16306800" cy="11210926"/>
        </p:xfrm>
        <a:graphic>
          <a:graphicData uri="http://schemas.openxmlformats.org/drawingml/2006/table">
            <a:tbl>
              <a:tblPr/>
              <a:tblGrid>
                <a:gridCol w="853440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198126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5600" b="0" i="0" u="none" strike="noStrike" cap="none" normalizeH="0" baseline="0">
                        <a:ln>
                          <a:noFill/>
                        </a:ln>
                        <a:solidFill>
                          <a:schemeClr val="tx1"/>
                        </a:solidFill>
                        <a:effectLst/>
                        <a:latin typeface="Arial" panose="020B0604020202020204" pitchFamily="34" charset="0"/>
                      </a:endParaRPr>
                    </a:p>
                  </a:txBody>
                  <a:tcPr marL="182880" marR="182880" marT="91444" marB="91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5600" b="0" i="0" u="none" strike="noStrike" cap="none" normalizeH="0" baseline="0">
                        <a:ln>
                          <a:noFill/>
                        </a:ln>
                        <a:solidFill>
                          <a:schemeClr val="tx1"/>
                        </a:solidFill>
                        <a:effectLst/>
                        <a:latin typeface="Arial" panose="020B0604020202020204" pitchFamily="34" charset="0"/>
                      </a:endParaRPr>
                    </a:p>
                  </a:txBody>
                  <a:tcPr marL="182880" marR="182880" marT="91444" marB="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229658">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56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Tx/>
                        <a:buSzTx/>
                        <a:buFontTx/>
                        <a:buChar char="-"/>
                        <a:tabLst/>
                      </a:pPr>
                      <a:endParaRPr kumimoji="0" lang="en-US" altLang="en-US" sz="5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5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5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56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56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5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5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5600" b="0" i="0" u="none" strike="noStrike" cap="none" normalizeH="0" baseline="0">
                        <a:ln>
                          <a:noFill/>
                        </a:ln>
                        <a:solidFill>
                          <a:schemeClr val="tx1"/>
                        </a:solidFill>
                        <a:effectLst/>
                        <a:latin typeface="Arial" panose="020B0604020202020204" pitchFamily="34" charset="0"/>
                      </a:endParaRPr>
                    </a:p>
                  </a:txBody>
                  <a:tcPr marL="182880" marR="182880" marT="91444" marB="91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5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5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5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5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56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56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56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56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5600" b="0" i="0" u="none" strike="noStrike" cap="none" normalizeH="0" baseline="0">
                          <a:ln>
                            <a:noFill/>
                          </a:ln>
                          <a:solidFill>
                            <a:schemeClr val="tx1"/>
                          </a:solidFill>
                          <a:effectLst/>
                          <a:latin typeface="Arial" panose="020B0604020202020204" pitchFamily="34" charset="0"/>
                        </a:rPr>
                        <a:t>                  </a:t>
                      </a:r>
                    </a:p>
                  </a:txBody>
                  <a:tcPr marL="182880" marR="182880" marT="91444" marB="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3565" name="Line 13">
            <a:extLst>
              <a:ext uri="{FF2B5EF4-FFF2-40B4-BE49-F238E27FC236}">
                <a16:creationId xmlns:a16="http://schemas.microsoft.com/office/drawing/2014/main" id="{0BDCA2FC-47B6-42AE-87C8-70280A099C55}"/>
              </a:ext>
            </a:extLst>
          </p:cNvPr>
          <p:cNvSpPr>
            <a:spLocks noChangeShapeType="1"/>
          </p:cNvSpPr>
          <p:nvPr/>
        </p:nvSpPr>
        <p:spPr bwMode="auto">
          <a:xfrm>
            <a:off x="6553200" y="11582400"/>
            <a:ext cx="2590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600"/>
          </a:p>
        </p:txBody>
      </p:sp>
      <p:sp>
        <p:nvSpPr>
          <p:cNvPr id="23566" name="Line 14">
            <a:extLst>
              <a:ext uri="{FF2B5EF4-FFF2-40B4-BE49-F238E27FC236}">
                <a16:creationId xmlns:a16="http://schemas.microsoft.com/office/drawing/2014/main" id="{763396F5-4640-4C25-99DC-504461BB9D6C}"/>
              </a:ext>
            </a:extLst>
          </p:cNvPr>
          <p:cNvSpPr>
            <a:spLocks noChangeShapeType="1"/>
          </p:cNvSpPr>
          <p:nvPr/>
        </p:nvSpPr>
        <p:spPr bwMode="auto">
          <a:xfrm flipV="1">
            <a:off x="14478000" y="11582400"/>
            <a:ext cx="2438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600"/>
          </a:p>
        </p:txBody>
      </p:sp>
      <p:sp>
        <p:nvSpPr>
          <p:cNvPr id="23567" name="Rectangle 15">
            <a:extLst>
              <a:ext uri="{FF2B5EF4-FFF2-40B4-BE49-F238E27FC236}">
                <a16:creationId xmlns:a16="http://schemas.microsoft.com/office/drawing/2014/main" id="{272CA3CF-4B62-4EBC-A1D1-73CEB888BCF2}"/>
              </a:ext>
            </a:extLst>
          </p:cNvPr>
          <p:cNvSpPr>
            <a:spLocks noChangeArrowheads="1"/>
          </p:cNvSpPr>
          <p:nvPr/>
        </p:nvSpPr>
        <p:spPr bwMode="auto">
          <a:xfrm>
            <a:off x="1981200" y="1828800"/>
            <a:ext cx="7162800" cy="609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Chi phí sản xuất</a:t>
            </a:r>
          </a:p>
        </p:txBody>
      </p:sp>
      <p:sp>
        <p:nvSpPr>
          <p:cNvPr id="23568" name="Rectangle 16">
            <a:extLst>
              <a:ext uri="{FF2B5EF4-FFF2-40B4-BE49-F238E27FC236}">
                <a16:creationId xmlns:a16="http://schemas.microsoft.com/office/drawing/2014/main" id="{4B7E940F-5391-4AF3-83AA-045A307CF017}"/>
              </a:ext>
            </a:extLst>
          </p:cNvPr>
          <p:cNvSpPr>
            <a:spLocks noChangeArrowheads="1"/>
          </p:cNvSpPr>
          <p:nvPr/>
        </p:nvSpPr>
        <p:spPr bwMode="auto">
          <a:xfrm>
            <a:off x="10363200" y="1828800"/>
            <a:ext cx="6096000" cy="1371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Giá trị sản phẩm</a:t>
            </a:r>
          </a:p>
          <a:p>
            <a:pPr algn="ctr" eaLnBrk="1" hangingPunct="1">
              <a:spcBef>
                <a:spcPct val="0"/>
              </a:spcBef>
              <a:buFontTx/>
              <a:buNone/>
            </a:pPr>
            <a:r>
              <a:rPr lang="en-US" altLang="en-US" sz="5600">
                <a:solidFill>
                  <a:srgbClr val="002060"/>
                </a:solidFill>
                <a:latin typeface="Times New Roman" panose="02020603050405020304" pitchFamily="18" charset="0"/>
              </a:rPr>
              <a:t>(20 kg sợi)</a:t>
            </a:r>
          </a:p>
        </p:txBody>
      </p:sp>
      <p:sp>
        <p:nvSpPr>
          <p:cNvPr id="23569" name="Rectangle 17">
            <a:extLst>
              <a:ext uri="{FF2B5EF4-FFF2-40B4-BE49-F238E27FC236}">
                <a16:creationId xmlns:a16="http://schemas.microsoft.com/office/drawing/2014/main" id="{BA243664-EC5D-4953-AFF4-E8ECA0E13AC2}"/>
              </a:ext>
            </a:extLst>
          </p:cNvPr>
          <p:cNvSpPr>
            <a:spLocks noChangeArrowheads="1"/>
          </p:cNvSpPr>
          <p:nvPr/>
        </p:nvSpPr>
        <p:spPr bwMode="auto">
          <a:xfrm>
            <a:off x="1219200" y="3810000"/>
            <a:ext cx="4419600" cy="12192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-Tiền mua bông</a:t>
            </a:r>
          </a:p>
        </p:txBody>
      </p:sp>
      <p:sp>
        <p:nvSpPr>
          <p:cNvPr id="23570" name="Rectangle 18">
            <a:extLst>
              <a:ext uri="{FF2B5EF4-FFF2-40B4-BE49-F238E27FC236}">
                <a16:creationId xmlns:a16="http://schemas.microsoft.com/office/drawing/2014/main" id="{3AB7C3B5-84D2-4903-8C64-41A7E3774EC9}"/>
              </a:ext>
            </a:extLst>
          </p:cNvPr>
          <p:cNvSpPr>
            <a:spLocks noChangeArrowheads="1"/>
          </p:cNvSpPr>
          <p:nvPr/>
        </p:nvSpPr>
        <p:spPr bwMode="auto">
          <a:xfrm>
            <a:off x="6705600" y="3962400"/>
            <a:ext cx="2438400" cy="914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20 USD</a:t>
            </a:r>
          </a:p>
        </p:txBody>
      </p:sp>
      <p:sp>
        <p:nvSpPr>
          <p:cNvPr id="23571" name="Rectangle 19">
            <a:extLst>
              <a:ext uri="{FF2B5EF4-FFF2-40B4-BE49-F238E27FC236}">
                <a16:creationId xmlns:a16="http://schemas.microsoft.com/office/drawing/2014/main" id="{5AB7EEC0-D288-401F-9302-951310B823F6}"/>
              </a:ext>
            </a:extLst>
          </p:cNvPr>
          <p:cNvSpPr>
            <a:spLocks noChangeArrowheads="1"/>
          </p:cNvSpPr>
          <p:nvPr/>
        </p:nvSpPr>
        <p:spPr bwMode="auto">
          <a:xfrm>
            <a:off x="1219200" y="6096000"/>
            <a:ext cx="5334000" cy="1371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4800">
                <a:solidFill>
                  <a:srgbClr val="002060"/>
                </a:solidFill>
                <a:latin typeface="Times New Roman" panose="02020603050405020304" pitchFamily="18" charset="0"/>
              </a:rPr>
              <a:t>-</a:t>
            </a:r>
            <a:r>
              <a:rPr lang="en-US" altLang="en-US" sz="5600">
                <a:solidFill>
                  <a:srgbClr val="002060"/>
                </a:solidFill>
                <a:latin typeface="Times New Roman" panose="02020603050405020304" pitchFamily="18" charset="0"/>
              </a:rPr>
              <a:t>Tiền hao mòn máy</a:t>
            </a:r>
          </a:p>
        </p:txBody>
      </p:sp>
      <p:sp>
        <p:nvSpPr>
          <p:cNvPr id="23572" name="Rectangle 20">
            <a:extLst>
              <a:ext uri="{FF2B5EF4-FFF2-40B4-BE49-F238E27FC236}">
                <a16:creationId xmlns:a16="http://schemas.microsoft.com/office/drawing/2014/main" id="{F118A8F6-B4CC-45B9-9B9B-06FF3F81B13D}"/>
              </a:ext>
            </a:extLst>
          </p:cNvPr>
          <p:cNvSpPr>
            <a:spLocks noChangeArrowheads="1"/>
          </p:cNvSpPr>
          <p:nvPr/>
        </p:nvSpPr>
        <p:spPr bwMode="auto">
          <a:xfrm>
            <a:off x="7162800" y="6248400"/>
            <a:ext cx="1981200" cy="10668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4 USD</a:t>
            </a:r>
          </a:p>
        </p:txBody>
      </p:sp>
      <p:sp>
        <p:nvSpPr>
          <p:cNvPr id="23573" name="Rectangle 21">
            <a:extLst>
              <a:ext uri="{FF2B5EF4-FFF2-40B4-BE49-F238E27FC236}">
                <a16:creationId xmlns:a16="http://schemas.microsoft.com/office/drawing/2014/main" id="{570E9125-465F-41C0-97D3-29141A0072E5}"/>
              </a:ext>
            </a:extLst>
          </p:cNvPr>
          <p:cNvSpPr>
            <a:spLocks noChangeArrowheads="1"/>
          </p:cNvSpPr>
          <p:nvPr/>
        </p:nvSpPr>
        <p:spPr bwMode="auto">
          <a:xfrm>
            <a:off x="1219200" y="8991600"/>
            <a:ext cx="4572000" cy="1371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-Tiền mua SLĐ</a:t>
            </a:r>
          </a:p>
        </p:txBody>
      </p:sp>
      <p:sp>
        <p:nvSpPr>
          <p:cNvPr id="23574" name="Rectangle 22">
            <a:extLst>
              <a:ext uri="{FF2B5EF4-FFF2-40B4-BE49-F238E27FC236}">
                <a16:creationId xmlns:a16="http://schemas.microsoft.com/office/drawing/2014/main" id="{B0B8FB59-CE4E-45AA-AEFC-505A2683E40B}"/>
              </a:ext>
            </a:extLst>
          </p:cNvPr>
          <p:cNvSpPr>
            <a:spLocks noChangeArrowheads="1"/>
          </p:cNvSpPr>
          <p:nvPr/>
        </p:nvSpPr>
        <p:spPr bwMode="auto">
          <a:xfrm>
            <a:off x="7162800" y="9144000"/>
            <a:ext cx="1981200" cy="10668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3 USD</a:t>
            </a:r>
          </a:p>
        </p:txBody>
      </p:sp>
      <p:sp>
        <p:nvSpPr>
          <p:cNvPr id="23575" name="Rectangle 23">
            <a:extLst>
              <a:ext uri="{FF2B5EF4-FFF2-40B4-BE49-F238E27FC236}">
                <a16:creationId xmlns:a16="http://schemas.microsoft.com/office/drawing/2014/main" id="{45BDF6D5-C7C5-4171-90E4-812A292BD049}"/>
              </a:ext>
            </a:extLst>
          </p:cNvPr>
          <p:cNvSpPr>
            <a:spLocks noChangeArrowheads="1"/>
          </p:cNvSpPr>
          <p:nvPr/>
        </p:nvSpPr>
        <p:spPr bwMode="auto">
          <a:xfrm>
            <a:off x="2286000" y="11734800"/>
            <a:ext cx="3048000" cy="762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Cộng </a:t>
            </a:r>
          </a:p>
        </p:txBody>
      </p:sp>
      <p:sp>
        <p:nvSpPr>
          <p:cNvPr id="23576" name="Rectangle 24">
            <a:extLst>
              <a:ext uri="{FF2B5EF4-FFF2-40B4-BE49-F238E27FC236}">
                <a16:creationId xmlns:a16="http://schemas.microsoft.com/office/drawing/2014/main" id="{ED409251-C539-4D97-A120-104B328A205C}"/>
              </a:ext>
            </a:extLst>
          </p:cNvPr>
          <p:cNvSpPr>
            <a:spLocks noChangeArrowheads="1"/>
          </p:cNvSpPr>
          <p:nvPr/>
        </p:nvSpPr>
        <p:spPr bwMode="auto">
          <a:xfrm>
            <a:off x="6400800" y="11887200"/>
            <a:ext cx="2895600" cy="609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27 USD</a:t>
            </a:r>
          </a:p>
        </p:txBody>
      </p:sp>
      <p:sp>
        <p:nvSpPr>
          <p:cNvPr id="23577" name="Rectangle 25">
            <a:extLst>
              <a:ext uri="{FF2B5EF4-FFF2-40B4-BE49-F238E27FC236}">
                <a16:creationId xmlns:a16="http://schemas.microsoft.com/office/drawing/2014/main" id="{6F8B794E-7723-402F-BE52-53B56D5C4604}"/>
              </a:ext>
            </a:extLst>
          </p:cNvPr>
          <p:cNvSpPr>
            <a:spLocks noChangeArrowheads="1"/>
          </p:cNvSpPr>
          <p:nvPr/>
        </p:nvSpPr>
        <p:spPr bwMode="auto">
          <a:xfrm>
            <a:off x="9753600" y="3962400"/>
            <a:ext cx="6248400" cy="762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-Gt của bông chuyển</a:t>
            </a:r>
            <a:r>
              <a:rPr lang="en-US" altLang="en-US" sz="4800">
                <a:solidFill>
                  <a:srgbClr val="002060"/>
                </a:solidFill>
                <a:latin typeface="Times New Roman" panose="02020603050405020304" pitchFamily="18" charset="0"/>
              </a:rPr>
              <a:t> </a:t>
            </a:r>
          </a:p>
        </p:txBody>
      </p:sp>
      <p:sp>
        <p:nvSpPr>
          <p:cNvPr id="23578" name="Rectangle 26">
            <a:extLst>
              <a:ext uri="{FF2B5EF4-FFF2-40B4-BE49-F238E27FC236}">
                <a16:creationId xmlns:a16="http://schemas.microsoft.com/office/drawing/2014/main" id="{E4DEA8AE-E591-4D19-AF6C-FC9CE1C1806F}"/>
              </a:ext>
            </a:extLst>
          </p:cNvPr>
          <p:cNvSpPr>
            <a:spLocks noChangeArrowheads="1"/>
          </p:cNvSpPr>
          <p:nvPr/>
        </p:nvSpPr>
        <p:spPr bwMode="auto">
          <a:xfrm>
            <a:off x="10058400" y="4876800"/>
            <a:ext cx="2286000" cy="609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vào sợi</a:t>
            </a:r>
          </a:p>
        </p:txBody>
      </p:sp>
      <p:sp>
        <p:nvSpPr>
          <p:cNvPr id="23579" name="Rectangle 27">
            <a:extLst>
              <a:ext uri="{FF2B5EF4-FFF2-40B4-BE49-F238E27FC236}">
                <a16:creationId xmlns:a16="http://schemas.microsoft.com/office/drawing/2014/main" id="{1843DCC9-DA5D-4521-B94C-8AE47BDA9372}"/>
              </a:ext>
            </a:extLst>
          </p:cNvPr>
          <p:cNvSpPr>
            <a:spLocks noChangeArrowheads="1"/>
          </p:cNvSpPr>
          <p:nvPr/>
        </p:nvSpPr>
        <p:spPr bwMode="auto">
          <a:xfrm>
            <a:off x="14478000" y="4876800"/>
            <a:ext cx="2590800" cy="762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20 USD</a:t>
            </a:r>
          </a:p>
        </p:txBody>
      </p:sp>
      <p:sp>
        <p:nvSpPr>
          <p:cNvPr id="23580" name="Rectangle 28">
            <a:extLst>
              <a:ext uri="{FF2B5EF4-FFF2-40B4-BE49-F238E27FC236}">
                <a16:creationId xmlns:a16="http://schemas.microsoft.com/office/drawing/2014/main" id="{7EF7CB08-757B-492F-A2DB-919B77458FE5}"/>
              </a:ext>
            </a:extLst>
          </p:cNvPr>
          <p:cNvSpPr>
            <a:spLocks noChangeArrowheads="1"/>
          </p:cNvSpPr>
          <p:nvPr/>
        </p:nvSpPr>
        <p:spPr bwMode="auto">
          <a:xfrm>
            <a:off x="10058400" y="6248400"/>
            <a:ext cx="5334000" cy="914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-Gt của máy chuyển</a:t>
            </a:r>
            <a:r>
              <a:rPr lang="en-US" altLang="en-US" sz="4800">
                <a:solidFill>
                  <a:srgbClr val="002060"/>
                </a:solidFill>
                <a:latin typeface="Times New Roman" panose="02020603050405020304" pitchFamily="18" charset="0"/>
              </a:rPr>
              <a:t> </a:t>
            </a:r>
          </a:p>
        </p:txBody>
      </p:sp>
      <p:sp>
        <p:nvSpPr>
          <p:cNvPr id="23581" name="Rectangle 29">
            <a:extLst>
              <a:ext uri="{FF2B5EF4-FFF2-40B4-BE49-F238E27FC236}">
                <a16:creationId xmlns:a16="http://schemas.microsoft.com/office/drawing/2014/main" id="{55E1348A-2D3C-4F36-A7CB-7D8489E3E532}"/>
              </a:ext>
            </a:extLst>
          </p:cNvPr>
          <p:cNvSpPr>
            <a:spLocks noChangeArrowheads="1"/>
          </p:cNvSpPr>
          <p:nvPr/>
        </p:nvSpPr>
        <p:spPr bwMode="auto">
          <a:xfrm>
            <a:off x="10058400" y="7162800"/>
            <a:ext cx="2133600" cy="609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vào sợi</a:t>
            </a:r>
          </a:p>
        </p:txBody>
      </p:sp>
      <p:sp>
        <p:nvSpPr>
          <p:cNvPr id="23582" name="Rectangle 30">
            <a:extLst>
              <a:ext uri="{FF2B5EF4-FFF2-40B4-BE49-F238E27FC236}">
                <a16:creationId xmlns:a16="http://schemas.microsoft.com/office/drawing/2014/main" id="{70AA8533-1F1C-42F9-8F68-5E99213D3A25}"/>
              </a:ext>
            </a:extLst>
          </p:cNvPr>
          <p:cNvSpPr>
            <a:spLocks noChangeArrowheads="1"/>
          </p:cNvSpPr>
          <p:nvPr/>
        </p:nvSpPr>
        <p:spPr bwMode="auto">
          <a:xfrm>
            <a:off x="14935200" y="7162800"/>
            <a:ext cx="1981200" cy="762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4 USD</a:t>
            </a:r>
          </a:p>
        </p:txBody>
      </p:sp>
      <p:sp>
        <p:nvSpPr>
          <p:cNvPr id="23583" name="Rectangle 31">
            <a:extLst>
              <a:ext uri="{FF2B5EF4-FFF2-40B4-BE49-F238E27FC236}">
                <a16:creationId xmlns:a16="http://schemas.microsoft.com/office/drawing/2014/main" id="{649EF4FA-40B2-4F1F-9222-5F801D0F133F}"/>
              </a:ext>
            </a:extLst>
          </p:cNvPr>
          <p:cNvSpPr>
            <a:spLocks noChangeArrowheads="1"/>
          </p:cNvSpPr>
          <p:nvPr/>
        </p:nvSpPr>
        <p:spPr bwMode="auto">
          <a:xfrm>
            <a:off x="10210800" y="8077200"/>
            <a:ext cx="3962400" cy="609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(nhờ lđ cụ thể)</a:t>
            </a:r>
          </a:p>
        </p:txBody>
      </p:sp>
      <p:sp>
        <p:nvSpPr>
          <p:cNvPr id="23584" name="Rectangle 32">
            <a:extLst>
              <a:ext uri="{FF2B5EF4-FFF2-40B4-BE49-F238E27FC236}">
                <a16:creationId xmlns:a16="http://schemas.microsoft.com/office/drawing/2014/main" id="{0FF4920B-F1FB-45B2-9576-491A7D1A5E6C}"/>
              </a:ext>
            </a:extLst>
          </p:cNvPr>
          <p:cNvSpPr>
            <a:spLocks noChangeArrowheads="1"/>
          </p:cNvSpPr>
          <p:nvPr/>
        </p:nvSpPr>
        <p:spPr bwMode="auto">
          <a:xfrm>
            <a:off x="9601200" y="9448800"/>
            <a:ext cx="5029200" cy="12192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5600">
                <a:solidFill>
                  <a:srgbClr val="002060"/>
                </a:solidFill>
                <a:latin typeface="Times New Roman" panose="02020603050405020304" pitchFamily="18" charset="0"/>
              </a:rPr>
              <a:t>-Gt mới do lđ trừu </a:t>
            </a:r>
          </a:p>
          <a:p>
            <a:pPr eaLnBrk="1" hangingPunct="1">
              <a:spcBef>
                <a:spcPct val="0"/>
              </a:spcBef>
              <a:buFontTx/>
              <a:buNone/>
            </a:pPr>
            <a:r>
              <a:rPr lang="en-US" altLang="en-US" sz="5600">
                <a:solidFill>
                  <a:srgbClr val="002060"/>
                </a:solidFill>
                <a:latin typeface="Times New Roman" panose="02020603050405020304" pitchFamily="18" charset="0"/>
              </a:rPr>
              <a:t>tượng tạo ra</a:t>
            </a:r>
          </a:p>
        </p:txBody>
      </p:sp>
      <p:sp>
        <p:nvSpPr>
          <p:cNvPr id="23585" name="Rectangle 33">
            <a:extLst>
              <a:ext uri="{FF2B5EF4-FFF2-40B4-BE49-F238E27FC236}">
                <a16:creationId xmlns:a16="http://schemas.microsoft.com/office/drawing/2014/main" id="{98715492-6034-428A-9F50-4EB351D7E9DF}"/>
              </a:ext>
            </a:extLst>
          </p:cNvPr>
          <p:cNvSpPr>
            <a:spLocks noChangeArrowheads="1"/>
          </p:cNvSpPr>
          <p:nvPr/>
        </p:nvSpPr>
        <p:spPr bwMode="auto">
          <a:xfrm>
            <a:off x="14935200" y="10210800"/>
            <a:ext cx="2133600" cy="609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6 USD</a:t>
            </a:r>
          </a:p>
        </p:txBody>
      </p:sp>
      <p:sp>
        <p:nvSpPr>
          <p:cNvPr id="23586" name="Rectangle 34">
            <a:extLst>
              <a:ext uri="{FF2B5EF4-FFF2-40B4-BE49-F238E27FC236}">
                <a16:creationId xmlns:a16="http://schemas.microsoft.com/office/drawing/2014/main" id="{BD5E6968-7847-4683-82D4-E3656AEBD317}"/>
              </a:ext>
            </a:extLst>
          </p:cNvPr>
          <p:cNvSpPr>
            <a:spLocks noChangeArrowheads="1"/>
          </p:cNvSpPr>
          <p:nvPr/>
        </p:nvSpPr>
        <p:spPr bwMode="auto">
          <a:xfrm>
            <a:off x="10363200" y="11734800"/>
            <a:ext cx="2895600" cy="762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Cộng</a:t>
            </a:r>
          </a:p>
        </p:txBody>
      </p:sp>
      <p:sp>
        <p:nvSpPr>
          <p:cNvPr id="23587" name="Rectangle 35">
            <a:extLst>
              <a:ext uri="{FF2B5EF4-FFF2-40B4-BE49-F238E27FC236}">
                <a16:creationId xmlns:a16="http://schemas.microsoft.com/office/drawing/2014/main" id="{0ABE698F-419F-4DD6-B1AF-AA7779DFB177}"/>
              </a:ext>
            </a:extLst>
          </p:cNvPr>
          <p:cNvSpPr>
            <a:spLocks noChangeArrowheads="1"/>
          </p:cNvSpPr>
          <p:nvPr/>
        </p:nvSpPr>
        <p:spPr bwMode="auto">
          <a:xfrm>
            <a:off x="14630400" y="11887200"/>
            <a:ext cx="2133600" cy="6096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5600">
                <a:solidFill>
                  <a:srgbClr val="002060"/>
                </a:solidFill>
                <a:latin typeface="Times New Roman" panose="02020603050405020304" pitchFamily="18" charset="0"/>
              </a:rPr>
              <a:t>30 USD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blinds(horizontal)">
                                      <p:cBhvr>
                                        <p:cTn id="7" dur="500"/>
                                        <p:tgtEl>
                                          <p:spTgt spid="235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7" presetClass="entr" presetSubtype="0" fill="hold" nodeType="clickEffect">
                                  <p:stCondLst>
                                    <p:cond delay="0"/>
                                  </p:stCondLst>
                                  <p:childTnLst>
                                    <p:set>
                                      <p:cBhvr>
                                        <p:cTn id="11" dur="1" fill="hold">
                                          <p:stCondLst>
                                            <p:cond delay="0"/>
                                          </p:stCondLst>
                                        </p:cTn>
                                        <p:tgtEl>
                                          <p:spTgt spid="23567">
                                            <p:txEl>
                                              <p:pRg st="0" end="0"/>
                                            </p:txEl>
                                          </p:spTgt>
                                        </p:tgtEl>
                                        <p:attrNameLst>
                                          <p:attrName>style.visibility</p:attrName>
                                        </p:attrNameLst>
                                      </p:cBhvr>
                                      <p:to>
                                        <p:strVal val="visible"/>
                                      </p:to>
                                    </p:set>
                                    <p:animEffect transition="in" filter="fade">
                                      <p:cBhvr>
                                        <p:cTn id="12" dur="1000"/>
                                        <p:tgtEl>
                                          <p:spTgt spid="23567">
                                            <p:txEl>
                                              <p:pRg st="0" end="0"/>
                                            </p:txEl>
                                          </p:spTgt>
                                        </p:tgtEl>
                                      </p:cBhvr>
                                    </p:animEffect>
                                    <p:anim calcmode="lin" valueType="num">
                                      <p:cBhvr>
                                        <p:cTn id="13" dur="1000" fill="hold"/>
                                        <p:tgtEl>
                                          <p:spTgt spid="2356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356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23568"/>
                                        </p:tgtEl>
                                        <p:attrNameLst>
                                          <p:attrName>style.visibility</p:attrName>
                                        </p:attrNameLst>
                                      </p:cBhvr>
                                      <p:to>
                                        <p:strVal val="visible"/>
                                      </p:to>
                                    </p:set>
                                    <p:animEffect transition="in" filter="fade">
                                      <p:cBhvr>
                                        <p:cTn id="19" dur="1000"/>
                                        <p:tgtEl>
                                          <p:spTgt spid="23568"/>
                                        </p:tgtEl>
                                      </p:cBhvr>
                                    </p:animEffect>
                                    <p:anim calcmode="lin" valueType="num">
                                      <p:cBhvr>
                                        <p:cTn id="20" dur="1000" fill="hold"/>
                                        <p:tgtEl>
                                          <p:spTgt spid="23568"/>
                                        </p:tgtEl>
                                        <p:attrNameLst>
                                          <p:attrName>ppt_x</p:attrName>
                                        </p:attrNameLst>
                                      </p:cBhvr>
                                      <p:tavLst>
                                        <p:tav tm="0">
                                          <p:val>
                                            <p:strVal val="#ppt_x"/>
                                          </p:val>
                                        </p:tav>
                                        <p:tav tm="100000">
                                          <p:val>
                                            <p:strVal val="#ppt_x"/>
                                          </p:val>
                                        </p:tav>
                                      </p:tavLst>
                                    </p:anim>
                                    <p:anim calcmode="lin" valueType="num">
                                      <p:cBhvr>
                                        <p:cTn id="21" dur="1000" fill="hold"/>
                                        <p:tgtEl>
                                          <p:spTgt spid="23568"/>
                                        </p:tgtEl>
                                        <p:attrNameLst>
                                          <p:attrName>ppt_y</p:attrName>
                                        </p:attrNameLst>
                                      </p:cBhvr>
                                      <p:tavLst>
                                        <p:tav tm="0">
                                          <p:val>
                                            <p:strVal val="#ppt_y-.1"/>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3569"/>
                                        </p:tgtEl>
                                        <p:attrNameLst>
                                          <p:attrName>style.visibility</p:attrName>
                                        </p:attrNameLst>
                                      </p:cBhvr>
                                      <p:to>
                                        <p:strVal val="visible"/>
                                      </p:to>
                                    </p:set>
                                    <p:animEffect transition="in" filter="fade">
                                      <p:cBhvr>
                                        <p:cTn id="26" dur="2000"/>
                                        <p:tgtEl>
                                          <p:spTgt spid="2356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7" presetClass="entr" presetSubtype="0" fill="hold" grpId="0" nodeType="clickEffect">
                                  <p:stCondLst>
                                    <p:cond delay="0"/>
                                  </p:stCondLst>
                                  <p:childTnLst>
                                    <p:set>
                                      <p:cBhvr>
                                        <p:cTn id="30" dur="1" fill="hold">
                                          <p:stCondLst>
                                            <p:cond delay="0"/>
                                          </p:stCondLst>
                                        </p:cTn>
                                        <p:tgtEl>
                                          <p:spTgt spid="23570"/>
                                        </p:tgtEl>
                                        <p:attrNameLst>
                                          <p:attrName>style.visibility</p:attrName>
                                        </p:attrNameLst>
                                      </p:cBhvr>
                                      <p:to>
                                        <p:strVal val="visible"/>
                                      </p:to>
                                    </p:set>
                                    <p:animEffect transition="in" filter="fade">
                                      <p:cBhvr>
                                        <p:cTn id="31" dur="1000"/>
                                        <p:tgtEl>
                                          <p:spTgt spid="23570"/>
                                        </p:tgtEl>
                                      </p:cBhvr>
                                    </p:animEffect>
                                    <p:anim calcmode="lin" valueType="num">
                                      <p:cBhvr>
                                        <p:cTn id="32" dur="1000" fill="hold"/>
                                        <p:tgtEl>
                                          <p:spTgt spid="23570"/>
                                        </p:tgtEl>
                                        <p:attrNameLst>
                                          <p:attrName>ppt_x</p:attrName>
                                        </p:attrNameLst>
                                      </p:cBhvr>
                                      <p:tavLst>
                                        <p:tav tm="0">
                                          <p:val>
                                            <p:strVal val="#ppt_x"/>
                                          </p:val>
                                        </p:tav>
                                        <p:tav tm="100000">
                                          <p:val>
                                            <p:strVal val="#ppt_x"/>
                                          </p:val>
                                        </p:tav>
                                      </p:tavLst>
                                    </p:anim>
                                    <p:anim calcmode="lin" valueType="num">
                                      <p:cBhvr>
                                        <p:cTn id="33" dur="1000" fill="hold"/>
                                        <p:tgtEl>
                                          <p:spTgt spid="23570"/>
                                        </p:tgtEl>
                                        <p:attrNameLst>
                                          <p:attrName>ppt_y</p:attrName>
                                        </p:attrNameLst>
                                      </p:cBhvr>
                                      <p:tavLst>
                                        <p:tav tm="0">
                                          <p:val>
                                            <p:strVal val="#ppt_y-.1"/>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3571"/>
                                        </p:tgtEl>
                                        <p:attrNameLst>
                                          <p:attrName>style.visibility</p:attrName>
                                        </p:attrNameLst>
                                      </p:cBhvr>
                                      <p:to>
                                        <p:strVal val="visible"/>
                                      </p:to>
                                    </p:set>
                                    <p:animEffect transition="in" filter="fade">
                                      <p:cBhvr>
                                        <p:cTn id="38" dur="2000"/>
                                        <p:tgtEl>
                                          <p:spTgt spid="2357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7" presetClass="entr" presetSubtype="0" fill="hold" grpId="0" nodeType="clickEffect">
                                  <p:stCondLst>
                                    <p:cond delay="0"/>
                                  </p:stCondLst>
                                  <p:childTnLst>
                                    <p:set>
                                      <p:cBhvr>
                                        <p:cTn id="42" dur="1" fill="hold">
                                          <p:stCondLst>
                                            <p:cond delay="0"/>
                                          </p:stCondLst>
                                        </p:cTn>
                                        <p:tgtEl>
                                          <p:spTgt spid="23572"/>
                                        </p:tgtEl>
                                        <p:attrNameLst>
                                          <p:attrName>style.visibility</p:attrName>
                                        </p:attrNameLst>
                                      </p:cBhvr>
                                      <p:to>
                                        <p:strVal val="visible"/>
                                      </p:to>
                                    </p:set>
                                    <p:animEffect transition="in" filter="fade">
                                      <p:cBhvr>
                                        <p:cTn id="43" dur="1000"/>
                                        <p:tgtEl>
                                          <p:spTgt spid="23572"/>
                                        </p:tgtEl>
                                      </p:cBhvr>
                                    </p:animEffect>
                                    <p:anim calcmode="lin" valueType="num">
                                      <p:cBhvr>
                                        <p:cTn id="44" dur="1000" fill="hold"/>
                                        <p:tgtEl>
                                          <p:spTgt spid="23572"/>
                                        </p:tgtEl>
                                        <p:attrNameLst>
                                          <p:attrName>ppt_x</p:attrName>
                                        </p:attrNameLst>
                                      </p:cBhvr>
                                      <p:tavLst>
                                        <p:tav tm="0">
                                          <p:val>
                                            <p:strVal val="#ppt_x"/>
                                          </p:val>
                                        </p:tav>
                                        <p:tav tm="100000">
                                          <p:val>
                                            <p:strVal val="#ppt_x"/>
                                          </p:val>
                                        </p:tav>
                                      </p:tavLst>
                                    </p:anim>
                                    <p:anim calcmode="lin" valueType="num">
                                      <p:cBhvr>
                                        <p:cTn id="45" dur="1000" fill="hold"/>
                                        <p:tgtEl>
                                          <p:spTgt spid="23572"/>
                                        </p:tgtEl>
                                        <p:attrNameLst>
                                          <p:attrName>ppt_y</p:attrName>
                                        </p:attrNameLst>
                                      </p:cBhvr>
                                      <p:tavLst>
                                        <p:tav tm="0">
                                          <p:val>
                                            <p:strVal val="#ppt_y-.1"/>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3573"/>
                                        </p:tgtEl>
                                        <p:attrNameLst>
                                          <p:attrName>style.visibility</p:attrName>
                                        </p:attrNameLst>
                                      </p:cBhvr>
                                      <p:to>
                                        <p:strVal val="visible"/>
                                      </p:to>
                                    </p:set>
                                    <p:animEffect transition="in" filter="fade">
                                      <p:cBhvr>
                                        <p:cTn id="50" dur="2000"/>
                                        <p:tgtEl>
                                          <p:spTgt spid="2357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7" presetClass="entr" presetSubtype="0" fill="hold" grpId="0" nodeType="clickEffect">
                                  <p:stCondLst>
                                    <p:cond delay="0"/>
                                  </p:stCondLst>
                                  <p:childTnLst>
                                    <p:set>
                                      <p:cBhvr>
                                        <p:cTn id="54" dur="1" fill="hold">
                                          <p:stCondLst>
                                            <p:cond delay="0"/>
                                          </p:stCondLst>
                                        </p:cTn>
                                        <p:tgtEl>
                                          <p:spTgt spid="23574"/>
                                        </p:tgtEl>
                                        <p:attrNameLst>
                                          <p:attrName>style.visibility</p:attrName>
                                        </p:attrNameLst>
                                      </p:cBhvr>
                                      <p:to>
                                        <p:strVal val="visible"/>
                                      </p:to>
                                    </p:set>
                                    <p:animEffect transition="in" filter="fade">
                                      <p:cBhvr>
                                        <p:cTn id="55" dur="1000"/>
                                        <p:tgtEl>
                                          <p:spTgt spid="23574"/>
                                        </p:tgtEl>
                                      </p:cBhvr>
                                    </p:animEffect>
                                    <p:anim calcmode="lin" valueType="num">
                                      <p:cBhvr>
                                        <p:cTn id="56" dur="1000" fill="hold"/>
                                        <p:tgtEl>
                                          <p:spTgt spid="23574"/>
                                        </p:tgtEl>
                                        <p:attrNameLst>
                                          <p:attrName>ppt_x</p:attrName>
                                        </p:attrNameLst>
                                      </p:cBhvr>
                                      <p:tavLst>
                                        <p:tav tm="0">
                                          <p:val>
                                            <p:strVal val="#ppt_x"/>
                                          </p:val>
                                        </p:tav>
                                        <p:tav tm="100000">
                                          <p:val>
                                            <p:strVal val="#ppt_x"/>
                                          </p:val>
                                        </p:tav>
                                      </p:tavLst>
                                    </p:anim>
                                    <p:anim calcmode="lin" valueType="num">
                                      <p:cBhvr>
                                        <p:cTn id="57" dur="1000" fill="hold"/>
                                        <p:tgtEl>
                                          <p:spTgt spid="23574"/>
                                        </p:tgtEl>
                                        <p:attrNameLst>
                                          <p:attrName>ppt_y</p:attrName>
                                        </p:attrNameLst>
                                      </p:cBhvr>
                                      <p:tavLst>
                                        <p:tav tm="0">
                                          <p:val>
                                            <p:strVal val="#ppt_y-.1"/>
                                          </p:val>
                                        </p:tav>
                                        <p:tav tm="100000">
                                          <p:val>
                                            <p:strVal val="#ppt_y"/>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3575"/>
                                        </p:tgtEl>
                                        <p:attrNameLst>
                                          <p:attrName>style.visibility</p:attrName>
                                        </p:attrNameLst>
                                      </p:cBhvr>
                                      <p:to>
                                        <p:strVal val="visible"/>
                                      </p:to>
                                    </p:set>
                                    <p:animEffect transition="in" filter="fade">
                                      <p:cBhvr>
                                        <p:cTn id="62" dur="2000"/>
                                        <p:tgtEl>
                                          <p:spTgt spid="2357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47" presetClass="entr" presetSubtype="0" fill="hold" nodeType="clickEffect">
                                  <p:stCondLst>
                                    <p:cond delay="0"/>
                                  </p:stCondLst>
                                  <p:childTnLst>
                                    <p:set>
                                      <p:cBhvr>
                                        <p:cTn id="66" dur="1" fill="hold">
                                          <p:stCondLst>
                                            <p:cond delay="0"/>
                                          </p:stCondLst>
                                        </p:cTn>
                                        <p:tgtEl>
                                          <p:spTgt spid="23565"/>
                                        </p:tgtEl>
                                        <p:attrNameLst>
                                          <p:attrName>style.visibility</p:attrName>
                                        </p:attrNameLst>
                                      </p:cBhvr>
                                      <p:to>
                                        <p:strVal val="visible"/>
                                      </p:to>
                                    </p:set>
                                    <p:animEffect transition="in" filter="fade">
                                      <p:cBhvr>
                                        <p:cTn id="67" dur="1000"/>
                                        <p:tgtEl>
                                          <p:spTgt spid="23565"/>
                                        </p:tgtEl>
                                      </p:cBhvr>
                                    </p:animEffect>
                                    <p:anim calcmode="lin" valueType="num">
                                      <p:cBhvr>
                                        <p:cTn id="68" dur="1000" fill="hold"/>
                                        <p:tgtEl>
                                          <p:spTgt spid="23565"/>
                                        </p:tgtEl>
                                        <p:attrNameLst>
                                          <p:attrName>ppt_x</p:attrName>
                                        </p:attrNameLst>
                                      </p:cBhvr>
                                      <p:tavLst>
                                        <p:tav tm="0">
                                          <p:val>
                                            <p:strVal val="#ppt_x"/>
                                          </p:val>
                                        </p:tav>
                                        <p:tav tm="100000">
                                          <p:val>
                                            <p:strVal val="#ppt_x"/>
                                          </p:val>
                                        </p:tav>
                                      </p:tavLst>
                                    </p:anim>
                                    <p:anim calcmode="lin" valueType="num">
                                      <p:cBhvr>
                                        <p:cTn id="69" dur="1000" fill="hold"/>
                                        <p:tgtEl>
                                          <p:spTgt spid="23565"/>
                                        </p:tgtEl>
                                        <p:attrNameLst>
                                          <p:attrName>ppt_y</p:attrName>
                                        </p:attrNameLst>
                                      </p:cBhvr>
                                      <p:tavLst>
                                        <p:tav tm="0">
                                          <p:val>
                                            <p:strVal val="#ppt_y-.1"/>
                                          </p:val>
                                        </p:tav>
                                        <p:tav tm="100000">
                                          <p:val>
                                            <p:strVal val="#ppt_y"/>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47" presetClass="entr" presetSubtype="0" fill="hold" grpId="0" nodeType="clickEffect">
                                  <p:stCondLst>
                                    <p:cond delay="0"/>
                                  </p:stCondLst>
                                  <p:childTnLst>
                                    <p:set>
                                      <p:cBhvr>
                                        <p:cTn id="73" dur="1" fill="hold">
                                          <p:stCondLst>
                                            <p:cond delay="0"/>
                                          </p:stCondLst>
                                        </p:cTn>
                                        <p:tgtEl>
                                          <p:spTgt spid="23576"/>
                                        </p:tgtEl>
                                        <p:attrNameLst>
                                          <p:attrName>style.visibility</p:attrName>
                                        </p:attrNameLst>
                                      </p:cBhvr>
                                      <p:to>
                                        <p:strVal val="visible"/>
                                      </p:to>
                                    </p:set>
                                    <p:animEffect transition="in" filter="fade">
                                      <p:cBhvr>
                                        <p:cTn id="74" dur="1000"/>
                                        <p:tgtEl>
                                          <p:spTgt spid="23576"/>
                                        </p:tgtEl>
                                      </p:cBhvr>
                                    </p:animEffect>
                                    <p:anim calcmode="lin" valueType="num">
                                      <p:cBhvr>
                                        <p:cTn id="75" dur="1000" fill="hold"/>
                                        <p:tgtEl>
                                          <p:spTgt spid="23576"/>
                                        </p:tgtEl>
                                        <p:attrNameLst>
                                          <p:attrName>ppt_x</p:attrName>
                                        </p:attrNameLst>
                                      </p:cBhvr>
                                      <p:tavLst>
                                        <p:tav tm="0">
                                          <p:val>
                                            <p:strVal val="#ppt_x"/>
                                          </p:val>
                                        </p:tav>
                                        <p:tav tm="100000">
                                          <p:val>
                                            <p:strVal val="#ppt_x"/>
                                          </p:val>
                                        </p:tav>
                                      </p:tavLst>
                                    </p:anim>
                                    <p:anim calcmode="lin" valueType="num">
                                      <p:cBhvr>
                                        <p:cTn id="76" dur="1000" fill="hold"/>
                                        <p:tgtEl>
                                          <p:spTgt spid="23576"/>
                                        </p:tgtEl>
                                        <p:attrNameLst>
                                          <p:attrName>ppt_y</p:attrName>
                                        </p:attrNameLst>
                                      </p:cBhvr>
                                      <p:tavLst>
                                        <p:tav tm="0">
                                          <p:val>
                                            <p:strVal val="#ppt_y-.1"/>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3577"/>
                                        </p:tgtEl>
                                        <p:attrNameLst>
                                          <p:attrName>style.visibility</p:attrName>
                                        </p:attrNameLst>
                                      </p:cBhvr>
                                      <p:to>
                                        <p:strVal val="visible"/>
                                      </p:to>
                                    </p:set>
                                    <p:animEffect transition="in" filter="fade">
                                      <p:cBhvr>
                                        <p:cTn id="81" dur="2000"/>
                                        <p:tgtEl>
                                          <p:spTgt spid="23577"/>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23578"/>
                                        </p:tgtEl>
                                        <p:attrNameLst>
                                          <p:attrName>style.visibility</p:attrName>
                                        </p:attrNameLst>
                                      </p:cBhvr>
                                      <p:to>
                                        <p:strVal val="visible"/>
                                      </p:to>
                                    </p:set>
                                    <p:animEffect transition="in" filter="fade">
                                      <p:cBhvr>
                                        <p:cTn id="86" dur="2000"/>
                                        <p:tgtEl>
                                          <p:spTgt spid="23578"/>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47" presetClass="entr" presetSubtype="0" fill="hold" grpId="0" nodeType="clickEffect">
                                  <p:stCondLst>
                                    <p:cond delay="0"/>
                                  </p:stCondLst>
                                  <p:childTnLst>
                                    <p:set>
                                      <p:cBhvr>
                                        <p:cTn id="90" dur="1" fill="hold">
                                          <p:stCondLst>
                                            <p:cond delay="0"/>
                                          </p:stCondLst>
                                        </p:cTn>
                                        <p:tgtEl>
                                          <p:spTgt spid="23579"/>
                                        </p:tgtEl>
                                        <p:attrNameLst>
                                          <p:attrName>style.visibility</p:attrName>
                                        </p:attrNameLst>
                                      </p:cBhvr>
                                      <p:to>
                                        <p:strVal val="visible"/>
                                      </p:to>
                                    </p:set>
                                    <p:animEffect transition="in" filter="fade">
                                      <p:cBhvr>
                                        <p:cTn id="91" dur="1000"/>
                                        <p:tgtEl>
                                          <p:spTgt spid="23579"/>
                                        </p:tgtEl>
                                      </p:cBhvr>
                                    </p:animEffect>
                                    <p:anim calcmode="lin" valueType="num">
                                      <p:cBhvr>
                                        <p:cTn id="92" dur="1000" fill="hold"/>
                                        <p:tgtEl>
                                          <p:spTgt spid="23579"/>
                                        </p:tgtEl>
                                        <p:attrNameLst>
                                          <p:attrName>ppt_x</p:attrName>
                                        </p:attrNameLst>
                                      </p:cBhvr>
                                      <p:tavLst>
                                        <p:tav tm="0">
                                          <p:val>
                                            <p:strVal val="#ppt_x"/>
                                          </p:val>
                                        </p:tav>
                                        <p:tav tm="100000">
                                          <p:val>
                                            <p:strVal val="#ppt_x"/>
                                          </p:val>
                                        </p:tav>
                                      </p:tavLst>
                                    </p:anim>
                                    <p:anim calcmode="lin" valueType="num">
                                      <p:cBhvr>
                                        <p:cTn id="93" dur="1000" fill="hold"/>
                                        <p:tgtEl>
                                          <p:spTgt spid="23579"/>
                                        </p:tgtEl>
                                        <p:attrNameLst>
                                          <p:attrName>ppt_y</p:attrName>
                                        </p:attrNameLst>
                                      </p:cBhvr>
                                      <p:tavLst>
                                        <p:tav tm="0">
                                          <p:val>
                                            <p:strVal val="#ppt_y-.1"/>
                                          </p:val>
                                        </p:tav>
                                        <p:tav tm="100000">
                                          <p:val>
                                            <p:strVal val="#ppt_y"/>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23580"/>
                                        </p:tgtEl>
                                        <p:attrNameLst>
                                          <p:attrName>style.visibility</p:attrName>
                                        </p:attrNameLst>
                                      </p:cBhvr>
                                      <p:to>
                                        <p:strVal val="visible"/>
                                      </p:to>
                                    </p:set>
                                    <p:animEffect transition="in" filter="fade">
                                      <p:cBhvr>
                                        <p:cTn id="98" dur="2000"/>
                                        <p:tgtEl>
                                          <p:spTgt spid="23580"/>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23581"/>
                                        </p:tgtEl>
                                        <p:attrNameLst>
                                          <p:attrName>style.visibility</p:attrName>
                                        </p:attrNameLst>
                                      </p:cBhvr>
                                      <p:to>
                                        <p:strVal val="visible"/>
                                      </p:to>
                                    </p:set>
                                    <p:animEffect transition="in" filter="fade">
                                      <p:cBhvr>
                                        <p:cTn id="103" dur="2000"/>
                                        <p:tgtEl>
                                          <p:spTgt spid="23581"/>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47" presetClass="entr" presetSubtype="0" fill="hold" grpId="0" nodeType="clickEffect">
                                  <p:stCondLst>
                                    <p:cond delay="0"/>
                                  </p:stCondLst>
                                  <p:childTnLst>
                                    <p:set>
                                      <p:cBhvr>
                                        <p:cTn id="107" dur="1" fill="hold">
                                          <p:stCondLst>
                                            <p:cond delay="0"/>
                                          </p:stCondLst>
                                        </p:cTn>
                                        <p:tgtEl>
                                          <p:spTgt spid="23582"/>
                                        </p:tgtEl>
                                        <p:attrNameLst>
                                          <p:attrName>style.visibility</p:attrName>
                                        </p:attrNameLst>
                                      </p:cBhvr>
                                      <p:to>
                                        <p:strVal val="visible"/>
                                      </p:to>
                                    </p:set>
                                    <p:animEffect transition="in" filter="fade">
                                      <p:cBhvr>
                                        <p:cTn id="108" dur="1000"/>
                                        <p:tgtEl>
                                          <p:spTgt spid="23582"/>
                                        </p:tgtEl>
                                      </p:cBhvr>
                                    </p:animEffect>
                                    <p:anim calcmode="lin" valueType="num">
                                      <p:cBhvr>
                                        <p:cTn id="109" dur="1000" fill="hold"/>
                                        <p:tgtEl>
                                          <p:spTgt spid="23582"/>
                                        </p:tgtEl>
                                        <p:attrNameLst>
                                          <p:attrName>ppt_x</p:attrName>
                                        </p:attrNameLst>
                                      </p:cBhvr>
                                      <p:tavLst>
                                        <p:tav tm="0">
                                          <p:val>
                                            <p:strVal val="#ppt_x"/>
                                          </p:val>
                                        </p:tav>
                                        <p:tav tm="100000">
                                          <p:val>
                                            <p:strVal val="#ppt_x"/>
                                          </p:val>
                                        </p:tav>
                                      </p:tavLst>
                                    </p:anim>
                                    <p:anim calcmode="lin" valueType="num">
                                      <p:cBhvr>
                                        <p:cTn id="110" dur="1000" fill="hold"/>
                                        <p:tgtEl>
                                          <p:spTgt spid="23582"/>
                                        </p:tgtEl>
                                        <p:attrNameLst>
                                          <p:attrName>ppt_y</p:attrName>
                                        </p:attrNameLst>
                                      </p:cBhvr>
                                      <p:tavLst>
                                        <p:tav tm="0">
                                          <p:val>
                                            <p:strVal val="#ppt_y-.1"/>
                                          </p:val>
                                        </p:tav>
                                        <p:tav tm="100000">
                                          <p:val>
                                            <p:strVal val="#ppt_y"/>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23583"/>
                                        </p:tgtEl>
                                        <p:attrNameLst>
                                          <p:attrName>style.visibility</p:attrName>
                                        </p:attrNameLst>
                                      </p:cBhvr>
                                      <p:to>
                                        <p:strVal val="visible"/>
                                      </p:to>
                                    </p:set>
                                    <p:animEffect transition="in" filter="fade">
                                      <p:cBhvr>
                                        <p:cTn id="115" dur="2000"/>
                                        <p:tgtEl>
                                          <p:spTgt spid="23583"/>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23584"/>
                                        </p:tgtEl>
                                        <p:attrNameLst>
                                          <p:attrName>style.visibility</p:attrName>
                                        </p:attrNameLst>
                                      </p:cBhvr>
                                      <p:to>
                                        <p:strVal val="visible"/>
                                      </p:to>
                                    </p:set>
                                    <p:animEffect transition="in" filter="fade">
                                      <p:cBhvr>
                                        <p:cTn id="120" dur="2000"/>
                                        <p:tgtEl>
                                          <p:spTgt spid="23584"/>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47" presetClass="entr" presetSubtype="0" fill="hold" grpId="0" nodeType="clickEffect">
                                  <p:stCondLst>
                                    <p:cond delay="0"/>
                                  </p:stCondLst>
                                  <p:childTnLst>
                                    <p:set>
                                      <p:cBhvr>
                                        <p:cTn id="124" dur="1" fill="hold">
                                          <p:stCondLst>
                                            <p:cond delay="0"/>
                                          </p:stCondLst>
                                        </p:cTn>
                                        <p:tgtEl>
                                          <p:spTgt spid="23585"/>
                                        </p:tgtEl>
                                        <p:attrNameLst>
                                          <p:attrName>style.visibility</p:attrName>
                                        </p:attrNameLst>
                                      </p:cBhvr>
                                      <p:to>
                                        <p:strVal val="visible"/>
                                      </p:to>
                                    </p:set>
                                    <p:animEffect transition="in" filter="fade">
                                      <p:cBhvr>
                                        <p:cTn id="125" dur="1000"/>
                                        <p:tgtEl>
                                          <p:spTgt spid="23585"/>
                                        </p:tgtEl>
                                      </p:cBhvr>
                                    </p:animEffect>
                                    <p:anim calcmode="lin" valueType="num">
                                      <p:cBhvr>
                                        <p:cTn id="126" dur="1000" fill="hold"/>
                                        <p:tgtEl>
                                          <p:spTgt spid="23585"/>
                                        </p:tgtEl>
                                        <p:attrNameLst>
                                          <p:attrName>ppt_x</p:attrName>
                                        </p:attrNameLst>
                                      </p:cBhvr>
                                      <p:tavLst>
                                        <p:tav tm="0">
                                          <p:val>
                                            <p:strVal val="#ppt_x"/>
                                          </p:val>
                                        </p:tav>
                                        <p:tav tm="100000">
                                          <p:val>
                                            <p:strVal val="#ppt_x"/>
                                          </p:val>
                                        </p:tav>
                                      </p:tavLst>
                                    </p:anim>
                                    <p:anim calcmode="lin" valueType="num">
                                      <p:cBhvr>
                                        <p:cTn id="127" dur="1000" fill="hold"/>
                                        <p:tgtEl>
                                          <p:spTgt spid="23585"/>
                                        </p:tgtEl>
                                        <p:attrNameLst>
                                          <p:attrName>ppt_y</p:attrName>
                                        </p:attrNameLst>
                                      </p:cBhvr>
                                      <p:tavLst>
                                        <p:tav tm="0">
                                          <p:val>
                                            <p:strVal val="#ppt_y-.1"/>
                                          </p:val>
                                        </p:tav>
                                        <p:tav tm="100000">
                                          <p:val>
                                            <p:strVal val="#ppt_y"/>
                                          </p:val>
                                        </p:tav>
                                      </p:tavLst>
                                    </p:anim>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23586"/>
                                        </p:tgtEl>
                                        <p:attrNameLst>
                                          <p:attrName>style.visibility</p:attrName>
                                        </p:attrNameLst>
                                      </p:cBhvr>
                                      <p:to>
                                        <p:strVal val="visible"/>
                                      </p:to>
                                    </p:set>
                                    <p:animEffect transition="in" filter="fade">
                                      <p:cBhvr>
                                        <p:cTn id="132" dur="2000"/>
                                        <p:tgtEl>
                                          <p:spTgt spid="23586"/>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0" presetClass="entr" presetSubtype="0" fill="hold" nodeType="clickEffect">
                                  <p:stCondLst>
                                    <p:cond delay="0"/>
                                  </p:stCondLst>
                                  <p:childTnLst>
                                    <p:set>
                                      <p:cBhvr>
                                        <p:cTn id="136" dur="1" fill="hold">
                                          <p:stCondLst>
                                            <p:cond delay="0"/>
                                          </p:stCondLst>
                                        </p:cTn>
                                        <p:tgtEl>
                                          <p:spTgt spid="23566"/>
                                        </p:tgtEl>
                                        <p:attrNameLst>
                                          <p:attrName>style.visibility</p:attrName>
                                        </p:attrNameLst>
                                      </p:cBhvr>
                                      <p:to>
                                        <p:strVal val="visible"/>
                                      </p:to>
                                    </p:set>
                                    <p:animEffect transition="in" filter="fade">
                                      <p:cBhvr>
                                        <p:cTn id="137" dur="2000"/>
                                        <p:tgtEl>
                                          <p:spTgt spid="23566"/>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47" presetClass="entr" presetSubtype="0" fill="hold" grpId="0" nodeType="clickEffect">
                                  <p:stCondLst>
                                    <p:cond delay="0"/>
                                  </p:stCondLst>
                                  <p:childTnLst>
                                    <p:set>
                                      <p:cBhvr>
                                        <p:cTn id="141" dur="1" fill="hold">
                                          <p:stCondLst>
                                            <p:cond delay="0"/>
                                          </p:stCondLst>
                                        </p:cTn>
                                        <p:tgtEl>
                                          <p:spTgt spid="23587"/>
                                        </p:tgtEl>
                                        <p:attrNameLst>
                                          <p:attrName>style.visibility</p:attrName>
                                        </p:attrNameLst>
                                      </p:cBhvr>
                                      <p:to>
                                        <p:strVal val="visible"/>
                                      </p:to>
                                    </p:set>
                                    <p:animEffect transition="in" filter="fade">
                                      <p:cBhvr>
                                        <p:cTn id="142" dur="1000"/>
                                        <p:tgtEl>
                                          <p:spTgt spid="23587"/>
                                        </p:tgtEl>
                                      </p:cBhvr>
                                    </p:animEffect>
                                    <p:anim calcmode="lin" valueType="num">
                                      <p:cBhvr>
                                        <p:cTn id="143" dur="1000" fill="hold"/>
                                        <p:tgtEl>
                                          <p:spTgt spid="23587"/>
                                        </p:tgtEl>
                                        <p:attrNameLst>
                                          <p:attrName>ppt_x</p:attrName>
                                        </p:attrNameLst>
                                      </p:cBhvr>
                                      <p:tavLst>
                                        <p:tav tm="0">
                                          <p:val>
                                            <p:strVal val="#ppt_x"/>
                                          </p:val>
                                        </p:tav>
                                        <p:tav tm="100000">
                                          <p:val>
                                            <p:strVal val="#ppt_x"/>
                                          </p:val>
                                        </p:tav>
                                      </p:tavLst>
                                    </p:anim>
                                    <p:anim calcmode="lin" valueType="num">
                                      <p:cBhvr>
                                        <p:cTn id="144" dur="1000" fill="hold"/>
                                        <p:tgtEl>
                                          <p:spTgt spid="2358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8" grpId="0" animBg="1"/>
      <p:bldP spid="23569" grpId="0" animBg="1"/>
      <p:bldP spid="23570" grpId="0" animBg="1"/>
      <p:bldP spid="23571" grpId="0" animBg="1"/>
      <p:bldP spid="23572" grpId="0" animBg="1"/>
      <p:bldP spid="23573" grpId="0" animBg="1"/>
      <p:bldP spid="23574" grpId="0" animBg="1"/>
      <p:bldP spid="23575" grpId="0" animBg="1"/>
      <p:bldP spid="23576" grpId="0" animBg="1"/>
      <p:bldP spid="23577" grpId="0" animBg="1"/>
      <p:bldP spid="23578" grpId="0" animBg="1"/>
      <p:bldP spid="23579" grpId="0" animBg="1"/>
      <p:bldP spid="23580" grpId="0" animBg="1"/>
      <p:bldP spid="23581" grpId="0" animBg="1"/>
      <p:bldP spid="23582" grpId="0" animBg="1"/>
      <p:bldP spid="23583" grpId="0" animBg="1"/>
      <p:bldP spid="23584" grpId="0" animBg="1"/>
      <p:bldP spid="23585" grpId="0" animBg="1"/>
      <p:bldP spid="23586" grpId="0" animBg="1"/>
      <p:bldP spid="2358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941CD-C235-BB30-3335-2EF5FDF917A1}"/>
              </a:ext>
            </a:extLst>
          </p:cNvPr>
          <p:cNvSpPr txBox="1">
            <a:spLocks/>
          </p:cNvSpPr>
          <p:nvPr/>
        </p:nvSpPr>
        <p:spPr>
          <a:xfrm>
            <a:off x="2969088" y="1656716"/>
            <a:ext cx="123498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GÍA TRỊ THẶNG DƯ</a:t>
            </a:r>
          </a:p>
        </p:txBody>
      </p:sp>
      <p:sp>
        <p:nvSpPr>
          <p:cNvPr id="3" name="Text Box 14">
            <a:extLst>
              <a:ext uri="{FF2B5EF4-FFF2-40B4-BE49-F238E27FC236}">
                <a16:creationId xmlns:a16="http://schemas.microsoft.com/office/drawing/2014/main" id="{AF990386-3233-E1A0-0347-559A4E085676}"/>
              </a:ext>
            </a:extLst>
          </p:cNvPr>
          <p:cNvSpPr txBox="1">
            <a:spLocks noChangeArrowheads="1"/>
          </p:cNvSpPr>
          <p:nvPr/>
        </p:nvSpPr>
        <p:spPr bwMode="ltGray">
          <a:xfrm>
            <a:off x="1559825" y="2783841"/>
            <a:ext cx="15522574" cy="2864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lnSpc>
                <a:spcPct val="150000"/>
              </a:lnSpc>
            </a:pPr>
            <a:r>
              <a:rPr lang="vi-VN" altLang="en-US" sz="6400" dirty="0">
                <a:solidFill>
                  <a:srgbClr val="002060"/>
                </a:solidFill>
                <a:latin typeface="Arial" panose="020B0604020202020204" pitchFamily="34" charset="0"/>
                <a:sym typeface="Wingdings" panose="05000000000000000000" pitchFamily="2" charset="2"/>
              </a:rPr>
              <a:t>GT mới &gt; GT sức lao động </a:t>
            </a:r>
            <a:r>
              <a:rPr lang="en-US" altLang="en-US" sz="6400" dirty="0">
                <a:solidFill>
                  <a:srgbClr val="002060"/>
                </a:solidFill>
                <a:latin typeface="Arial" panose="020B0604020202020204" pitchFamily="34" charset="0"/>
                <a:sym typeface="Wingdings" panose="05000000000000000000" pitchFamily="2" charset="2"/>
              </a:rPr>
              <a:t>ban </a:t>
            </a:r>
            <a:r>
              <a:rPr lang="en-US" altLang="en-US" sz="6400" dirty="0" err="1">
                <a:solidFill>
                  <a:srgbClr val="002060"/>
                </a:solidFill>
                <a:latin typeface="Arial" panose="020B0604020202020204" pitchFamily="34" charset="0"/>
                <a:sym typeface="Wingdings" panose="05000000000000000000" pitchFamily="2" charset="2"/>
              </a:rPr>
              <a:t>đầu</a:t>
            </a:r>
            <a:endParaRPr lang="vi-VN" altLang="en-US" sz="6400" dirty="0">
              <a:solidFill>
                <a:srgbClr val="002060"/>
              </a:solidFill>
              <a:latin typeface="Arial" panose="020B0604020202020204" pitchFamily="34" charset="0"/>
              <a:sym typeface="Wingdings" panose="05000000000000000000" pitchFamily="2" charset="2"/>
            </a:endParaRPr>
          </a:p>
          <a:p>
            <a:pPr algn="ctr">
              <a:lnSpc>
                <a:spcPct val="150000"/>
              </a:lnSpc>
            </a:pPr>
            <a:r>
              <a:rPr lang="vi-VN" altLang="en-US" sz="6400" dirty="0">
                <a:solidFill>
                  <a:srgbClr val="002060"/>
                </a:solidFill>
                <a:latin typeface="Arial" panose="020B0604020202020204" pitchFamily="34" charset="0"/>
                <a:sym typeface="Wingdings" panose="05000000000000000000" pitchFamily="2" charset="2"/>
              </a:rPr>
              <a:t>GT mới</a:t>
            </a:r>
            <a:r>
              <a:rPr lang="en-US" altLang="en-US" sz="6400" dirty="0">
                <a:solidFill>
                  <a:srgbClr val="002060"/>
                </a:solidFill>
                <a:latin typeface="Arial" panose="020B0604020202020204" pitchFamily="34" charset="0"/>
                <a:sym typeface="Wingdings" panose="05000000000000000000" pitchFamily="2" charset="2"/>
              </a:rPr>
              <a:t> (6)</a:t>
            </a:r>
            <a:r>
              <a:rPr lang="vi-VN" altLang="en-US" sz="6400" dirty="0">
                <a:solidFill>
                  <a:srgbClr val="002060"/>
                </a:solidFill>
                <a:latin typeface="Arial" panose="020B0604020202020204" pitchFamily="34" charset="0"/>
                <a:sym typeface="Wingdings" panose="05000000000000000000" pitchFamily="2" charset="2"/>
              </a:rPr>
              <a:t> = GT SLĐ </a:t>
            </a:r>
            <a:r>
              <a:rPr lang="en-US" altLang="en-US" sz="6400" dirty="0">
                <a:solidFill>
                  <a:srgbClr val="002060"/>
                </a:solidFill>
                <a:latin typeface="Arial" panose="020B0604020202020204" pitchFamily="34" charset="0"/>
                <a:sym typeface="Wingdings" panose="05000000000000000000" pitchFamily="2" charset="2"/>
              </a:rPr>
              <a:t>(3) </a:t>
            </a:r>
            <a:r>
              <a:rPr lang="vi-VN" altLang="en-US" sz="6400" dirty="0">
                <a:solidFill>
                  <a:srgbClr val="002060"/>
                </a:solidFill>
                <a:latin typeface="Arial" panose="020B0604020202020204" pitchFamily="34" charset="0"/>
                <a:sym typeface="Wingdings" panose="05000000000000000000" pitchFamily="2" charset="2"/>
              </a:rPr>
              <a:t>+ </a:t>
            </a:r>
            <a:r>
              <a:rPr lang="vi-VN" altLang="en-US" sz="6400" dirty="0">
                <a:solidFill>
                  <a:srgbClr val="002060"/>
                </a:solidFill>
                <a:highlight>
                  <a:srgbClr val="FFFF00"/>
                </a:highlight>
                <a:latin typeface="Arial" panose="020B0604020202020204" pitchFamily="34" charset="0"/>
                <a:sym typeface="Wingdings" panose="05000000000000000000" pitchFamily="2" charset="2"/>
              </a:rPr>
              <a:t>GTTD</a:t>
            </a:r>
            <a:r>
              <a:rPr lang="en-US" altLang="en-US" sz="6400" dirty="0">
                <a:solidFill>
                  <a:srgbClr val="002060"/>
                </a:solidFill>
                <a:highlight>
                  <a:srgbClr val="FFFF00"/>
                </a:highlight>
                <a:latin typeface="Arial" panose="020B0604020202020204" pitchFamily="34" charset="0"/>
                <a:sym typeface="Wingdings" panose="05000000000000000000" pitchFamily="2" charset="2"/>
              </a:rPr>
              <a:t> (3)</a:t>
            </a:r>
            <a:endParaRPr lang="vi-VN" altLang="en-US" sz="6400" dirty="0">
              <a:solidFill>
                <a:srgbClr val="002060"/>
              </a:solidFill>
              <a:highlight>
                <a:srgbClr val="FFFF00"/>
              </a:highlight>
              <a:latin typeface="Arial" panose="020B0604020202020204" pitchFamily="34" charset="0"/>
              <a:sym typeface="Wingdings" panose="05000000000000000000" pitchFamily="2" charset="2"/>
            </a:endParaRPr>
          </a:p>
        </p:txBody>
      </p:sp>
      <p:sp>
        <p:nvSpPr>
          <p:cNvPr id="4" name="Text Box 14">
            <a:extLst>
              <a:ext uri="{FF2B5EF4-FFF2-40B4-BE49-F238E27FC236}">
                <a16:creationId xmlns:a16="http://schemas.microsoft.com/office/drawing/2014/main" id="{06418677-95CD-42E7-8941-0976A607041B}"/>
              </a:ext>
            </a:extLst>
          </p:cNvPr>
          <p:cNvSpPr txBox="1">
            <a:spLocks noChangeArrowheads="1"/>
          </p:cNvSpPr>
          <p:nvPr/>
        </p:nvSpPr>
        <p:spPr bwMode="ltGray">
          <a:xfrm>
            <a:off x="1708611" y="5858114"/>
            <a:ext cx="15522574" cy="7296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lnSpc>
                <a:spcPct val="150000"/>
              </a:lnSpc>
            </a:pPr>
            <a:r>
              <a:rPr lang="en-US" altLang="en-US" sz="6400" b="1" dirty="0">
                <a:solidFill>
                  <a:srgbClr val="002060"/>
                </a:solidFill>
                <a:latin typeface="Arial" panose="020B0604020202020204" pitchFamily="34" charset="0"/>
                <a:sym typeface="Wingdings" panose="05000000000000000000" pitchFamily="2" charset="2"/>
              </a:rPr>
              <a:t> </a:t>
            </a:r>
            <a:r>
              <a:rPr lang="en-US" altLang="en-US" sz="6400" b="1" dirty="0" err="1">
                <a:solidFill>
                  <a:srgbClr val="002060"/>
                </a:solidFill>
                <a:latin typeface="Arial" panose="020B0604020202020204" pitchFamily="34" charset="0"/>
                <a:sym typeface="Wingdings" panose="05000000000000000000" pitchFamily="2" charset="2"/>
              </a:rPr>
              <a:t>Khái</a:t>
            </a:r>
            <a:r>
              <a:rPr lang="en-US" altLang="en-US" sz="6400" b="1" dirty="0">
                <a:solidFill>
                  <a:srgbClr val="002060"/>
                </a:solidFill>
                <a:latin typeface="Arial" panose="020B0604020202020204" pitchFamily="34" charset="0"/>
                <a:sym typeface="Wingdings" panose="05000000000000000000" pitchFamily="2" charset="2"/>
              </a:rPr>
              <a:t> </a:t>
            </a:r>
            <a:r>
              <a:rPr lang="en-US" altLang="en-US" sz="6400" b="1" dirty="0" err="1">
                <a:solidFill>
                  <a:srgbClr val="002060"/>
                </a:solidFill>
                <a:latin typeface="Arial" panose="020B0604020202020204" pitchFamily="34" charset="0"/>
                <a:sym typeface="Wingdings" panose="05000000000000000000" pitchFamily="2" charset="2"/>
              </a:rPr>
              <a:t>niệm</a:t>
            </a:r>
            <a:r>
              <a:rPr lang="en-US" altLang="en-US" sz="6400" b="1" dirty="0">
                <a:solidFill>
                  <a:srgbClr val="002060"/>
                </a:solidFill>
                <a:latin typeface="Arial" panose="020B0604020202020204" pitchFamily="34" charset="0"/>
                <a:sym typeface="Wingdings" panose="05000000000000000000" pitchFamily="2" charset="2"/>
              </a:rPr>
              <a:t> </a:t>
            </a:r>
            <a:r>
              <a:rPr lang="en-US" altLang="en-US" sz="6400" b="1" dirty="0" err="1">
                <a:solidFill>
                  <a:srgbClr val="002060"/>
                </a:solidFill>
                <a:latin typeface="Arial" panose="020B0604020202020204" pitchFamily="34" charset="0"/>
                <a:sym typeface="Wingdings" panose="05000000000000000000" pitchFamily="2" charset="2"/>
              </a:rPr>
              <a:t>giá</a:t>
            </a:r>
            <a:r>
              <a:rPr lang="en-US" altLang="en-US" sz="6400" b="1" dirty="0">
                <a:solidFill>
                  <a:srgbClr val="002060"/>
                </a:solidFill>
                <a:latin typeface="Arial" panose="020B0604020202020204" pitchFamily="34" charset="0"/>
                <a:sym typeface="Wingdings" panose="05000000000000000000" pitchFamily="2" charset="2"/>
              </a:rPr>
              <a:t> </a:t>
            </a:r>
            <a:r>
              <a:rPr lang="en-US" altLang="en-US" sz="6400" b="1" dirty="0" err="1">
                <a:solidFill>
                  <a:srgbClr val="002060"/>
                </a:solidFill>
                <a:latin typeface="Arial" panose="020B0604020202020204" pitchFamily="34" charset="0"/>
                <a:sym typeface="Wingdings" panose="05000000000000000000" pitchFamily="2" charset="2"/>
              </a:rPr>
              <a:t>trị</a:t>
            </a:r>
            <a:r>
              <a:rPr lang="en-US" altLang="en-US" sz="6400" b="1" dirty="0">
                <a:solidFill>
                  <a:srgbClr val="002060"/>
                </a:solidFill>
                <a:latin typeface="Arial" panose="020B0604020202020204" pitchFamily="34" charset="0"/>
                <a:sym typeface="Wingdings" panose="05000000000000000000" pitchFamily="2" charset="2"/>
              </a:rPr>
              <a:t> </a:t>
            </a:r>
            <a:r>
              <a:rPr lang="en-US" altLang="en-US" sz="6400" b="1" dirty="0" err="1">
                <a:solidFill>
                  <a:srgbClr val="002060"/>
                </a:solidFill>
                <a:latin typeface="Arial" panose="020B0604020202020204" pitchFamily="34" charset="0"/>
                <a:sym typeface="Wingdings" panose="05000000000000000000" pitchFamily="2" charset="2"/>
              </a:rPr>
              <a:t>thặng</a:t>
            </a:r>
            <a:r>
              <a:rPr lang="en-US" altLang="en-US" sz="6400" b="1" dirty="0">
                <a:solidFill>
                  <a:srgbClr val="002060"/>
                </a:solidFill>
                <a:latin typeface="Arial" panose="020B0604020202020204" pitchFamily="34" charset="0"/>
                <a:sym typeface="Wingdings" panose="05000000000000000000" pitchFamily="2" charset="2"/>
              </a:rPr>
              <a:t> </a:t>
            </a:r>
            <a:r>
              <a:rPr lang="en-US" altLang="en-US" sz="6400" b="1" dirty="0" err="1">
                <a:solidFill>
                  <a:srgbClr val="002060"/>
                </a:solidFill>
                <a:latin typeface="Arial" panose="020B0604020202020204" pitchFamily="34" charset="0"/>
                <a:sym typeface="Wingdings" panose="05000000000000000000" pitchFamily="2" charset="2"/>
              </a:rPr>
              <a:t>dư</a:t>
            </a:r>
            <a:endParaRPr lang="en-US" altLang="en-US" sz="6400" b="1" dirty="0">
              <a:solidFill>
                <a:srgbClr val="002060"/>
              </a:solidFill>
              <a:latin typeface="Arial" panose="020B0604020202020204" pitchFamily="34" charset="0"/>
              <a:sym typeface="Wingdings" panose="05000000000000000000" pitchFamily="2" charset="2"/>
            </a:endParaRPr>
          </a:p>
          <a:p>
            <a:pPr algn="just">
              <a:lnSpc>
                <a:spcPct val="150000"/>
              </a:lnSpc>
            </a:pPr>
            <a:r>
              <a:rPr lang="vi-VN" altLang="en-US" sz="6400" dirty="0">
                <a:solidFill>
                  <a:srgbClr val="002060"/>
                </a:solidFill>
                <a:latin typeface="Arial" panose="020B0604020202020204" pitchFamily="34" charset="0"/>
                <a:sym typeface="Wingdings" panose="05000000000000000000" pitchFamily="2" charset="2"/>
              </a:rPr>
              <a:t>giá trị thặng dư là một bộ phận của giá trị mới dôi ra ngoài giá trị sức lao động do người lao động làm thuê tạo ra và bị nhà tư bản chiếm không </a:t>
            </a:r>
          </a:p>
        </p:txBody>
      </p:sp>
    </p:spTree>
    <p:extLst>
      <p:ext uri="{BB962C8B-B14F-4D97-AF65-F5344CB8AC3E}">
        <p14:creationId xmlns:p14="http://schemas.microsoft.com/office/powerpoint/2010/main" val="503405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down)">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wipe(down)">
                                      <p:cBhvr>
                                        <p:cTn id="2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6">
            <a:extLst>
              <a:ext uri="{FF2B5EF4-FFF2-40B4-BE49-F238E27FC236}">
                <a16:creationId xmlns:a16="http://schemas.microsoft.com/office/drawing/2014/main" id="{80DE47CA-A6AF-A7B1-BBA7-563854E41A7D}"/>
              </a:ext>
            </a:extLst>
          </p:cNvPr>
          <p:cNvSpPr/>
          <p:nvPr/>
        </p:nvSpPr>
        <p:spPr>
          <a:xfrm>
            <a:off x="9367521" y="5498321"/>
            <a:ext cx="3937718" cy="1366810"/>
          </a:xfrm>
          <a:custGeom>
            <a:avLst/>
            <a:gdLst/>
            <a:ahLst/>
            <a:cxnLst/>
            <a:rect l="0" t="0" r="0" b="0"/>
            <a:pathLst>
              <a:path>
                <a:moveTo>
                  <a:pt x="0" y="0"/>
                </a:moveTo>
                <a:lnTo>
                  <a:pt x="0" y="341702"/>
                </a:lnTo>
                <a:lnTo>
                  <a:pt x="1968859" y="341702"/>
                </a:lnTo>
                <a:lnTo>
                  <a:pt x="1968859" y="683405"/>
                </a:lnTo>
              </a:path>
            </a:pathLst>
          </a:custGeom>
          <a:noFill/>
          <a:ln>
            <a:solidFill>
              <a:schemeClr val="tx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6" name="Freeform 7">
            <a:extLst>
              <a:ext uri="{FF2B5EF4-FFF2-40B4-BE49-F238E27FC236}">
                <a16:creationId xmlns:a16="http://schemas.microsoft.com/office/drawing/2014/main" id="{A6655076-46CB-8310-3EEC-AB76A7AF8DE1}"/>
              </a:ext>
            </a:extLst>
          </p:cNvPr>
          <p:cNvSpPr/>
          <p:nvPr/>
        </p:nvSpPr>
        <p:spPr>
          <a:xfrm>
            <a:off x="5161514" y="5498321"/>
            <a:ext cx="4206004" cy="1366810"/>
          </a:xfrm>
          <a:custGeom>
            <a:avLst/>
            <a:gdLst/>
            <a:ahLst/>
            <a:cxnLst/>
            <a:rect l="0" t="0" r="0" b="0"/>
            <a:pathLst>
              <a:path>
                <a:moveTo>
                  <a:pt x="2103002" y="0"/>
                </a:moveTo>
                <a:lnTo>
                  <a:pt x="2103002" y="341702"/>
                </a:lnTo>
                <a:lnTo>
                  <a:pt x="0" y="341702"/>
                </a:lnTo>
                <a:lnTo>
                  <a:pt x="0" y="683405"/>
                </a:lnTo>
              </a:path>
            </a:pathLst>
          </a:custGeom>
          <a:noFill/>
          <a:ln>
            <a:solidFill>
              <a:schemeClr val="tx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7" name="Freeform 8">
            <a:extLst>
              <a:ext uri="{FF2B5EF4-FFF2-40B4-BE49-F238E27FC236}">
                <a16:creationId xmlns:a16="http://schemas.microsoft.com/office/drawing/2014/main" id="{618C74FD-C47F-2C3B-2711-C1AF65027528}"/>
              </a:ext>
            </a:extLst>
          </p:cNvPr>
          <p:cNvSpPr/>
          <p:nvPr/>
        </p:nvSpPr>
        <p:spPr>
          <a:xfrm>
            <a:off x="4341232" y="3740145"/>
            <a:ext cx="10052572" cy="1758174"/>
          </a:xfrm>
          <a:custGeom>
            <a:avLst/>
            <a:gdLst>
              <a:gd name="connsiteX0" fmla="*/ 0 w 5026286"/>
              <a:gd name="connsiteY0" fmla="*/ 0 h 879087"/>
              <a:gd name="connsiteX1" fmla="*/ 5026286 w 5026286"/>
              <a:gd name="connsiteY1" fmla="*/ 0 h 879087"/>
              <a:gd name="connsiteX2" fmla="*/ 5026286 w 5026286"/>
              <a:gd name="connsiteY2" fmla="*/ 879087 h 879087"/>
              <a:gd name="connsiteX3" fmla="*/ 0 w 5026286"/>
              <a:gd name="connsiteY3" fmla="*/ 879087 h 879087"/>
              <a:gd name="connsiteX4" fmla="*/ 0 w 5026286"/>
              <a:gd name="connsiteY4" fmla="*/ 0 h 879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6286" h="879087">
                <a:moveTo>
                  <a:pt x="0" y="0"/>
                </a:moveTo>
                <a:lnTo>
                  <a:pt x="5026286" y="0"/>
                </a:lnTo>
                <a:lnTo>
                  <a:pt x="5026286" y="879087"/>
                </a:lnTo>
                <a:lnTo>
                  <a:pt x="0" y="879087"/>
                </a:lnTo>
                <a:lnTo>
                  <a:pt x="0" y="0"/>
                </a:ln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algn="ctr" defTabSz="1600200">
              <a:lnSpc>
                <a:spcPct val="90000"/>
              </a:lnSpc>
              <a:spcBef>
                <a:spcPct val="0"/>
              </a:spcBef>
              <a:spcAft>
                <a:spcPct val="35000"/>
              </a:spcAft>
            </a:pPr>
            <a:r>
              <a:rPr lang="en-US" sz="7200" b="1" dirty="0">
                <a:solidFill>
                  <a:srgbClr val="002060"/>
                </a:solidFill>
              </a:rPr>
              <a:t>12h </a:t>
            </a:r>
            <a:r>
              <a:rPr lang="en-US" sz="7200" b="1" dirty="0">
                <a:solidFill>
                  <a:srgbClr val="002060"/>
                </a:solidFill>
                <a:sym typeface="Wingdings" panose="05000000000000000000" pitchFamily="2" charset="2"/>
              </a:rPr>
              <a:t> 6 </a:t>
            </a:r>
            <a:r>
              <a:rPr lang="en-US" sz="7200" b="1" dirty="0" err="1">
                <a:solidFill>
                  <a:srgbClr val="002060"/>
                </a:solidFill>
                <a:sym typeface="Wingdings" panose="05000000000000000000" pitchFamily="2" charset="2"/>
              </a:rPr>
              <a:t>usd</a:t>
            </a:r>
            <a:r>
              <a:rPr lang="en-US" sz="7200" b="1" dirty="0">
                <a:solidFill>
                  <a:srgbClr val="002060"/>
                </a:solidFill>
                <a:sym typeface="Wingdings" panose="05000000000000000000" pitchFamily="2" charset="2"/>
              </a:rPr>
              <a:t> </a:t>
            </a:r>
            <a:r>
              <a:rPr lang="en-US" sz="7200" b="1" dirty="0" err="1">
                <a:solidFill>
                  <a:srgbClr val="002060"/>
                </a:solidFill>
                <a:sym typeface="Wingdings" panose="05000000000000000000" pitchFamily="2" charset="2"/>
              </a:rPr>
              <a:t>giá</a:t>
            </a:r>
            <a:r>
              <a:rPr lang="en-US" sz="7200" b="1" dirty="0">
                <a:solidFill>
                  <a:srgbClr val="002060"/>
                </a:solidFill>
                <a:sym typeface="Wingdings" panose="05000000000000000000" pitchFamily="2" charset="2"/>
              </a:rPr>
              <a:t> </a:t>
            </a:r>
            <a:r>
              <a:rPr lang="en-US" sz="7200" b="1" dirty="0" err="1">
                <a:solidFill>
                  <a:srgbClr val="002060"/>
                </a:solidFill>
                <a:sym typeface="Wingdings" panose="05000000000000000000" pitchFamily="2" charset="2"/>
              </a:rPr>
              <a:t>trị</a:t>
            </a:r>
            <a:r>
              <a:rPr lang="en-US" sz="7200" b="1" dirty="0">
                <a:solidFill>
                  <a:srgbClr val="002060"/>
                </a:solidFill>
                <a:sym typeface="Wingdings" panose="05000000000000000000" pitchFamily="2" charset="2"/>
              </a:rPr>
              <a:t> </a:t>
            </a:r>
            <a:r>
              <a:rPr lang="en-US" sz="7200" b="1" dirty="0" err="1">
                <a:solidFill>
                  <a:srgbClr val="002060"/>
                </a:solidFill>
                <a:sym typeface="Wingdings" panose="05000000000000000000" pitchFamily="2" charset="2"/>
              </a:rPr>
              <a:t>mới</a:t>
            </a:r>
            <a:endParaRPr lang="en-US" sz="7200" b="1" dirty="0">
              <a:solidFill>
                <a:srgbClr val="002060"/>
              </a:solidFill>
            </a:endParaRPr>
          </a:p>
        </p:txBody>
      </p:sp>
      <p:sp>
        <p:nvSpPr>
          <p:cNvPr id="8" name="Freeform 9">
            <a:extLst>
              <a:ext uri="{FF2B5EF4-FFF2-40B4-BE49-F238E27FC236}">
                <a16:creationId xmlns:a16="http://schemas.microsoft.com/office/drawing/2014/main" id="{20BAEE54-7D45-8EBF-F5AE-5679833124C6}"/>
              </a:ext>
            </a:extLst>
          </p:cNvPr>
          <p:cNvSpPr/>
          <p:nvPr/>
        </p:nvSpPr>
        <p:spPr>
          <a:xfrm>
            <a:off x="1907202" y="6865131"/>
            <a:ext cx="6508624" cy="5407758"/>
          </a:xfrm>
          <a:custGeom>
            <a:avLst/>
            <a:gdLst>
              <a:gd name="connsiteX0" fmla="*/ 0 w 3254312"/>
              <a:gd name="connsiteY0" fmla="*/ 0 h 1918498"/>
              <a:gd name="connsiteX1" fmla="*/ 3254312 w 3254312"/>
              <a:gd name="connsiteY1" fmla="*/ 0 h 1918498"/>
              <a:gd name="connsiteX2" fmla="*/ 3254312 w 3254312"/>
              <a:gd name="connsiteY2" fmla="*/ 1918498 h 1918498"/>
              <a:gd name="connsiteX3" fmla="*/ 0 w 3254312"/>
              <a:gd name="connsiteY3" fmla="*/ 1918498 h 1918498"/>
              <a:gd name="connsiteX4" fmla="*/ 0 w 3254312"/>
              <a:gd name="connsiteY4" fmla="*/ 0 h 19184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4312" h="1918498">
                <a:moveTo>
                  <a:pt x="0" y="0"/>
                </a:moveTo>
                <a:lnTo>
                  <a:pt x="3254312" y="0"/>
                </a:lnTo>
                <a:lnTo>
                  <a:pt x="3254312" y="1918498"/>
                </a:lnTo>
                <a:lnTo>
                  <a:pt x="0" y="1918498"/>
                </a:lnTo>
                <a:lnTo>
                  <a:pt x="0" y="0"/>
                </a:ln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marL="107950" algn="ctr" defTabSz="1600200">
              <a:spcBef>
                <a:spcPct val="0"/>
              </a:spcBef>
              <a:spcAft>
                <a:spcPct val="35000"/>
              </a:spcAft>
            </a:pPr>
            <a:r>
              <a:rPr lang="en-US" sz="7200" b="1" dirty="0">
                <a:solidFill>
                  <a:srgbClr val="002060"/>
                </a:solidFill>
              </a:rPr>
              <a:t>6h </a:t>
            </a:r>
            <a:r>
              <a:rPr lang="en-US" sz="7200" b="1" dirty="0" err="1">
                <a:solidFill>
                  <a:srgbClr val="002060"/>
                </a:solidFill>
              </a:rPr>
              <a:t>đầu</a:t>
            </a:r>
            <a:r>
              <a:rPr lang="en-US" sz="3200" b="1" dirty="0">
                <a:solidFill>
                  <a:srgbClr val="002060"/>
                </a:solidFill>
              </a:rPr>
              <a:t> </a:t>
            </a:r>
          </a:p>
          <a:p>
            <a:pPr marL="679450" indent="-571500" algn="just" defTabSz="1600200">
              <a:spcBef>
                <a:spcPct val="0"/>
              </a:spcBef>
              <a:spcAft>
                <a:spcPct val="35000"/>
              </a:spcAft>
              <a:buFontTx/>
              <a:buChar char="-"/>
            </a:pPr>
            <a:r>
              <a:rPr lang="en-US" sz="3200" dirty="0" err="1">
                <a:solidFill>
                  <a:srgbClr val="002060"/>
                </a:solidFill>
              </a:rPr>
              <a:t>Tạo</a:t>
            </a:r>
            <a:r>
              <a:rPr lang="en-US" sz="3200" dirty="0">
                <a:solidFill>
                  <a:srgbClr val="002060"/>
                </a:solidFill>
              </a:rPr>
              <a:t> ra 3 </a:t>
            </a:r>
            <a:r>
              <a:rPr lang="en-US" sz="3200" dirty="0" err="1">
                <a:solidFill>
                  <a:srgbClr val="002060"/>
                </a:solidFill>
              </a:rPr>
              <a:t>usd</a:t>
            </a:r>
            <a:r>
              <a:rPr lang="en-US" sz="3200" dirty="0">
                <a:solidFill>
                  <a:srgbClr val="002060"/>
                </a:solidFill>
              </a:rPr>
              <a:t> </a:t>
            </a:r>
            <a:r>
              <a:rPr lang="en-US" sz="3200" dirty="0" err="1">
                <a:solidFill>
                  <a:srgbClr val="002060"/>
                </a:solidFill>
              </a:rPr>
              <a:t>đầu</a:t>
            </a:r>
            <a:r>
              <a:rPr lang="en-US" sz="3200" dirty="0">
                <a:solidFill>
                  <a:srgbClr val="002060"/>
                </a:solidFill>
              </a:rPr>
              <a:t> = GTSLĐ;</a:t>
            </a:r>
          </a:p>
          <a:p>
            <a:pPr marL="679450" indent="-571500" algn="just" defTabSz="1600200">
              <a:spcBef>
                <a:spcPct val="0"/>
              </a:spcBef>
              <a:spcAft>
                <a:spcPct val="35000"/>
              </a:spcAft>
              <a:buFontTx/>
              <a:buChar char="-"/>
            </a:pPr>
            <a:r>
              <a:rPr lang="vi-VN" sz="3200" dirty="0">
                <a:solidFill>
                  <a:srgbClr val="002060"/>
                </a:solidFill>
              </a:rPr>
              <a:t>là phần ngày lao động mà người công nhân tạo ra 1 phần giá trị mới ngang bằng với gía trị SLĐ ban đầu</a:t>
            </a:r>
            <a:endParaRPr lang="en-US" sz="3200" dirty="0">
              <a:solidFill>
                <a:srgbClr val="002060"/>
              </a:solidFill>
            </a:endParaRPr>
          </a:p>
          <a:p>
            <a:pPr marL="679450" indent="-571500" algn="just" defTabSz="1600200">
              <a:spcBef>
                <a:spcPct val="0"/>
              </a:spcBef>
              <a:spcAft>
                <a:spcPct val="35000"/>
              </a:spcAft>
              <a:buFontTx/>
              <a:buChar char="-"/>
            </a:pPr>
            <a:r>
              <a:rPr lang="en-US" sz="3200" dirty="0" err="1">
                <a:solidFill>
                  <a:srgbClr val="002060"/>
                </a:solidFill>
              </a:rPr>
              <a:t>Thời</a:t>
            </a:r>
            <a:r>
              <a:rPr lang="en-US" sz="3200" dirty="0">
                <a:solidFill>
                  <a:srgbClr val="002060"/>
                </a:solidFill>
              </a:rPr>
              <a:t> </a:t>
            </a:r>
            <a:r>
              <a:rPr lang="en-US" sz="3200" dirty="0" err="1">
                <a:solidFill>
                  <a:srgbClr val="002060"/>
                </a:solidFill>
              </a:rPr>
              <a:t>gian</a:t>
            </a:r>
            <a:r>
              <a:rPr lang="en-US" sz="3200" dirty="0">
                <a:solidFill>
                  <a:srgbClr val="002060"/>
                </a:solidFill>
              </a:rPr>
              <a:t> </a:t>
            </a:r>
            <a:r>
              <a:rPr lang="en-US" sz="3200" dirty="0" err="1">
                <a:solidFill>
                  <a:srgbClr val="002060"/>
                </a:solidFill>
              </a:rPr>
              <a:t>lao</a:t>
            </a:r>
            <a:r>
              <a:rPr lang="en-US" sz="3200" dirty="0">
                <a:solidFill>
                  <a:srgbClr val="002060"/>
                </a:solidFill>
              </a:rPr>
              <a:t> </a:t>
            </a:r>
            <a:r>
              <a:rPr lang="en-US" sz="3200" dirty="0" err="1">
                <a:solidFill>
                  <a:srgbClr val="002060"/>
                </a:solidFill>
              </a:rPr>
              <a:t>động</a:t>
            </a:r>
            <a:r>
              <a:rPr lang="en-US" sz="3200" dirty="0">
                <a:solidFill>
                  <a:srgbClr val="002060"/>
                </a:solidFill>
              </a:rPr>
              <a:t> </a:t>
            </a:r>
            <a:r>
              <a:rPr lang="en-US" sz="3200" dirty="0" err="1">
                <a:solidFill>
                  <a:srgbClr val="002060"/>
                </a:solidFill>
              </a:rPr>
              <a:t>tất</a:t>
            </a:r>
            <a:r>
              <a:rPr lang="en-US" sz="3200" dirty="0">
                <a:solidFill>
                  <a:srgbClr val="002060"/>
                </a:solidFill>
              </a:rPr>
              <a:t> </a:t>
            </a:r>
            <a:r>
              <a:rPr lang="en-US" sz="3200" dirty="0" err="1">
                <a:solidFill>
                  <a:srgbClr val="002060"/>
                </a:solidFill>
              </a:rPr>
              <a:t>yếu</a:t>
            </a:r>
            <a:r>
              <a:rPr lang="en-US" sz="3200" dirty="0">
                <a:solidFill>
                  <a:srgbClr val="002060"/>
                </a:solidFill>
              </a:rPr>
              <a:t> </a:t>
            </a:r>
            <a:r>
              <a:rPr lang="en-US" sz="6400" b="1" dirty="0">
                <a:solidFill>
                  <a:srgbClr val="002060"/>
                </a:solidFill>
              </a:rPr>
              <a:t>(t)</a:t>
            </a:r>
            <a:endParaRPr lang="en-US" sz="3200" b="1" dirty="0">
              <a:solidFill>
                <a:srgbClr val="002060"/>
              </a:solidFill>
            </a:endParaRPr>
          </a:p>
        </p:txBody>
      </p:sp>
      <p:sp>
        <p:nvSpPr>
          <p:cNvPr id="9" name="Freeform 10">
            <a:extLst>
              <a:ext uri="{FF2B5EF4-FFF2-40B4-BE49-F238E27FC236}">
                <a16:creationId xmlns:a16="http://schemas.microsoft.com/office/drawing/2014/main" id="{904126CA-2CC3-DA81-5726-DE335E45C517}"/>
              </a:ext>
            </a:extLst>
          </p:cNvPr>
          <p:cNvSpPr/>
          <p:nvPr/>
        </p:nvSpPr>
        <p:spPr>
          <a:xfrm>
            <a:off x="9782640" y="6865132"/>
            <a:ext cx="7045196" cy="5407756"/>
          </a:xfrm>
          <a:custGeom>
            <a:avLst/>
            <a:gdLst>
              <a:gd name="connsiteX0" fmla="*/ 0 w 3522598"/>
              <a:gd name="connsiteY0" fmla="*/ 0 h 2017250"/>
              <a:gd name="connsiteX1" fmla="*/ 3522598 w 3522598"/>
              <a:gd name="connsiteY1" fmla="*/ 0 h 2017250"/>
              <a:gd name="connsiteX2" fmla="*/ 3522598 w 3522598"/>
              <a:gd name="connsiteY2" fmla="*/ 2017250 h 2017250"/>
              <a:gd name="connsiteX3" fmla="*/ 0 w 3522598"/>
              <a:gd name="connsiteY3" fmla="*/ 2017250 h 2017250"/>
              <a:gd name="connsiteX4" fmla="*/ 0 w 3522598"/>
              <a:gd name="connsiteY4" fmla="*/ 0 h 2017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2598" h="2017250">
                <a:moveTo>
                  <a:pt x="0" y="0"/>
                </a:moveTo>
                <a:lnTo>
                  <a:pt x="3522598" y="0"/>
                </a:lnTo>
                <a:lnTo>
                  <a:pt x="3522598" y="2017250"/>
                </a:lnTo>
                <a:lnTo>
                  <a:pt x="0" y="2017250"/>
                </a:lnTo>
                <a:lnTo>
                  <a:pt x="0" y="0"/>
                </a:ln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marL="107950" algn="ctr" defTabSz="1600200">
              <a:spcBef>
                <a:spcPct val="0"/>
              </a:spcBef>
              <a:spcAft>
                <a:spcPct val="35000"/>
              </a:spcAft>
            </a:pPr>
            <a:r>
              <a:rPr lang="en-US" sz="7200" b="1" dirty="0">
                <a:solidFill>
                  <a:srgbClr val="002060"/>
                </a:solidFill>
              </a:rPr>
              <a:t>6h </a:t>
            </a:r>
            <a:r>
              <a:rPr lang="en-US" sz="7200" b="1" dirty="0" err="1">
                <a:solidFill>
                  <a:srgbClr val="002060"/>
                </a:solidFill>
              </a:rPr>
              <a:t>sau</a:t>
            </a:r>
            <a:r>
              <a:rPr lang="en-US" sz="3200" b="1" dirty="0">
                <a:solidFill>
                  <a:srgbClr val="002060"/>
                </a:solidFill>
              </a:rPr>
              <a:t> </a:t>
            </a:r>
          </a:p>
          <a:p>
            <a:pPr marL="679450" indent="-571500" algn="just" defTabSz="1600200">
              <a:spcBef>
                <a:spcPct val="0"/>
              </a:spcBef>
              <a:spcAft>
                <a:spcPct val="35000"/>
              </a:spcAft>
              <a:buFontTx/>
              <a:buChar char="-"/>
            </a:pPr>
            <a:r>
              <a:rPr lang="en-US" sz="3200" dirty="0" err="1">
                <a:solidFill>
                  <a:srgbClr val="002060"/>
                </a:solidFill>
              </a:rPr>
              <a:t>Tạo</a:t>
            </a:r>
            <a:r>
              <a:rPr lang="en-US" sz="3200" dirty="0">
                <a:solidFill>
                  <a:srgbClr val="002060"/>
                </a:solidFill>
              </a:rPr>
              <a:t> ra 3 </a:t>
            </a:r>
            <a:r>
              <a:rPr lang="en-US" sz="3200" dirty="0" err="1">
                <a:solidFill>
                  <a:srgbClr val="002060"/>
                </a:solidFill>
              </a:rPr>
              <a:t>usd</a:t>
            </a:r>
            <a:r>
              <a:rPr lang="en-US" sz="3200" dirty="0">
                <a:solidFill>
                  <a:srgbClr val="002060"/>
                </a:solidFill>
              </a:rPr>
              <a:t> </a:t>
            </a:r>
            <a:r>
              <a:rPr lang="en-US" sz="3200" dirty="0" err="1">
                <a:solidFill>
                  <a:srgbClr val="002060"/>
                </a:solidFill>
              </a:rPr>
              <a:t>đầu</a:t>
            </a:r>
            <a:r>
              <a:rPr lang="en-US" sz="3200" dirty="0">
                <a:solidFill>
                  <a:srgbClr val="002060"/>
                </a:solidFill>
              </a:rPr>
              <a:t> = GTTD;</a:t>
            </a:r>
          </a:p>
          <a:p>
            <a:pPr marL="679450" indent="-571500" algn="just" defTabSz="1600200">
              <a:spcBef>
                <a:spcPct val="0"/>
              </a:spcBef>
              <a:spcAft>
                <a:spcPct val="35000"/>
              </a:spcAft>
              <a:buFontTx/>
              <a:buChar char="-"/>
            </a:pPr>
            <a:r>
              <a:rPr lang="vi-VN" sz="3200" dirty="0">
                <a:solidFill>
                  <a:srgbClr val="002060"/>
                </a:solidFill>
              </a:rPr>
              <a:t>là phần ngày lao động còn lại mà người công nhân tạo ra giá trị thặng dư và bị nhà tư bản chiếm không</a:t>
            </a:r>
            <a:endParaRPr lang="en-US" sz="3200" dirty="0">
              <a:solidFill>
                <a:srgbClr val="002060"/>
              </a:solidFill>
            </a:endParaRPr>
          </a:p>
          <a:p>
            <a:pPr marL="679450" indent="-571500" algn="just" defTabSz="1600200">
              <a:spcBef>
                <a:spcPct val="0"/>
              </a:spcBef>
              <a:spcAft>
                <a:spcPct val="35000"/>
              </a:spcAft>
              <a:buFontTx/>
              <a:buChar char="-"/>
            </a:pPr>
            <a:r>
              <a:rPr lang="en-US" sz="3200" dirty="0" err="1">
                <a:solidFill>
                  <a:srgbClr val="002060"/>
                </a:solidFill>
              </a:rPr>
              <a:t>Thời</a:t>
            </a:r>
            <a:r>
              <a:rPr lang="en-US" sz="3200" dirty="0">
                <a:solidFill>
                  <a:srgbClr val="002060"/>
                </a:solidFill>
              </a:rPr>
              <a:t> </a:t>
            </a:r>
            <a:r>
              <a:rPr lang="en-US" sz="3200" dirty="0" err="1">
                <a:solidFill>
                  <a:srgbClr val="002060"/>
                </a:solidFill>
              </a:rPr>
              <a:t>gian</a:t>
            </a:r>
            <a:r>
              <a:rPr lang="en-US" sz="3200" dirty="0">
                <a:solidFill>
                  <a:srgbClr val="002060"/>
                </a:solidFill>
              </a:rPr>
              <a:t> </a:t>
            </a:r>
            <a:r>
              <a:rPr lang="en-US" sz="3200" dirty="0" err="1">
                <a:solidFill>
                  <a:srgbClr val="002060"/>
                </a:solidFill>
              </a:rPr>
              <a:t>lao</a:t>
            </a:r>
            <a:r>
              <a:rPr lang="en-US" sz="3200" dirty="0">
                <a:solidFill>
                  <a:srgbClr val="002060"/>
                </a:solidFill>
              </a:rPr>
              <a:t> </a:t>
            </a:r>
            <a:r>
              <a:rPr lang="en-US" sz="3200" dirty="0" err="1">
                <a:solidFill>
                  <a:srgbClr val="002060"/>
                </a:solidFill>
              </a:rPr>
              <a:t>động</a:t>
            </a:r>
            <a:r>
              <a:rPr lang="en-US" sz="3200" dirty="0">
                <a:solidFill>
                  <a:srgbClr val="002060"/>
                </a:solidFill>
              </a:rPr>
              <a:t> </a:t>
            </a:r>
            <a:r>
              <a:rPr lang="en-US" sz="3200" dirty="0" err="1">
                <a:solidFill>
                  <a:srgbClr val="002060"/>
                </a:solidFill>
              </a:rPr>
              <a:t>thặng</a:t>
            </a:r>
            <a:r>
              <a:rPr lang="en-US" sz="3200" dirty="0">
                <a:solidFill>
                  <a:srgbClr val="002060"/>
                </a:solidFill>
              </a:rPr>
              <a:t> </a:t>
            </a:r>
            <a:r>
              <a:rPr lang="en-US" sz="3200" dirty="0" err="1">
                <a:solidFill>
                  <a:srgbClr val="002060"/>
                </a:solidFill>
              </a:rPr>
              <a:t>dư</a:t>
            </a:r>
            <a:r>
              <a:rPr lang="en-US" sz="3200" dirty="0">
                <a:solidFill>
                  <a:srgbClr val="002060"/>
                </a:solidFill>
              </a:rPr>
              <a:t> </a:t>
            </a:r>
            <a:r>
              <a:rPr lang="en-US" sz="6400" b="1" dirty="0">
                <a:solidFill>
                  <a:srgbClr val="002060"/>
                </a:solidFill>
              </a:rPr>
              <a:t>(t’)</a:t>
            </a:r>
            <a:endParaRPr lang="en-US" sz="3200" b="1" dirty="0">
              <a:solidFill>
                <a:srgbClr val="002060"/>
              </a:solidFill>
            </a:endParaRPr>
          </a:p>
        </p:txBody>
      </p:sp>
      <p:sp>
        <p:nvSpPr>
          <p:cNvPr id="10" name="Title 1">
            <a:extLst>
              <a:ext uri="{FF2B5EF4-FFF2-40B4-BE49-F238E27FC236}">
                <a16:creationId xmlns:a16="http://schemas.microsoft.com/office/drawing/2014/main" id="{B9C45909-C1E3-4BF7-B21B-B2220A380E63}"/>
              </a:ext>
            </a:extLst>
          </p:cNvPr>
          <p:cNvSpPr txBox="1">
            <a:spLocks/>
          </p:cNvSpPr>
          <p:nvPr/>
        </p:nvSpPr>
        <p:spPr>
          <a:xfrm>
            <a:off x="2969088" y="1656716"/>
            <a:ext cx="123498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ĐỘ DÀI NGÀY LAO ĐỘNG</a:t>
            </a:r>
          </a:p>
        </p:txBody>
      </p:sp>
    </p:spTree>
    <p:extLst>
      <p:ext uri="{BB962C8B-B14F-4D97-AF65-F5344CB8AC3E}">
        <p14:creationId xmlns:p14="http://schemas.microsoft.com/office/powerpoint/2010/main" val="1432702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6">
            <a:extLst>
              <a:ext uri="{FF2B5EF4-FFF2-40B4-BE49-F238E27FC236}">
                <a16:creationId xmlns:a16="http://schemas.microsoft.com/office/drawing/2014/main" id="{80DE47CA-A6AF-A7B1-BBA7-563854E41A7D}"/>
              </a:ext>
            </a:extLst>
          </p:cNvPr>
          <p:cNvSpPr/>
          <p:nvPr/>
        </p:nvSpPr>
        <p:spPr>
          <a:xfrm>
            <a:off x="9367521" y="5498321"/>
            <a:ext cx="3937718" cy="1366810"/>
          </a:xfrm>
          <a:custGeom>
            <a:avLst/>
            <a:gdLst/>
            <a:ahLst/>
            <a:cxnLst/>
            <a:rect l="0" t="0" r="0" b="0"/>
            <a:pathLst>
              <a:path>
                <a:moveTo>
                  <a:pt x="0" y="0"/>
                </a:moveTo>
                <a:lnTo>
                  <a:pt x="0" y="341702"/>
                </a:lnTo>
                <a:lnTo>
                  <a:pt x="1968859" y="341702"/>
                </a:lnTo>
                <a:lnTo>
                  <a:pt x="1968859" y="683405"/>
                </a:lnTo>
              </a:path>
            </a:pathLst>
          </a:custGeom>
          <a:noFill/>
          <a:ln>
            <a:solidFill>
              <a:schemeClr val="tx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6" name="Freeform 7">
            <a:extLst>
              <a:ext uri="{FF2B5EF4-FFF2-40B4-BE49-F238E27FC236}">
                <a16:creationId xmlns:a16="http://schemas.microsoft.com/office/drawing/2014/main" id="{A6655076-46CB-8310-3EEC-AB76A7AF8DE1}"/>
              </a:ext>
            </a:extLst>
          </p:cNvPr>
          <p:cNvSpPr/>
          <p:nvPr/>
        </p:nvSpPr>
        <p:spPr>
          <a:xfrm>
            <a:off x="5161514" y="5498321"/>
            <a:ext cx="4206004" cy="1366810"/>
          </a:xfrm>
          <a:custGeom>
            <a:avLst/>
            <a:gdLst/>
            <a:ahLst/>
            <a:cxnLst/>
            <a:rect l="0" t="0" r="0" b="0"/>
            <a:pathLst>
              <a:path>
                <a:moveTo>
                  <a:pt x="2103002" y="0"/>
                </a:moveTo>
                <a:lnTo>
                  <a:pt x="2103002" y="341702"/>
                </a:lnTo>
                <a:lnTo>
                  <a:pt x="0" y="341702"/>
                </a:lnTo>
                <a:lnTo>
                  <a:pt x="0" y="683405"/>
                </a:lnTo>
              </a:path>
            </a:pathLst>
          </a:custGeom>
          <a:noFill/>
          <a:ln>
            <a:solidFill>
              <a:schemeClr val="tx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7" name="Freeform 8">
            <a:extLst>
              <a:ext uri="{FF2B5EF4-FFF2-40B4-BE49-F238E27FC236}">
                <a16:creationId xmlns:a16="http://schemas.microsoft.com/office/drawing/2014/main" id="{618C74FD-C47F-2C3B-2711-C1AF65027528}"/>
              </a:ext>
            </a:extLst>
          </p:cNvPr>
          <p:cNvSpPr/>
          <p:nvPr/>
        </p:nvSpPr>
        <p:spPr>
          <a:xfrm>
            <a:off x="4341232" y="3740145"/>
            <a:ext cx="10052572" cy="1758174"/>
          </a:xfrm>
          <a:custGeom>
            <a:avLst/>
            <a:gdLst>
              <a:gd name="connsiteX0" fmla="*/ 0 w 5026286"/>
              <a:gd name="connsiteY0" fmla="*/ 0 h 879087"/>
              <a:gd name="connsiteX1" fmla="*/ 5026286 w 5026286"/>
              <a:gd name="connsiteY1" fmla="*/ 0 h 879087"/>
              <a:gd name="connsiteX2" fmla="*/ 5026286 w 5026286"/>
              <a:gd name="connsiteY2" fmla="*/ 879087 h 879087"/>
              <a:gd name="connsiteX3" fmla="*/ 0 w 5026286"/>
              <a:gd name="connsiteY3" fmla="*/ 879087 h 879087"/>
              <a:gd name="connsiteX4" fmla="*/ 0 w 5026286"/>
              <a:gd name="connsiteY4" fmla="*/ 0 h 8790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6286" h="879087">
                <a:moveTo>
                  <a:pt x="0" y="0"/>
                </a:moveTo>
                <a:lnTo>
                  <a:pt x="5026286" y="0"/>
                </a:lnTo>
                <a:lnTo>
                  <a:pt x="5026286" y="879087"/>
                </a:lnTo>
                <a:lnTo>
                  <a:pt x="0" y="879087"/>
                </a:lnTo>
                <a:lnTo>
                  <a:pt x="0" y="0"/>
                </a:ln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algn="ctr" defTabSz="1600200">
              <a:lnSpc>
                <a:spcPct val="90000"/>
              </a:lnSpc>
              <a:spcBef>
                <a:spcPct val="0"/>
              </a:spcBef>
              <a:spcAft>
                <a:spcPct val="35000"/>
              </a:spcAft>
            </a:pPr>
            <a:r>
              <a:rPr lang="en-US" sz="8000" b="1" dirty="0" err="1">
                <a:solidFill>
                  <a:srgbClr val="002060"/>
                </a:solidFill>
              </a:rPr>
              <a:t>Lượng</a:t>
            </a:r>
            <a:r>
              <a:rPr lang="en-US" sz="8000" b="1" dirty="0">
                <a:solidFill>
                  <a:srgbClr val="002060"/>
                </a:solidFill>
              </a:rPr>
              <a:t> </a:t>
            </a:r>
            <a:r>
              <a:rPr lang="en-US" sz="8000" b="1" dirty="0" err="1">
                <a:solidFill>
                  <a:srgbClr val="002060"/>
                </a:solidFill>
              </a:rPr>
              <a:t>giá</a:t>
            </a:r>
            <a:r>
              <a:rPr lang="en-US" sz="8000" b="1" dirty="0">
                <a:solidFill>
                  <a:srgbClr val="002060"/>
                </a:solidFill>
              </a:rPr>
              <a:t> </a:t>
            </a:r>
            <a:r>
              <a:rPr lang="en-US" sz="8000" b="1" dirty="0" err="1">
                <a:solidFill>
                  <a:srgbClr val="002060"/>
                </a:solidFill>
              </a:rPr>
              <a:t>trị</a:t>
            </a:r>
            <a:r>
              <a:rPr lang="en-US" sz="8000" b="1" dirty="0">
                <a:solidFill>
                  <a:srgbClr val="002060"/>
                </a:solidFill>
              </a:rPr>
              <a:t> HH</a:t>
            </a:r>
          </a:p>
        </p:txBody>
      </p:sp>
      <p:sp>
        <p:nvSpPr>
          <p:cNvPr id="8" name="Freeform 9">
            <a:extLst>
              <a:ext uri="{FF2B5EF4-FFF2-40B4-BE49-F238E27FC236}">
                <a16:creationId xmlns:a16="http://schemas.microsoft.com/office/drawing/2014/main" id="{20BAEE54-7D45-8EBF-F5AE-5679833124C6}"/>
              </a:ext>
            </a:extLst>
          </p:cNvPr>
          <p:cNvSpPr/>
          <p:nvPr/>
        </p:nvSpPr>
        <p:spPr>
          <a:xfrm>
            <a:off x="1907202" y="6865131"/>
            <a:ext cx="6508624" cy="5407758"/>
          </a:xfrm>
          <a:custGeom>
            <a:avLst/>
            <a:gdLst>
              <a:gd name="connsiteX0" fmla="*/ 0 w 3254312"/>
              <a:gd name="connsiteY0" fmla="*/ 0 h 1918498"/>
              <a:gd name="connsiteX1" fmla="*/ 3254312 w 3254312"/>
              <a:gd name="connsiteY1" fmla="*/ 0 h 1918498"/>
              <a:gd name="connsiteX2" fmla="*/ 3254312 w 3254312"/>
              <a:gd name="connsiteY2" fmla="*/ 1918498 h 1918498"/>
              <a:gd name="connsiteX3" fmla="*/ 0 w 3254312"/>
              <a:gd name="connsiteY3" fmla="*/ 1918498 h 1918498"/>
              <a:gd name="connsiteX4" fmla="*/ 0 w 3254312"/>
              <a:gd name="connsiteY4" fmla="*/ 0 h 19184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4312" h="1918498">
                <a:moveTo>
                  <a:pt x="0" y="0"/>
                </a:moveTo>
                <a:lnTo>
                  <a:pt x="3254312" y="0"/>
                </a:lnTo>
                <a:lnTo>
                  <a:pt x="3254312" y="1918498"/>
                </a:lnTo>
                <a:lnTo>
                  <a:pt x="0" y="1918498"/>
                </a:lnTo>
                <a:lnTo>
                  <a:pt x="0" y="0"/>
                </a:ln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marL="107950" algn="ctr" defTabSz="1600200">
              <a:spcBef>
                <a:spcPct val="0"/>
              </a:spcBef>
              <a:spcAft>
                <a:spcPct val="35000"/>
              </a:spcAft>
            </a:pPr>
            <a:r>
              <a:rPr lang="en-US" sz="4400" b="1">
                <a:solidFill>
                  <a:srgbClr val="002060"/>
                </a:solidFill>
              </a:rPr>
              <a:t>Lượng GT cũ</a:t>
            </a:r>
          </a:p>
          <a:p>
            <a:pPr marL="107950" algn="just" defTabSz="1600200">
              <a:spcBef>
                <a:spcPct val="0"/>
              </a:spcBef>
              <a:spcAft>
                <a:spcPct val="35000"/>
              </a:spcAft>
            </a:pPr>
            <a:r>
              <a:rPr lang="en-US" sz="4400">
                <a:solidFill>
                  <a:srgbClr val="002060"/>
                </a:solidFill>
              </a:rPr>
              <a:t>- GT của TLSX;</a:t>
            </a:r>
          </a:p>
          <a:p>
            <a:pPr marL="107950" algn="just" defTabSz="1600200">
              <a:spcBef>
                <a:spcPct val="0"/>
              </a:spcBef>
              <a:spcAft>
                <a:spcPct val="35000"/>
              </a:spcAft>
            </a:pPr>
            <a:r>
              <a:rPr lang="en-US" sz="4400">
                <a:solidFill>
                  <a:srgbClr val="002060"/>
                </a:solidFill>
              </a:rPr>
              <a:t>- Là kết quả của LĐ quá khứ;</a:t>
            </a:r>
          </a:p>
          <a:p>
            <a:pPr marL="107950" algn="just" defTabSz="1600200">
              <a:spcBef>
                <a:spcPct val="0"/>
              </a:spcBef>
              <a:spcAft>
                <a:spcPct val="35000"/>
              </a:spcAft>
            </a:pPr>
            <a:r>
              <a:rPr lang="en-US" sz="4400">
                <a:solidFill>
                  <a:srgbClr val="002060"/>
                </a:solidFill>
              </a:rPr>
              <a:t>- Được </a:t>
            </a:r>
            <a:r>
              <a:rPr lang="en-US" sz="4400">
                <a:solidFill>
                  <a:srgbClr val="002060"/>
                </a:solidFill>
                <a:highlight>
                  <a:srgbClr val="FFFF00"/>
                </a:highlight>
              </a:rPr>
              <a:t>LĐCT</a:t>
            </a:r>
            <a:r>
              <a:rPr lang="en-US" sz="4400">
                <a:solidFill>
                  <a:srgbClr val="002060"/>
                </a:solidFill>
              </a:rPr>
              <a:t> của công nhân bảo toàn và di chuyển vào sản phẩm – HH mới</a:t>
            </a:r>
          </a:p>
        </p:txBody>
      </p:sp>
      <p:sp>
        <p:nvSpPr>
          <p:cNvPr id="9" name="Freeform 10">
            <a:extLst>
              <a:ext uri="{FF2B5EF4-FFF2-40B4-BE49-F238E27FC236}">
                <a16:creationId xmlns:a16="http://schemas.microsoft.com/office/drawing/2014/main" id="{904126CA-2CC3-DA81-5726-DE335E45C517}"/>
              </a:ext>
            </a:extLst>
          </p:cNvPr>
          <p:cNvSpPr/>
          <p:nvPr/>
        </p:nvSpPr>
        <p:spPr>
          <a:xfrm>
            <a:off x="9782640" y="6865132"/>
            <a:ext cx="7045196" cy="5407756"/>
          </a:xfrm>
          <a:custGeom>
            <a:avLst/>
            <a:gdLst>
              <a:gd name="connsiteX0" fmla="*/ 0 w 3522598"/>
              <a:gd name="connsiteY0" fmla="*/ 0 h 2017250"/>
              <a:gd name="connsiteX1" fmla="*/ 3522598 w 3522598"/>
              <a:gd name="connsiteY1" fmla="*/ 0 h 2017250"/>
              <a:gd name="connsiteX2" fmla="*/ 3522598 w 3522598"/>
              <a:gd name="connsiteY2" fmla="*/ 2017250 h 2017250"/>
              <a:gd name="connsiteX3" fmla="*/ 0 w 3522598"/>
              <a:gd name="connsiteY3" fmla="*/ 2017250 h 2017250"/>
              <a:gd name="connsiteX4" fmla="*/ 0 w 3522598"/>
              <a:gd name="connsiteY4" fmla="*/ 0 h 2017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2598" h="2017250">
                <a:moveTo>
                  <a:pt x="0" y="0"/>
                </a:moveTo>
                <a:lnTo>
                  <a:pt x="3522598" y="0"/>
                </a:lnTo>
                <a:lnTo>
                  <a:pt x="3522598" y="2017250"/>
                </a:lnTo>
                <a:lnTo>
                  <a:pt x="0" y="2017250"/>
                </a:lnTo>
                <a:lnTo>
                  <a:pt x="0" y="0"/>
                </a:lnTo>
                <a:close/>
              </a:path>
            </a:pathLst>
          </a:custGeom>
          <a:noFill/>
          <a:ln>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2860" tIns="22860" rIns="22860" bIns="22860" numCol="1" spcCol="1270" anchor="ctr" anchorCtr="0">
            <a:noAutofit/>
          </a:bodyPr>
          <a:lstStyle/>
          <a:p>
            <a:pPr marL="219076" algn="ctr" defTabSz="1600200">
              <a:lnSpc>
                <a:spcPct val="90000"/>
              </a:lnSpc>
              <a:spcBef>
                <a:spcPct val="0"/>
              </a:spcBef>
              <a:spcAft>
                <a:spcPct val="35000"/>
              </a:spcAft>
            </a:pPr>
            <a:r>
              <a:rPr lang="en-US" sz="4400" b="1">
                <a:solidFill>
                  <a:srgbClr val="002060"/>
                </a:solidFill>
              </a:rPr>
              <a:t>Lượng GT mới</a:t>
            </a:r>
          </a:p>
          <a:p>
            <a:pPr marL="219076" algn="just" defTabSz="1600200">
              <a:lnSpc>
                <a:spcPct val="90000"/>
              </a:lnSpc>
              <a:spcBef>
                <a:spcPct val="0"/>
              </a:spcBef>
              <a:spcAft>
                <a:spcPct val="35000"/>
              </a:spcAft>
            </a:pPr>
            <a:r>
              <a:rPr lang="en-US" sz="4400">
                <a:solidFill>
                  <a:srgbClr val="002060"/>
                </a:solidFill>
              </a:rPr>
              <a:t>- Gồm:</a:t>
            </a:r>
          </a:p>
          <a:p>
            <a:pPr marL="219076" algn="just" defTabSz="1600200">
              <a:lnSpc>
                <a:spcPct val="90000"/>
              </a:lnSpc>
              <a:spcBef>
                <a:spcPct val="0"/>
              </a:spcBef>
              <a:spcAft>
                <a:spcPct val="35000"/>
              </a:spcAft>
            </a:pPr>
            <a:r>
              <a:rPr lang="en-US" sz="4400">
                <a:solidFill>
                  <a:srgbClr val="002060"/>
                </a:solidFill>
              </a:rPr>
              <a:t>+ GT ngang với giá trị SLĐ;</a:t>
            </a:r>
          </a:p>
          <a:p>
            <a:pPr marL="219076" algn="just" defTabSz="1600200">
              <a:lnSpc>
                <a:spcPct val="90000"/>
              </a:lnSpc>
              <a:spcBef>
                <a:spcPct val="0"/>
              </a:spcBef>
              <a:spcAft>
                <a:spcPct val="35000"/>
              </a:spcAft>
            </a:pPr>
            <a:r>
              <a:rPr lang="en-US" sz="4400">
                <a:solidFill>
                  <a:srgbClr val="002060"/>
                </a:solidFill>
              </a:rPr>
              <a:t>+ GT thặng dư</a:t>
            </a:r>
          </a:p>
          <a:p>
            <a:pPr marL="219076" algn="just" defTabSz="1600200">
              <a:lnSpc>
                <a:spcPct val="90000"/>
              </a:lnSpc>
              <a:spcBef>
                <a:spcPct val="0"/>
              </a:spcBef>
              <a:spcAft>
                <a:spcPct val="35000"/>
              </a:spcAft>
            </a:pPr>
            <a:r>
              <a:rPr lang="en-US" sz="4400">
                <a:solidFill>
                  <a:srgbClr val="002060"/>
                </a:solidFill>
              </a:rPr>
              <a:t>- Là kết quả của LĐ sống;</a:t>
            </a:r>
          </a:p>
          <a:p>
            <a:pPr marL="219076" algn="just" defTabSz="1600200">
              <a:lnSpc>
                <a:spcPct val="90000"/>
              </a:lnSpc>
              <a:spcBef>
                <a:spcPct val="0"/>
              </a:spcBef>
              <a:spcAft>
                <a:spcPct val="35000"/>
              </a:spcAft>
            </a:pPr>
            <a:r>
              <a:rPr lang="en-US" sz="4400">
                <a:solidFill>
                  <a:srgbClr val="002060"/>
                </a:solidFill>
              </a:rPr>
              <a:t>- Do </a:t>
            </a:r>
            <a:r>
              <a:rPr lang="en-US" sz="4400">
                <a:solidFill>
                  <a:srgbClr val="002060"/>
                </a:solidFill>
                <a:highlight>
                  <a:srgbClr val="FFFF00"/>
                </a:highlight>
              </a:rPr>
              <a:t>LĐTT</a:t>
            </a:r>
            <a:r>
              <a:rPr lang="en-US" sz="4400">
                <a:solidFill>
                  <a:srgbClr val="002060"/>
                </a:solidFill>
              </a:rPr>
              <a:t> của CN tạo ra</a:t>
            </a:r>
          </a:p>
        </p:txBody>
      </p:sp>
      <p:sp>
        <p:nvSpPr>
          <p:cNvPr id="10" name="Title 1">
            <a:extLst>
              <a:ext uri="{FF2B5EF4-FFF2-40B4-BE49-F238E27FC236}">
                <a16:creationId xmlns:a16="http://schemas.microsoft.com/office/drawing/2014/main" id="{B9C45909-C1E3-4BF7-B21B-B2220A380E63}"/>
              </a:ext>
            </a:extLst>
          </p:cNvPr>
          <p:cNvSpPr txBox="1">
            <a:spLocks/>
          </p:cNvSpPr>
          <p:nvPr/>
        </p:nvSpPr>
        <p:spPr>
          <a:xfrm>
            <a:off x="2969088" y="1656716"/>
            <a:ext cx="12349824" cy="1127124"/>
          </a:xfrm>
          <a:prstGeom prst="rect">
            <a:avLst/>
          </a:prstGeom>
        </p:spPr>
        <p:txBody>
          <a:bodyPr vert="horz" lIns="182880" tIns="91440" rIns="182880" bIns="9144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CẤU THÀNH LƯỢNG GIÁ TRỊ HÀNG HÓA</a:t>
            </a:r>
          </a:p>
        </p:txBody>
      </p:sp>
    </p:spTree>
    <p:extLst>
      <p:ext uri="{BB962C8B-B14F-4D97-AF65-F5344CB8AC3E}">
        <p14:creationId xmlns:p14="http://schemas.microsoft.com/office/powerpoint/2010/main" val="957277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95AC1-7B80-AD3E-5190-2CFDED98361A}"/>
              </a:ext>
            </a:extLst>
          </p:cNvPr>
          <p:cNvSpPr txBox="1">
            <a:spLocks/>
          </p:cNvSpPr>
          <p:nvPr/>
        </p:nvSpPr>
        <p:spPr>
          <a:xfrm>
            <a:off x="4419600" y="1697356"/>
            <a:ext cx="10363200"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chất</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Tư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endParaRPr lang="en-US"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sp>
        <p:nvSpPr>
          <p:cNvPr id="3" name="Text Box 14">
            <a:extLst>
              <a:ext uri="{FF2B5EF4-FFF2-40B4-BE49-F238E27FC236}">
                <a16:creationId xmlns:a16="http://schemas.microsoft.com/office/drawing/2014/main" id="{70F5C2EF-65C0-AD73-81EC-35CBEC09E029}"/>
              </a:ext>
            </a:extLst>
          </p:cNvPr>
          <p:cNvSpPr txBox="1">
            <a:spLocks noChangeArrowheads="1"/>
          </p:cNvSpPr>
          <p:nvPr/>
        </p:nvSpPr>
        <p:spPr bwMode="ltGray">
          <a:xfrm>
            <a:off x="9133840" y="3577571"/>
            <a:ext cx="8077200" cy="9107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lnSpc>
                <a:spcPct val="150000"/>
              </a:lnSpc>
            </a:pPr>
            <a:r>
              <a:rPr lang="vi-VN" altLang="en-US" sz="4400">
                <a:solidFill>
                  <a:srgbClr val="002060"/>
                </a:solidFill>
                <a:latin typeface="Arial" panose="020B0604020202020204" pitchFamily="34" charset="0"/>
                <a:sym typeface="Wingdings" panose="05000000000000000000" pitchFamily="2" charset="2"/>
              </a:rPr>
              <a:t>Tư bản là </a:t>
            </a:r>
            <a:r>
              <a:rPr lang="vi-VN" altLang="en-US" sz="4400">
                <a:solidFill>
                  <a:srgbClr val="002060"/>
                </a:solidFill>
                <a:highlight>
                  <a:srgbClr val="FFFF00"/>
                </a:highlight>
                <a:latin typeface="Arial" panose="020B0604020202020204" pitchFamily="34" charset="0"/>
                <a:sym typeface="Wingdings" panose="05000000000000000000" pitchFamily="2" charset="2"/>
              </a:rPr>
              <a:t>giá trị </a:t>
            </a:r>
            <a:r>
              <a:rPr lang="vi-VN" altLang="en-US" sz="4400">
                <a:solidFill>
                  <a:srgbClr val="002060"/>
                </a:solidFill>
                <a:latin typeface="Arial" panose="020B0604020202020204" pitchFamily="34" charset="0"/>
                <a:sym typeface="Wingdings" panose="05000000000000000000" pitchFamily="2" charset="2"/>
              </a:rPr>
              <a:t>mang lại </a:t>
            </a:r>
            <a:r>
              <a:rPr lang="vi-VN" altLang="en-US" sz="4400">
                <a:solidFill>
                  <a:srgbClr val="002060"/>
                </a:solidFill>
                <a:highlight>
                  <a:srgbClr val="FFFF00"/>
                </a:highlight>
                <a:latin typeface="Arial" panose="020B0604020202020204" pitchFamily="34" charset="0"/>
                <a:sym typeface="Wingdings" panose="05000000000000000000" pitchFamily="2" charset="2"/>
              </a:rPr>
              <a:t>giá trị thặng dư</a:t>
            </a:r>
            <a:r>
              <a:rPr lang="vi-VN" altLang="en-US" sz="4400">
                <a:solidFill>
                  <a:srgbClr val="002060"/>
                </a:solidFill>
                <a:latin typeface="Arial" panose="020B0604020202020204" pitchFamily="34" charset="0"/>
                <a:sym typeface="Wingdings" panose="05000000000000000000" pitchFamily="2" charset="2"/>
              </a:rPr>
              <a:t> bằng cách </a:t>
            </a:r>
            <a:r>
              <a:rPr lang="vi-VN" altLang="en-US" sz="4400">
                <a:solidFill>
                  <a:srgbClr val="002060"/>
                </a:solidFill>
                <a:highlight>
                  <a:srgbClr val="FFFF00"/>
                </a:highlight>
                <a:latin typeface="Arial" panose="020B0604020202020204" pitchFamily="34" charset="0"/>
                <a:sym typeface="Wingdings" panose="05000000000000000000" pitchFamily="2" charset="2"/>
              </a:rPr>
              <a:t>bóc lột lao động không công</a:t>
            </a:r>
            <a:r>
              <a:rPr lang="vi-VN" altLang="en-US" sz="4400">
                <a:solidFill>
                  <a:srgbClr val="002060"/>
                </a:solidFill>
                <a:latin typeface="Arial" panose="020B0604020202020204" pitchFamily="34" charset="0"/>
                <a:sym typeface="Wingdings" panose="05000000000000000000" pitchFamily="2" charset="2"/>
              </a:rPr>
              <a:t> của công nhân làm thuê. Bản chất của tư bản là thể hiện </a:t>
            </a:r>
            <a:r>
              <a:rPr lang="vi-VN" altLang="en-US" sz="4400">
                <a:solidFill>
                  <a:srgbClr val="002060"/>
                </a:solidFill>
                <a:highlight>
                  <a:srgbClr val="FFFF00"/>
                </a:highlight>
                <a:latin typeface="Arial" panose="020B0604020202020204" pitchFamily="34" charset="0"/>
                <a:sym typeface="Wingdings" panose="05000000000000000000" pitchFamily="2" charset="2"/>
              </a:rPr>
              <a:t>quan hệ sản xuất xã hội</a:t>
            </a:r>
            <a:r>
              <a:rPr lang="vi-VN" altLang="en-US" sz="4400">
                <a:solidFill>
                  <a:srgbClr val="002060"/>
                </a:solidFill>
                <a:latin typeface="Arial" panose="020B0604020202020204" pitchFamily="34" charset="0"/>
                <a:sym typeface="Wingdings" panose="05000000000000000000" pitchFamily="2" charset="2"/>
              </a:rPr>
              <a:t> mà trong đó </a:t>
            </a:r>
            <a:r>
              <a:rPr lang="vi-VN" altLang="en-US" sz="4400">
                <a:solidFill>
                  <a:srgbClr val="002060"/>
                </a:solidFill>
                <a:highlight>
                  <a:srgbClr val="FFFF00"/>
                </a:highlight>
                <a:latin typeface="Arial" panose="020B0604020202020204" pitchFamily="34" charset="0"/>
                <a:sym typeface="Wingdings" panose="05000000000000000000" pitchFamily="2" charset="2"/>
              </a:rPr>
              <a:t>giai cấp tư sản</a:t>
            </a:r>
            <a:r>
              <a:rPr lang="vi-VN" altLang="en-US" sz="4400">
                <a:solidFill>
                  <a:srgbClr val="002060"/>
                </a:solidFill>
                <a:latin typeface="Arial" panose="020B0604020202020204" pitchFamily="34" charset="0"/>
                <a:sym typeface="Wingdings" panose="05000000000000000000" pitchFamily="2" charset="2"/>
              </a:rPr>
              <a:t> chiếm đoạt giá trị thặng dư do </a:t>
            </a:r>
            <a:r>
              <a:rPr lang="vi-VN" altLang="en-US" sz="4400">
                <a:solidFill>
                  <a:srgbClr val="002060"/>
                </a:solidFill>
                <a:highlight>
                  <a:srgbClr val="FFFF00"/>
                </a:highlight>
                <a:latin typeface="Arial" panose="020B0604020202020204" pitchFamily="34" charset="0"/>
                <a:sym typeface="Wingdings" panose="05000000000000000000" pitchFamily="2" charset="2"/>
              </a:rPr>
              <a:t>giai cấp công nhân</a:t>
            </a:r>
            <a:r>
              <a:rPr lang="vi-VN" altLang="en-US" sz="4400">
                <a:solidFill>
                  <a:srgbClr val="002060"/>
                </a:solidFill>
                <a:latin typeface="Arial" panose="020B0604020202020204" pitchFamily="34" charset="0"/>
                <a:sym typeface="Wingdings" panose="05000000000000000000" pitchFamily="2" charset="2"/>
              </a:rPr>
              <a:t> sáng tạo ra</a:t>
            </a:r>
          </a:p>
        </p:txBody>
      </p:sp>
      <p:pic>
        <p:nvPicPr>
          <p:cNvPr id="10" name="Picture 9">
            <a:extLst>
              <a:ext uri="{FF2B5EF4-FFF2-40B4-BE49-F238E27FC236}">
                <a16:creationId xmlns:a16="http://schemas.microsoft.com/office/drawing/2014/main" id="{6D51CB1E-82AB-6E10-A6A6-244239B8A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6240" y="3759202"/>
            <a:ext cx="7315200" cy="8839200"/>
          </a:xfrm>
          <a:prstGeom prst="rect">
            <a:avLst/>
          </a:prstGeom>
        </p:spPr>
      </p:pic>
    </p:spTree>
    <p:extLst>
      <p:ext uri="{BB962C8B-B14F-4D97-AF65-F5344CB8AC3E}">
        <p14:creationId xmlns:p14="http://schemas.microsoft.com/office/powerpoint/2010/main" val="189657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F14476-B707-9C29-D2FB-56D8C2E754D8}"/>
              </a:ext>
            </a:extLst>
          </p:cNvPr>
          <p:cNvSpPr txBox="1">
            <a:spLocks/>
          </p:cNvSpPr>
          <p:nvPr/>
        </p:nvSpPr>
        <p:spPr>
          <a:xfrm>
            <a:off x="2428240" y="1421290"/>
            <a:ext cx="13106400"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Tư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bất</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biến</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và</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khả</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biến</a:t>
            </a:r>
            <a:endParaRPr lang="en-US"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graphicFrame>
        <p:nvGraphicFramePr>
          <p:cNvPr id="5" name="Table 4">
            <a:extLst>
              <a:ext uri="{FF2B5EF4-FFF2-40B4-BE49-F238E27FC236}">
                <a16:creationId xmlns:a16="http://schemas.microsoft.com/office/drawing/2014/main" id="{029EF684-AB4E-8606-F2F0-20C03A0FB211}"/>
              </a:ext>
            </a:extLst>
          </p:cNvPr>
          <p:cNvGraphicFramePr>
            <a:graphicFrameLocks noGrp="1"/>
          </p:cNvGraphicFramePr>
          <p:nvPr/>
        </p:nvGraphicFramePr>
        <p:xfrm>
          <a:off x="1574800" y="3373120"/>
          <a:ext cx="14935200" cy="9458960"/>
        </p:xfrm>
        <a:graphic>
          <a:graphicData uri="http://schemas.openxmlformats.org/drawingml/2006/table">
            <a:tbl>
              <a:tblPr firstRow="1" bandRow="1">
                <a:tableStyleId>{5C22544A-7EE6-4342-B048-85BDC9FD1C3A}</a:tableStyleId>
              </a:tblPr>
              <a:tblGrid>
                <a:gridCol w="7467600">
                  <a:extLst>
                    <a:ext uri="{9D8B030D-6E8A-4147-A177-3AD203B41FA5}">
                      <a16:colId xmlns:a16="http://schemas.microsoft.com/office/drawing/2014/main" val="20000"/>
                    </a:ext>
                  </a:extLst>
                </a:gridCol>
                <a:gridCol w="7467600">
                  <a:extLst>
                    <a:ext uri="{9D8B030D-6E8A-4147-A177-3AD203B41FA5}">
                      <a16:colId xmlns:a16="http://schemas.microsoft.com/office/drawing/2014/main" val="20001"/>
                    </a:ext>
                  </a:extLst>
                </a:gridCol>
              </a:tblGrid>
              <a:tr h="957704">
                <a:tc>
                  <a:txBody>
                    <a:bodyPr/>
                    <a:lstStyle/>
                    <a:p>
                      <a:pPr algn="ctr"/>
                      <a:r>
                        <a:rPr lang="en-US" sz="3600" dirty="0">
                          <a:solidFill>
                            <a:srgbClr val="002060"/>
                          </a:solidFill>
                        </a:rPr>
                        <a:t>TƯ</a:t>
                      </a:r>
                      <a:r>
                        <a:rPr lang="en-US" sz="3600" baseline="0" dirty="0">
                          <a:solidFill>
                            <a:srgbClr val="002060"/>
                          </a:solidFill>
                        </a:rPr>
                        <a:t> BẢN BẤT BIẾN</a:t>
                      </a:r>
                      <a:endParaRPr lang="en-US" sz="3600"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600" dirty="0">
                          <a:solidFill>
                            <a:srgbClr val="002060"/>
                          </a:solidFill>
                        </a:rPr>
                        <a:t>TƯ</a:t>
                      </a:r>
                      <a:r>
                        <a:rPr lang="en-US" sz="3600" baseline="0" dirty="0">
                          <a:solidFill>
                            <a:srgbClr val="002060"/>
                          </a:solidFill>
                        </a:rPr>
                        <a:t> BẢN KHẢ BIẾN</a:t>
                      </a:r>
                      <a:endParaRPr lang="en-US" sz="3600"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069898">
                <a:tc>
                  <a:txBody>
                    <a:bodyPr/>
                    <a:lstStyle/>
                    <a:p>
                      <a:pPr algn="ctr"/>
                      <a:r>
                        <a:rPr lang="en-US" sz="3600" dirty="0" err="1">
                          <a:solidFill>
                            <a:srgbClr val="002060"/>
                          </a:solidFill>
                        </a:rPr>
                        <a:t>Giá</a:t>
                      </a:r>
                      <a:r>
                        <a:rPr lang="en-US" sz="3600" baseline="0" dirty="0">
                          <a:solidFill>
                            <a:srgbClr val="002060"/>
                          </a:solidFill>
                        </a:rPr>
                        <a:t> </a:t>
                      </a:r>
                      <a:r>
                        <a:rPr lang="en-US" sz="3600" baseline="0" dirty="0" err="1">
                          <a:solidFill>
                            <a:srgbClr val="002060"/>
                          </a:solidFill>
                        </a:rPr>
                        <a:t>trị</a:t>
                      </a:r>
                      <a:r>
                        <a:rPr lang="en-US" sz="3600" baseline="0" dirty="0">
                          <a:solidFill>
                            <a:srgbClr val="002060"/>
                          </a:solidFill>
                        </a:rPr>
                        <a:t> </a:t>
                      </a:r>
                      <a:r>
                        <a:rPr lang="en-US" sz="3600" baseline="0" dirty="0" err="1">
                          <a:solidFill>
                            <a:srgbClr val="002060"/>
                          </a:solidFill>
                        </a:rPr>
                        <a:t>không</a:t>
                      </a:r>
                      <a:r>
                        <a:rPr lang="en-US" sz="3600" baseline="0" dirty="0">
                          <a:solidFill>
                            <a:srgbClr val="002060"/>
                          </a:solidFill>
                        </a:rPr>
                        <a:t> </a:t>
                      </a:r>
                      <a:r>
                        <a:rPr lang="en-US" sz="3600" baseline="0" dirty="0" err="1">
                          <a:solidFill>
                            <a:srgbClr val="002060"/>
                          </a:solidFill>
                        </a:rPr>
                        <a:t>thay</a:t>
                      </a:r>
                      <a:r>
                        <a:rPr lang="en-US" sz="3600" baseline="0" dirty="0">
                          <a:solidFill>
                            <a:srgbClr val="002060"/>
                          </a:solidFill>
                        </a:rPr>
                        <a:t> </a:t>
                      </a:r>
                      <a:r>
                        <a:rPr lang="en-US" sz="3600" baseline="0" dirty="0" err="1">
                          <a:solidFill>
                            <a:srgbClr val="002060"/>
                          </a:solidFill>
                        </a:rPr>
                        <a:t>đổi</a:t>
                      </a:r>
                      <a:r>
                        <a:rPr lang="en-US" sz="3600" baseline="0" dirty="0">
                          <a:solidFill>
                            <a:srgbClr val="002060"/>
                          </a:solidFill>
                        </a:rPr>
                        <a:t> </a:t>
                      </a:r>
                      <a:r>
                        <a:rPr lang="en-US" sz="3600" baseline="0" dirty="0" err="1">
                          <a:solidFill>
                            <a:srgbClr val="002060"/>
                          </a:solidFill>
                        </a:rPr>
                        <a:t>về</a:t>
                      </a:r>
                      <a:r>
                        <a:rPr lang="en-US" sz="3600" baseline="0" dirty="0">
                          <a:solidFill>
                            <a:srgbClr val="002060"/>
                          </a:solidFill>
                        </a:rPr>
                        <a:t> </a:t>
                      </a:r>
                      <a:r>
                        <a:rPr lang="en-US" sz="3600" baseline="0" dirty="0" err="1">
                          <a:solidFill>
                            <a:srgbClr val="002060"/>
                          </a:solidFill>
                        </a:rPr>
                        <a:t>lượng</a:t>
                      </a:r>
                      <a:r>
                        <a:rPr lang="en-US" sz="3600" baseline="0" dirty="0">
                          <a:solidFill>
                            <a:srgbClr val="002060"/>
                          </a:solidFill>
                        </a:rPr>
                        <a:t> </a:t>
                      </a:r>
                      <a:r>
                        <a:rPr lang="en-US" sz="3600" baseline="0" dirty="0" err="1">
                          <a:solidFill>
                            <a:srgbClr val="002060"/>
                          </a:solidFill>
                        </a:rPr>
                        <a:t>trong</a:t>
                      </a:r>
                      <a:r>
                        <a:rPr lang="en-US" sz="3600" baseline="0" dirty="0">
                          <a:solidFill>
                            <a:srgbClr val="002060"/>
                          </a:solidFill>
                        </a:rPr>
                        <a:t> </a:t>
                      </a:r>
                      <a:r>
                        <a:rPr lang="en-US" sz="3600" baseline="0" dirty="0" err="1">
                          <a:solidFill>
                            <a:srgbClr val="002060"/>
                          </a:solidFill>
                        </a:rPr>
                        <a:t>quá</a:t>
                      </a:r>
                      <a:r>
                        <a:rPr lang="en-US" sz="3600" baseline="0" dirty="0">
                          <a:solidFill>
                            <a:srgbClr val="002060"/>
                          </a:solidFill>
                        </a:rPr>
                        <a:t> </a:t>
                      </a:r>
                      <a:r>
                        <a:rPr lang="en-US" sz="3600" baseline="0" dirty="0" err="1">
                          <a:solidFill>
                            <a:srgbClr val="002060"/>
                          </a:solidFill>
                        </a:rPr>
                        <a:t>trình</a:t>
                      </a:r>
                      <a:r>
                        <a:rPr lang="en-US" sz="3600" baseline="0" dirty="0">
                          <a:solidFill>
                            <a:srgbClr val="002060"/>
                          </a:solidFill>
                        </a:rPr>
                        <a:t> </a:t>
                      </a:r>
                      <a:r>
                        <a:rPr lang="en-US" sz="3600" baseline="0" dirty="0" err="1">
                          <a:solidFill>
                            <a:srgbClr val="002060"/>
                          </a:solidFill>
                        </a:rPr>
                        <a:t>sản</a:t>
                      </a:r>
                      <a:r>
                        <a:rPr lang="en-US" sz="3600" baseline="0" dirty="0">
                          <a:solidFill>
                            <a:srgbClr val="002060"/>
                          </a:solidFill>
                        </a:rPr>
                        <a:t> </a:t>
                      </a:r>
                      <a:r>
                        <a:rPr lang="en-US" sz="3600" baseline="0" dirty="0" err="1">
                          <a:solidFill>
                            <a:srgbClr val="002060"/>
                          </a:solidFill>
                        </a:rPr>
                        <a:t>xuất</a:t>
                      </a:r>
                      <a:endParaRPr lang="en-US" sz="3600" baseline="0" dirty="0">
                        <a:solidFill>
                          <a:srgbClr val="002060"/>
                        </a:solidFill>
                      </a:endParaRPr>
                    </a:p>
                    <a:p>
                      <a:pPr algn="ctr"/>
                      <a:r>
                        <a:rPr lang="en-US" sz="3600" baseline="0" dirty="0">
                          <a:solidFill>
                            <a:srgbClr val="002060"/>
                          </a:solidFill>
                          <a:sym typeface="Wingdings" panose="05000000000000000000" pitchFamily="2" charset="2"/>
                        </a:rPr>
                        <a:t> </a:t>
                      </a:r>
                      <a:r>
                        <a:rPr lang="en-US" sz="3600" baseline="0" dirty="0">
                          <a:solidFill>
                            <a:srgbClr val="FF0000"/>
                          </a:solidFill>
                          <a:sym typeface="Wingdings" panose="05000000000000000000" pitchFamily="2" charset="2"/>
                          <a:hlinkClick r:id="rId2" action="ppaction://hlinkpres?slideindex=1&amp;slidetitle=">
                            <a:extLst>
                              <a:ext uri="{A12FA001-AC4F-418D-AE19-62706E023703}">
                                <ahyp:hlinkClr xmlns:ahyp="http://schemas.microsoft.com/office/drawing/2018/hyperlinkcolor" val="tx"/>
                              </a:ext>
                            </a:extLst>
                          </a:hlinkClick>
                        </a:rPr>
                        <a:t>TBBB (c)</a:t>
                      </a:r>
                      <a:endParaRPr lang="en-US" sz="3600" dirty="0">
                        <a:solidFill>
                          <a:srgbClr val="FF000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600" dirty="0">
                        <a:solidFill>
                          <a:srgbClr val="002060"/>
                        </a:solidFill>
                      </a:endParaRPr>
                    </a:p>
                    <a:p>
                      <a:pPr algn="ctr"/>
                      <a:r>
                        <a:rPr lang="en-US" sz="3600" dirty="0">
                          <a:solidFill>
                            <a:srgbClr val="002060"/>
                          </a:solidFill>
                        </a:rPr>
                        <a:t>v</a:t>
                      </a:r>
                      <a:r>
                        <a:rPr lang="en-US" sz="3600" baseline="0" dirty="0">
                          <a:solidFill>
                            <a:srgbClr val="002060"/>
                          </a:solidFill>
                        </a:rPr>
                        <a:t> ---------------------</a:t>
                      </a:r>
                      <a:r>
                        <a:rPr lang="en-US" sz="3600" baseline="0" dirty="0">
                          <a:solidFill>
                            <a:srgbClr val="002060"/>
                          </a:solidFill>
                          <a:sym typeface="Wingdings" panose="05000000000000000000" pitchFamily="2" charset="2"/>
                        </a:rPr>
                        <a:t> v + m </a:t>
                      </a:r>
                    </a:p>
                    <a:p>
                      <a:pPr algn="ctr"/>
                      <a:endParaRPr lang="en-US" sz="3600" baseline="0" dirty="0">
                        <a:solidFill>
                          <a:srgbClr val="002060"/>
                        </a:solidFill>
                        <a:sym typeface="Wingdings" panose="05000000000000000000" pitchFamily="2" charset="2"/>
                      </a:endParaRPr>
                    </a:p>
                    <a:p>
                      <a:pPr algn="ctr"/>
                      <a:r>
                        <a:rPr lang="en-US" sz="3600" baseline="0" dirty="0">
                          <a:solidFill>
                            <a:srgbClr val="002060"/>
                          </a:solidFill>
                          <a:sym typeface="Wingdings" panose="05000000000000000000" pitchFamily="2" charset="2"/>
                        </a:rPr>
                        <a:t> </a:t>
                      </a:r>
                      <a:r>
                        <a:rPr lang="en-US" sz="3600" baseline="0" dirty="0">
                          <a:solidFill>
                            <a:srgbClr val="FF0000"/>
                          </a:solidFill>
                          <a:sym typeface="Wingdings" panose="05000000000000000000" pitchFamily="2" charset="2"/>
                          <a:hlinkClick r:id="rId3" action="ppaction://hlinkpres?slideindex=1&amp;slidetitle=">
                            <a:extLst>
                              <a:ext uri="{A12FA001-AC4F-418D-AE19-62706E023703}">
                                <ahyp:hlinkClr xmlns:ahyp="http://schemas.microsoft.com/office/drawing/2018/hyperlinkcolor" val="tx"/>
                              </a:ext>
                            </a:extLst>
                          </a:hlinkClick>
                        </a:rPr>
                        <a:t>TBKB (v)</a:t>
                      </a:r>
                      <a:endParaRPr lang="en-US" sz="3600" dirty="0">
                        <a:solidFill>
                          <a:srgbClr val="FF000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069898">
                <a:tc gridSpan="2">
                  <a:txBody>
                    <a:bodyPr/>
                    <a:lstStyle/>
                    <a:p>
                      <a:pPr algn="just"/>
                      <a:r>
                        <a:rPr lang="vi-VN" sz="3600" dirty="0">
                          <a:solidFill>
                            <a:srgbClr val="002060"/>
                          </a:solidFill>
                          <a:highlight>
                            <a:srgbClr val="FFFF00"/>
                          </a:highlight>
                        </a:rPr>
                        <a:t>Căn cứ phân chia: </a:t>
                      </a:r>
                      <a:r>
                        <a:rPr lang="vi-VN" sz="3600" dirty="0">
                          <a:solidFill>
                            <a:srgbClr val="002060"/>
                          </a:solidFill>
                        </a:rPr>
                        <a:t>tính hai mặt của LĐSXHH. Trong đó LĐ cụ thể bảo toàn và di chuyển giá trị của TLSX sang giá trị sản phẩm. LĐ trừu tượng tạo ra giá trị mới lớn hơn </a:t>
                      </a:r>
                      <a:endParaRPr lang="en-US" sz="3600" dirty="0">
                        <a:solidFill>
                          <a:srgbClr val="002060"/>
                        </a:solidFill>
                      </a:endParaRPr>
                    </a:p>
                    <a:p>
                      <a:pPr algn="just"/>
                      <a:r>
                        <a:rPr lang="en-US" sz="3600" dirty="0">
                          <a:solidFill>
                            <a:srgbClr val="002060"/>
                          </a:solidFill>
                        </a:rPr>
                        <a:t>                                G</a:t>
                      </a:r>
                      <a:r>
                        <a:rPr lang="en-US" sz="3600" baseline="0" dirty="0">
                          <a:solidFill>
                            <a:srgbClr val="002060"/>
                          </a:solidFill>
                        </a:rPr>
                        <a:t> = c + (v + m)</a:t>
                      </a:r>
                      <a:endParaRPr lang="vi-VN" sz="3600"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361460">
                <a:tc gridSpan="2">
                  <a:txBody>
                    <a:bodyPr/>
                    <a:lstStyle/>
                    <a:p>
                      <a:pPr algn="just"/>
                      <a:r>
                        <a:rPr lang="en-US" sz="3600" dirty="0">
                          <a:solidFill>
                            <a:srgbClr val="002060"/>
                          </a:solidFill>
                          <a:highlight>
                            <a:srgbClr val="FFFF00"/>
                          </a:highlight>
                        </a:rPr>
                        <a:t>Ý</a:t>
                      </a:r>
                      <a:r>
                        <a:rPr lang="en-US" sz="3600" baseline="0" dirty="0">
                          <a:solidFill>
                            <a:srgbClr val="002060"/>
                          </a:solidFill>
                          <a:highlight>
                            <a:srgbClr val="FFFF00"/>
                          </a:highlight>
                        </a:rPr>
                        <a:t> </a:t>
                      </a:r>
                      <a:r>
                        <a:rPr lang="en-US" sz="3600" baseline="0" dirty="0" err="1">
                          <a:solidFill>
                            <a:srgbClr val="002060"/>
                          </a:solidFill>
                          <a:highlight>
                            <a:srgbClr val="FFFF00"/>
                          </a:highlight>
                        </a:rPr>
                        <a:t>nghĩa</a:t>
                      </a:r>
                      <a:r>
                        <a:rPr lang="en-US" sz="3600" baseline="0" dirty="0">
                          <a:solidFill>
                            <a:srgbClr val="002060"/>
                          </a:solidFill>
                          <a:highlight>
                            <a:srgbClr val="FFFF00"/>
                          </a:highlight>
                        </a:rPr>
                        <a:t> </a:t>
                      </a:r>
                      <a:r>
                        <a:rPr lang="en-US" sz="3600" baseline="0" dirty="0" err="1">
                          <a:solidFill>
                            <a:srgbClr val="002060"/>
                          </a:solidFill>
                          <a:highlight>
                            <a:srgbClr val="FFFF00"/>
                          </a:highlight>
                        </a:rPr>
                        <a:t>phân</a:t>
                      </a:r>
                      <a:r>
                        <a:rPr lang="en-US" sz="3600" baseline="0" dirty="0">
                          <a:solidFill>
                            <a:srgbClr val="002060"/>
                          </a:solidFill>
                          <a:highlight>
                            <a:srgbClr val="FFFF00"/>
                          </a:highlight>
                        </a:rPr>
                        <a:t> chia: </a:t>
                      </a:r>
                      <a:r>
                        <a:rPr lang="en-US" sz="3600" baseline="0" dirty="0">
                          <a:solidFill>
                            <a:srgbClr val="002060"/>
                          </a:solidFill>
                        </a:rPr>
                        <a:t>TBBB </a:t>
                      </a:r>
                      <a:r>
                        <a:rPr lang="vi-VN" sz="3600" baseline="0" dirty="0">
                          <a:solidFill>
                            <a:srgbClr val="002060"/>
                          </a:solidFill>
                        </a:rPr>
                        <a:t>là điều kiện cần thiết không thể thiếu được để sản xuất giá trị thặng dư. </a:t>
                      </a:r>
                      <a:r>
                        <a:rPr lang="en-US" sz="3600" baseline="0" dirty="0">
                          <a:solidFill>
                            <a:srgbClr val="002060"/>
                          </a:solidFill>
                        </a:rPr>
                        <a:t>TBKB </a:t>
                      </a:r>
                      <a:r>
                        <a:rPr lang="vi-VN" sz="3600" baseline="0" dirty="0">
                          <a:solidFill>
                            <a:srgbClr val="002060"/>
                          </a:solidFill>
                        </a:rPr>
                        <a:t>có vai trò quyết định trong quá trình sản xuất giá trị thặng dư. </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6" name="TextBox 5">
            <a:extLst>
              <a:ext uri="{FF2B5EF4-FFF2-40B4-BE49-F238E27FC236}">
                <a16:creationId xmlns:a16="http://schemas.microsoft.com/office/drawing/2014/main" id="{6D76CB42-CFBB-AB31-FFB4-5D330CE87380}"/>
              </a:ext>
            </a:extLst>
          </p:cNvPr>
          <p:cNvSpPr txBox="1"/>
          <p:nvPr/>
        </p:nvSpPr>
        <p:spPr>
          <a:xfrm>
            <a:off x="9652000" y="4897120"/>
            <a:ext cx="4572000" cy="523220"/>
          </a:xfrm>
          <a:prstGeom prst="rect">
            <a:avLst/>
          </a:prstGeom>
          <a:noFill/>
        </p:spPr>
        <p:txBody>
          <a:bodyPr wrap="square" rtlCol="0">
            <a:spAutoFit/>
          </a:bodyPr>
          <a:lstStyle/>
          <a:p>
            <a:pPr algn="ctr"/>
            <a:r>
              <a:rPr lang="en-US" sz="2800" dirty="0" err="1">
                <a:solidFill>
                  <a:srgbClr val="002060"/>
                </a:solidFill>
              </a:rPr>
              <a:t>Trao</a:t>
            </a:r>
            <a:r>
              <a:rPr lang="en-US" sz="2800" dirty="0">
                <a:solidFill>
                  <a:srgbClr val="002060"/>
                </a:solidFill>
              </a:rPr>
              <a:t> </a:t>
            </a:r>
            <a:r>
              <a:rPr lang="en-US" sz="2800" dirty="0" err="1">
                <a:solidFill>
                  <a:srgbClr val="002060"/>
                </a:solidFill>
              </a:rPr>
              <a:t>đổi</a:t>
            </a:r>
            <a:r>
              <a:rPr lang="en-US" sz="2800" dirty="0">
                <a:solidFill>
                  <a:srgbClr val="002060"/>
                </a:solidFill>
              </a:rPr>
              <a:t> </a:t>
            </a:r>
            <a:r>
              <a:rPr lang="en-US" sz="2800" dirty="0" err="1">
                <a:solidFill>
                  <a:srgbClr val="002060"/>
                </a:solidFill>
              </a:rPr>
              <a:t>với</a:t>
            </a:r>
            <a:r>
              <a:rPr lang="en-US" sz="2800" dirty="0">
                <a:solidFill>
                  <a:srgbClr val="002060"/>
                </a:solidFill>
              </a:rPr>
              <a:t> H</a:t>
            </a:r>
            <a:r>
              <a:rPr lang="en-US" sz="2800" baseline="30000" dirty="0">
                <a:solidFill>
                  <a:srgbClr val="002060"/>
                </a:solidFill>
              </a:rPr>
              <a:t>2</a:t>
            </a:r>
            <a:r>
              <a:rPr lang="en-US" sz="2800" dirty="0">
                <a:solidFill>
                  <a:srgbClr val="002060"/>
                </a:solidFill>
              </a:rPr>
              <a:t> SLĐ</a:t>
            </a:r>
          </a:p>
        </p:txBody>
      </p:sp>
      <p:sp>
        <p:nvSpPr>
          <p:cNvPr id="7" name="TextBox 6">
            <a:extLst>
              <a:ext uri="{FF2B5EF4-FFF2-40B4-BE49-F238E27FC236}">
                <a16:creationId xmlns:a16="http://schemas.microsoft.com/office/drawing/2014/main" id="{25350179-2382-5473-014B-294B77C14DF2}"/>
              </a:ext>
            </a:extLst>
          </p:cNvPr>
          <p:cNvSpPr txBox="1"/>
          <p:nvPr/>
        </p:nvSpPr>
        <p:spPr>
          <a:xfrm>
            <a:off x="9652000" y="5659120"/>
            <a:ext cx="4876800" cy="523220"/>
          </a:xfrm>
          <a:prstGeom prst="rect">
            <a:avLst/>
          </a:prstGeom>
          <a:noFill/>
        </p:spPr>
        <p:txBody>
          <a:bodyPr wrap="square" rtlCol="0">
            <a:spAutoFit/>
          </a:bodyPr>
          <a:lstStyle/>
          <a:p>
            <a:pPr algn="ctr"/>
            <a:r>
              <a:rPr lang="en-US" sz="2800" dirty="0" err="1">
                <a:solidFill>
                  <a:srgbClr val="002060"/>
                </a:solidFill>
              </a:rPr>
              <a:t>Qúa</a:t>
            </a:r>
            <a:r>
              <a:rPr lang="en-US" sz="2800" dirty="0">
                <a:solidFill>
                  <a:srgbClr val="002060"/>
                </a:solidFill>
              </a:rPr>
              <a:t> </a:t>
            </a:r>
            <a:r>
              <a:rPr lang="en-US" sz="2800" dirty="0" err="1">
                <a:solidFill>
                  <a:srgbClr val="002060"/>
                </a:solidFill>
              </a:rPr>
              <a:t>trình</a:t>
            </a:r>
            <a:r>
              <a:rPr lang="en-US" sz="2800" dirty="0">
                <a:solidFill>
                  <a:srgbClr val="002060"/>
                </a:solidFill>
              </a:rPr>
              <a:t> LĐ </a:t>
            </a:r>
            <a:r>
              <a:rPr lang="en-US" sz="2800" dirty="0" err="1">
                <a:solidFill>
                  <a:srgbClr val="002060"/>
                </a:solidFill>
              </a:rPr>
              <a:t>của</a:t>
            </a:r>
            <a:r>
              <a:rPr lang="en-US" sz="2800" dirty="0">
                <a:solidFill>
                  <a:srgbClr val="002060"/>
                </a:solidFill>
              </a:rPr>
              <a:t> CN</a:t>
            </a:r>
          </a:p>
        </p:txBody>
      </p:sp>
      <p:sp>
        <p:nvSpPr>
          <p:cNvPr id="2" name="Hộp Văn bản 1">
            <a:extLst>
              <a:ext uri="{FF2B5EF4-FFF2-40B4-BE49-F238E27FC236}">
                <a16:creationId xmlns:a16="http://schemas.microsoft.com/office/drawing/2014/main" id="{FE7BA183-E184-DB84-D96F-D64C18C56F9A}"/>
              </a:ext>
            </a:extLst>
          </p:cNvPr>
          <p:cNvSpPr txBox="1"/>
          <p:nvPr/>
        </p:nvSpPr>
        <p:spPr>
          <a:xfrm>
            <a:off x="1574800" y="2296160"/>
            <a:ext cx="3352800" cy="830997"/>
          </a:xfrm>
          <a:prstGeom prst="rect">
            <a:avLst/>
          </a:prstGeom>
          <a:noFill/>
        </p:spPr>
        <p:txBody>
          <a:bodyPr wrap="square" rtlCol="0">
            <a:spAutoFit/>
          </a:bodyPr>
          <a:lstStyle/>
          <a:p>
            <a:r>
              <a:rPr lang="en-US"/>
              <a:t>GT TLSX</a:t>
            </a:r>
          </a:p>
        </p:txBody>
      </p:sp>
      <p:sp>
        <p:nvSpPr>
          <p:cNvPr id="3" name="Hộp Văn bản 2">
            <a:extLst>
              <a:ext uri="{FF2B5EF4-FFF2-40B4-BE49-F238E27FC236}">
                <a16:creationId xmlns:a16="http://schemas.microsoft.com/office/drawing/2014/main" id="{8CB1A5F6-3446-FA61-77BD-1495D5CAE93E}"/>
              </a:ext>
            </a:extLst>
          </p:cNvPr>
          <p:cNvSpPr txBox="1"/>
          <p:nvPr/>
        </p:nvSpPr>
        <p:spPr>
          <a:xfrm>
            <a:off x="13157200" y="2371695"/>
            <a:ext cx="3352800" cy="830997"/>
          </a:xfrm>
          <a:prstGeom prst="rect">
            <a:avLst/>
          </a:prstGeom>
          <a:noFill/>
        </p:spPr>
        <p:txBody>
          <a:bodyPr wrap="square" rtlCol="0">
            <a:spAutoFit/>
          </a:bodyPr>
          <a:lstStyle/>
          <a:p>
            <a:r>
              <a:rPr lang="en-US"/>
              <a:t>GT SLD</a:t>
            </a:r>
          </a:p>
        </p:txBody>
      </p:sp>
    </p:spTree>
    <p:extLst>
      <p:ext uri="{BB962C8B-B14F-4D97-AF65-F5344CB8AC3E}">
        <p14:creationId xmlns:p14="http://schemas.microsoft.com/office/powerpoint/2010/main" val="154234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47966-46FE-B191-B317-05ACE5F04892}"/>
              </a:ext>
            </a:extLst>
          </p:cNvPr>
          <p:cNvSpPr txBox="1">
            <a:spLocks/>
          </p:cNvSpPr>
          <p:nvPr/>
        </p:nvSpPr>
        <p:spPr>
          <a:xfrm>
            <a:off x="2969088" y="1798956"/>
            <a:ext cx="123498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Tỷ suất và Khối lượng GTTD</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937CA1C2-9F03-C8B8-E27C-52C19980A29A}"/>
                  </a:ext>
                </a:extLst>
              </p:cNvPr>
              <p:cNvGraphicFramePr>
                <a:graphicFrameLocks noGrp="1"/>
              </p:cNvGraphicFramePr>
              <p:nvPr/>
            </p:nvGraphicFramePr>
            <p:xfrm>
              <a:off x="1596572" y="3534774"/>
              <a:ext cx="14935200" cy="8613775"/>
            </p:xfrm>
            <a:graphic>
              <a:graphicData uri="http://schemas.openxmlformats.org/drawingml/2006/table">
                <a:tbl>
                  <a:tblPr firstRow="1" bandRow="1">
                    <a:tableStyleId>{5C22544A-7EE6-4342-B048-85BDC9FD1C3A}</a:tableStyleId>
                  </a:tblPr>
                  <a:tblGrid>
                    <a:gridCol w="4978400">
                      <a:extLst>
                        <a:ext uri="{9D8B030D-6E8A-4147-A177-3AD203B41FA5}">
                          <a16:colId xmlns:a16="http://schemas.microsoft.com/office/drawing/2014/main" val="20000"/>
                        </a:ext>
                      </a:extLst>
                    </a:gridCol>
                    <a:gridCol w="4978400">
                      <a:extLst>
                        <a:ext uri="{9D8B030D-6E8A-4147-A177-3AD203B41FA5}">
                          <a16:colId xmlns:a16="http://schemas.microsoft.com/office/drawing/2014/main" val="20001"/>
                        </a:ext>
                      </a:extLst>
                    </a:gridCol>
                    <a:gridCol w="4978400">
                      <a:extLst>
                        <a:ext uri="{9D8B030D-6E8A-4147-A177-3AD203B41FA5}">
                          <a16:colId xmlns:a16="http://schemas.microsoft.com/office/drawing/2014/main" val="20002"/>
                        </a:ext>
                      </a:extLst>
                    </a:gridCol>
                  </a:tblGrid>
                  <a:tr h="741680">
                    <a:tc>
                      <a:txBody>
                        <a:bodyPr/>
                        <a:lstStyle/>
                        <a:p>
                          <a:pPr algn="ctr"/>
                          <a:r>
                            <a:rPr lang="en-US" sz="3600" dirty="0" err="1">
                              <a:solidFill>
                                <a:srgbClr val="002060"/>
                              </a:solidFill>
                            </a:rPr>
                            <a:t>Tỷ</a:t>
                          </a:r>
                          <a:r>
                            <a:rPr lang="en-US" sz="3600" baseline="0" dirty="0">
                              <a:solidFill>
                                <a:srgbClr val="002060"/>
                              </a:solidFill>
                            </a:rPr>
                            <a:t> </a:t>
                          </a:r>
                          <a:r>
                            <a:rPr lang="en-US" sz="3600" baseline="0" dirty="0" err="1">
                              <a:solidFill>
                                <a:srgbClr val="002060"/>
                              </a:solidFill>
                            </a:rPr>
                            <a:t>suất</a:t>
                          </a:r>
                          <a:r>
                            <a:rPr lang="en-US" sz="3600" baseline="0" dirty="0">
                              <a:solidFill>
                                <a:srgbClr val="002060"/>
                              </a:solidFill>
                            </a:rPr>
                            <a:t> GTTD</a:t>
                          </a:r>
                          <a:endParaRPr lang="en-US" sz="3600"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600">
                              <a:solidFill>
                                <a:srgbClr val="002060"/>
                              </a:solidFill>
                            </a:rPr>
                            <a:t>Công</a:t>
                          </a:r>
                          <a:r>
                            <a:rPr lang="en-US" sz="3600" baseline="0">
                              <a:solidFill>
                                <a:srgbClr val="002060"/>
                              </a:solidFill>
                            </a:rPr>
                            <a:t> thức tính</a:t>
                          </a:r>
                          <a:endParaRPr lang="en-US" sz="360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600">
                              <a:solidFill>
                                <a:srgbClr val="002060"/>
                              </a:solidFill>
                            </a:rPr>
                            <a:t>Ý</a:t>
                          </a:r>
                          <a:r>
                            <a:rPr lang="en-US" sz="3600" baseline="0">
                              <a:solidFill>
                                <a:srgbClr val="002060"/>
                              </a:solidFill>
                            </a:rPr>
                            <a:t> nghĩa</a:t>
                          </a:r>
                          <a:endParaRPr lang="en-US" sz="360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299968">
                    <a:tc>
                      <a:txBody>
                        <a:bodyPr/>
                        <a:lstStyle/>
                        <a:p>
                          <a:r>
                            <a:rPr lang="en-US" sz="3600" baseline="0">
                              <a:solidFill>
                                <a:srgbClr val="002060"/>
                              </a:solidFill>
                            </a:rPr>
                            <a:t>Tỷ suất GTTD</a:t>
                          </a:r>
                          <a:endParaRPr lang="en-US" sz="360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p>
                                  <m:sSupPr>
                                    <m:ctrlPr>
                                      <a:rPr lang="en-US" sz="3600" b="1" i="1" smtClean="0">
                                        <a:solidFill>
                                          <a:srgbClr val="002060"/>
                                        </a:solidFill>
                                        <a:latin typeface="Cambria Math" panose="02040503050406030204" pitchFamily="18" charset="0"/>
                                      </a:rPr>
                                    </m:ctrlPr>
                                  </m:sSupPr>
                                  <m:e>
                                    <m:r>
                                      <a:rPr lang="en-US" sz="3600" b="1" i="1" smtClean="0">
                                        <a:solidFill>
                                          <a:srgbClr val="002060"/>
                                        </a:solidFill>
                                        <a:latin typeface="Cambria Math" panose="02040503050406030204" pitchFamily="18" charset="0"/>
                                      </a:rPr>
                                      <m:t>𝒎</m:t>
                                    </m:r>
                                  </m:e>
                                  <m:sup>
                                    <m:r>
                                      <a:rPr lang="en-US" sz="3600" b="1" i="1" smtClean="0">
                                        <a:solidFill>
                                          <a:srgbClr val="002060"/>
                                        </a:solidFill>
                                        <a:latin typeface="Cambria Math" panose="02040503050406030204" pitchFamily="18" charset="0"/>
                                      </a:rPr>
                                      <m:t>′</m:t>
                                    </m:r>
                                  </m:sup>
                                </m:sSup>
                                <m:r>
                                  <a:rPr lang="en-US" sz="3600" b="1" i="1" smtClean="0">
                                    <a:solidFill>
                                      <a:srgbClr val="002060"/>
                                    </a:solidFill>
                                    <a:latin typeface="Cambria Math" panose="02040503050406030204" pitchFamily="18" charset="0"/>
                                  </a:rPr>
                                  <m:t>= </m:t>
                                </m:r>
                                <m:f>
                                  <m:fPr>
                                    <m:ctrlPr>
                                      <a:rPr lang="en-US" sz="3600" b="1" i="1" smtClean="0">
                                        <a:solidFill>
                                          <a:srgbClr val="002060"/>
                                        </a:solidFill>
                                        <a:latin typeface="Cambria Math" panose="02040503050406030204" pitchFamily="18" charset="0"/>
                                      </a:rPr>
                                    </m:ctrlPr>
                                  </m:fPr>
                                  <m:num>
                                    <m:r>
                                      <a:rPr lang="en-US" sz="3600" b="1" i="1" smtClean="0">
                                        <a:solidFill>
                                          <a:srgbClr val="002060"/>
                                        </a:solidFill>
                                        <a:latin typeface="Cambria Math" panose="02040503050406030204" pitchFamily="18" charset="0"/>
                                      </a:rPr>
                                      <m:t>𝒎</m:t>
                                    </m:r>
                                  </m:num>
                                  <m:den>
                                    <m:r>
                                      <a:rPr lang="en-US" sz="3600" b="1" i="1" smtClean="0">
                                        <a:solidFill>
                                          <a:srgbClr val="002060"/>
                                        </a:solidFill>
                                        <a:latin typeface="Cambria Math" panose="02040503050406030204" pitchFamily="18" charset="0"/>
                                      </a:rPr>
                                      <m:t>𝒗</m:t>
                                    </m:r>
                                  </m:den>
                                </m:f>
                                <m:r>
                                  <a:rPr lang="en-US" sz="3600" b="0" i="0" smtClean="0">
                                    <a:solidFill>
                                      <a:srgbClr val="002060"/>
                                    </a:solidFill>
                                    <a:latin typeface="Cambria Math" panose="02040503050406030204" pitchFamily="18" charset="0"/>
                                  </a:rPr>
                                  <m:t> </m:t>
                                </m:r>
                                <m:r>
                                  <a:rPr lang="en-US" sz="3600" b="0" i="1" smtClean="0">
                                    <a:solidFill>
                                      <a:srgbClr val="002060"/>
                                    </a:solidFill>
                                    <a:latin typeface="Cambria Math" panose="02040503050406030204" pitchFamily="18" charset="0"/>
                                    <a:ea typeface="Cambria Math" panose="02040503050406030204" pitchFamily="18" charset="0"/>
                                  </a:rPr>
                                  <m:t>×100%</m:t>
                                </m:r>
                              </m:oMath>
                            </m:oMathPara>
                          </a14:m>
                          <a:endParaRPr lang="en-US" sz="3600" dirty="0">
                            <a:solidFill>
                              <a:srgbClr val="00206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solidFill>
                                <a:srgbClr val="002060"/>
                              </a:solidFill>
                            </a:rPr>
                            <a:t>t </a:t>
                          </a:r>
                          <a:r>
                            <a:rPr lang="en-US" sz="3600" dirty="0">
                              <a:solidFill>
                                <a:srgbClr val="002060"/>
                              </a:solidFill>
                              <a:sym typeface="Wingdings" panose="05000000000000000000" pitchFamily="2" charset="2"/>
                            </a:rPr>
                            <a:t> v</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solidFill>
                                <a:srgbClr val="002060"/>
                              </a:solidFill>
                              <a:sym typeface="Wingdings" panose="05000000000000000000" pitchFamily="2" charset="2"/>
                            </a:rPr>
                            <a:t>t’  m</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p>
                                  <m:sSupPr>
                                    <m:ctrlPr>
                                      <a:rPr lang="en-US" sz="3600" b="1" i="1" smtClean="0">
                                        <a:solidFill>
                                          <a:srgbClr val="002060"/>
                                        </a:solidFill>
                                        <a:latin typeface="Cambria Math" panose="02040503050406030204" pitchFamily="18" charset="0"/>
                                      </a:rPr>
                                    </m:ctrlPr>
                                  </m:sSupPr>
                                  <m:e>
                                    <m:r>
                                      <a:rPr lang="en-US" sz="3600" b="1" i="1" smtClean="0">
                                        <a:solidFill>
                                          <a:srgbClr val="002060"/>
                                        </a:solidFill>
                                        <a:latin typeface="Cambria Math" panose="02040503050406030204" pitchFamily="18" charset="0"/>
                                      </a:rPr>
                                      <m:t>𝒎</m:t>
                                    </m:r>
                                  </m:e>
                                  <m:sup>
                                    <m:r>
                                      <a:rPr lang="en-US" sz="3600" b="1" i="1" smtClean="0">
                                        <a:solidFill>
                                          <a:srgbClr val="002060"/>
                                        </a:solidFill>
                                        <a:latin typeface="Cambria Math" panose="02040503050406030204" pitchFamily="18" charset="0"/>
                                      </a:rPr>
                                      <m:t>′</m:t>
                                    </m:r>
                                  </m:sup>
                                </m:sSup>
                                <m:r>
                                  <a:rPr lang="en-US" sz="3600" b="1" i="1" smtClean="0">
                                    <a:solidFill>
                                      <a:srgbClr val="002060"/>
                                    </a:solidFill>
                                    <a:latin typeface="Cambria Math" panose="02040503050406030204" pitchFamily="18" charset="0"/>
                                  </a:rPr>
                                  <m:t>= </m:t>
                                </m:r>
                                <m:f>
                                  <m:fPr>
                                    <m:ctrlPr>
                                      <a:rPr lang="en-US" sz="3600" b="1" i="1" smtClean="0">
                                        <a:solidFill>
                                          <a:srgbClr val="002060"/>
                                        </a:solidFill>
                                        <a:latin typeface="Cambria Math" panose="02040503050406030204" pitchFamily="18" charset="0"/>
                                      </a:rPr>
                                    </m:ctrlPr>
                                  </m:fPr>
                                  <m:num>
                                    <m:r>
                                      <a:rPr lang="en-US" sz="3600" b="1" i="1" smtClean="0">
                                        <a:solidFill>
                                          <a:srgbClr val="002060"/>
                                        </a:solidFill>
                                        <a:latin typeface="Cambria Math" panose="02040503050406030204" pitchFamily="18" charset="0"/>
                                      </a:rPr>
                                      <m:t>𝒕</m:t>
                                    </m:r>
                                    <m:r>
                                      <a:rPr lang="en-US" sz="3600" b="1" i="1" smtClean="0">
                                        <a:solidFill>
                                          <a:srgbClr val="002060"/>
                                        </a:solidFill>
                                        <a:latin typeface="Cambria Math" panose="02040503050406030204" pitchFamily="18" charset="0"/>
                                      </a:rPr>
                                      <m:t>′</m:t>
                                    </m:r>
                                  </m:num>
                                  <m:den>
                                    <m:r>
                                      <a:rPr lang="en-US" sz="3600" b="1" i="1" smtClean="0">
                                        <a:solidFill>
                                          <a:srgbClr val="002060"/>
                                        </a:solidFill>
                                        <a:latin typeface="Cambria Math" panose="02040503050406030204" pitchFamily="18" charset="0"/>
                                      </a:rPr>
                                      <m:t>𝒕</m:t>
                                    </m:r>
                                  </m:den>
                                </m:f>
                                <m:r>
                                  <a:rPr lang="en-US" sz="3600" b="0" i="0" smtClean="0">
                                    <a:solidFill>
                                      <a:srgbClr val="002060"/>
                                    </a:solidFill>
                                    <a:latin typeface="Cambria Math" panose="02040503050406030204" pitchFamily="18" charset="0"/>
                                  </a:rPr>
                                  <m:t> </m:t>
                                </m:r>
                                <m:r>
                                  <a:rPr lang="en-US" sz="3600" b="0" i="1" smtClean="0">
                                    <a:solidFill>
                                      <a:srgbClr val="002060"/>
                                    </a:solidFill>
                                    <a:latin typeface="Cambria Math" panose="02040503050406030204" pitchFamily="18" charset="0"/>
                                    <a:ea typeface="Cambria Math" panose="02040503050406030204" pitchFamily="18" charset="0"/>
                                  </a:rPr>
                                  <m:t>×100%</m:t>
                                </m:r>
                              </m:oMath>
                            </m:oMathPara>
                          </a14:m>
                          <a:endParaRPr lang="en-US" sz="3600"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3600" dirty="0" err="1">
                              <a:solidFill>
                                <a:srgbClr val="002060"/>
                              </a:solidFill>
                            </a:rPr>
                            <a:t>Phản</a:t>
                          </a:r>
                          <a:r>
                            <a:rPr lang="en-US" sz="3600" dirty="0">
                              <a:solidFill>
                                <a:srgbClr val="002060"/>
                              </a:solidFill>
                            </a:rPr>
                            <a:t> </a:t>
                          </a:r>
                          <a:r>
                            <a:rPr lang="en-US" sz="3600" dirty="0" err="1">
                              <a:solidFill>
                                <a:srgbClr val="002060"/>
                              </a:solidFill>
                            </a:rPr>
                            <a:t>ánh</a:t>
                          </a:r>
                          <a:r>
                            <a:rPr lang="en-US" sz="3600" dirty="0">
                              <a:solidFill>
                                <a:srgbClr val="002060"/>
                              </a:solidFill>
                            </a:rPr>
                            <a:t> </a:t>
                          </a:r>
                          <a:r>
                            <a:rPr lang="en-US" sz="3600" dirty="0" err="1">
                              <a:solidFill>
                                <a:srgbClr val="002060"/>
                              </a:solidFill>
                            </a:rPr>
                            <a:t>chính</a:t>
                          </a:r>
                          <a:r>
                            <a:rPr lang="en-US" sz="3600" dirty="0">
                              <a:solidFill>
                                <a:srgbClr val="002060"/>
                              </a:solidFill>
                            </a:rPr>
                            <a:t> </a:t>
                          </a:r>
                          <a:r>
                            <a:rPr lang="en-US" sz="3600" dirty="0" err="1">
                              <a:solidFill>
                                <a:srgbClr val="002060"/>
                              </a:solidFill>
                            </a:rPr>
                            <a:t>xác</a:t>
                          </a:r>
                          <a:r>
                            <a:rPr lang="en-US" sz="3600" baseline="0" dirty="0">
                              <a:solidFill>
                                <a:srgbClr val="002060"/>
                              </a:solidFill>
                            </a:rPr>
                            <a:t> </a:t>
                          </a:r>
                          <a:r>
                            <a:rPr lang="en-US" sz="3600" dirty="0" err="1">
                              <a:solidFill>
                                <a:srgbClr val="002060"/>
                              </a:solidFill>
                            </a:rPr>
                            <a:t>trình</a:t>
                          </a:r>
                          <a:r>
                            <a:rPr lang="en-US" sz="3600" dirty="0">
                              <a:solidFill>
                                <a:srgbClr val="002060"/>
                              </a:solidFill>
                            </a:rPr>
                            <a:t> </a:t>
                          </a:r>
                          <a:r>
                            <a:rPr lang="en-US" sz="3600" dirty="0" err="1">
                              <a:solidFill>
                                <a:srgbClr val="002060"/>
                              </a:solidFill>
                            </a:rPr>
                            <a:t>độ</a:t>
                          </a:r>
                          <a:r>
                            <a:rPr lang="en-US" sz="3600" dirty="0">
                              <a:solidFill>
                                <a:srgbClr val="002060"/>
                              </a:solidFill>
                            </a:rPr>
                            <a:t> </a:t>
                          </a:r>
                          <a:r>
                            <a:rPr lang="en-US" sz="3600" dirty="0" err="1">
                              <a:solidFill>
                                <a:srgbClr val="002060"/>
                              </a:solidFill>
                            </a:rPr>
                            <a:t>bóc</a:t>
                          </a:r>
                          <a:r>
                            <a:rPr lang="en-US" sz="3600" dirty="0">
                              <a:solidFill>
                                <a:srgbClr val="002060"/>
                              </a:solidFill>
                            </a:rPr>
                            <a:t> </a:t>
                          </a:r>
                          <a:r>
                            <a:rPr lang="en-US" sz="3600" dirty="0" err="1">
                              <a:solidFill>
                                <a:srgbClr val="002060"/>
                              </a:solidFill>
                            </a:rPr>
                            <a:t>lột</a:t>
                          </a:r>
                          <a:r>
                            <a:rPr lang="en-US" sz="3600" dirty="0">
                              <a:solidFill>
                                <a:srgbClr val="002060"/>
                              </a:solidFill>
                            </a:rPr>
                            <a:t> </a:t>
                          </a:r>
                          <a:r>
                            <a:rPr lang="en-US" sz="3600" dirty="0" err="1">
                              <a:solidFill>
                                <a:srgbClr val="002060"/>
                              </a:solidFill>
                            </a:rPr>
                            <a:t>của</a:t>
                          </a:r>
                          <a:r>
                            <a:rPr lang="en-US" sz="3600" dirty="0">
                              <a:solidFill>
                                <a:srgbClr val="002060"/>
                              </a:solidFill>
                            </a:rPr>
                            <a:t> TB</a:t>
                          </a: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572000">
                    <a:tc>
                      <a:txBody>
                        <a:bodyPr/>
                        <a:lstStyle/>
                        <a:p>
                          <a:r>
                            <a:rPr lang="en-US" sz="3600" dirty="0" err="1">
                              <a:solidFill>
                                <a:srgbClr val="002060"/>
                              </a:solidFill>
                            </a:rPr>
                            <a:t>Khối</a:t>
                          </a:r>
                          <a:r>
                            <a:rPr lang="en-US" sz="3600" dirty="0">
                              <a:solidFill>
                                <a:srgbClr val="002060"/>
                              </a:solidFill>
                            </a:rPr>
                            <a:t> </a:t>
                          </a:r>
                          <a:r>
                            <a:rPr lang="en-US" sz="3600" dirty="0" err="1">
                              <a:solidFill>
                                <a:srgbClr val="002060"/>
                              </a:solidFill>
                            </a:rPr>
                            <a:t>lượng</a:t>
                          </a:r>
                          <a:r>
                            <a:rPr lang="en-US" sz="3600" baseline="0" dirty="0">
                              <a:solidFill>
                                <a:srgbClr val="002060"/>
                              </a:solidFill>
                            </a:rPr>
                            <a:t> GTTD</a:t>
                          </a:r>
                          <a:endParaRPr lang="en-US" sz="3600"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US" sz="3200" b="1" i="1" smtClean="0">
                                    <a:solidFill>
                                      <a:srgbClr val="002060"/>
                                    </a:solidFill>
                                    <a:latin typeface="Cambria Math" panose="02040503050406030204" pitchFamily="18" charset="0"/>
                                  </a:rPr>
                                  <m:t>𝑴</m:t>
                                </m:r>
                                <m:r>
                                  <a:rPr lang="en-US" sz="3200" b="1" i="1" smtClean="0">
                                    <a:solidFill>
                                      <a:srgbClr val="002060"/>
                                    </a:solidFill>
                                    <a:latin typeface="Cambria Math" panose="02040503050406030204" pitchFamily="18" charset="0"/>
                                  </a:rPr>
                                  <m:t>=</m:t>
                                </m:r>
                                <m:sSup>
                                  <m:sSupPr>
                                    <m:ctrlPr>
                                      <a:rPr lang="en-US" sz="3200" b="1" i="1" smtClean="0">
                                        <a:solidFill>
                                          <a:srgbClr val="002060"/>
                                        </a:solidFill>
                                        <a:latin typeface="Cambria Math" panose="02040503050406030204" pitchFamily="18" charset="0"/>
                                      </a:rPr>
                                    </m:ctrlPr>
                                  </m:sSupPr>
                                  <m:e>
                                    <m:r>
                                      <a:rPr lang="en-US" sz="3200" b="1" i="1" smtClean="0">
                                        <a:solidFill>
                                          <a:srgbClr val="002060"/>
                                        </a:solidFill>
                                        <a:latin typeface="Cambria Math" panose="02040503050406030204" pitchFamily="18" charset="0"/>
                                      </a:rPr>
                                      <m:t>𝒎</m:t>
                                    </m:r>
                                  </m:e>
                                  <m:sup>
                                    <m:r>
                                      <a:rPr lang="en-US" sz="3200" b="1" i="1" smtClean="0">
                                        <a:solidFill>
                                          <a:srgbClr val="002060"/>
                                        </a:solidFill>
                                        <a:latin typeface="Cambria Math" panose="02040503050406030204" pitchFamily="18" charset="0"/>
                                      </a:rPr>
                                      <m:t>′</m:t>
                                    </m:r>
                                  </m:sup>
                                </m:sSup>
                                <m:r>
                                  <a:rPr lang="en-US" sz="3200" b="1" i="1" smtClean="0">
                                    <a:solidFill>
                                      <a:srgbClr val="002060"/>
                                    </a:solidFill>
                                    <a:latin typeface="Cambria Math" panose="02040503050406030204" pitchFamily="18" charset="0"/>
                                    <a:ea typeface="Cambria Math" panose="02040503050406030204" pitchFamily="18" charset="0"/>
                                  </a:rPr>
                                  <m:t>×</m:t>
                                </m:r>
                                <m:r>
                                  <a:rPr lang="en-US" sz="3200" b="1" i="1" smtClean="0">
                                    <a:solidFill>
                                      <a:srgbClr val="002060"/>
                                    </a:solidFill>
                                    <a:latin typeface="Cambria Math" panose="02040503050406030204" pitchFamily="18" charset="0"/>
                                    <a:ea typeface="Cambria Math" panose="02040503050406030204" pitchFamily="18" charset="0"/>
                                  </a:rPr>
                                  <m:t>𝑽</m:t>
                                </m:r>
                                <m:r>
                                  <a:rPr lang="en-US" sz="3200" b="1" i="1" smtClean="0">
                                    <a:solidFill>
                                      <a:srgbClr val="002060"/>
                                    </a:solidFill>
                                    <a:latin typeface="Cambria Math" panose="02040503050406030204" pitchFamily="18" charset="0"/>
                                    <a:ea typeface="Cambria Math" panose="02040503050406030204" pitchFamily="18" charset="0"/>
                                  </a:rPr>
                                  <m:t>= </m:t>
                                </m:r>
                                <m:f>
                                  <m:fPr>
                                    <m:ctrlPr>
                                      <a:rPr lang="en-US" sz="3200" b="1" i="1" smtClean="0">
                                        <a:solidFill>
                                          <a:srgbClr val="002060"/>
                                        </a:solidFill>
                                        <a:latin typeface="Cambria Math" panose="02040503050406030204" pitchFamily="18" charset="0"/>
                                        <a:ea typeface="Cambria Math" panose="02040503050406030204" pitchFamily="18" charset="0"/>
                                      </a:rPr>
                                    </m:ctrlPr>
                                  </m:fPr>
                                  <m:num>
                                    <m:r>
                                      <a:rPr lang="en-US" sz="3200" b="1" i="1" smtClean="0">
                                        <a:solidFill>
                                          <a:srgbClr val="002060"/>
                                        </a:solidFill>
                                        <a:latin typeface="Cambria Math" panose="02040503050406030204" pitchFamily="18" charset="0"/>
                                        <a:ea typeface="Cambria Math" panose="02040503050406030204" pitchFamily="18" charset="0"/>
                                      </a:rPr>
                                      <m:t>𝒎</m:t>
                                    </m:r>
                                  </m:num>
                                  <m:den>
                                    <m:r>
                                      <a:rPr lang="en-US" sz="3200" b="1" i="1" smtClean="0">
                                        <a:solidFill>
                                          <a:srgbClr val="002060"/>
                                        </a:solidFill>
                                        <a:latin typeface="Cambria Math" panose="02040503050406030204" pitchFamily="18" charset="0"/>
                                        <a:ea typeface="Cambria Math" panose="02040503050406030204" pitchFamily="18" charset="0"/>
                                      </a:rPr>
                                      <m:t>𝒗</m:t>
                                    </m:r>
                                  </m:den>
                                </m:f>
                                <m:r>
                                  <a:rPr lang="en-US" sz="3200" b="1" i="1" smtClean="0">
                                    <a:solidFill>
                                      <a:srgbClr val="002060"/>
                                    </a:solidFill>
                                    <a:latin typeface="Cambria Math" panose="02040503050406030204" pitchFamily="18" charset="0"/>
                                    <a:ea typeface="Cambria Math" panose="02040503050406030204" pitchFamily="18" charset="0"/>
                                  </a:rPr>
                                  <m:t>×</m:t>
                                </m:r>
                                <m:r>
                                  <a:rPr lang="en-US" sz="3200" b="1" i="1" smtClean="0">
                                    <a:solidFill>
                                      <a:srgbClr val="002060"/>
                                    </a:solidFill>
                                    <a:latin typeface="Cambria Math" panose="02040503050406030204" pitchFamily="18" charset="0"/>
                                    <a:ea typeface="Cambria Math" panose="02040503050406030204" pitchFamily="18" charset="0"/>
                                  </a:rPr>
                                  <m:t>𝑽</m:t>
                                </m:r>
                              </m:oMath>
                            </m:oMathPara>
                          </a14:m>
                          <a:endParaRPr lang="en-US" sz="3200" b="1">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3600" dirty="0" err="1">
                              <a:solidFill>
                                <a:srgbClr val="002060"/>
                              </a:solidFill>
                            </a:rPr>
                            <a:t>Phản</a:t>
                          </a:r>
                          <a:r>
                            <a:rPr lang="en-US" sz="3600" dirty="0">
                              <a:solidFill>
                                <a:srgbClr val="002060"/>
                              </a:solidFill>
                            </a:rPr>
                            <a:t> </a:t>
                          </a:r>
                          <a:r>
                            <a:rPr lang="en-US" sz="3600" dirty="0" err="1">
                              <a:solidFill>
                                <a:srgbClr val="002060"/>
                              </a:solidFill>
                            </a:rPr>
                            <a:t>ánh</a:t>
                          </a:r>
                          <a:r>
                            <a:rPr lang="en-US" sz="3600" dirty="0">
                              <a:solidFill>
                                <a:srgbClr val="002060"/>
                              </a:solidFill>
                            </a:rPr>
                            <a:t> </a:t>
                          </a:r>
                          <a:r>
                            <a:rPr lang="en-US" sz="3600" dirty="0" err="1">
                              <a:solidFill>
                                <a:srgbClr val="002060"/>
                              </a:solidFill>
                            </a:rPr>
                            <a:t>quy</a:t>
                          </a:r>
                          <a:r>
                            <a:rPr lang="en-US" sz="3600" dirty="0">
                              <a:solidFill>
                                <a:srgbClr val="002060"/>
                              </a:solidFill>
                            </a:rPr>
                            <a:t> </a:t>
                          </a:r>
                          <a:r>
                            <a:rPr lang="en-US" sz="3600" dirty="0" err="1">
                              <a:solidFill>
                                <a:srgbClr val="002060"/>
                              </a:solidFill>
                            </a:rPr>
                            <a:t>mô</a:t>
                          </a:r>
                          <a:r>
                            <a:rPr lang="en-US" sz="3600" dirty="0">
                              <a:solidFill>
                                <a:srgbClr val="002060"/>
                              </a:solidFill>
                            </a:rPr>
                            <a:t> </a:t>
                          </a:r>
                          <a:r>
                            <a:rPr lang="en-US" sz="3600" dirty="0" err="1">
                              <a:solidFill>
                                <a:srgbClr val="002060"/>
                              </a:solidFill>
                            </a:rPr>
                            <a:t>bóc</a:t>
                          </a:r>
                          <a:r>
                            <a:rPr lang="en-US" sz="3600" dirty="0">
                              <a:solidFill>
                                <a:srgbClr val="002060"/>
                              </a:solidFill>
                            </a:rPr>
                            <a:t> </a:t>
                          </a:r>
                          <a:r>
                            <a:rPr lang="en-US" sz="3600" dirty="0" err="1">
                              <a:solidFill>
                                <a:srgbClr val="002060"/>
                              </a:solidFill>
                            </a:rPr>
                            <a:t>lột</a:t>
                          </a:r>
                          <a:endParaRPr lang="en-US" sz="3600" dirty="0">
                            <a:solidFill>
                              <a:srgbClr val="002060"/>
                            </a:solidFill>
                          </a:endParaRPr>
                        </a:p>
                        <a:p>
                          <a:pPr algn="just"/>
                          <a:r>
                            <a:rPr lang="vi-VN" sz="3600" dirty="0">
                              <a:solidFill>
                                <a:srgbClr val="002060"/>
                              </a:solidFill>
                            </a:rPr>
                            <a:t>v: Tư bản khả biến đại biểu cho giá trị của 1 SLĐ</a:t>
                          </a:r>
                        </a:p>
                        <a:p>
                          <a:pPr algn="just"/>
                          <a:r>
                            <a:rPr lang="vi-VN" sz="3600" dirty="0">
                              <a:solidFill>
                                <a:srgbClr val="002060"/>
                              </a:solidFill>
                            </a:rPr>
                            <a:t>V: Tổng TB khả biến đại biểu cho giá trị của tổng số SLĐ</a:t>
                          </a: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Choice>
        <mc:Fallback xmlns="">
          <p:graphicFrame>
            <p:nvGraphicFramePr>
              <p:cNvPr id="3" name="Table 2">
                <a:extLst>
                  <a:ext uri="{FF2B5EF4-FFF2-40B4-BE49-F238E27FC236}">
                    <a16:creationId xmlns:a16="http://schemas.microsoft.com/office/drawing/2014/main" id="{937CA1C2-9F03-C8B8-E27C-52C19980A29A}"/>
                  </a:ext>
                </a:extLst>
              </p:cNvPr>
              <p:cNvGraphicFramePr>
                <a:graphicFrameLocks noGrp="1"/>
              </p:cNvGraphicFramePr>
              <p:nvPr/>
            </p:nvGraphicFramePr>
            <p:xfrm>
              <a:off x="1596572" y="3534774"/>
              <a:ext cx="14935200" cy="8613775"/>
            </p:xfrm>
            <a:graphic>
              <a:graphicData uri="http://schemas.openxmlformats.org/drawingml/2006/table">
                <a:tbl>
                  <a:tblPr firstRow="1" bandRow="1">
                    <a:tableStyleId>{5C22544A-7EE6-4342-B048-85BDC9FD1C3A}</a:tableStyleId>
                  </a:tblPr>
                  <a:tblGrid>
                    <a:gridCol w="4978400">
                      <a:extLst>
                        <a:ext uri="{9D8B030D-6E8A-4147-A177-3AD203B41FA5}">
                          <a16:colId xmlns:a16="http://schemas.microsoft.com/office/drawing/2014/main" val="20000"/>
                        </a:ext>
                      </a:extLst>
                    </a:gridCol>
                    <a:gridCol w="4978400">
                      <a:extLst>
                        <a:ext uri="{9D8B030D-6E8A-4147-A177-3AD203B41FA5}">
                          <a16:colId xmlns:a16="http://schemas.microsoft.com/office/drawing/2014/main" val="20001"/>
                        </a:ext>
                      </a:extLst>
                    </a:gridCol>
                    <a:gridCol w="4978400">
                      <a:extLst>
                        <a:ext uri="{9D8B030D-6E8A-4147-A177-3AD203B41FA5}">
                          <a16:colId xmlns:a16="http://schemas.microsoft.com/office/drawing/2014/main" val="20002"/>
                        </a:ext>
                      </a:extLst>
                    </a:gridCol>
                  </a:tblGrid>
                  <a:tr h="741680">
                    <a:tc>
                      <a:txBody>
                        <a:bodyPr/>
                        <a:lstStyle/>
                        <a:p>
                          <a:pPr algn="ctr"/>
                          <a:r>
                            <a:rPr lang="en-US" sz="3600" dirty="0" err="1">
                              <a:solidFill>
                                <a:srgbClr val="002060"/>
                              </a:solidFill>
                            </a:rPr>
                            <a:t>Tỷ</a:t>
                          </a:r>
                          <a:r>
                            <a:rPr lang="en-US" sz="3600" baseline="0" dirty="0">
                              <a:solidFill>
                                <a:srgbClr val="002060"/>
                              </a:solidFill>
                            </a:rPr>
                            <a:t> </a:t>
                          </a:r>
                          <a:r>
                            <a:rPr lang="en-US" sz="3600" baseline="0" dirty="0" err="1">
                              <a:solidFill>
                                <a:srgbClr val="002060"/>
                              </a:solidFill>
                            </a:rPr>
                            <a:t>suất</a:t>
                          </a:r>
                          <a:r>
                            <a:rPr lang="en-US" sz="3600" baseline="0" dirty="0">
                              <a:solidFill>
                                <a:srgbClr val="002060"/>
                              </a:solidFill>
                            </a:rPr>
                            <a:t> GTTD</a:t>
                          </a:r>
                          <a:endParaRPr lang="en-US" sz="3600"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600">
                              <a:solidFill>
                                <a:srgbClr val="002060"/>
                              </a:solidFill>
                            </a:rPr>
                            <a:t>Công</a:t>
                          </a:r>
                          <a:r>
                            <a:rPr lang="en-US" sz="3600" baseline="0">
                              <a:solidFill>
                                <a:srgbClr val="002060"/>
                              </a:solidFill>
                            </a:rPr>
                            <a:t> thức tính</a:t>
                          </a:r>
                          <a:endParaRPr lang="en-US" sz="360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600">
                              <a:solidFill>
                                <a:srgbClr val="002060"/>
                              </a:solidFill>
                            </a:rPr>
                            <a:t>Ý</a:t>
                          </a:r>
                          <a:r>
                            <a:rPr lang="en-US" sz="3600" baseline="0">
                              <a:solidFill>
                                <a:srgbClr val="002060"/>
                              </a:solidFill>
                            </a:rPr>
                            <a:t> nghĩa</a:t>
                          </a:r>
                          <a:endParaRPr lang="en-US" sz="360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300095">
                    <a:tc>
                      <a:txBody>
                        <a:bodyPr/>
                        <a:lstStyle/>
                        <a:p>
                          <a:r>
                            <a:rPr lang="en-US" sz="3600" baseline="0">
                              <a:solidFill>
                                <a:srgbClr val="002060"/>
                              </a:solidFill>
                            </a:rPr>
                            <a:t>Tỷ suất GTTD</a:t>
                          </a:r>
                          <a:endParaRPr lang="en-US" sz="360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122" t="-23660" r="-100245" b="-144362"/>
                          </a:stretch>
                        </a:blipFill>
                      </a:tcPr>
                    </a:tc>
                    <a:tc>
                      <a:txBody>
                        <a:bodyPr/>
                        <a:lstStyle/>
                        <a:p>
                          <a:pPr algn="just"/>
                          <a:r>
                            <a:rPr lang="en-US" sz="3600" dirty="0" err="1">
                              <a:solidFill>
                                <a:srgbClr val="002060"/>
                              </a:solidFill>
                            </a:rPr>
                            <a:t>Phản</a:t>
                          </a:r>
                          <a:r>
                            <a:rPr lang="en-US" sz="3600" dirty="0">
                              <a:solidFill>
                                <a:srgbClr val="002060"/>
                              </a:solidFill>
                            </a:rPr>
                            <a:t> </a:t>
                          </a:r>
                          <a:r>
                            <a:rPr lang="en-US" sz="3600" dirty="0" err="1">
                              <a:solidFill>
                                <a:srgbClr val="002060"/>
                              </a:solidFill>
                            </a:rPr>
                            <a:t>ánh</a:t>
                          </a:r>
                          <a:r>
                            <a:rPr lang="en-US" sz="3600" dirty="0">
                              <a:solidFill>
                                <a:srgbClr val="002060"/>
                              </a:solidFill>
                            </a:rPr>
                            <a:t> </a:t>
                          </a:r>
                          <a:r>
                            <a:rPr lang="en-US" sz="3600" dirty="0" err="1">
                              <a:solidFill>
                                <a:srgbClr val="002060"/>
                              </a:solidFill>
                            </a:rPr>
                            <a:t>chính</a:t>
                          </a:r>
                          <a:r>
                            <a:rPr lang="en-US" sz="3600" dirty="0">
                              <a:solidFill>
                                <a:srgbClr val="002060"/>
                              </a:solidFill>
                            </a:rPr>
                            <a:t> </a:t>
                          </a:r>
                          <a:r>
                            <a:rPr lang="en-US" sz="3600" dirty="0" err="1">
                              <a:solidFill>
                                <a:srgbClr val="002060"/>
                              </a:solidFill>
                            </a:rPr>
                            <a:t>xác</a:t>
                          </a:r>
                          <a:r>
                            <a:rPr lang="en-US" sz="3600" baseline="0" dirty="0">
                              <a:solidFill>
                                <a:srgbClr val="002060"/>
                              </a:solidFill>
                            </a:rPr>
                            <a:t> </a:t>
                          </a:r>
                          <a:r>
                            <a:rPr lang="en-US" sz="3600" dirty="0" err="1">
                              <a:solidFill>
                                <a:srgbClr val="002060"/>
                              </a:solidFill>
                            </a:rPr>
                            <a:t>trình</a:t>
                          </a:r>
                          <a:r>
                            <a:rPr lang="en-US" sz="3600" dirty="0">
                              <a:solidFill>
                                <a:srgbClr val="002060"/>
                              </a:solidFill>
                            </a:rPr>
                            <a:t> </a:t>
                          </a:r>
                          <a:r>
                            <a:rPr lang="en-US" sz="3600" dirty="0" err="1">
                              <a:solidFill>
                                <a:srgbClr val="002060"/>
                              </a:solidFill>
                            </a:rPr>
                            <a:t>độ</a:t>
                          </a:r>
                          <a:r>
                            <a:rPr lang="en-US" sz="3600" dirty="0">
                              <a:solidFill>
                                <a:srgbClr val="002060"/>
                              </a:solidFill>
                            </a:rPr>
                            <a:t> </a:t>
                          </a:r>
                          <a:r>
                            <a:rPr lang="en-US" sz="3600" dirty="0" err="1">
                              <a:solidFill>
                                <a:srgbClr val="002060"/>
                              </a:solidFill>
                            </a:rPr>
                            <a:t>bóc</a:t>
                          </a:r>
                          <a:r>
                            <a:rPr lang="en-US" sz="3600" dirty="0">
                              <a:solidFill>
                                <a:srgbClr val="002060"/>
                              </a:solidFill>
                            </a:rPr>
                            <a:t> </a:t>
                          </a:r>
                          <a:r>
                            <a:rPr lang="en-US" sz="3600" dirty="0" err="1">
                              <a:solidFill>
                                <a:srgbClr val="002060"/>
                              </a:solidFill>
                            </a:rPr>
                            <a:t>lột</a:t>
                          </a:r>
                          <a:r>
                            <a:rPr lang="en-US" sz="3600" dirty="0">
                              <a:solidFill>
                                <a:srgbClr val="002060"/>
                              </a:solidFill>
                            </a:rPr>
                            <a:t> </a:t>
                          </a:r>
                          <a:r>
                            <a:rPr lang="en-US" sz="3600" dirty="0" err="1">
                              <a:solidFill>
                                <a:srgbClr val="002060"/>
                              </a:solidFill>
                            </a:rPr>
                            <a:t>của</a:t>
                          </a:r>
                          <a:r>
                            <a:rPr lang="en-US" sz="3600" dirty="0">
                              <a:solidFill>
                                <a:srgbClr val="002060"/>
                              </a:solidFill>
                            </a:rPr>
                            <a:t> TB</a:t>
                          </a: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572000">
                    <a:tc>
                      <a:txBody>
                        <a:bodyPr/>
                        <a:lstStyle/>
                        <a:p>
                          <a:r>
                            <a:rPr lang="en-US" sz="3600" dirty="0" err="1">
                              <a:solidFill>
                                <a:srgbClr val="002060"/>
                              </a:solidFill>
                            </a:rPr>
                            <a:t>Khối</a:t>
                          </a:r>
                          <a:r>
                            <a:rPr lang="en-US" sz="3600" dirty="0">
                              <a:solidFill>
                                <a:srgbClr val="002060"/>
                              </a:solidFill>
                            </a:rPr>
                            <a:t> </a:t>
                          </a:r>
                          <a:r>
                            <a:rPr lang="en-US" sz="3600" dirty="0" err="1">
                              <a:solidFill>
                                <a:srgbClr val="002060"/>
                              </a:solidFill>
                            </a:rPr>
                            <a:t>lượng</a:t>
                          </a:r>
                          <a:r>
                            <a:rPr lang="en-US" sz="3600" baseline="0" dirty="0">
                              <a:solidFill>
                                <a:srgbClr val="002060"/>
                              </a:solidFill>
                            </a:rPr>
                            <a:t> GTTD</a:t>
                          </a:r>
                          <a:endParaRPr lang="en-US" sz="3600"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122" t="-89081" r="-100245" b="-3995"/>
                          </a:stretch>
                        </a:blipFill>
                      </a:tcPr>
                    </a:tc>
                    <a:tc>
                      <a:txBody>
                        <a:bodyPr/>
                        <a:lstStyle/>
                        <a:p>
                          <a:pPr algn="just"/>
                          <a:r>
                            <a:rPr lang="en-US" sz="3600" dirty="0" err="1">
                              <a:solidFill>
                                <a:srgbClr val="002060"/>
                              </a:solidFill>
                            </a:rPr>
                            <a:t>Phản</a:t>
                          </a:r>
                          <a:r>
                            <a:rPr lang="en-US" sz="3600" dirty="0">
                              <a:solidFill>
                                <a:srgbClr val="002060"/>
                              </a:solidFill>
                            </a:rPr>
                            <a:t> </a:t>
                          </a:r>
                          <a:r>
                            <a:rPr lang="en-US" sz="3600" dirty="0" err="1">
                              <a:solidFill>
                                <a:srgbClr val="002060"/>
                              </a:solidFill>
                            </a:rPr>
                            <a:t>ánh</a:t>
                          </a:r>
                          <a:r>
                            <a:rPr lang="en-US" sz="3600" dirty="0">
                              <a:solidFill>
                                <a:srgbClr val="002060"/>
                              </a:solidFill>
                            </a:rPr>
                            <a:t> </a:t>
                          </a:r>
                          <a:r>
                            <a:rPr lang="en-US" sz="3600" dirty="0" err="1">
                              <a:solidFill>
                                <a:srgbClr val="002060"/>
                              </a:solidFill>
                            </a:rPr>
                            <a:t>quy</a:t>
                          </a:r>
                          <a:r>
                            <a:rPr lang="en-US" sz="3600" dirty="0">
                              <a:solidFill>
                                <a:srgbClr val="002060"/>
                              </a:solidFill>
                            </a:rPr>
                            <a:t> </a:t>
                          </a:r>
                          <a:r>
                            <a:rPr lang="en-US" sz="3600" dirty="0" err="1">
                              <a:solidFill>
                                <a:srgbClr val="002060"/>
                              </a:solidFill>
                            </a:rPr>
                            <a:t>mô</a:t>
                          </a:r>
                          <a:r>
                            <a:rPr lang="en-US" sz="3600" dirty="0">
                              <a:solidFill>
                                <a:srgbClr val="002060"/>
                              </a:solidFill>
                            </a:rPr>
                            <a:t> </a:t>
                          </a:r>
                          <a:r>
                            <a:rPr lang="en-US" sz="3600" dirty="0" err="1">
                              <a:solidFill>
                                <a:srgbClr val="002060"/>
                              </a:solidFill>
                            </a:rPr>
                            <a:t>bóc</a:t>
                          </a:r>
                          <a:r>
                            <a:rPr lang="en-US" sz="3600" dirty="0">
                              <a:solidFill>
                                <a:srgbClr val="002060"/>
                              </a:solidFill>
                            </a:rPr>
                            <a:t> </a:t>
                          </a:r>
                          <a:r>
                            <a:rPr lang="en-US" sz="3600" dirty="0" err="1">
                              <a:solidFill>
                                <a:srgbClr val="002060"/>
                              </a:solidFill>
                            </a:rPr>
                            <a:t>lột</a:t>
                          </a:r>
                          <a:endParaRPr lang="en-US" sz="3600" dirty="0">
                            <a:solidFill>
                              <a:srgbClr val="002060"/>
                            </a:solidFill>
                          </a:endParaRPr>
                        </a:p>
                        <a:p>
                          <a:pPr algn="just"/>
                          <a:r>
                            <a:rPr lang="vi-VN" sz="3600" dirty="0">
                              <a:solidFill>
                                <a:srgbClr val="002060"/>
                              </a:solidFill>
                            </a:rPr>
                            <a:t>v: Tư bản khả biến đại biểu cho giá trị của 1 SLĐ</a:t>
                          </a:r>
                        </a:p>
                        <a:p>
                          <a:pPr algn="just"/>
                          <a:r>
                            <a:rPr lang="vi-VN" sz="3600" dirty="0">
                              <a:solidFill>
                                <a:srgbClr val="002060"/>
                              </a:solidFill>
                            </a:rPr>
                            <a:t>V: Tổng TB khả biến đại biểu cho giá trị của tổng số SLĐ</a:t>
                          </a: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1302569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39D53A1-934E-E888-DF9F-1C4FA782C7DE}"/>
              </a:ext>
            </a:extLst>
          </p:cNvPr>
          <p:cNvSpPr txBox="1">
            <a:spLocks/>
          </p:cNvSpPr>
          <p:nvPr/>
        </p:nvSpPr>
        <p:spPr>
          <a:xfrm>
            <a:off x="3469296" y="1961516"/>
            <a:ext cx="120450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Hai phương pháp sx GTTD</a:t>
            </a:r>
          </a:p>
        </p:txBody>
      </p:sp>
      <p:sp>
        <p:nvSpPr>
          <p:cNvPr id="5" name="Text Box 14">
            <a:extLst>
              <a:ext uri="{FF2B5EF4-FFF2-40B4-BE49-F238E27FC236}">
                <a16:creationId xmlns:a16="http://schemas.microsoft.com/office/drawing/2014/main" id="{2DEFF910-AB35-4E78-08EF-833BF4BD49CC}"/>
              </a:ext>
            </a:extLst>
          </p:cNvPr>
          <p:cNvSpPr txBox="1">
            <a:spLocks noChangeArrowheads="1"/>
          </p:cNvSpPr>
          <p:nvPr/>
        </p:nvSpPr>
        <p:spPr bwMode="ltGray">
          <a:xfrm>
            <a:off x="1668147" y="4338678"/>
            <a:ext cx="1552257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r>
              <a:rPr lang="en-US" altLang="en-US" sz="6000" b="1">
                <a:solidFill>
                  <a:srgbClr val="002060"/>
                </a:solidFill>
                <a:latin typeface="Arial" panose="020B0604020202020204" pitchFamily="34" charset="0"/>
                <a:sym typeface="Wingdings" panose="05000000000000000000" pitchFamily="2" charset="2"/>
              </a:rPr>
              <a:t>PP</a:t>
            </a:r>
            <a:r>
              <a:rPr lang="vi-VN" altLang="en-US" sz="6000" b="1">
                <a:solidFill>
                  <a:srgbClr val="002060"/>
                </a:solidFill>
                <a:latin typeface="Arial" panose="020B0604020202020204" pitchFamily="34" charset="0"/>
                <a:sym typeface="Wingdings" panose="05000000000000000000" pitchFamily="2" charset="2"/>
              </a:rPr>
              <a:t> SX giá trị thặng dư tuyệt đối</a:t>
            </a:r>
            <a:endParaRPr lang="en-US" altLang="en-US" sz="6000" b="1">
              <a:solidFill>
                <a:srgbClr val="002060"/>
              </a:solidFill>
              <a:latin typeface="Arial" panose="020B0604020202020204" pitchFamily="34" charset="0"/>
              <a:sym typeface="Wingdings" panose="05000000000000000000" pitchFamily="2" charset="2"/>
            </a:endParaRPr>
          </a:p>
        </p:txBody>
      </p:sp>
      <p:sp>
        <p:nvSpPr>
          <p:cNvPr id="6" name="Line 49">
            <a:extLst>
              <a:ext uri="{FF2B5EF4-FFF2-40B4-BE49-F238E27FC236}">
                <a16:creationId xmlns:a16="http://schemas.microsoft.com/office/drawing/2014/main" id="{031C15F3-FD61-C545-88D3-1187641A548E}"/>
              </a:ext>
            </a:extLst>
          </p:cNvPr>
          <p:cNvSpPr>
            <a:spLocks noChangeShapeType="1"/>
          </p:cNvSpPr>
          <p:nvPr/>
        </p:nvSpPr>
        <p:spPr bwMode="auto">
          <a:xfrm>
            <a:off x="1950720" y="8400416"/>
            <a:ext cx="10058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sz="9600" b="1">
              <a:solidFill>
                <a:srgbClr val="002060"/>
              </a:solidFill>
            </a:endParaRPr>
          </a:p>
        </p:txBody>
      </p:sp>
      <p:sp>
        <p:nvSpPr>
          <p:cNvPr id="7" name="Line 50">
            <a:extLst>
              <a:ext uri="{FF2B5EF4-FFF2-40B4-BE49-F238E27FC236}">
                <a16:creationId xmlns:a16="http://schemas.microsoft.com/office/drawing/2014/main" id="{6D2E63CD-D60D-C4A8-2FD2-BC20F8F81CA8}"/>
              </a:ext>
            </a:extLst>
          </p:cNvPr>
          <p:cNvSpPr>
            <a:spLocks noChangeShapeType="1"/>
          </p:cNvSpPr>
          <p:nvPr/>
        </p:nvSpPr>
        <p:spPr bwMode="auto">
          <a:xfrm>
            <a:off x="1950720" y="10229216"/>
            <a:ext cx="11582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sz="9600" b="1">
              <a:solidFill>
                <a:srgbClr val="002060"/>
              </a:solidFill>
            </a:endParaRPr>
          </a:p>
        </p:txBody>
      </p:sp>
      <p:sp>
        <p:nvSpPr>
          <p:cNvPr id="8" name="Text Box 51">
            <a:extLst>
              <a:ext uri="{FF2B5EF4-FFF2-40B4-BE49-F238E27FC236}">
                <a16:creationId xmlns:a16="http://schemas.microsoft.com/office/drawing/2014/main" id="{D3B90C39-754E-7226-2F59-BD03EFB88942}"/>
              </a:ext>
            </a:extLst>
          </p:cNvPr>
          <p:cNvSpPr txBox="1">
            <a:spLocks noChangeArrowheads="1"/>
          </p:cNvSpPr>
          <p:nvPr/>
        </p:nvSpPr>
        <p:spPr bwMode="auto">
          <a:xfrm>
            <a:off x="1188721" y="8879840"/>
            <a:ext cx="63817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a:solidFill>
                  <a:srgbClr val="002060"/>
                </a:solidFill>
                <a:latin typeface="Arial" panose="020B0604020202020204" pitchFamily="34" charset="0"/>
              </a:rPr>
              <a:t>Tglđ tất yếu</a:t>
            </a:r>
            <a:endParaRPr lang="en-US" altLang="en-US" sz="4800" b="1">
              <a:solidFill>
                <a:srgbClr val="002060"/>
              </a:solidFill>
              <a:latin typeface=".VnTime" panose="020B7200000000000000" pitchFamily="34" charset="0"/>
            </a:endParaRPr>
          </a:p>
        </p:txBody>
      </p:sp>
      <p:sp>
        <p:nvSpPr>
          <p:cNvPr id="9" name="Text Box 52">
            <a:extLst>
              <a:ext uri="{FF2B5EF4-FFF2-40B4-BE49-F238E27FC236}">
                <a16:creationId xmlns:a16="http://schemas.microsoft.com/office/drawing/2014/main" id="{2037212C-B9EB-7715-EC23-5AFF0602D900}"/>
              </a:ext>
            </a:extLst>
          </p:cNvPr>
          <p:cNvSpPr txBox="1">
            <a:spLocks noChangeArrowheads="1"/>
          </p:cNvSpPr>
          <p:nvPr/>
        </p:nvSpPr>
        <p:spPr bwMode="auto">
          <a:xfrm>
            <a:off x="6522720" y="8879840"/>
            <a:ext cx="5943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a:solidFill>
                  <a:srgbClr val="002060"/>
                </a:solidFill>
                <a:latin typeface="Arial" panose="020B0604020202020204" pitchFamily="34" charset="0"/>
              </a:rPr>
              <a:t>Tglđ thặng dư</a:t>
            </a:r>
            <a:endParaRPr lang="en-US" altLang="en-US" sz="4800" b="1">
              <a:solidFill>
                <a:srgbClr val="002060"/>
              </a:solidFill>
              <a:latin typeface=".VnTime" panose="020B7200000000000000" pitchFamily="34" charset="0"/>
            </a:endParaRPr>
          </a:p>
        </p:txBody>
      </p:sp>
      <p:sp>
        <p:nvSpPr>
          <p:cNvPr id="10" name="Line 53">
            <a:extLst>
              <a:ext uri="{FF2B5EF4-FFF2-40B4-BE49-F238E27FC236}">
                <a16:creationId xmlns:a16="http://schemas.microsoft.com/office/drawing/2014/main" id="{426B4C27-7610-0623-B696-8EEC58A7CB61}"/>
              </a:ext>
            </a:extLst>
          </p:cNvPr>
          <p:cNvSpPr>
            <a:spLocks noChangeShapeType="1"/>
          </p:cNvSpPr>
          <p:nvPr/>
        </p:nvSpPr>
        <p:spPr bwMode="auto">
          <a:xfrm>
            <a:off x="12009120" y="8400416"/>
            <a:ext cx="0" cy="1828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US" sz="9600" b="1">
              <a:solidFill>
                <a:srgbClr val="002060"/>
              </a:solidFill>
            </a:endParaRPr>
          </a:p>
        </p:txBody>
      </p:sp>
      <p:sp>
        <p:nvSpPr>
          <p:cNvPr id="11" name="Line 54">
            <a:extLst>
              <a:ext uri="{FF2B5EF4-FFF2-40B4-BE49-F238E27FC236}">
                <a16:creationId xmlns:a16="http://schemas.microsoft.com/office/drawing/2014/main" id="{71A4E8E7-57DD-4B9B-BCAD-36BE2208E706}"/>
              </a:ext>
            </a:extLst>
          </p:cNvPr>
          <p:cNvSpPr>
            <a:spLocks noChangeShapeType="1"/>
          </p:cNvSpPr>
          <p:nvPr/>
        </p:nvSpPr>
        <p:spPr bwMode="auto">
          <a:xfrm>
            <a:off x="7132320" y="8400416"/>
            <a:ext cx="0" cy="1828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US" sz="9600" b="1">
              <a:solidFill>
                <a:srgbClr val="002060"/>
              </a:solidFill>
            </a:endParaRPr>
          </a:p>
        </p:txBody>
      </p:sp>
      <p:sp>
        <p:nvSpPr>
          <p:cNvPr id="12" name="Text Box 55">
            <a:extLst>
              <a:ext uri="{FF2B5EF4-FFF2-40B4-BE49-F238E27FC236}">
                <a16:creationId xmlns:a16="http://schemas.microsoft.com/office/drawing/2014/main" id="{51E76860-E540-8FAA-EC87-FCAC06699A3E}"/>
              </a:ext>
            </a:extLst>
          </p:cNvPr>
          <p:cNvSpPr txBox="1">
            <a:spLocks noChangeArrowheads="1"/>
          </p:cNvSpPr>
          <p:nvPr/>
        </p:nvSpPr>
        <p:spPr bwMode="auto">
          <a:xfrm>
            <a:off x="2775863" y="7508240"/>
            <a:ext cx="20704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dirty="0">
                <a:solidFill>
                  <a:srgbClr val="002060"/>
                </a:solidFill>
                <a:latin typeface=".VnTime" panose="020B7200000000000000" pitchFamily="34" charset="0"/>
              </a:rPr>
              <a:t>t = 4h</a:t>
            </a:r>
          </a:p>
        </p:txBody>
      </p:sp>
      <p:sp>
        <p:nvSpPr>
          <p:cNvPr id="13" name="Text Box 56">
            <a:extLst>
              <a:ext uri="{FF2B5EF4-FFF2-40B4-BE49-F238E27FC236}">
                <a16:creationId xmlns:a16="http://schemas.microsoft.com/office/drawing/2014/main" id="{887D4E1B-CFB1-EE84-A3D5-6768E1F768C1}"/>
              </a:ext>
            </a:extLst>
          </p:cNvPr>
          <p:cNvSpPr txBox="1">
            <a:spLocks noChangeArrowheads="1"/>
          </p:cNvSpPr>
          <p:nvPr/>
        </p:nvSpPr>
        <p:spPr bwMode="auto">
          <a:xfrm>
            <a:off x="7741923" y="7508240"/>
            <a:ext cx="22859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dirty="0">
                <a:solidFill>
                  <a:srgbClr val="002060"/>
                </a:solidFill>
                <a:latin typeface=".VnTime" panose="020B7200000000000000" pitchFamily="34" charset="0"/>
              </a:rPr>
              <a:t>t’ = 4h</a:t>
            </a:r>
          </a:p>
        </p:txBody>
      </p:sp>
      <p:sp>
        <p:nvSpPr>
          <p:cNvPr id="15" name="Text Box 58">
            <a:extLst>
              <a:ext uri="{FF2B5EF4-FFF2-40B4-BE49-F238E27FC236}">
                <a16:creationId xmlns:a16="http://schemas.microsoft.com/office/drawing/2014/main" id="{C0EB3BDA-D7B9-C3A9-DAEB-651F45AA733A}"/>
              </a:ext>
            </a:extLst>
          </p:cNvPr>
          <p:cNvSpPr txBox="1">
            <a:spLocks noChangeArrowheads="1"/>
          </p:cNvSpPr>
          <p:nvPr/>
        </p:nvSpPr>
        <p:spPr bwMode="auto">
          <a:xfrm>
            <a:off x="11399520" y="7508240"/>
            <a:ext cx="1219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a:solidFill>
                  <a:srgbClr val="002060"/>
                </a:solidFill>
                <a:latin typeface=".VnTime" panose="020B7200000000000000" pitchFamily="34" charset="0"/>
              </a:rPr>
              <a:t>8h</a:t>
            </a:r>
          </a:p>
        </p:txBody>
      </p:sp>
      <p:sp>
        <p:nvSpPr>
          <p:cNvPr id="16" name="Text Box 59">
            <a:extLst>
              <a:ext uri="{FF2B5EF4-FFF2-40B4-BE49-F238E27FC236}">
                <a16:creationId xmlns:a16="http://schemas.microsoft.com/office/drawing/2014/main" id="{56D70E34-8F44-26A0-B26A-737C01D95C10}"/>
              </a:ext>
            </a:extLst>
          </p:cNvPr>
          <p:cNvSpPr txBox="1">
            <a:spLocks noChangeArrowheads="1"/>
          </p:cNvSpPr>
          <p:nvPr/>
        </p:nvSpPr>
        <p:spPr bwMode="auto">
          <a:xfrm>
            <a:off x="12313920" y="9337040"/>
            <a:ext cx="152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a:solidFill>
                  <a:srgbClr val="002060"/>
                </a:solidFill>
                <a:latin typeface=".VnTime" panose="020B7200000000000000" pitchFamily="34" charset="0"/>
              </a:rPr>
              <a:t>10h</a:t>
            </a:r>
          </a:p>
        </p:txBody>
      </p:sp>
      <p:sp>
        <p:nvSpPr>
          <p:cNvPr id="17" name="Text Box 60">
            <a:extLst>
              <a:ext uri="{FF2B5EF4-FFF2-40B4-BE49-F238E27FC236}">
                <a16:creationId xmlns:a16="http://schemas.microsoft.com/office/drawing/2014/main" id="{7B74361B-09CC-DECD-D07C-4F40FFD01C4D}"/>
              </a:ext>
            </a:extLst>
          </p:cNvPr>
          <p:cNvSpPr txBox="1">
            <a:spLocks noChangeArrowheads="1"/>
          </p:cNvSpPr>
          <p:nvPr/>
        </p:nvSpPr>
        <p:spPr bwMode="auto">
          <a:xfrm>
            <a:off x="14033181" y="7813040"/>
            <a:ext cx="362902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a:solidFill>
                  <a:srgbClr val="002060"/>
                </a:solidFill>
                <a:latin typeface="Arial" panose="020B0604020202020204" pitchFamily="34" charset="0"/>
              </a:rPr>
              <a:t>m</a:t>
            </a:r>
            <a:r>
              <a:rPr lang="ja-JP" altLang="en-US" sz="4800" b="1">
                <a:solidFill>
                  <a:srgbClr val="002060"/>
                </a:solidFill>
                <a:latin typeface="Arial" panose="020B0604020202020204" pitchFamily="34" charset="0"/>
              </a:rPr>
              <a:t>’</a:t>
            </a:r>
            <a:r>
              <a:rPr lang="en-US" altLang="ja-JP" sz="4800" b="1">
                <a:solidFill>
                  <a:srgbClr val="002060"/>
                </a:solidFill>
                <a:latin typeface="Arial" panose="020B0604020202020204" pitchFamily="34" charset="0"/>
              </a:rPr>
              <a:t>= 100%</a:t>
            </a:r>
            <a:endParaRPr lang="en-US" altLang="en-US" sz="4800" b="1">
              <a:solidFill>
                <a:srgbClr val="002060"/>
              </a:solidFill>
              <a:latin typeface=".VnTime" panose="020B7200000000000000" pitchFamily="34" charset="0"/>
            </a:endParaRPr>
          </a:p>
        </p:txBody>
      </p:sp>
      <p:sp>
        <p:nvSpPr>
          <p:cNvPr id="18" name="Text Box 61">
            <a:extLst>
              <a:ext uri="{FF2B5EF4-FFF2-40B4-BE49-F238E27FC236}">
                <a16:creationId xmlns:a16="http://schemas.microsoft.com/office/drawing/2014/main" id="{63A7654F-E6B7-B290-DF72-D97A1762048F}"/>
              </a:ext>
            </a:extLst>
          </p:cNvPr>
          <p:cNvSpPr txBox="1">
            <a:spLocks noChangeArrowheads="1"/>
          </p:cNvSpPr>
          <p:nvPr/>
        </p:nvSpPr>
        <p:spPr bwMode="auto">
          <a:xfrm>
            <a:off x="14061757" y="9317398"/>
            <a:ext cx="36004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a:solidFill>
                  <a:srgbClr val="002060"/>
                </a:solidFill>
                <a:latin typeface="Arial" panose="020B0604020202020204" pitchFamily="34" charset="0"/>
              </a:rPr>
              <a:t>m</a:t>
            </a:r>
            <a:r>
              <a:rPr lang="ja-JP" altLang="en-US" sz="4800" b="1">
                <a:solidFill>
                  <a:srgbClr val="002060"/>
                </a:solidFill>
                <a:latin typeface="Arial" panose="020B0604020202020204" pitchFamily="34" charset="0"/>
              </a:rPr>
              <a:t>’</a:t>
            </a:r>
            <a:r>
              <a:rPr lang="en-US" altLang="ja-JP" sz="4800" b="1">
                <a:solidFill>
                  <a:srgbClr val="002060"/>
                </a:solidFill>
                <a:latin typeface="Arial" panose="020B0604020202020204" pitchFamily="34" charset="0"/>
              </a:rPr>
              <a:t> = 150%</a:t>
            </a:r>
            <a:endParaRPr lang="en-US" altLang="en-US" sz="4800" b="1">
              <a:solidFill>
                <a:srgbClr val="002060"/>
              </a:solidFill>
              <a:latin typeface=".VnTime" panose="020B7200000000000000" pitchFamily="34" charset="0"/>
            </a:endParaRPr>
          </a:p>
        </p:txBody>
      </p:sp>
      <p:sp>
        <p:nvSpPr>
          <p:cNvPr id="20" name="Text Box 55">
            <a:extLst>
              <a:ext uri="{FF2B5EF4-FFF2-40B4-BE49-F238E27FC236}">
                <a16:creationId xmlns:a16="http://schemas.microsoft.com/office/drawing/2014/main" id="{EE65BF13-9232-4964-9713-48E46B5EE0D8}"/>
              </a:ext>
            </a:extLst>
          </p:cNvPr>
          <p:cNvSpPr txBox="1">
            <a:spLocks noChangeArrowheads="1"/>
          </p:cNvSpPr>
          <p:nvPr/>
        </p:nvSpPr>
        <p:spPr bwMode="auto">
          <a:xfrm>
            <a:off x="2696941" y="10273662"/>
            <a:ext cx="20704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dirty="0">
                <a:solidFill>
                  <a:srgbClr val="002060"/>
                </a:solidFill>
                <a:latin typeface=".VnTime" panose="020B7200000000000000" pitchFamily="34" charset="0"/>
              </a:rPr>
              <a:t>t = 4h</a:t>
            </a:r>
          </a:p>
        </p:txBody>
      </p:sp>
      <p:sp>
        <p:nvSpPr>
          <p:cNvPr id="21" name="Text Box 56">
            <a:extLst>
              <a:ext uri="{FF2B5EF4-FFF2-40B4-BE49-F238E27FC236}">
                <a16:creationId xmlns:a16="http://schemas.microsoft.com/office/drawing/2014/main" id="{EF49A18D-3573-4F0E-9655-7ADE5C77AB8A}"/>
              </a:ext>
            </a:extLst>
          </p:cNvPr>
          <p:cNvSpPr txBox="1">
            <a:spLocks noChangeArrowheads="1"/>
          </p:cNvSpPr>
          <p:nvPr/>
        </p:nvSpPr>
        <p:spPr bwMode="auto">
          <a:xfrm>
            <a:off x="7663001" y="10273662"/>
            <a:ext cx="22859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dirty="0">
                <a:solidFill>
                  <a:srgbClr val="002060"/>
                </a:solidFill>
                <a:latin typeface=".VnTime" panose="020B7200000000000000" pitchFamily="34" charset="0"/>
              </a:rPr>
              <a:t>t’ = 6h</a:t>
            </a:r>
          </a:p>
        </p:txBody>
      </p:sp>
    </p:spTree>
    <p:extLst>
      <p:ext uri="{BB962C8B-B14F-4D97-AF65-F5344CB8AC3E}">
        <p14:creationId xmlns:p14="http://schemas.microsoft.com/office/powerpoint/2010/main" val="1763911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down)">
                                      <p:cBhvr>
                                        <p:cTn id="18" dur="500"/>
                                        <p:tgtEl>
                                          <p:spTgt spid="13"/>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down)">
                                      <p:cBhvr>
                                        <p:cTn id="24" dur="500"/>
                                        <p:tgtEl>
                                          <p:spTgt spid="8"/>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down)">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down)">
                                      <p:cBhvr>
                                        <p:cTn id="37" dur="500"/>
                                        <p:tgtEl>
                                          <p:spTgt spid="7"/>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500"/>
                                        <p:tgtEl>
                                          <p:spTgt spid="11"/>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down)">
                                      <p:cBhvr>
                                        <p:cTn id="43" dur="500"/>
                                        <p:tgtEl>
                                          <p:spTgt spid="10"/>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wipe(down)">
                                      <p:cBhvr>
                                        <p:cTn id="46" dur="500"/>
                                        <p:tgtEl>
                                          <p:spTgt spid="16"/>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down)">
                                      <p:cBhvr>
                                        <p:cTn id="49" dur="500"/>
                                        <p:tgtEl>
                                          <p:spTgt spid="18"/>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down)">
                                      <p:cBhvr>
                                        <p:cTn id="52" dur="500"/>
                                        <p:tgtEl>
                                          <p:spTgt spid="20"/>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down)">
                                      <p:cBhvr>
                                        <p:cTn id="5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animBg="1"/>
      <p:bldP spid="8" grpId="0"/>
      <p:bldP spid="9" grpId="0"/>
      <p:bldP spid="10" grpId="0" animBg="1"/>
      <p:bldP spid="11" grpId="0" animBg="1"/>
      <p:bldP spid="12" grpId="0"/>
      <p:bldP spid="13" grpId="0"/>
      <p:bldP spid="15" grpId="0"/>
      <p:bldP spid="16" grpId="0"/>
      <p:bldP spid="17" grpId="0"/>
      <p:bldP spid="18" grpId="0"/>
      <p:bldP spid="20" grpId="0"/>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D8E1E-BE4B-2C86-AA5C-BB92588ADE1E}"/>
              </a:ext>
            </a:extLst>
          </p:cNvPr>
          <p:cNvSpPr txBox="1">
            <a:spLocks/>
          </p:cNvSpPr>
          <p:nvPr/>
        </p:nvSpPr>
        <p:spPr>
          <a:xfrm>
            <a:off x="3733456" y="1900556"/>
            <a:ext cx="114354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Hai phương pháp sx GTTD</a:t>
            </a:r>
          </a:p>
        </p:txBody>
      </p:sp>
      <p:sp>
        <p:nvSpPr>
          <p:cNvPr id="3" name="Text Box 14">
            <a:extLst>
              <a:ext uri="{FF2B5EF4-FFF2-40B4-BE49-F238E27FC236}">
                <a16:creationId xmlns:a16="http://schemas.microsoft.com/office/drawing/2014/main" id="{64993CC6-69B2-F08B-ED3D-566555CD7EA8}"/>
              </a:ext>
            </a:extLst>
          </p:cNvPr>
          <p:cNvSpPr txBox="1">
            <a:spLocks noChangeArrowheads="1"/>
          </p:cNvSpPr>
          <p:nvPr/>
        </p:nvSpPr>
        <p:spPr bwMode="ltGray">
          <a:xfrm>
            <a:off x="1932307" y="4277718"/>
            <a:ext cx="1552257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r>
              <a:rPr lang="en-US" altLang="en-US" sz="6000" b="1">
                <a:solidFill>
                  <a:srgbClr val="002060"/>
                </a:solidFill>
                <a:latin typeface="Arial" panose="020B0604020202020204" pitchFamily="34" charset="0"/>
                <a:sym typeface="Wingdings" panose="05000000000000000000" pitchFamily="2" charset="2"/>
              </a:rPr>
              <a:t>PP</a:t>
            </a:r>
            <a:r>
              <a:rPr lang="vi-VN" altLang="en-US" sz="6000" b="1">
                <a:solidFill>
                  <a:srgbClr val="002060"/>
                </a:solidFill>
                <a:latin typeface="Arial" panose="020B0604020202020204" pitchFamily="34" charset="0"/>
                <a:sym typeface="Wingdings" panose="05000000000000000000" pitchFamily="2" charset="2"/>
              </a:rPr>
              <a:t> SX giá trị thặng dư </a:t>
            </a:r>
            <a:r>
              <a:rPr lang="en-US" altLang="en-US" sz="6000" b="1">
                <a:solidFill>
                  <a:srgbClr val="002060"/>
                </a:solidFill>
                <a:latin typeface="Arial" panose="020B0604020202020204" pitchFamily="34" charset="0"/>
                <a:sym typeface="Wingdings" panose="05000000000000000000" pitchFamily="2" charset="2"/>
              </a:rPr>
              <a:t>tương </a:t>
            </a:r>
            <a:r>
              <a:rPr lang="vi-VN" altLang="en-US" sz="6000" b="1">
                <a:solidFill>
                  <a:srgbClr val="002060"/>
                </a:solidFill>
                <a:latin typeface="Arial" panose="020B0604020202020204" pitchFamily="34" charset="0"/>
                <a:sym typeface="Wingdings" panose="05000000000000000000" pitchFamily="2" charset="2"/>
              </a:rPr>
              <a:t>đối</a:t>
            </a:r>
            <a:endParaRPr lang="en-US" altLang="en-US" sz="6000" b="1">
              <a:solidFill>
                <a:srgbClr val="002060"/>
              </a:solidFill>
              <a:latin typeface="Arial" panose="020B0604020202020204" pitchFamily="34" charset="0"/>
              <a:sym typeface="Wingdings" panose="05000000000000000000" pitchFamily="2" charset="2"/>
            </a:endParaRPr>
          </a:p>
        </p:txBody>
      </p:sp>
      <p:sp>
        <p:nvSpPr>
          <p:cNvPr id="20" name="Line 49">
            <a:extLst>
              <a:ext uri="{FF2B5EF4-FFF2-40B4-BE49-F238E27FC236}">
                <a16:creationId xmlns:a16="http://schemas.microsoft.com/office/drawing/2014/main" id="{F89541BA-4796-E3BA-45DD-910C80418EDC}"/>
              </a:ext>
            </a:extLst>
          </p:cNvPr>
          <p:cNvSpPr>
            <a:spLocks noChangeShapeType="1"/>
          </p:cNvSpPr>
          <p:nvPr/>
        </p:nvSpPr>
        <p:spPr bwMode="auto">
          <a:xfrm>
            <a:off x="2214880" y="8339456"/>
            <a:ext cx="10058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US" sz="9600" b="1">
              <a:solidFill>
                <a:srgbClr val="002060"/>
              </a:solidFill>
            </a:endParaRPr>
          </a:p>
        </p:txBody>
      </p:sp>
      <p:sp>
        <p:nvSpPr>
          <p:cNvPr id="21" name="Line 50">
            <a:extLst>
              <a:ext uri="{FF2B5EF4-FFF2-40B4-BE49-F238E27FC236}">
                <a16:creationId xmlns:a16="http://schemas.microsoft.com/office/drawing/2014/main" id="{25BD619F-5175-B598-E71C-5FCA5DF075B5}"/>
              </a:ext>
            </a:extLst>
          </p:cNvPr>
          <p:cNvSpPr>
            <a:spLocks noChangeShapeType="1"/>
          </p:cNvSpPr>
          <p:nvPr/>
        </p:nvSpPr>
        <p:spPr bwMode="auto">
          <a:xfrm>
            <a:off x="2214880" y="10168256"/>
            <a:ext cx="10058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square">
            <a:spAutoFit/>
          </a:bodyPr>
          <a:lstStyle/>
          <a:p>
            <a:endParaRPr lang="en-US" sz="9600" b="1">
              <a:solidFill>
                <a:srgbClr val="002060"/>
              </a:solidFill>
            </a:endParaRPr>
          </a:p>
        </p:txBody>
      </p:sp>
      <p:sp>
        <p:nvSpPr>
          <p:cNvPr id="23" name="Text Box 52">
            <a:extLst>
              <a:ext uri="{FF2B5EF4-FFF2-40B4-BE49-F238E27FC236}">
                <a16:creationId xmlns:a16="http://schemas.microsoft.com/office/drawing/2014/main" id="{C0058E82-2318-9D93-F0D4-51C014C212B6}"/>
              </a:ext>
            </a:extLst>
          </p:cNvPr>
          <p:cNvSpPr txBox="1">
            <a:spLocks noChangeArrowheads="1"/>
          </p:cNvSpPr>
          <p:nvPr/>
        </p:nvSpPr>
        <p:spPr bwMode="auto">
          <a:xfrm>
            <a:off x="6786880" y="8818880"/>
            <a:ext cx="5943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a:solidFill>
                  <a:srgbClr val="002060"/>
                </a:solidFill>
                <a:latin typeface="Arial" panose="020B0604020202020204" pitchFamily="34" charset="0"/>
              </a:rPr>
              <a:t>Tglđ thặng dư</a:t>
            </a:r>
            <a:endParaRPr lang="en-US" altLang="en-US" sz="4800" b="1">
              <a:solidFill>
                <a:srgbClr val="002060"/>
              </a:solidFill>
              <a:latin typeface=".VnTime" panose="020B7200000000000000" pitchFamily="34" charset="0"/>
            </a:endParaRPr>
          </a:p>
        </p:txBody>
      </p:sp>
      <p:sp>
        <p:nvSpPr>
          <p:cNvPr id="24" name="Line 53">
            <a:extLst>
              <a:ext uri="{FF2B5EF4-FFF2-40B4-BE49-F238E27FC236}">
                <a16:creationId xmlns:a16="http://schemas.microsoft.com/office/drawing/2014/main" id="{5082D04B-A0AB-1684-77A7-7CEB9B03F219}"/>
              </a:ext>
            </a:extLst>
          </p:cNvPr>
          <p:cNvSpPr>
            <a:spLocks noChangeShapeType="1"/>
          </p:cNvSpPr>
          <p:nvPr/>
        </p:nvSpPr>
        <p:spPr bwMode="auto">
          <a:xfrm>
            <a:off x="12273280" y="8339456"/>
            <a:ext cx="0" cy="1828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US" sz="9600" b="1">
              <a:solidFill>
                <a:srgbClr val="002060"/>
              </a:solidFill>
            </a:endParaRPr>
          </a:p>
        </p:txBody>
      </p:sp>
      <p:sp>
        <p:nvSpPr>
          <p:cNvPr id="25" name="Line 54">
            <a:extLst>
              <a:ext uri="{FF2B5EF4-FFF2-40B4-BE49-F238E27FC236}">
                <a16:creationId xmlns:a16="http://schemas.microsoft.com/office/drawing/2014/main" id="{D329B30B-2706-5D12-CC56-E7B35A712261}"/>
              </a:ext>
            </a:extLst>
          </p:cNvPr>
          <p:cNvSpPr>
            <a:spLocks noChangeShapeType="1"/>
          </p:cNvSpPr>
          <p:nvPr/>
        </p:nvSpPr>
        <p:spPr bwMode="auto">
          <a:xfrm>
            <a:off x="4805680" y="8339456"/>
            <a:ext cx="0" cy="1828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US" sz="9600" b="1">
              <a:solidFill>
                <a:srgbClr val="002060"/>
              </a:solidFill>
            </a:endParaRPr>
          </a:p>
        </p:txBody>
      </p:sp>
      <p:sp>
        <p:nvSpPr>
          <p:cNvPr id="29" name="Text Box 58">
            <a:extLst>
              <a:ext uri="{FF2B5EF4-FFF2-40B4-BE49-F238E27FC236}">
                <a16:creationId xmlns:a16="http://schemas.microsoft.com/office/drawing/2014/main" id="{2256FC75-633C-0313-B94B-E525B1725DB5}"/>
              </a:ext>
            </a:extLst>
          </p:cNvPr>
          <p:cNvSpPr txBox="1">
            <a:spLocks noChangeArrowheads="1"/>
          </p:cNvSpPr>
          <p:nvPr/>
        </p:nvSpPr>
        <p:spPr bwMode="auto">
          <a:xfrm>
            <a:off x="11663680" y="7447280"/>
            <a:ext cx="1219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a:solidFill>
                  <a:srgbClr val="002060"/>
                </a:solidFill>
                <a:latin typeface=".VnTime" panose="020B7200000000000000" pitchFamily="34" charset="0"/>
              </a:rPr>
              <a:t>8h</a:t>
            </a:r>
          </a:p>
        </p:txBody>
      </p:sp>
      <p:sp>
        <p:nvSpPr>
          <p:cNvPr id="30" name="Text Box 59">
            <a:extLst>
              <a:ext uri="{FF2B5EF4-FFF2-40B4-BE49-F238E27FC236}">
                <a16:creationId xmlns:a16="http://schemas.microsoft.com/office/drawing/2014/main" id="{E4A46894-44A7-7D53-149C-87D62865E341}"/>
              </a:ext>
            </a:extLst>
          </p:cNvPr>
          <p:cNvSpPr txBox="1">
            <a:spLocks noChangeArrowheads="1"/>
          </p:cNvSpPr>
          <p:nvPr/>
        </p:nvSpPr>
        <p:spPr bwMode="auto">
          <a:xfrm>
            <a:off x="4694584" y="9231634"/>
            <a:ext cx="152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a:solidFill>
                  <a:srgbClr val="002060"/>
                </a:solidFill>
                <a:latin typeface=".VnTime" panose="020B7200000000000000" pitchFamily="34" charset="0"/>
              </a:rPr>
              <a:t>2h</a:t>
            </a:r>
          </a:p>
        </p:txBody>
      </p:sp>
      <p:sp>
        <p:nvSpPr>
          <p:cNvPr id="31" name="Text Box 60">
            <a:extLst>
              <a:ext uri="{FF2B5EF4-FFF2-40B4-BE49-F238E27FC236}">
                <a16:creationId xmlns:a16="http://schemas.microsoft.com/office/drawing/2014/main" id="{0F54D9BC-6547-51AD-035A-342817EA1F67}"/>
              </a:ext>
            </a:extLst>
          </p:cNvPr>
          <p:cNvSpPr txBox="1">
            <a:spLocks noChangeArrowheads="1"/>
          </p:cNvSpPr>
          <p:nvPr/>
        </p:nvSpPr>
        <p:spPr bwMode="auto">
          <a:xfrm>
            <a:off x="13521055" y="8076522"/>
            <a:ext cx="362902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a:solidFill>
                  <a:srgbClr val="002060"/>
                </a:solidFill>
                <a:latin typeface="Arial" panose="020B0604020202020204" pitchFamily="34" charset="0"/>
              </a:rPr>
              <a:t>m</a:t>
            </a:r>
            <a:r>
              <a:rPr lang="ja-JP" altLang="en-US" sz="4800" b="1">
                <a:solidFill>
                  <a:srgbClr val="002060"/>
                </a:solidFill>
                <a:latin typeface="Arial" panose="020B0604020202020204" pitchFamily="34" charset="0"/>
              </a:rPr>
              <a:t>’</a:t>
            </a:r>
            <a:r>
              <a:rPr lang="en-US" altLang="ja-JP" sz="4800" b="1">
                <a:solidFill>
                  <a:srgbClr val="002060"/>
                </a:solidFill>
                <a:latin typeface="Arial" panose="020B0604020202020204" pitchFamily="34" charset="0"/>
              </a:rPr>
              <a:t>= 100%</a:t>
            </a:r>
            <a:endParaRPr lang="en-US" altLang="en-US" sz="4800" b="1">
              <a:solidFill>
                <a:srgbClr val="002060"/>
              </a:solidFill>
              <a:latin typeface=".VnTime" panose="020B7200000000000000" pitchFamily="34" charset="0"/>
            </a:endParaRPr>
          </a:p>
        </p:txBody>
      </p:sp>
      <p:sp>
        <p:nvSpPr>
          <p:cNvPr id="32" name="Text Box 61">
            <a:extLst>
              <a:ext uri="{FF2B5EF4-FFF2-40B4-BE49-F238E27FC236}">
                <a16:creationId xmlns:a16="http://schemas.microsoft.com/office/drawing/2014/main" id="{9D9F0B37-D459-91D9-13B0-B5D53C14CED1}"/>
              </a:ext>
            </a:extLst>
          </p:cNvPr>
          <p:cNvSpPr txBox="1">
            <a:spLocks noChangeArrowheads="1"/>
          </p:cNvSpPr>
          <p:nvPr/>
        </p:nvSpPr>
        <p:spPr bwMode="auto">
          <a:xfrm>
            <a:off x="13549631" y="9580880"/>
            <a:ext cx="36004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a:solidFill>
                  <a:srgbClr val="002060"/>
                </a:solidFill>
                <a:latin typeface="Arial" panose="020B0604020202020204" pitchFamily="34" charset="0"/>
              </a:rPr>
              <a:t>m</a:t>
            </a:r>
            <a:r>
              <a:rPr lang="ja-JP" altLang="en-US" sz="4800" b="1">
                <a:solidFill>
                  <a:srgbClr val="002060"/>
                </a:solidFill>
                <a:latin typeface="Arial" panose="020B0604020202020204" pitchFamily="34" charset="0"/>
              </a:rPr>
              <a:t>’</a:t>
            </a:r>
            <a:r>
              <a:rPr lang="en-US" altLang="ja-JP" sz="4800" b="1">
                <a:solidFill>
                  <a:srgbClr val="002060"/>
                </a:solidFill>
                <a:latin typeface="Arial" panose="020B0604020202020204" pitchFamily="34" charset="0"/>
              </a:rPr>
              <a:t> = 300%</a:t>
            </a:r>
            <a:endParaRPr lang="en-US" altLang="en-US" sz="4800" b="1">
              <a:solidFill>
                <a:srgbClr val="002060"/>
              </a:solidFill>
              <a:latin typeface=".VnTime" panose="020B7200000000000000" pitchFamily="34" charset="0"/>
            </a:endParaRPr>
          </a:p>
        </p:txBody>
      </p:sp>
      <p:sp>
        <p:nvSpPr>
          <p:cNvPr id="33" name="Text Box 59">
            <a:extLst>
              <a:ext uri="{FF2B5EF4-FFF2-40B4-BE49-F238E27FC236}">
                <a16:creationId xmlns:a16="http://schemas.microsoft.com/office/drawing/2014/main" id="{2855FFE3-66C6-4958-9FC5-391413A5C9E6}"/>
              </a:ext>
            </a:extLst>
          </p:cNvPr>
          <p:cNvSpPr txBox="1">
            <a:spLocks noChangeArrowheads="1"/>
          </p:cNvSpPr>
          <p:nvPr/>
        </p:nvSpPr>
        <p:spPr bwMode="auto">
          <a:xfrm>
            <a:off x="11455732" y="10062114"/>
            <a:ext cx="152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a:solidFill>
                  <a:srgbClr val="002060"/>
                </a:solidFill>
                <a:latin typeface=".VnTime" panose="020B7200000000000000" pitchFamily="34" charset="0"/>
              </a:rPr>
              <a:t>8h</a:t>
            </a:r>
          </a:p>
        </p:txBody>
      </p:sp>
      <p:sp>
        <p:nvSpPr>
          <p:cNvPr id="34" name="Line 54">
            <a:extLst>
              <a:ext uri="{FF2B5EF4-FFF2-40B4-BE49-F238E27FC236}">
                <a16:creationId xmlns:a16="http://schemas.microsoft.com/office/drawing/2014/main" id="{15118A8A-497A-291F-DD77-FF6B6D48CC4F}"/>
              </a:ext>
            </a:extLst>
          </p:cNvPr>
          <p:cNvSpPr>
            <a:spLocks noChangeShapeType="1"/>
          </p:cNvSpPr>
          <p:nvPr/>
        </p:nvSpPr>
        <p:spPr bwMode="auto">
          <a:xfrm>
            <a:off x="7396480" y="8291168"/>
            <a:ext cx="0" cy="1828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n-US" sz="9600" b="1">
              <a:solidFill>
                <a:srgbClr val="002060"/>
              </a:solidFill>
            </a:endParaRPr>
          </a:p>
        </p:txBody>
      </p:sp>
      <p:sp>
        <p:nvSpPr>
          <p:cNvPr id="35" name="Left Arrow 2">
            <a:extLst>
              <a:ext uri="{FF2B5EF4-FFF2-40B4-BE49-F238E27FC236}">
                <a16:creationId xmlns:a16="http://schemas.microsoft.com/office/drawing/2014/main" id="{79647FB5-13F9-AEC4-E92C-600BCB01D1D2}"/>
              </a:ext>
            </a:extLst>
          </p:cNvPr>
          <p:cNvSpPr/>
          <p:nvPr/>
        </p:nvSpPr>
        <p:spPr>
          <a:xfrm>
            <a:off x="5110480" y="8514081"/>
            <a:ext cx="1981200" cy="56515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b="1">
              <a:solidFill>
                <a:srgbClr val="002060"/>
              </a:solidFill>
            </a:endParaRPr>
          </a:p>
        </p:txBody>
      </p:sp>
      <p:sp>
        <p:nvSpPr>
          <p:cNvPr id="36" name="Text Box 55">
            <a:extLst>
              <a:ext uri="{FF2B5EF4-FFF2-40B4-BE49-F238E27FC236}">
                <a16:creationId xmlns:a16="http://schemas.microsoft.com/office/drawing/2014/main" id="{B249F0BB-802B-428D-926F-E74F62643873}"/>
              </a:ext>
            </a:extLst>
          </p:cNvPr>
          <p:cNvSpPr txBox="1">
            <a:spLocks noChangeArrowheads="1"/>
          </p:cNvSpPr>
          <p:nvPr/>
        </p:nvSpPr>
        <p:spPr bwMode="auto">
          <a:xfrm>
            <a:off x="2775863" y="7508240"/>
            <a:ext cx="20704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dirty="0">
                <a:solidFill>
                  <a:srgbClr val="002060"/>
                </a:solidFill>
                <a:latin typeface=".VnTime" panose="020B7200000000000000" pitchFamily="34" charset="0"/>
              </a:rPr>
              <a:t>t = 4h</a:t>
            </a:r>
          </a:p>
        </p:txBody>
      </p:sp>
      <p:sp>
        <p:nvSpPr>
          <p:cNvPr id="37" name="Text Box 56">
            <a:extLst>
              <a:ext uri="{FF2B5EF4-FFF2-40B4-BE49-F238E27FC236}">
                <a16:creationId xmlns:a16="http://schemas.microsoft.com/office/drawing/2014/main" id="{18D6C9A6-C1EE-40BE-A4AF-8EEDFC46DF07}"/>
              </a:ext>
            </a:extLst>
          </p:cNvPr>
          <p:cNvSpPr txBox="1">
            <a:spLocks noChangeArrowheads="1"/>
          </p:cNvSpPr>
          <p:nvPr/>
        </p:nvSpPr>
        <p:spPr bwMode="auto">
          <a:xfrm>
            <a:off x="7741923" y="7508240"/>
            <a:ext cx="22859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dirty="0">
                <a:solidFill>
                  <a:srgbClr val="002060"/>
                </a:solidFill>
                <a:latin typeface=".VnTime" panose="020B7200000000000000" pitchFamily="34" charset="0"/>
              </a:rPr>
              <a:t>t’ = 4h</a:t>
            </a:r>
          </a:p>
        </p:txBody>
      </p:sp>
      <p:sp>
        <p:nvSpPr>
          <p:cNvPr id="38" name="Text Box 55">
            <a:extLst>
              <a:ext uri="{FF2B5EF4-FFF2-40B4-BE49-F238E27FC236}">
                <a16:creationId xmlns:a16="http://schemas.microsoft.com/office/drawing/2014/main" id="{6E3D4815-D9D4-4BC3-B506-7B490A2A92D7}"/>
              </a:ext>
            </a:extLst>
          </p:cNvPr>
          <p:cNvSpPr txBox="1">
            <a:spLocks noChangeArrowheads="1"/>
          </p:cNvSpPr>
          <p:nvPr/>
        </p:nvSpPr>
        <p:spPr bwMode="auto">
          <a:xfrm>
            <a:off x="2754751" y="10362164"/>
            <a:ext cx="20704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dirty="0">
                <a:solidFill>
                  <a:srgbClr val="002060"/>
                </a:solidFill>
                <a:latin typeface=".VnTime" panose="020B7200000000000000" pitchFamily="34" charset="0"/>
              </a:rPr>
              <a:t>t = 2h</a:t>
            </a:r>
          </a:p>
        </p:txBody>
      </p:sp>
      <p:sp>
        <p:nvSpPr>
          <p:cNvPr id="39" name="Text Box 56">
            <a:extLst>
              <a:ext uri="{FF2B5EF4-FFF2-40B4-BE49-F238E27FC236}">
                <a16:creationId xmlns:a16="http://schemas.microsoft.com/office/drawing/2014/main" id="{4A94BF73-1708-442A-BBB7-E51D96C2599E}"/>
              </a:ext>
            </a:extLst>
          </p:cNvPr>
          <p:cNvSpPr txBox="1">
            <a:spLocks noChangeArrowheads="1"/>
          </p:cNvSpPr>
          <p:nvPr/>
        </p:nvSpPr>
        <p:spPr bwMode="auto">
          <a:xfrm>
            <a:off x="7720811" y="10362164"/>
            <a:ext cx="22859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4800" b="1" dirty="0">
                <a:solidFill>
                  <a:srgbClr val="002060"/>
                </a:solidFill>
                <a:latin typeface=".VnTime" panose="020B7200000000000000" pitchFamily="34" charset="0"/>
              </a:rPr>
              <a:t>t’ = 6h</a:t>
            </a:r>
          </a:p>
        </p:txBody>
      </p:sp>
      <p:sp>
        <p:nvSpPr>
          <p:cNvPr id="4" name="Arrow: Notched Right 3">
            <a:hlinkClick r:id="rId2" action="ppaction://hlinksldjump"/>
            <a:extLst>
              <a:ext uri="{FF2B5EF4-FFF2-40B4-BE49-F238E27FC236}">
                <a16:creationId xmlns:a16="http://schemas.microsoft.com/office/drawing/2014/main" id="{17FE65C0-41E7-4BA4-8280-E371F511BA99}"/>
              </a:ext>
            </a:extLst>
          </p:cNvPr>
          <p:cNvSpPr/>
          <p:nvPr/>
        </p:nvSpPr>
        <p:spPr>
          <a:xfrm>
            <a:off x="13549630" y="11356522"/>
            <a:ext cx="3774984" cy="1632856"/>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a:p>
        </p:txBody>
      </p:sp>
    </p:spTree>
    <p:extLst>
      <p:ext uri="{BB962C8B-B14F-4D97-AF65-F5344CB8AC3E}">
        <p14:creationId xmlns:p14="http://schemas.microsoft.com/office/powerpoint/2010/main" val="130555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down)">
                                      <p:cBhvr>
                                        <p:cTn id="10" dur="500"/>
                                        <p:tgtEl>
                                          <p:spTgt spid="2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down)">
                                      <p:cBhvr>
                                        <p:cTn id="13" dur="500"/>
                                        <p:tgtEl>
                                          <p:spTgt spid="2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down)">
                                      <p:cBhvr>
                                        <p:cTn id="16" dur="500"/>
                                        <p:tgtEl>
                                          <p:spTgt spid="2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down)">
                                      <p:cBhvr>
                                        <p:cTn id="19" dur="500"/>
                                        <p:tgtEl>
                                          <p:spTgt spid="35"/>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down)">
                                      <p:cBhvr>
                                        <p:cTn id="22" dur="500"/>
                                        <p:tgtEl>
                                          <p:spTgt spid="30"/>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wipe(down)">
                                      <p:cBhvr>
                                        <p:cTn id="25" dur="500"/>
                                        <p:tgtEl>
                                          <p:spTgt spid="34"/>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down)">
                                      <p:cBhvr>
                                        <p:cTn id="28" dur="500"/>
                                        <p:tgtEl>
                                          <p:spTgt spid="23"/>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down)">
                                      <p:cBhvr>
                                        <p:cTn id="31" dur="500"/>
                                        <p:tgtEl>
                                          <p:spTgt spid="24"/>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down)">
                                      <p:cBhvr>
                                        <p:cTn id="34" dur="500"/>
                                        <p:tgtEl>
                                          <p:spTgt spid="21"/>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wipe(down)">
                                      <p:cBhvr>
                                        <p:cTn id="37" dur="500"/>
                                        <p:tgtEl>
                                          <p:spTgt spid="33"/>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down)">
                                      <p:cBhvr>
                                        <p:cTn id="40" dur="500"/>
                                        <p:tgtEl>
                                          <p:spTgt spid="31"/>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ipe(down)">
                                      <p:cBhvr>
                                        <p:cTn id="43" dur="500"/>
                                        <p:tgtEl>
                                          <p:spTgt spid="32"/>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wipe(down)">
                                      <p:cBhvr>
                                        <p:cTn id="46" dur="500"/>
                                        <p:tgtEl>
                                          <p:spTgt spid="36"/>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wipe(down)">
                                      <p:cBhvr>
                                        <p:cTn id="49" dur="500"/>
                                        <p:tgtEl>
                                          <p:spTgt spid="37"/>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wipe(down)">
                                      <p:cBhvr>
                                        <p:cTn id="52" dur="500"/>
                                        <p:tgtEl>
                                          <p:spTgt spid="38"/>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wipe(down)">
                                      <p:cBhvr>
                                        <p:cTn id="5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0" grpId="0" animBg="1"/>
      <p:bldP spid="21" grpId="0" animBg="1"/>
      <p:bldP spid="23" grpId="0"/>
      <p:bldP spid="24" grpId="0" animBg="1"/>
      <p:bldP spid="25" grpId="0" animBg="1"/>
      <p:bldP spid="29" grpId="0"/>
      <p:bldP spid="30" grpId="0"/>
      <p:bldP spid="31" grpId="0"/>
      <p:bldP spid="32" grpId="0"/>
      <p:bldP spid="33" grpId="0"/>
      <p:bldP spid="34" grpId="0" animBg="1"/>
      <p:bldP spid="35" grpId="0" animBg="1"/>
      <p:bldP spid="36" grpId="0"/>
      <p:bldP spid="37" grpId="0"/>
      <p:bldP spid="38"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CA7FECE-7333-E843-B37F-242E814EF53A}"/>
              </a:ext>
            </a:extLst>
          </p:cNvPr>
          <p:cNvSpPr txBox="1">
            <a:spLocks/>
          </p:cNvSpPr>
          <p:nvPr/>
        </p:nvSpPr>
        <p:spPr>
          <a:xfrm>
            <a:off x="3350088" y="1187008"/>
            <a:ext cx="115878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Hai phương pháp sx GTTD</a:t>
            </a:r>
          </a:p>
        </p:txBody>
      </p:sp>
      <p:sp>
        <p:nvSpPr>
          <p:cNvPr id="5" name="Text Box 14">
            <a:extLst>
              <a:ext uri="{FF2B5EF4-FFF2-40B4-BE49-F238E27FC236}">
                <a16:creationId xmlns:a16="http://schemas.microsoft.com/office/drawing/2014/main" id="{8547F7AA-E003-52ED-1D8D-43555D664440}"/>
              </a:ext>
            </a:extLst>
          </p:cNvPr>
          <p:cNvSpPr txBox="1">
            <a:spLocks noChangeArrowheads="1"/>
          </p:cNvSpPr>
          <p:nvPr/>
        </p:nvSpPr>
        <p:spPr bwMode="ltGray">
          <a:xfrm>
            <a:off x="1528619" y="2936598"/>
            <a:ext cx="1552257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r>
              <a:rPr lang="en-US" altLang="en-US" sz="6000" b="1">
                <a:solidFill>
                  <a:srgbClr val="002060"/>
                </a:solidFill>
                <a:latin typeface="Arial" panose="020B0604020202020204" pitchFamily="34" charset="0"/>
                <a:sym typeface="Wingdings" panose="05000000000000000000" pitchFamily="2" charset="2"/>
              </a:rPr>
              <a:t>PP</a:t>
            </a:r>
            <a:r>
              <a:rPr lang="vi-VN" altLang="en-US" sz="6000" b="1">
                <a:solidFill>
                  <a:srgbClr val="002060"/>
                </a:solidFill>
                <a:latin typeface="Arial" panose="020B0604020202020204" pitchFamily="34" charset="0"/>
                <a:sym typeface="Wingdings" panose="05000000000000000000" pitchFamily="2" charset="2"/>
              </a:rPr>
              <a:t> SX giá trị thặng dư </a:t>
            </a:r>
            <a:r>
              <a:rPr lang="en-US" altLang="en-US" sz="6000" b="1">
                <a:solidFill>
                  <a:srgbClr val="002060"/>
                </a:solidFill>
                <a:latin typeface="Arial" panose="020B0604020202020204" pitchFamily="34" charset="0"/>
                <a:sym typeface="Wingdings" panose="05000000000000000000" pitchFamily="2" charset="2"/>
              </a:rPr>
              <a:t>tương </a:t>
            </a:r>
            <a:r>
              <a:rPr lang="vi-VN" altLang="en-US" sz="6000" b="1">
                <a:solidFill>
                  <a:srgbClr val="002060"/>
                </a:solidFill>
                <a:latin typeface="Arial" panose="020B0604020202020204" pitchFamily="34" charset="0"/>
                <a:sym typeface="Wingdings" panose="05000000000000000000" pitchFamily="2" charset="2"/>
              </a:rPr>
              <a:t>đối</a:t>
            </a:r>
            <a:endParaRPr lang="en-US" altLang="en-US" sz="6000" b="1">
              <a:solidFill>
                <a:srgbClr val="002060"/>
              </a:solidFill>
              <a:latin typeface="Arial" panose="020B0604020202020204" pitchFamily="34" charset="0"/>
              <a:sym typeface="Wingdings" panose="05000000000000000000" pitchFamily="2" charset="2"/>
            </a:endParaRPr>
          </a:p>
          <a:p>
            <a:pPr algn="just"/>
            <a:endParaRPr lang="en-US" altLang="en-US" sz="6000" b="1">
              <a:solidFill>
                <a:srgbClr val="002060"/>
              </a:solidFill>
              <a:latin typeface="Arial" panose="020B0604020202020204" pitchFamily="34" charset="0"/>
              <a:sym typeface="Wingdings" panose="05000000000000000000" pitchFamily="2" charset="2"/>
            </a:endParaRPr>
          </a:p>
        </p:txBody>
      </p:sp>
      <p:sp>
        <p:nvSpPr>
          <p:cNvPr id="6" name="Text Box 3">
            <a:extLst>
              <a:ext uri="{FF2B5EF4-FFF2-40B4-BE49-F238E27FC236}">
                <a16:creationId xmlns:a16="http://schemas.microsoft.com/office/drawing/2014/main" id="{EF9D4842-C2EA-DC91-0FF5-49AD18605FD9}"/>
              </a:ext>
            </a:extLst>
          </p:cNvPr>
          <p:cNvSpPr txBox="1">
            <a:spLocks noChangeArrowheads="1"/>
          </p:cNvSpPr>
          <p:nvPr/>
        </p:nvSpPr>
        <p:spPr bwMode="auto">
          <a:xfrm>
            <a:off x="969818" y="2254887"/>
            <a:ext cx="16154400" cy="9350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eaLnBrk="1" hangingPunct="1"/>
            <a:endParaRPr lang="en-US" altLang="en-US" sz="3600" b="1" dirty="0">
              <a:solidFill>
                <a:srgbClr val="002060"/>
              </a:solidFill>
              <a:latin typeface=".VnTimeH" panose="020B7200000000000000" pitchFamily="34" charset="0"/>
              <a:sym typeface="Wingdings 3" panose="05040102010807070707" pitchFamily="18" charset="2"/>
            </a:endParaRPr>
          </a:p>
          <a:p>
            <a:pPr eaLnBrk="1" hangingPunct="1"/>
            <a:endParaRPr lang="en-US" altLang="en-US" sz="3600" b="1" dirty="0">
              <a:solidFill>
                <a:srgbClr val="002060"/>
              </a:solidFill>
              <a:latin typeface=".VnTimeH" panose="020B7200000000000000" pitchFamily="34" charset="0"/>
              <a:sym typeface="Wingdings 3" panose="05040102010807070707" pitchFamily="18" charset="2"/>
            </a:endParaRPr>
          </a:p>
          <a:p>
            <a:pPr eaLnBrk="1" hangingPunct="1"/>
            <a:endParaRPr lang="en-US" altLang="en-US" sz="5600" b="1" i="1" dirty="0">
              <a:solidFill>
                <a:srgbClr val="002060"/>
              </a:solidFill>
              <a:latin typeface=".VnTime" panose="020B7200000000000000" pitchFamily="34" charset="0"/>
              <a:sym typeface="Wingdings 3" panose="05040102010807070707" pitchFamily="18" charset="2"/>
            </a:endParaRPr>
          </a:p>
          <a:p>
            <a:pPr eaLnBrk="1" hangingPunct="1"/>
            <a:r>
              <a:rPr lang="en-US" altLang="en-US" sz="4800" b="1" dirty="0">
                <a:solidFill>
                  <a:srgbClr val="002060"/>
                </a:solidFill>
                <a:latin typeface="Arial" panose="020B0604020202020204" pitchFamily="34" charset="0"/>
                <a:sym typeface="Wingdings 3" panose="05040102010807070707" pitchFamily="18" charset="2"/>
              </a:rPr>
              <a:t>                                                                              </a:t>
            </a:r>
            <a:r>
              <a:rPr lang="en-US" altLang="en-US" sz="4400" b="1" dirty="0" err="1">
                <a:solidFill>
                  <a:srgbClr val="002060"/>
                </a:solidFill>
                <a:latin typeface="Arial" panose="020B0604020202020204" pitchFamily="34" charset="0"/>
                <a:sym typeface="Wingdings 3" panose="05040102010807070707" pitchFamily="18" charset="2"/>
              </a:rPr>
              <a:t>K.đổi</a:t>
            </a:r>
            <a:r>
              <a:rPr lang="en-US" altLang="en-US" sz="4400" b="1" dirty="0">
                <a:solidFill>
                  <a:srgbClr val="002060"/>
                </a:solidFill>
                <a:latin typeface="Arial" panose="020B0604020202020204" pitchFamily="34" charset="0"/>
                <a:sym typeface="Wingdings 3" panose="05040102010807070707" pitchFamily="18" charset="2"/>
              </a:rPr>
              <a:t> (8h)</a:t>
            </a:r>
          </a:p>
          <a:p>
            <a:pPr eaLnBrk="1" hangingPunct="1">
              <a:lnSpc>
                <a:spcPct val="90000"/>
              </a:lnSpc>
            </a:pPr>
            <a:r>
              <a:rPr lang="en-US" altLang="en-US" sz="4800" b="1" dirty="0">
                <a:solidFill>
                  <a:srgbClr val="002060"/>
                </a:solidFill>
                <a:latin typeface="Arial" panose="020B0604020202020204" pitchFamily="34" charset="0"/>
                <a:sym typeface="Wingdings 3" panose="05040102010807070707" pitchFamily="18" charset="2"/>
              </a:rPr>
              <a:t>                 </a:t>
            </a:r>
            <a:r>
              <a:rPr lang="en-US" altLang="en-US" sz="4000" b="1" dirty="0">
                <a:solidFill>
                  <a:srgbClr val="002060"/>
                </a:solidFill>
                <a:latin typeface="Arial" panose="020B0604020202020204" pitchFamily="34" charset="0"/>
                <a:sym typeface="Wingdings 3" panose="05040102010807070707" pitchFamily="18" charset="2"/>
              </a:rPr>
              <a:t>TGLĐTY</a:t>
            </a:r>
            <a:r>
              <a:rPr lang="en-US" altLang="en-US" sz="4800" b="1" dirty="0">
                <a:solidFill>
                  <a:srgbClr val="002060"/>
                </a:solidFill>
                <a:latin typeface="Arial" panose="020B0604020202020204" pitchFamily="34" charset="0"/>
                <a:sym typeface="Wingdings 3" panose="05040102010807070707" pitchFamily="18" charset="2"/>
              </a:rPr>
              <a:t> (t)                	</a:t>
            </a:r>
            <a:r>
              <a:rPr lang="en-US" altLang="en-US" sz="4000" b="1" dirty="0">
                <a:solidFill>
                  <a:srgbClr val="002060"/>
                </a:solidFill>
                <a:latin typeface="Arial" panose="020B0604020202020204" pitchFamily="34" charset="0"/>
                <a:sym typeface="Wingdings 3" panose="05040102010807070707" pitchFamily="18" charset="2"/>
              </a:rPr>
              <a:t>TGLĐTD (t’) </a:t>
            </a:r>
            <a:r>
              <a:rPr lang="en-US" altLang="en-US" sz="4800" b="1" dirty="0">
                <a:solidFill>
                  <a:srgbClr val="002060"/>
                </a:solidFill>
                <a:latin typeface="Arial" panose="020B0604020202020204" pitchFamily="34" charset="0"/>
                <a:sym typeface="Wingdings 3" panose="05040102010807070707" pitchFamily="18" charset="2"/>
              </a:rPr>
              <a:t>      </a:t>
            </a:r>
          </a:p>
          <a:p>
            <a:pPr eaLnBrk="1" hangingPunct="1">
              <a:lnSpc>
                <a:spcPct val="130000"/>
              </a:lnSpc>
            </a:pPr>
            <a:r>
              <a:rPr lang="en-US" altLang="en-US" sz="4800" b="1" dirty="0">
                <a:solidFill>
                  <a:srgbClr val="002060"/>
                </a:solidFill>
                <a:latin typeface=".VnTime" panose="020B7200000000000000" pitchFamily="34" charset="0"/>
                <a:sym typeface="Wingdings 3" panose="05040102010807070707" pitchFamily="18" charset="2"/>
              </a:rPr>
              <a:t>    </a:t>
            </a:r>
            <a:r>
              <a:rPr lang="en-US" altLang="en-US" sz="4400" b="1" dirty="0">
                <a:solidFill>
                  <a:srgbClr val="002060"/>
                </a:solidFill>
                <a:latin typeface="Arial" panose="020B0604020202020204" pitchFamily="34" charset="0"/>
                <a:cs typeface="Arial" panose="020B0604020202020204" pitchFamily="34" charset="0"/>
                <a:sym typeface="Wingdings" panose="05000000000000000000" pitchFamily="2" charset="2"/>
              </a:rPr>
              <a:t> </a:t>
            </a:r>
            <a:r>
              <a:rPr lang="en-US" altLang="en-US" sz="4400" b="1" dirty="0" err="1">
                <a:solidFill>
                  <a:srgbClr val="002060"/>
                </a:solidFill>
                <a:latin typeface="Arial" panose="020B0604020202020204" pitchFamily="34" charset="0"/>
                <a:cs typeface="Arial" panose="020B0604020202020204" pitchFamily="34" charset="0"/>
                <a:sym typeface="Wingdings 3" panose="05040102010807070707" pitchFamily="18" charset="2"/>
              </a:rPr>
              <a:t>Phải</a:t>
            </a:r>
            <a:r>
              <a:rPr lang="en-US" altLang="en-US" sz="4400" b="1" dirty="0">
                <a:solidFill>
                  <a:srgbClr val="002060"/>
                </a:solidFill>
                <a:latin typeface="Arial" panose="020B0604020202020204" pitchFamily="34" charset="0"/>
                <a:cs typeface="Arial" panose="020B0604020202020204" pitchFamily="34" charset="0"/>
                <a:sym typeface="Wingdings 3" panose="05040102010807070707" pitchFamily="18" charset="2"/>
              </a:rPr>
              <a:t> </a:t>
            </a:r>
            <a:r>
              <a:rPr lang="en-US" altLang="en-US" sz="4400" b="1" dirty="0" err="1">
                <a:solidFill>
                  <a:srgbClr val="002060"/>
                </a:solidFill>
                <a:latin typeface="Arial" panose="020B0604020202020204" pitchFamily="34" charset="0"/>
                <a:cs typeface="Arial" panose="020B0604020202020204" pitchFamily="34" charset="0"/>
                <a:sym typeface="Wingdings 3" panose="05040102010807070707" pitchFamily="18" charset="2"/>
              </a:rPr>
              <a:t>giảm</a:t>
            </a:r>
            <a:r>
              <a:rPr lang="en-US" altLang="en-US" sz="4400" b="1" dirty="0">
                <a:solidFill>
                  <a:srgbClr val="002060"/>
                </a:solidFill>
                <a:latin typeface="Arial" panose="020B0604020202020204" pitchFamily="34" charset="0"/>
                <a:cs typeface="Arial" panose="020B0604020202020204" pitchFamily="34" charset="0"/>
                <a:sym typeface="Wingdings 3" panose="05040102010807070707" pitchFamily="18" charset="2"/>
              </a:rPr>
              <a:t> t </a:t>
            </a:r>
            <a:r>
              <a:rPr lang="en-US" altLang="en-US" sz="4400" b="1" dirty="0" err="1">
                <a:solidFill>
                  <a:srgbClr val="002060"/>
                </a:solidFill>
                <a:latin typeface="Arial" panose="020B0604020202020204" pitchFamily="34" charset="0"/>
                <a:cs typeface="Arial" panose="020B0604020202020204" pitchFamily="34" charset="0"/>
                <a:sym typeface="Wingdings 3" panose="05040102010807070707" pitchFamily="18" charset="2"/>
              </a:rPr>
              <a:t>để</a:t>
            </a:r>
            <a:r>
              <a:rPr lang="en-US" altLang="en-US" sz="4400" b="1" dirty="0">
                <a:solidFill>
                  <a:srgbClr val="002060"/>
                </a:solidFill>
                <a:latin typeface="Arial" panose="020B0604020202020204" pitchFamily="34" charset="0"/>
                <a:cs typeface="Arial" panose="020B0604020202020204" pitchFamily="34" charset="0"/>
                <a:sym typeface="Wingdings 3" panose="05040102010807070707" pitchFamily="18" charset="2"/>
              </a:rPr>
              <a:t> </a:t>
            </a:r>
            <a:r>
              <a:rPr lang="en-US" altLang="en-US" sz="4400" b="1" dirty="0" err="1">
                <a:solidFill>
                  <a:srgbClr val="002060"/>
                </a:solidFill>
                <a:latin typeface="Arial" panose="020B0604020202020204" pitchFamily="34" charset="0"/>
                <a:cs typeface="Arial" panose="020B0604020202020204" pitchFamily="34" charset="0"/>
                <a:sym typeface="Wingdings 3" panose="05040102010807070707" pitchFamily="18" charset="2"/>
              </a:rPr>
              <a:t>kéo</a:t>
            </a:r>
            <a:r>
              <a:rPr lang="en-US" altLang="en-US" sz="4400" b="1" dirty="0">
                <a:solidFill>
                  <a:srgbClr val="002060"/>
                </a:solidFill>
                <a:latin typeface="Arial" panose="020B0604020202020204" pitchFamily="34" charset="0"/>
                <a:cs typeface="Arial" panose="020B0604020202020204" pitchFamily="34" charset="0"/>
                <a:sym typeface="Wingdings 3" panose="05040102010807070707" pitchFamily="18" charset="2"/>
              </a:rPr>
              <a:t> </a:t>
            </a:r>
            <a:r>
              <a:rPr lang="en-US" altLang="en-US" sz="4400" b="1" dirty="0" err="1">
                <a:solidFill>
                  <a:srgbClr val="002060"/>
                </a:solidFill>
                <a:latin typeface="Arial" panose="020B0604020202020204" pitchFamily="34" charset="0"/>
                <a:cs typeface="Arial" panose="020B0604020202020204" pitchFamily="34" charset="0"/>
                <a:sym typeface="Wingdings 3" panose="05040102010807070707" pitchFamily="18" charset="2"/>
              </a:rPr>
              <a:t>dài</a:t>
            </a:r>
            <a:r>
              <a:rPr lang="en-US" altLang="en-US" sz="4400" b="1" dirty="0">
                <a:solidFill>
                  <a:srgbClr val="002060"/>
                </a:solidFill>
                <a:latin typeface="Arial" panose="020B0604020202020204" pitchFamily="34" charset="0"/>
                <a:cs typeface="Arial" panose="020B0604020202020204" pitchFamily="34" charset="0"/>
                <a:sym typeface="Wingdings 3" panose="05040102010807070707" pitchFamily="18" charset="2"/>
              </a:rPr>
              <a:t> </a:t>
            </a:r>
            <a:r>
              <a:rPr lang="en-US" altLang="en-US" sz="4400" b="1" dirty="0" err="1">
                <a:solidFill>
                  <a:srgbClr val="002060"/>
                </a:solidFill>
                <a:latin typeface="Arial" panose="020B0604020202020204" pitchFamily="34" charset="0"/>
                <a:cs typeface="Arial" panose="020B0604020202020204" pitchFamily="34" charset="0"/>
                <a:sym typeface="Wingdings 3" panose="05040102010807070707" pitchFamily="18" charset="2"/>
              </a:rPr>
              <a:t>tương</a:t>
            </a:r>
            <a:r>
              <a:rPr lang="en-US" altLang="en-US" sz="4400" b="1" dirty="0">
                <a:solidFill>
                  <a:srgbClr val="002060"/>
                </a:solidFill>
                <a:latin typeface="Arial" panose="020B0604020202020204" pitchFamily="34" charset="0"/>
                <a:cs typeface="Arial" panose="020B0604020202020204" pitchFamily="34" charset="0"/>
                <a:sym typeface="Wingdings 3" panose="05040102010807070707" pitchFamily="18" charset="2"/>
              </a:rPr>
              <a:t> </a:t>
            </a:r>
            <a:r>
              <a:rPr lang="en-US" altLang="en-US" sz="4400" b="1" dirty="0" err="1">
                <a:solidFill>
                  <a:srgbClr val="002060"/>
                </a:solidFill>
                <a:latin typeface="Arial" panose="020B0604020202020204" pitchFamily="34" charset="0"/>
                <a:cs typeface="Arial" panose="020B0604020202020204" pitchFamily="34" charset="0"/>
                <a:sym typeface="Wingdings 3" panose="05040102010807070707" pitchFamily="18" charset="2"/>
              </a:rPr>
              <a:t>ứng</a:t>
            </a:r>
            <a:r>
              <a:rPr lang="en-US" altLang="en-US" sz="4400" b="1" dirty="0">
                <a:solidFill>
                  <a:srgbClr val="002060"/>
                </a:solidFill>
                <a:latin typeface="Arial" panose="020B0604020202020204" pitchFamily="34" charset="0"/>
                <a:cs typeface="Arial" panose="020B0604020202020204" pitchFamily="34" charset="0"/>
                <a:sym typeface="Wingdings 3" panose="05040102010807070707" pitchFamily="18" charset="2"/>
              </a:rPr>
              <a:t> t’</a:t>
            </a:r>
          </a:p>
          <a:p>
            <a:pPr eaLnBrk="1" hangingPunct="1"/>
            <a:endParaRPr lang="en-US" altLang="en-US" sz="4400" b="1" dirty="0">
              <a:solidFill>
                <a:srgbClr val="002060"/>
              </a:solidFill>
              <a:latin typeface="Arial" panose="020B0604020202020204" pitchFamily="34" charset="0"/>
              <a:cs typeface="Arial" panose="020B0604020202020204" pitchFamily="34" charset="0"/>
              <a:sym typeface="Wingdings 3" panose="05040102010807070707" pitchFamily="18" charset="2"/>
            </a:endParaRPr>
          </a:p>
          <a:p>
            <a:pPr eaLnBrk="1" hangingPunct="1"/>
            <a:endParaRPr lang="en-US" altLang="en-US" sz="5600" b="1" i="1" dirty="0">
              <a:solidFill>
                <a:srgbClr val="002060"/>
              </a:solidFill>
              <a:latin typeface=".VnTime" panose="020B7200000000000000" pitchFamily="34" charset="0"/>
              <a:sym typeface="Wingdings 3" panose="05040102010807070707" pitchFamily="18" charset="2"/>
            </a:endParaRPr>
          </a:p>
          <a:p>
            <a:pPr eaLnBrk="1" hangingPunct="1"/>
            <a:endParaRPr lang="en-US" altLang="en-US" sz="5600" b="1" i="1" dirty="0">
              <a:solidFill>
                <a:srgbClr val="002060"/>
              </a:solidFill>
              <a:latin typeface=".VnTime" panose="020B7200000000000000" pitchFamily="34" charset="0"/>
              <a:sym typeface="Wingdings 3" panose="05040102010807070707" pitchFamily="18" charset="2"/>
            </a:endParaRPr>
          </a:p>
          <a:p>
            <a:pPr eaLnBrk="1" hangingPunct="1"/>
            <a:endParaRPr lang="en-US" altLang="en-US" sz="5600" b="1" i="1" dirty="0">
              <a:solidFill>
                <a:srgbClr val="002060"/>
              </a:solidFill>
              <a:latin typeface=".VnTime" panose="020B7200000000000000" pitchFamily="34" charset="0"/>
              <a:sym typeface="Wingdings 3" panose="05040102010807070707" pitchFamily="18" charset="2"/>
            </a:endParaRPr>
          </a:p>
          <a:p>
            <a:pPr eaLnBrk="1" hangingPunct="1">
              <a:spcBef>
                <a:spcPct val="50000"/>
              </a:spcBef>
            </a:pPr>
            <a:endParaRPr lang="en-US" altLang="en-US" sz="3600" b="1" dirty="0">
              <a:solidFill>
                <a:srgbClr val="002060"/>
              </a:solidFill>
              <a:latin typeface=".VnTimeH" panose="020B7200000000000000" pitchFamily="34" charset="0"/>
            </a:endParaRPr>
          </a:p>
          <a:p>
            <a:pPr eaLnBrk="1" hangingPunct="1">
              <a:spcBef>
                <a:spcPct val="50000"/>
              </a:spcBef>
            </a:pPr>
            <a:endParaRPr lang="en-US" altLang="en-US" sz="3600" b="1" dirty="0">
              <a:solidFill>
                <a:srgbClr val="002060"/>
              </a:solidFill>
              <a:latin typeface=".VnTimeH" panose="020B7200000000000000" pitchFamily="34" charset="0"/>
            </a:endParaRPr>
          </a:p>
        </p:txBody>
      </p:sp>
      <p:sp>
        <p:nvSpPr>
          <p:cNvPr id="7" name="Line 4">
            <a:extLst>
              <a:ext uri="{FF2B5EF4-FFF2-40B4-BE49-F238E27FC236}">
                <a16:creationId xmlns:a16="http://schemas.microsoft.com/office/drawing/2014/main" id="{F7C835F5-D328-C088-BB56-DBB82BDDE119}"/>
              </a:ext>
            </a:extLst>
          </p:cNvPr>
          <p:cNvSpPr>
            <a:spLocks noChangeShapeType="1"/>
          </p:cNvSpPr>
          <p:nvPr/>
        </p:nvSpPr>
        <p:spPr bwMode="auto">
          <a:xfrm flipV="1">
            <a:off x="5271942" y="7020560"/>
            <a:ext cx="0" cy="1219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
        <p:nvSpPr>
          <p:cNvPr id="8" name="Line 5">
            <a:extLst>
              <a:ext uri="{FF2B5EF4-FFF2-40B4-BE49-F238E27FC236}">
                <a16:creationId xmlns:a16="http://schemas.microsoft.com/office/drawing/2014/main" id="{A9391D02-A4F5-D2BC-5804-86F3533748DC}"/>
              </a:ext>
            </a:extLst>
          </p:cNvPr>
          <p:cNvSpPr>
            <a:spLocks noChangeShapeType="1"/>
          </p:cNvSpPr>
          <p:nvPr/>
        </p:nvSpPr>
        <p:spPr bwMode="auto">
          <a:xfrm flipH="1">
            <a:off x="6992792" y="8642368"/>
            <a:ext cx="1676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
        <p:nvSpPr>
          <p:cNvPr id="9" name="Text Box 7">
            <a:extLst>
              <a:ext uri="{FF2B5EF4-FFF2-40B4-BE49-F238E27FC236}">
                <a16:creationId xmlns:a16="http://schemas.microsoft.com/office/drawing/2014/main" id="{9AF0C2B3-2ECB-EDFC-126B-CF38067BD8CD}"/>
              </a:ext>
            </a:extLst>
          </p:cNvPr>
          <p:cNvSpPr txBox="1">
            <a:spLocks noChangeArrowheads="1"/>
          </p:cNvSpPr>
          <p:nvPr/>
        </p:nvSpPr>
        <p:spPr bwMode="auto">
          <a:xfrm>
            <a:off x="2877992" y="8242937"/>
            <a:ext cx="48768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eaLnBrk="1" hangingPunct="1">
              <a:spcBef>
                <a:spcPct val="50000"/>
              </a:spcBef>
            </a:pPr>
            <a:r>
              <a:rPr lang="en-US" altLang="en-US" sz="4000" b="1">
                <a:solidFill>
                  <a:srgbClr val="002060"/>
                </a:solidFill>
                <a:latin typeface="Arial" panose="020B0604020202020204" pitchFamily="34" charset="0"/>
                <a:cs typeface="Arial" panose="020B0604020202020204" pitchFamily="34" charset="0"/>
              </a:rPr>
              <a:t>Giảm giá trị SLĐ</a:t>
            </a:r>
          </a:p>
        </p:txBody>
      </p:sp>
      <p:sp>
        <p:nvSpPr>
          <p:cNvPr id="10" name="Text Box 8">
            <a:extLst>
              <a:ext uri="{FF2B5EF4-FFF2-40B4-BE49-F238E27FC236}">
                <a16:creationId xmlns:a16="http://schemas.microsoft.com/office/drawing/2014/main" id="{848D2805-7921-FBCA-C180-266B8A72EE6E}"/>
              </a:ext>
            </a:extLst>
          </p:cNvPr>
          <p:cNvSpPr txBox="1">
            <a:spLocks noChangeArrowheads="1"/>
          </p:cNvSpPr>
          <p:nvPr/>
        </p:nvSpPr>
        <p:spPr bwMode="auto">
          <a:xfrm>
            <a:off x="8669192" y="8242937"/>
            <a:ext cx="5181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eaLnBrk="1" hangingPunct="1">
              <a:spcBef>
                <a:spcPct val="50000"/>
              </a:spcBef>
            </a:pPr>
            <a:r>
              <a:rPr lang="en-US" altLang="en-US" sz="4000" b="1">
                <a:solidFill>
                  <a:srgbClr val="002060"/>
                </a:solidFill>
                <a:latin typeface="Arial" panose="020B0604020202020204" pitchFamily="34" charset="0"/>
                <a:cs typeface="Arial" panose="020B0604020202020204" pitchFamily="34" charset="0"/>
              </a:rPr>
              <a:t>Giảm giá trị TLSH</a:t>
            </a:r>
          </a:p>
        </p:txBody>
      </p:sp>
      <p:sp>
        <p:nvSpPr>
          <p:cNvPr id="11" name="Text Box 9">
            <a:extLst>
              <a:ext uri="{FF2B5EF4-FFF2-40B4-BE49-F238E27FC236}">
                <a16:creationId xmlns:a16="http://schemas.microsoft.com/office/drawing/2014/main" id="{18BA9CBD-FD85-815D-E849-A4631DAEDC07}"/>
              </a:ext>
            </a:extLst>
          </p:cNvPr>
          <p:cNvSpPr txBox="1">
            <a:spLocks noChangeArrowheads="1"/>
          </p:cNvSpPr>
          <p:nvPr/>
        </p:nvSpPr>
        <p:spPr bwMode="auto">
          <a:xfrm>
            <a:off x="6535592" y="9916160"/>
            <a:ext cx="5943600" cy="16312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eaLnBrk="1" hangingPunct="1">
              <a:spcBef>
                <a:spcPct val="50000"/>
              </a:spcBef>
            </a:pPr>
            <a:r>
              <a:rPr lang="en-US" altLang="en-US" sz="4000" b="1">
                <a:solidFill>
                  <a:srgbClr val="002060"/>
                </a:solidFill>
                <a:latin typeface="Arial" panose="020B0604020202020204" pitchFamily="34" charset="0"/>
              </a:rPr>
              <a:t>Tăng NSLĐ trong </a:t>
            </a:r>
          </a:p>
          <a:p>
            <a:pPr algn="ctr" eaLnBrk="1" hangingPunct="1">
              <a:spcBef>
                <a:spcPct val="50000"/>
              </a:spcBef>
            </a:pPr>
            <a:r>
              <a:rPr lang="en-US" altLang="en-US" sz="4000" b="1">
                <a:solidFill>
                  <a:srgbClr val="002060"/>
                </a:solidFill>
                <a:latin typeface="Arial" panose="020B0604020202020204" pitchFamily="34" charset="0"/>
              </a:rPr>
              <a:t>các ngành SX TLSH</a:t>
            </a:r>
          </a:p>
        </p:txBody>
      </p:sp>
      <p:sp>
        <p:nvSpPr>
          <p:cNvPr id="12" name="Text Box 10">
            <a:extLst>
              <a:ext uri="{FF2B5EF4-FFF2-40B4-BE49-F238E27FC236}">
                <a16:creationId xmlns:a16="http://schemas.microsoft.com/office/drawing/2014/main" id="{366595BB-441A-6B61-6025-188397971CFE}"/>
              </a:ext>
            </a:extLst>
          </p:cNvPr>
          <p:cNvSpPr txBox="1">
            <a:spLocks noChangeArrowheads="1"/>
          </p:cNvSpPr>
          <p:nvPr/>
        </p:nvSpPr>
        <p:spPr bwMode="auto">
          <a:xfrm>
            <a:off x="13850792" y="9458961"/>
            <a:ext cx="39624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eaLnBrk="1" hangingPunct="1">
              <a:spcBef>
                <a:spcPct val="50000"/>
              </a:spcBef>
            </a:pPr>
            <a:r>
              <a:rPr lang="en-US" altLang="en-US" sz="4000" b="1">
                <a:solidFill>
                  <a:srgbClr val="002060"/>
                </a:solidFill>
                <a:latin typeface="Arial" panose="020B0604020202020204" pitchFamily="34" charset="0"/>
                <a:cs typeface="Arial" panose="020B0604020202020204" pitchFamily="34" charset="0"/>
              </a:rPr>
              <a:t>Tăng NSLĐ trong các ngành liên quan</a:t>
            </a:r>
          </a:p>
        </p:txBody>
      </p:sp>
      <p:sp>
        <p:nvSpPr>
          <p:cNvPr id="13" name="Line 11">
            <a:extLst>
              <a:ext uri="{FF2B5EF4-FFF2-40B4-BE49-F238E27FC236}">
                <a16:creationId xmlns:a16="http://schemas.microsoft.com/office/drawing/2014/main" id="{D6618A20-92E6-3374-8FE2-7D4714AB737B}"/>
              </a:ext>
            </a:extLst>
          </p:cNvPr>
          <p:cNvSpPr>
            <a:spLocks noChangeShapeType="1"/>
          </p:cNvSpPr>
          <p:nvPr/>
        </p:nvSpPr>
        <p:spPr bwMode="auto">
          <a:xfrm flipV="1">
            <a:off x="10269392" y="9036686"/>
            <a:ext cx="0" cy="1066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
        <p:nvSpPr>
          <p:cNvPr id="14" name="Line 12">
            <a:extLst>
              <a:ext uri="{FF2B5EF4-FFF2-40B4-BE49-F238E27FC236}">
                <a16:creationId xmlns:a16="http://schemas.microsoft.com/office/drawing/2014/main" id="{D1D843BC-4EE4-4E81-8CB3-3FFC8681103D}"/>
              </a:ext>
            </a:extLst>
          </p:cNvPr>
          <p:cNvSpPr>
            <a:spLocks noChangeShapeType="1"/>
          </p:cNvSpPr>
          <p:nvPr/>
        </p:nvSpPr>
        <p:spPr bwMode="auto">
          <a:xfrm flipH="1">
            <a:off x="12174392" y="10830560"/>
            <a:ext cx="1828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
        <p:nvSpPr>
          <p:cNvPr id="15" name="AutoShape 13">
            <a:extLst>
              <a:ext uri="{FF2B5EF4-FFF2-40B4-BE49-F238E27FC236}">
                <a16:creationId xmlns:a16="http://schemas.microsoft.com/office/drawing/2014/main" id="{16635C1D-E67B-0379-01D4-B2D2AC37AAE4}"/>
              </a:ext>
            </a:extLst>
          </p:cNvPr>
          <p:cNvSpPr>
            <a:spLocks/>
          </p:cNvSpPr>
          <p:nvPr/>
        </p:nvSpPr>
        <p:spPr bwMode="auto">
          <a:xfrm rot="16200000">
            <a:off x="11945792" y="6944360"/>
            <a:ext cx="609600" cy="10210800"/>
          </a:xfrm>
          <a:prstGeom prst="leftBrace">
            <a:avLst>
              <a:gd name="adj1" fmla="val 13958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endParaRPr lang="en-US" altLang="en-US" sz="4800" b="1">
              <a:solidFill>
                <a:srgbClr val="002060"/>
              </a:solidFill>
            </a:endParaRPr>
          </a:p>
        </p:txBody>
      </p:sp>
      <p:sp>
        <p:nvSpPr>
          <p:cNvPr id="16" name="Text Box 14">
            <a:extLst>
              <a:ext uri="{FF2B5EF4-FFF2-40B4-BE49-F238E27FC236}">
                <a16:creationId xmlns:a16="http://schemas.microsoft.com/office/drawing/2014/main" id="{ECF47269-0019-23CE-22FC-C3F33F66B00F}"/>
              </a:ext>
            </a:extLst>
          </p:cNvPr>
          <p:cNvSpPr txBox="1">
            <a:spLocks noChangeArrowheads="1"/>
          </p:cNvSpPr>
          <p:nvPr/>
        </p:nvSpPr>
        <p:spPr bwMode="auto">
          <a:xfrm>
            <a:off x="6992792" y="12506961"/>
            <a:ext cx="10363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eaLnBrk="1" hangingPunct="1">
              <a:spcBef>
                <a:spcPct val="50000"/>
              </a:spcBef>
            </a:pPr>
            <a:r>
              <a:rPr lang="en-US" altLang="en-US" sz="4000" b="1">
                <a:solidFill>
                  <a:srgbClr val="002060"/>
                </a:solidFill>
                <a:latin typeface="Arial" panose="020B0604020202020204" pitchFamily="34" charset="0"/>
                <a:cs typeface="Arial" panose="020B0604020202020204" pitchFamily="34" charset="0"/>
              </a:rPr>
              <a:t>                         Tăng NSLĐ XH</a:t>
            </a:r>
          </a:p>
        </p:txBody>
      </p:sp>
      <p:sp>
        <p:nvSpPr>
          <p:cNvPr id="17" name="Line 15">
            <a:extLst>
              <a:ext uri="{FF2B5EF4-FFF2-40B4-BE49-F238E27FC236}">
                <a16:creationId xmlns:a16="http://schemas.microsoft.com/office/drawing/2014/main" id="{7B7161D8-F3A0-EDF8-5C38-CECA254D82CE}"/>
              </a:ext>
            </a:extLst>
          </p:cNvPr>
          <p:cNvSpPr>
            <a:spLocks noChangeShapeType="1"/>
          </p:cNvSpPr>
          <p:nvPr/>
        </p:nvSpPr>
        <p:spPr bwMode="auto">
          <a:xfrm>
            <a:off x="2725592" y="4734560"/>
            <a:ext cx="1082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
        <p:nvSpPr>
          <p:cNvPr id="18" name="Line 16">
            <a:extLst>
              <a:ext uri="{FF2B5EF4-FFF2-40B4-BE49-F238E27FC236}">
                <a16:creationId xmlns:a16="http://schemas.microsoft.com/office/drawing/2014/main" id="{F192F1FE-F6F6-FB5F-68F4-1830CED59DC6}"/>
              </a:ext>
            </a:extLst>
          </p:cNvPr>
          <p:cNvSpPr>
            <a:spLocks noChangeShapeType="1"/>
          </p:cNvSpPr>
          <p:nvPr/>
        </p:nvSpPr>
        <p:spPr bwMode="auto">
          <a:xfrm>
            <a:off x="2725592" y="458216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
        <p:nvSpPr>
          <p:cNvPr id="19" name="Line 17">
            <a:extLst>
              <a:ext uri="{FF2B5EF4-FFF2-40B4-BE49-F238E27FC236}">
                <a16:creationId xmlns:a16="http://schemas.microsoft.com/office/drawing/2014/main" id="{9B14A9C7-14CE-5F3D-96C7-71D2D78231D3}"/>
              </a:ext>
            </a:extLst>
          </p:cNvPr>
          <p:cNvSpPr>
            <a:spLocks noChangeShapeType="1"/>
          </p:cNvSpPr>
          <p:nvPr/>
        </p:nvSpPr>
        <p:spPr bwMode="auto">
          <a:xfrm>
            <a:off x="13545992" y="458216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
        <p:nvSpPr>
          <p:cNvPr id="36" name="Line 18">
            <a:extLst>
              <a:ext uri="{FF2B5EF4-FFF2-40B4-BE49-F238E27FC236}">
                <a16:creationId xmlns:a16="http://schemas.microsoft.com/office/drawing/2014/main" id="{DED00F50-3AA5-5C21-BA59-2012943327BA}"/>
              </a:ext>
            </a:extLst>
          </p:cNvPr>
          <p:cNvSpPr>
            <a:spLocks noChangeShapeType="1"/>
          </p:cNvSpPr>
          <p:nvPr/>
        </p:nvSpPr>
        <p:spPr bwMode="auto">
          <a:xfrm>
            <a:off x="7907192" y="458216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
        <p:nvSpPr>
          <p:cNvPr id="37" name="Line 19">
            <a:extLst>
              <a:ext uri="{FF2B5EF4-FFF2-40B4-BE49-F238E27FC236}">
                <a16:creationId xmlns:a16="http://schemas.microsoft.com/office/drawing/2014/main" id="{C1EFE598-F14D-AEC8-7DDB-5015576AA599}"/>
              </a:ext>
            </a:extLst>
          </p:cNvPr>
          <p:cNvSpPr>
            <a:spLocks noChangeShapeType="1"/>
          </p:cNvSpPr>
          <p:nvPr/>
        </p:nvSpPr>
        <p:spPr bwMode="auto">
          <a:xfrm flipH="1">
            <a:off x="5846618" y="4140836"/>
            <a:ext cx="3200400" cy="0"/>
          </a:xfrm>
          <a:prstGeom prst="line">
            <a:avLst/>
          </a:prstGeom>
          <a:noFill/>
          <a:ln w="952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Tree>
    <p:extLst>
      <p:ext uri="{BB962C8B-B14F-4D97-AF65-F5344CB8AC3E}">
        <p14:creationId xmlns:p14="http://schemas.microsoft.com/office/powerpoint/2010/main" val="3534272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37"/>
                                        </p:tgtEl>
                                        <p:attrNameLst>
                                          <p:attrName>style.visibility</p:attrName>
                                        </p:attrNameLst>
                                      </p:cBhvr>
                                      <p:to>
                                        <p:strVal val="visible"/>
                                      </p:to>
                                    </p:set>
                                    <p:animEffect transition="in" filter="blinds(horizontal)">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animEffect transition="in" filter="blinds(horizontal)">
                                      <p:cBhvr>
                                        <p:cTn id="19" dur="500"/>
                                        <p:tgtEl>
                                          <p:spTgt spid="6">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blinds(horizontal)">
                                      <p:cBhvr>
                                        <p:cTn id="24" dur="500"/>
                                        <p:tgtEl>
                                          <p:spTgt spid="6">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blinds(horizontal)">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9">
                                            <p:txEl>
                                              <p:pRg st="0" end="0"/>
                                            </p:txEl>
                                          </p:spTgt>
                                        </p:tgtEl>
                                        <p:attrNameLst>
                                          <p:attrName>style.visibility</p:attrName>
                                        </p:attrNameLst>
                                      </p:cBhvr>
                                      <p:to>
                                        <p:strVal val="visible"/>
                                      </p:to>
                                    </p:set>
                                    <p:animEffect transition="in" filter="blinds(horizontal)">
                                      <p:cBhvr>
                                        <p:cTn id="34" dur="500"/>
                                        <p:tgtEl>
                                          <p:spTgt spid="9">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blinds(horizontal)">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0">
                                            <p:txEl>
                                              <p:pRg st="0" end="0"/>
                                            </p:txEl>
                                          </p:spTgt>
                                        </p:tgtEl>
                                        <p:attrNameLst>
                                          <p:attrName>style.visibility</p:attrName>
                                        </p:attrNameLst>
                                      </p:cBhvr>
                                      <p:to>
                                        <p:strVal val="visible"/>
                                      </p:to>
                                    </p:set>
                                    <p:animEffect transition="in" filter="blinds(horizontal)">
                                      <p:cBhvr>
                                        <p:cTn id="44" dur="500"/>
                                        <p:tgtEl>
                                          <p:spTgt spid="10">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blinds(horizontal)">
                                      <p:cBhvr>
                                        <p:cTn id="49" dur="500"/>
                                        <p:tgtEl>
                                          <p:spTgt spid="13"/>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1">
                                            <p:txEl>
                                              <p:pRg st="0" end="0"/>
                                            </p:txEl>
                                          </p:spTgt>
                                        </p:tgtEl>
                                        <p:attrNameLst>
                                          <p:attrName>style.visibility</p:attrName>
                                        </p:attrNameLst>
                                      </p:cBhvr>
                                      <p:to>
                                        <p:strVal val="visible"/>
                                      </p:to>
                                    </p:set>
                                    <p:animEffect transition="in" filter="blinds(horizontal)">
                                      <p:cBhvr>
                                        <p:cTn id="54" dur="500"/>
                                        <p:tgtEl>
                                          <p:spTgt spid="11">
                                            <p:txEl>
                                              <p:pRg st="0" end="0"/>
                                            </p:txEl>
                                          </p:spTgt>
                                        </p:tgtEl>
                                      </p:cBhvr>
                                    </p:animEffect>
                                  </p:childTnLst>
                                </p:cTn>
                              </p:par>
                              <p:par>
                                <p:cTn id="55" presetID="3" presetClass="entr" presetSubtype="10" fill="hold" nodeType="withEffect">
                                  <p:stCondLst>
                                    <p:cond delay="0"/>
                                  </p:stCondLst>
                                  <p:childTnLst>
                                    <p:set>
                                      <p:cBhvr>
                                        <p:cTn id="56" dur="1" fill="hold">
                                          <p:stCondLst>
                                            <p:cond delay="0"/>
                                          </p:stCondLst>
                                        </p:cTn>
                                        <p:tgtEl>
                                          <p:spTgt spid="11">
                                            <p:txEl>
                                              <p:pRg st="1" end="1"/>
                                            </p:txEl>
                                          </p:spTgt>
                                        </p:tgtEl>
                                        <p:attrNameLst>
                                          <p:attrName>style.visibility</p:attrName>
                                        </p:attrNameLst>
                                      </p:cBhvr>
                                      <p:to>
                                        <p:strVal val="visible"/>
                                      </p:to>
                                    </p:set>
                                    <p:animEffect transition="in" filter="blinds(horizontal)">
                                      <p:cBhvr>
                                        <p:cTn id="57" dur="500"/>
                                        <p:tgtEl>
                                          <p:spTgt spid="11">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blinds(horizontal)">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2">
                                            <p:txEl>
                                              <p:pRg st="0" end="0"/>
                                            </p:txEl>
                                          </p:spTgt>
                                        </p:tgtEl>
                                        <p:attrNameLst>
                                          <p:attrName>style.visibility</p:attrName>
                                        </p:attrNameLst>
                                      </p:cBhvr>
                                      <p:to>
                                        <p:strVal val="visible"/>
                                      </p:to>
                                    </p:set>
                                    <p:animEffect transition="in" filter="blinds(horizontal)">
                                      <p:cBhvr>
                                        <p:cTn id="67" dur="500"/>
                                        <p:tgtEl>
                                          <p:spTgt spid="12">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blinds(horizontal)">
                                      <p:cBhvr>
                                        <p:cTn id="72"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16">
                                            <p:txEl>
                                              <p:pRg st="0" end="0"/>
                                            </p:txEl>
                                          </p:spTgt>
                                        </p:tgtEl>
                                        <p:attrNameLst>
                                          <p:attrName>style.visibility</p:attrName>
                                        </p:attrNameLst>
                                      </p:cBhvr>
                                      <p:to>
                                        <p:strVal val="visible"/>
                                      </p:to>
                                    </p:set>
                                    <p:animEffect transition="in" filter="blinds(horizontal)">
                                      <p:cBhvr>
                                        <p:cTn id="77"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P spid="13" grpId="0" animBg="1"/>
      <p:bldP spid="14" grpId="0" animBg="1"/>
      <p:bldP spid="15" grpId="0" animBg="1"/>
      <p:bldP spid="3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5923720-56DE-6C96-831A-F814E0C6A6F6}"/>
              </a:ext>
            </a:extLst>
          </p:cNvPr>
          <p:cNvSpPr txBox="1">
            <a:spLocks/>
          </p:cNvSpPr>
          <p:nvPr/>
        </p:nvSpPr>
        <p:spPr>
          <a:xfrm>
            <a:off x="3302000" y="1920876"/>
            <a:ext cx="11582400"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Giá trị thặng dư siêu ngạch</a:t>
            </a:r>
          </a:p>
        </p:txBody>
      </p:sp>
      <p:sp>
        <p:nvSpPr>
          <p:cNvPr id="5" name="Rectangle 3">
            <a:extLst>
              <a:ext uri="{FF2B5EF4-FFF2-40B4-BE49-F238E27FC236}">
                <a16:creationId xmlns:a16="http://schemas.microsoft.com/office/drawing/2014/main" id="{DB2464B3-3DCC-554A-F548-C13CDD58B48A}"/>
              </a:ext>
            </a:extLst>
          </p:cNvPr>
          <p:cNvSpPr txBox="1">
            <a:spLocks noChangeArrowheads="1"/>
          </p:cNvSpPr>
          <p:nvPr/>
        </p:nvSpPr>
        <p:spPr bwMode="auto">
          <a:xfrm>
            <a:off x="1428751" y="3322320"/>
            <a:ext cx="15699922" cy="7772400"/>
          </a:xfrm>
          <a:prstGeom prst="rect">
            <a:avLst/>
          </a:prstGeom>
        </p:spPr>
        <p:txBody>
          <a:bodyPr vert="horz" wrap="square" lIns="182880" tIns="91440" rIns="182880" bIns="91440" numCol="1" rtlCol="0" anchor="t" anchorCtr="0" compatLnSpc="1">
            <a:prstTxWarp prst="textNoShape">
              <a:avLst/>
            </a:prstTxWarp>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35000"/>
              </a:lnSpc>
              <a:buFontTx/>
              <a:buNone/>
            </a:pPr>
            <a:r>
              <a:rPr lang="en-US" altLang="en-US" sz="5200" dirty="0" err="1">
                <a:solidFill>
                  <a:srgbClr val="002060"/>
                </a:solidFill>
                <a:cs typeface="Times New Roman" panose="02020603050405020304" pitchFamily="18" charset="0"/>
              </a:rPr>
              <a:t>Giá</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trị</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thặng</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dư</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siêu</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ngạch</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là</a:t>
            </a:r>
            <a:r>
              <a:rPr lang="en-US" altLang="en-US" sz="5200" dirty="0">
                <a:solidFill>
                  <a:srgbClr val="002060"/>
                </a:solidFill>
                <a:cs typeface="Times New Roman" panose="02020603050405020304" pitchFamily="18" charset="0"/>
              </a:rPr>
              <a:t> </a:t>
            </a:r>
            <a:r>
              <a:rPr lang="en-US" altLang="en-US" sz="5200" dirty="0" err="1">
                <a:solidFill>
                  <a:srgbClr val="FF0000"/>
                </a:solidFill>
                <a:cs typeface="Times New Roman" panose="02020603050405020304" pitchFamily="18" charset="0"/>
              </a:rPr>
              <a:t>giá</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trị</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thặng</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dư</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phụ</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thêm</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ngoài</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giá</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trị</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thặng</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dư</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trung</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bình</a:t>
            </a:r>
            <a:r>
              <a:rPr lang="en-US" altLang="en-US" sz="5200" dirty="0">
                <a:solidFill>
                  <a:srgbClr val="FF0000"/>
                </a:solidFill>
                <a:cs typeface="Times New Roman" panose="02020603050405020304" pitchFamily="18" charset="0"/>
              </a:rPr>
              <a:t> </a:t>
            </a:r>
            <a:r>
              <a:rPr lang="en-US" altLang="en-US" sz="5200" dirty="0" err="1">
                <a:solidFill>
                  <a:srgbClr val="002060"/>
                </a:solidFill>
                <a:cs typeface="Times New Roman" panose="02020603050405020304" pitchFamily="18" charset="0"/>
              </a:rPr>
              <a:t>mà</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mỗi</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nhà</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tư</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bản</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cá</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biệt</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thu</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được</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bằng</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cách</a:t>
            </a:r>
            <a:r>
              <a:rPr lang="en-US" altLang="en-US" sz="5200" dirty="0">
                <a:solidFill>
                  <a:srgbClr val="002060"/>
                </a:solidFill>
                <a:cs typeface="Times New Roman" panose="02020603050405020304" pitchFamily="18" charset="0"/>
              </a:rPr>
              <a:t> </a:t>
            </a:r>
            <a:r>
              <a:rPr lang="en-US" altLang="en-US" sz="5200" dirty="0" err="1">
                <a:solidFill>
                  <a:srgbClr val="FF0000"/>
                </a:solidFill>
                <a:cs typeface="Times New Roman" panose="02020603050405020304" pitchFamily="18" charset="0"/>
              </a:rPr>
              <a:t>giảm</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giá</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trị</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cá</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biệt</a:t>
            </a:r>
            <a:r>
              <a:rPr lang="en-US" altLang="en-US" sz="5200" dirty="0">
                <a:solidFill>
                  <a:srgbClr val="FF0000"/>
                </a:solidFill>
                <a:cs typeface="Times New Roman" panose="02020603050405020304" pitchFamily="18" charset="0"/>
              </a:rPr>
              <a:t> </a:t>
            </a:r>
            <a:r>
              <a:rPr lang="en-US" altLang="en-US" sz="5200" dirty="0" err="1">
                <a:solidFill>
                  <a:srgbClr val="002060"/>
                </a:solidFill>
                <a:cs typeface="Times New Roman" panose="02020603050405020304" pitchFamily="18" charset="0"/>
              </a:rPr>
              <a:t>hàng</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hóa</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của</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mình</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xuống</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thấp</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hơn</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giá</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trị</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cá</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biệt</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của</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các</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nhà</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tư</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bản</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khác</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trong</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cùng</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ngành</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giá</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trị</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xã</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hội</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trên</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cơ</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sở</a:t>
            </a:r>
            <a:r>
              <a:rPr lang="en-US" altLang="en-US" sz="5200" dirty="0">
                <a:solidFill>
                  <a:srgbClr val="002060"/>
                </a:solidFill>
                <a:cs typeface="Times New Roman" panose="02020603050405020304" pitchFamily="18" charset="0"/>
              </a:rPr>
              <a:t> </a:t>
            </a:r>
            <a:r>
              <a:rPr lang="en-US" altLang="en-US" sz="5200" dirty="0" err="1">
                <a:solidFill>
                  <a:srgbClr val="FF0000"/>
                </a:solidFill>
                <a:cs typeface="Times New Roman" panose="02020603050405020304" pitchFamily="18" charset="0"/>
              </a:rPr>
              <a:t>tăng</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năng</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suất</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lao</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động</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cá</a:t>
            </a:r>
            <a:r>
              <a:rPr lang="en-US" altLang="en-US" sz="5200" dirty="0">
                <a:solidFill>
                  <a:srgbClr val="FF0000"/>
                </a:solidFill>
                <a:cs typeface="Times New Roman" panose="02020603050405020304" pitchFamily="18" charset="0"/>
              </a:rPr>
              <a:t> </a:t>
            </a:r>
            <a:r>
              <a:rPr lang="en-US" altLang="en-US" sz="5200" dirty="0" err="1">
                <a:solidFill>
                  <a:srgbClr val="FF0000"/>
                </a:solidFill>
                <a:cs typeface="Times New Roman" panose="02020603050405020304" pitchFamily="18" charset="0"/>
              </a:rPr>
              <a:t>biệt</a:t>
            </a:r>
            <a:r>
              <a:rPr lang="en-US" altLang="en-US" sz="5200" dirty="0">
                <a:solidFill>
                  <a:srgbClr val="FF000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của</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mình</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lên</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cao</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hơn</a:t>
            </a:r>
            <a:r>
              <a:rPr lang="en-US" altLang="en-US" sz="5200" dirty="0">
                <a:solidFill>
                  <a:srgbClr val="002060"/>
                </a:solidFill>
                <a:cs typeface="Times New Roman" panose="02020603050405020304" pitchFamily="18" charset="0"/>
              </a:rPr>
              <a:t> so </a:t>
            </a:r>
            <a:r>
              <a:rPr lang="en-US" altLang="en-US" sz="5200" dirty="0" err="1">
                <a:solidFill>
                  <a:srgbClr val="002060"/>
                </a:solidFill>
                <a:cs typeface="Times New Roman" panose="02020603050405020304" pitchFamily="18" charset="0"/>
              </a:rPr>
              <a:t>với</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năng</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suất</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lao</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động</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cá</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biệt</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của</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các</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nhà</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tư</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bản</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khác</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cùng</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ngành</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năng</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suất</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lao</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động</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xã</a:t>
            </a:r>
            <a:r>
              <a:rPr lang="en-US" altLang="en-US" sz="5200" dirty="0">
                <a:solidFill>
                  <a:srgbClr val="002060"/>
                </a:solidFill>
                <a:cs typeface="Times New Roman" panose="02020603050405020304" pitchFamily="18" charset="0"/>
              </a:rPr>
              <a:t> </a:t>
            </a:r>
            <a:r>
              <a:rPr lang="en-US" altLang="en-US" sz="5200" dirty="0" err="1">
                <a:solidFill>
                  <a:srgbClr val="002060"/>
                </a:solidFill>
                <a:cs typeface="Times New Roman" panose="02020603050405020304" pitchFamily="18" charset="0"/>
              </a:rPr>
              <a:t>hội</a:t>
            </a:r>
            <a:r>
              <a:rPr lang="en-US" altLang="en-US" sz="5200" dirty="0">
                <a:solidFill>
                  <a:srgbClr val="002060"/>
                </a:solidFill>
                <a:cs typeface="Times New Roman" panose="02020603050405020304" pitchFamily="18" charset="0"/>
              </a:rPr>
              <a:t>).</a:t>
            </a:r>
          </a:p>
        </p:txBody>
      </p:sp>
    </p:spTree>
    <p:extLst>
      <p:ext uri="{BB962C8B-B14F-4D97-AF65-F5344CB8AC3E}">
        <p14:creationId xmlns:p14="http://schemas.microsoft.com/office/powerpoint/2010/main" val="1613427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5923720-56DE-6C96-831A-F814E0C6A6F6}"/>
              </a:ext>
            </a:extLst>
          </p:cNvPr>
          <p:cNvSpPr txBox="1">
            <a:spLocks/>
          </p:cNvSpPr>
          <p:nvPr/>
        </p:nvSpPr>
        <p:spPr>
          <a:xfrm>
            <a:off x="3276600" y="793752"/>
            <a:ext cx="11582400"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Giá</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trị</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thặng</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dư</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siêu</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ngạch</a:t>
            </a:r>
            <a:endParaRPr lang="en-US"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graphicFrame>
        <p:nvGraphicFramePr>
          <p:cNvPr id="3" name="Table 5">
            <a:extLst>
              <a:ext uri="{FF2B5EF4-FFF2-40B4-BE49-F238E27FC236}">
                <a16:creationId xmlns:a16="http://schemas.microsoft.com/office/drawing/2014/main" id="{10F00A0C-C25E-4598-82A9-60C65E8328C4}"/>
              </a:ext>
            </a:extLst>
          </p:cNvPr>
          <p:cNvGraphicFramePr>
            <a:graphicFrameLocks noGrp="1"/>
          </p:cNvGraphicFramePr>
          <p:nvPr>
            <p:extLst>
              <p:ext uri="{D42A27DB-BD31-4B8C-83A1-F6EECF244321}">
                <p14:modId xmlns:p14="http://schemas.microsoft.com/office/powerpoint/2010/main" val="156486626"/>
              </p:ext>
            </p:extLst>
          </p:nvPr>
        </p:nvGraphicFramePr>
        <p:xfrm>
          <a:off x="1185817" y="2209800"/>
          <a:ext cx="15871370" cy="7802880"/>
        </p:xfrm>
        <a:graphic>
          <a:graphicData uri="http://schemas.openxmlformats.org/drawingml/2006/table">
            <a:tbl>
              <a:tblPr firstRow="1" bandRow="1">
                <a:tableStyleId>{5C22544A-7EE6-4342-B048-85BDC9FD1C3A}</a:tableStyleId>
              </a:tblPr>
              <a:tblGrid>
                <a:gridCol w="1592034">
                  <a:extLst>
                    <a:ext uri="{9D8B030D-6E8A-4147-A177-3AD203B41FA5}">
                      <a16:colId xmlns:a16="http://schemas.microsoft.com/office/drawing/2014/main" val="745663314"/>
                    </a:ext>
                  </a:extLst>
                </a:gridCol>
                <a:gridCol w="4090308">
                  <a:extLst>
                    <a:ext uri="{9D8B030D-6E8A-4147-A177-3AD203B41FA5}">
                      <a16:colId xmlns:a16="http://schemas.microsoft.com/office/drawing/2014/main" val="3466401208"/>
                    </a:ext>
                  </a:extLst>
                </a:gridCol>
                <a:gridCol w="3840480">
                  <a:extLst>
                    <a:ext uri="{9D8B030D-6E8A-4147-A177-3AD203B41FA5}">
                      <a16:colId xmlns:a16="http://schemas.microsoft.com/office/drawing/2014/main" val="3064689771"/>
                    </a:ext>
                  </a:extLst>
                </a:gridCol>
                <a:gridCol w="3174274">
                  <a:extLst>
                    <a:ext uri="{9D8B030D-6E8A-4147-A177-3AD203B41FA5}">
                      <a16:colId xmlns:a16="http://schemas.microsoft.com/office/drawing/2014/main" val="3758114458"/>
                    </a:ext>
                  </a:extLst>
                </a:gridCol>
                <a:gridCol w="3174274">
                  <a:extLst>
                    <a:ext uri="{9D8B030D-6E8A-4147-A177-3AD203B41FA5}">
                      <a16:colId xmlns:a16="http://schemas.microsoft.com/office/drawing/2014/main" val="365595946"/>
                    </a:ext>
                  </a:extLst>
                </a:gridCol>
              </a:tblGrid>
              <a:tr h="1156884">
                <a:tc>
                  <a:txBody>
                    <a:bodyPr/>
                    <a:lstStyle/>
                    <a:p>
                      <a:pPr algn="ctr"/>
                      <a:r>
                        <a:rPr lang="en-US" sz="4000" dirty="0">
                          <a:solidFill>
                            <a:schemeClr val="tx1"/>
                          </a:solidFill>
                        </a:rPr>
                        <a:t>NSX</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SỐ LƯỢNG HH</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GTCB/HH</a:t>
                      </a:r>
                    </a:p>
                    <a:p>
                      <a:pPr algn="ctr"/>
                      <a:r>
                        <a:rPr lang="en-US" sz="4000" dirty="0">
                          <a:solidFill>
                            <a:schemeClr val="tx1"/>
                          </a:solidFill>
                        </a:rPr>
                        <a:t>SẢN XUẤT</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GTXH/HH</a:t>
                      </a:r>
                    </a:p>
                    <a:p>
                      <a:pPr algn="ctr"/>
                      <a:r>
                        <a:rPr lang="en-US" sz="4000" dirty="0">
                          <a:solidFill>
                            <a:schemeClr val="tx1"/>
                          </a:solidFill>
                        </a:rPr>
                        <a:t>MUA BÁN</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GTTDSN/HH</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7384816"/>
                  </a:ext>
                </a:extLst>
              </a:tr>
              <a:tr h="879232">
                <a:tc>
                  <a:txBody>
                    <a:bodyPr/>
                    <a:lstStyle/>
                    <a:p>
                      <a:pPr algn="ctr"/>
                      <a:r>
                        <a:rPr lang="en-US" sz="4000" dirty="0">
                          <a:solidFill>
                            <a:schemeClr val="tx1"/>
                          </a:solidFill>
                        </a:rPr>
                        <a:t>I</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100</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3h – 3k</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a:r>
                        <a:rPr lang="en-US" sz="4000" dirty="0">
                          <a:solidFill>
                            <a:schemeClr val="tx1"/>
                          </a:solidFill>
                        </a:rPr>
                        <a:t>5.2h – 5.2k</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rgbClr val="FF0000"/>
                          </a:solidFill>
                          <a:highlight>
                            <a:srgbClr val="FFFF00"/>
                          </a:highlight>
                        </a:rPr>
                        <a:t>GTTDTB + 2.2k</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2608527"/>
                  </a:ext>
                </a:extLst>
              </a:tr>
              <a:tr h="879232">
                <a:tc>
                  <a:txBody>
                    <a:bodyPr/>
                    <a:lstStyle/>
                    <a:p>
                      <a:pPr algn="ctr"/>
                      <a:r>
                        <a:rPr lang="en-US" sz="4000" dirty="0">
                          <a:solidFill>
                            <a:schemeClr val="tx1"/>
                          </a:solidFill>
                        </a:rPr>
                        <a:t>II</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600</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5h – 5k</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rgbClr val="FF0000"/>
                          </a:solidFill>
                          <a:highlight>
                            <a:srgbClr val="FFFF00"/>
                          </a:highlight>
                        </a:rPr>
                        <a:t>GTTDTB + 0.2k</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2608176"/>
                  </a:ext>
                </a:extLst>
              </a:tr>
              <a:tr h="879232">
                <a:tc>
                  <a:txBody>
                    <a:bodyPr/>
                    <a:lstStyle/>
                    <a:p>
                      <a:pPr algn="ctr"/>
                      <a:r>
                        <a:rPr lang="en-US" sz="4000" dirty="0">
                          <a:solidFill>
                            <a:schemeClr val="tx1"/>
                          </a:solidFill>
                        </a:rPr>
                        <a:t>III</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200</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6h – 6k</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GTTDTB – 0.8k</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739732"/>
                  </a:ext>
                </a:extLst>
              </a:tr>
              <a:tr h="879232">
                <a:tc>
                  <a:txBody>
                    <a:bodyPr/>
                    <a:lstStyle/>
                    <a:p>
                      <a:pPr algn="ctr"/>
                      <a:r>
                        <a:rPr lang="en-US" sz="4000" dirty="0">
                          <a:solidFill>
                            <a:schemeClr val="tx1"/>
                          </a:solidFill>
                        </a:rPr>
                        <a:t>IV</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100</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7h – 7k</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GTTDTB – 1.8k</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177133"/>
                  </a:ext>
                </a:extLst>
              </a:tr>
              <a:tr h="601580">
                <a:tc>
                  <a:txBody>
                    <a:bodyPr/>
                    <a:lstStyle/>
                    <a:p>
                      <a:pPr algn="ctr"/>
                      <a:r>
                        <a:rPr lang="en-US" sz="4000" dirty="0">
                          <a:solidFill>
                            <a:schemeClr val="tx1"/>
                          </a:solidFill>
                        </a:rPr>
                        <a:t>V</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100</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chemeClr val="tx1"/>
                          </a:solidFill>
                        </a:rPr>
                        <a:t>5.2h – 5.2k</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4000" dirty="0">
                          <a:solidFill>
                            <a:srgbClr val="FF0000"/>
                          </a:solidFill>
                          <a:highlight>
                            <a:srgbClr val="FFFF00"/>
                          </a:highlight>
                        </a:rPr>
                        <a:t>GTTDTB</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7722379"/>
                  </a:ext>
                </a:extLst>
              </a:tr>
            </a:tbl>
          </a:graphicData>
        </a:graphic>
      </p:graphicFrame>
      <p:sp>
        <p:nvSpPr>
          <p:cNvPr id="6" name="Text Box 14">
            <a:extLst>
              <a:ext uri="{FF2B5EF4-FFF2-40B4-BE49-F238E27FC236}">
                <a16:creationId xmlns:a16="http://schemas.microsoft.com/office/drawing/2014/main" id="{528E0462-FC0E-4495-8B59-B94E4A9D3776}"/>
              </a:ext>
            </a:extLst>
          </p:cNvPr>
          <p:cNvSpPr txBox="1">
            <a:spLocks noChangeArrowheads="1"/>
          </p:cNvSpPr>
          <p:nvPr/>
        </p:nvSpPr>
        <p:spPr bwMode="ltGray">
          <a:xfrm>
            <a:off x="4121566" y="12192000"/>
            <a:ext cx="10354622" cy="1015663"/>
          </a:xfrm>
          <a:prstGeom prst="rect">
            <a:avLst/>
          </a:prstGeom>
          <a:solidFill>
            <a:schemeClr val="accent2"/>
          </a:solidFill>
          <a:ln>
            <a:noFill/>
          </a:ln>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r>
              <a:rPr lang="en-US" altLang="en-US" sz="6000" b="1" dirty="0">
                <a:solidFill>
                  <a:srgbClr val="002060"/>
                </a:solidFill>
                <a:latin typeface="Arial" panose="020B0604020202020204" pitchFamily="34" charset="0"/>
                <a:sym typeface="Wingdings" panose="05000000000000000000" pitchFamily="2" charset="2"/>
              </a:rPr>
              <a:t>GTTDSN = GTXH - GTCB</a:t>
            </a:r>
          </a:p>
        </p:txBody>
      </p:sp>
      <p:sp>
        <p:nvSpPr>
          <p:cNvPr id="7" name="Text Box 2">
            <a:extLst>
              <a:ext uri="{FF2B5EF4-FFF2-40B4-BE49-F238E27FC236}">
                <a16:creationId xmlns:a16="http://schemas.microsoft.com/office/drawing/2014/main" id="{03EA229F-2458-4BE8-8B10-ACA8098BB176}"/>
              </a:ext>
            </a:extLst>
          </p:cNvPr>
          <p:cNvSpPr txBox="1">
            <a:spLocks noChangeArrowheads="1"/>
          </p:cNvSpPr>
          <p:nvPr/>
        </p:nvSpPr>
        <p:spPr bwMode="auto">
          <a:xfrm>
            <a:off x="990600" y="10129919"/>
            <a:ext cx="15755074" cy="1810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771650" lvl="1" indent="0" algn="just">
              <a:lnSpc>
                <a:spcPct val="120000"/>
              </a:lnSpc>
              <a:spcBef>
                <a:spcPct val="0"/>
              </a:spcBef>
              <a:buClr>
                <a:schemeClr val="tx1"/>
              </a:buClr>
              <a:buNone/>
            </a:pPr>
            <a:r>
              <a:rPr lang="fr-CA" altLang="en-US" sz="3200" b="1" dirty="0">
                <a:solidFill>
                  <a:srgbClr val="FF0000"/>
                </a:solidFill>
                <a:ea typeface="MS PGothic" panose="020B0600070205080204" pitchFamily="34" charset="-128"/>
                <a:sym typeface="Wingdings" panose="05000000000000000000" pitchFamily="2" charset="2"/>
              </a:rPr>
              <a:t>GTCB = GTXH  GTTD </a:t>
            </a:r>
            <a:r>
              <a:rPr lang="fr-CA" altLang="en-US" sz="3200" b="1" dirty="0" err="1">
                <a:solidFill>
                  <a:srgbClr val="FF0000"/>
                </a:solidFill>
                <a:ea typeface="MS PGothic" panose="020B0600070205080204" pitchFamily="34" charset="-128"/>
                <a:sym typeface="Wingdings" panose="05000000000000000000" pitchFamily="2" charset="2"/>
              </a:rPr>
              <a:t>trung</a:t>
            </a:r>
            <a:r>
              <a:rPr lang="fr-CA" altLang="en-US" sz="3200" b="1" dirty="0">
                <a:solidFill>
                  <a:srgbClr val="FF0000"/>
                </a:solidFill>
                <a:ea typeface="MS PGothic" panose="020B0600070205080204" pitchFamily="34" charset="-128"/>
                <a:sym typeface="Wingdings" panose="05000000000000000000" pitchFamily="2" charset="2"/>
              </a:rPr>
              <a:t> </a:t>
            </a:r>
            <a:r>
              <a:rPr lang="fr-CA" altLang="en-US" sz="3200" b="1" dirty="0" err="1">
                <a:solidFill>
                  <a:srgbClr val="FF0000"/>
                </a:solidFill>
                <a:ea typeface="MS PGothic" panose="020B0600070205080204" pitchFamily="34" charset="-128"/>
                <a:sym typeface="Wingdings" panose="05000000000000000000" pitchFamily="2" charset="2"/>
              </a:rPr>
              <a:t>bình</a:t>
            </a:r>
            <a:r>
              <a:rPr lang="fr-CA" altLang="en-US" sz="3200" b="1" dirty="0">
                <a:solidFill>
                  <a:srgbClr val="FF0000"/>
                </a:solidFill>
                <a:ea typeface="MS PGothic" panose="020B0600070205080204" pitchFamily="34" charset="-128"/>
                <a:sym typeface="Wingdings" panose="05000000000000000000" pitchFamily="2" charset="2"/>
              </a:rPr>
              <a:t>, </a:t>
            </a:r>
            <a:r>
              <a:rPr lang="fr-CA" altLang="en-US" sz="3200" b="1" dirty="0" err="1">
                <a:solidFill>
                  <a:srgbClr val="FF0000"/>
                </a:solidFill>
                <a:ea typeface="MS PGothic" panose="020B0600070205080204" pitchFamily="34" charset="-128"/>
                <a:sym typeface="Wingdings" panose="05000000000000000000" pitchFamily="2" charset="2"/>
              </a:rPr>
              <a:t>phổ</a:t>
            </a:r>
            <a:r>
              <a:rPr lang="fr-CA" altLang="en-US" sz="3200" b="1" dirty="0">
                <a:solidFill>
                  <a:srgbClr val="FF0000"/>
                </a:solidFill>
                <a:ea typeface="MS PGothic" panose="020B0600070205080204" pitchFamily="34" charset="-128"/>
                <a:sym typeface="Wingdings" panose="05000000000000000000" pitchFamily="2" charset="2"/>
              </a:rPr>
              <a:t> </a:t>
            </a:r>
            <a:r>
              <a:rPr lang="fr-CA" altLang="en-US" sz="3200" b="1" dirty="0" err="1">
                <a:solidFill>
                  <a:srgbClr val="FF0000"/>
                </a:solidFill>
                <a:ea typeface="MS PGothic" panose="020B0600070205080204" pitchFamily="34" charset="-128"/>
                <a:sym typeface="Wingdings" panose="05000000000000000000" pitchFamily="2" charset="2"/>
              </a:rPr>
              <a:t>biến</a:t>
            </a:r>
            <a:endParaRPr lang="fr-CA" altLang="en-US" sz="3200" b="1" dirty="0">
              <a:solidFill>
                <a:srgbClr val="FF0000"/>
              </a:solidFill>
              <a:ea typeface="MS PGothic" panose="020B0600070205080204" pitchFamily="34" charset="-128"/>
              <a:sym typeface="Wingdings" panose="05000000000000000000" pitchFamily="2" charset="2"/>
            </a:endParaRPr>
          </a:p>
          <a:p>
            <a:pPr lvl="1" algn="just">
              <a:lnSpc>
                <a:spcPct val="120000"/>
              </a:lnSpc>
              <a:spcBef>
                <a:spcPct val="0"/>
              </a:spcBef>
              <a:buClr>
                <a:schemeClr val="tx1"/>
              </a:buClr>
              <a:buNone/>
            </a:pPr>
            <a:r>
              <a:rPr lang="fr-CA" altLang="en-US" sz="3200" dirty="0" err="1">
                <a:solidFill>
                  <a:srgbClr val="002060"/>
                </a:solidFill>
                <a:ea typeface="MS PGothic" panose="020B0600070205080204" pitchFamily="34" charset="-128"/>
                <a:sym typeface="Wingdings" panose="05000000000000000000" pitchFamily="2" charset="2"/>
              </a:rPr>
              <a:t>Mà</a:t>
            </a:r>
            <a:r>
              <a:rPr lang="fr-CA" altLang="en-US" sz="3200" dirty="0">
                <a:solidFill>
                  <a:srgbClr val="002060"/>
                </a:solidFill>
                <a:ea typeface="MS PGothic" panose="020B0600070205080204" pitchFamily="34" charset="-128"/>
                <a:sym typeface="Wingdings" panose="05000000000000000000" pitchFamily="2" charset="2"/>
              </a:rPr>
              <a:t>: NSLĐ </a:t>
            </a:r>
            <a:r>
              <a:rPr lang="fr-CA" altLang="en-US" sz="3200" dirty="0" err="1">
                <a:solidFill>
                  <a:srgbClr val="002060"/>
                </a:solidFill>
                <a:ea typeface="MS PGothic" panose="020B0600070205080204" pitchFamily="34" charset="-128"/>
                <a:sym typeface="Wingdings" panose="05000000000000000000" pitchFamily="2" charset="2"/>
              </a:rPr>
              <a:t>tỷ</a:t>
            </a:r>
            <a:r>
              <a:rPr lang="fr-CA" altLang="en-US" sz="3200" dirty="0">
                <a:solidFill>
                  <a:srgbClr val="002060"/>
                </a:solidFill>
                <a:ea typeface="MS PGothic" panose="020B0600070205080204" pitchFamily="34" charset="-128"/>
                <a:sym typeface="Wingdings" panose="05000000000000000000" pitchFamily="2" charset="2"/>
              </a:rPr>
              <a:t> </a:t>
            </a:r>
            <a:r>
              <a:rPr lang="fr-CA" altLang="en-US" sz="3200" dirty="0" err="1">
                <a:solidFill>
                  <a:srgbClr val="002060"/>
                </a:solidFill>
                <a:ea typeface="MS PGothic" panose="020B0600070205080204" pitchFamily="34" charset="-128"/>
                <a:sym typeface="Wingdings" panose="05000000000000000000" pitchFamily="2" charset="2"/>
              </a:rPr>
              <a:t>lệ</a:t>
            </a:r>
            <a:r>
              <a:rPr lang="fr-CA" altLang="en-US" sz="3200" dirty="0">
                <a:solidFill>
                  <a:srgbClr val="002060"/>
                </a:solidFill>
                <a:ea typeface="MS PGothic" panose="020B0600070205080204" pitchFamily="34" charset="-128"/>
                <a:sym typeface="Wingdings" panose="05000000000000000000" pitchFamily="2" charset="2"/>
              </a:rPr>
              <a:t> </a:t>
            </a:r>
            <a:r>
              <a:rPr lang="fr-CA" altLang="en-US" sz="3200" dirty="0" err="1">
                <a:solidFill>
                  <a:srgbClr val="002060"/>
                </a:solidFill>
                <a:ea typeface="MS PGothic" panose="020B0600070205080204" pitchFamily="34" charset="-128"/>
                <a:sym typeface="Wingdings" panose="05000000000000000000" pitchFamily="2" charset="2"/>
              </a:rPr>
              <a:t>nghịch</a:t>
            </a:r>
            <a:r>
              <a:rPr lang="fr-CA" altLang="en-US" sz="3200" dirty="0">
                <a:solidFill>
                  <a:srgbClr val="002060"/>
                </a:solidFill>
                <a:ea typeface="MS PGothic" panose="020B0600070205080204" pitchFamily="34" charset="-128"/>
                <a:sym typeface="Wingdings" panose="05000000000000000000" pitchFamily="2" charset="2"/>
              </a:rPr>
              <a:t> </a:t>
            </a:r>
            <a:r>
              <a:rPr lang="fr-CA" altLang="en-US" sz="3200" dirty="0" err="1">
                <a:solidFill>
                  <a:srgbClr val="002060"/>
                </a:solidFill>
                <a:ea typeface="MS PGothic" panose="020B0600070205080204" pitchFamily="34" charset="-128"/>
                <a:sym typeface="Wingdings" panose="05000000000000000000" pitchFamily="2" charset="2"/>
              </a:rPr>
              <a:t>với</a:t>
            </a:r>
            <a:r>
              <a:rPr lang="fr-CA" altLang="en-US" sz="3200" dirty="0">
                <a:solidFill>
                  <a:srgbClr val="002060"/>
                </a:solidFill>
                <a:ea typeface="MS PGothic" panose="020B0600070205080204" pitchFamily="34" charset="-128"/>
                <a:sym typeface="Wingdings" panose="05000000000000000000" pitchFamily="2" charset="2"/>
              </a:rPr>
              <a:t> GT</a:t>
            </a:r>
          </a:p>
          <a:p>
            <a:pPr lvl="1" algn="just">
              <a:lnSpc>
                <a:spcPct val="120000"/>
              </a:lnSpc>
              <a:spcBef>
                <a:spcPct val="0"/>
              </a:spcBef>
              <a:buClr>
                <a:schemeClr val="tx1"/>
              </a:buClr>
              <a:buNone/>
            </a:pPr>
            <a:r>
              <a:rPr lang="fr-CA" altLang="en-US" sz="3200" dirty="0">
                <a:solidFill>
                  <a:srgbClr val="002060"/>
                </a:solidFill>
                <a:ea typeface="MS PGothic" panose="020B0600070205080204" pitchFamily="34" charset="-128"/>
                <a:sym typeface="Wingdings" panose="05000000000000000000" pitchFamily="2" charset="2"/>
              </a:rPr>
              <a:t> </a:t>
            </a:r>
            <a:r>
              <a:rPr lang="fr-CA" altLang="en-US" sz="3200" b="1" dirty="0" err="1">
                <a:solidFill>
                  <a:srgbClr val="FF0000"/>
                </a:solidFill>
                <a:ea typeface="MS PGothic" panose="020B0600070205080204" pitchFamily="34" charset="-128"/>
                <a:sym typeface="Wingdings" panose="05000000000000000000" pitchFamily="2" charset="2"/>
              </a:rPr>
              <a:t>Vậy</a:t>
            </a:r>
            <a:r>
              <a:rPr lang="fr-CA" altLang="en-US" sz="3200" b="1" dirty="0">
                <a:solidFill>
                  <a:srgbClr val="FF0000"/>
                </a:solidFill>
                <a:ea typeface="MS PGothic" panose="020B0600070205080204" pitchFamily="34" charset="-128"/>
                <a:sym typeface="Wingdings" panose="05000000000000000000" pitchFamily="2" charset="2"/>
              </a:rPr>
              <a:t>: </a:t>
            </a:r>
            <a:r>
              <a:rPr lang="fr-CA" altLang="en-US" sz="3200" b="1" dirty="0" err="1">
                <a:solidFill>
                  <a:srgbClr val="FF0000"/>
                </a:solidFill>
                <a:ea typeface="MS PGothic" panose="020B0600070205080204" pitchFamily="34" charset="-128"/>
                <a:sym typeface="Wingdings" panose="05000000000000000000" pitchFamily="2" charset="2"/>
              </a:rPr>
              <a:t>muốn</a:t>
            </a:r>
            <a:r>
              <a:rPr lang="fr-CA" altLang="en-US" sz="3200" b="1" dirty="0">
                <a:solidFill>
                  <a:srgbClr val="FF0000"/>
                </a:solidFill>
                <a:ea typeface="MS PGothic" panose="020B0600070205080204" pitchFamily="34" charset="-128"/>
                <a:sym typeface="Wingdings" panose="05000000000000000000" pitchFamily="2" charset="2"/>
              </a:rPr>
              <a:t> GTCB &lt; GTXH </a:t>
            </a:r>
            <a:r>
              <a:rPr lang="fr-CA" altLang="en-US" sz="3200" b="1" dirty="0" err="1">
                <a:solidFill>
                  <a:srgbClr val="FF0000"/>
                </a:solidFill>
                <a:ea typeface="MS PGothic" panose="020B0600070205080204" pitchFamily="34" charset="-128"/>
                <a:sym typeface="Wingdings" panose="05000000000000000000" pitchFamily="2" charset="2"/>
              </a:rPr>
              <a:t>thì</a:t>
            </a:r>
            <a:r>
              <a:rPr lang="fr-CA" altLang="en-US" sz="3200" b="1" dirty="0">
                <a:solidFill>
                  <a:srgbClr val="FF0000"/>
                </a:solidFill>
                <a:ea typeface="MS PGothic" panose="020B0600070205080204" pitchFamily="34" charset="-128"/>
                <a:sym typeface="Wingdings" panose="05000000000000000000" pitchFamily="2" charset="2"/>
              </a:rPr>
              <a:t> NSLĐCB &gt; NSLĐXH</a:t>
            </a:r>
            <a:endParaRPr lang="en-US" altLang="en-US" sz="2000" b="1" dirty="0">
              <a:solidFill>
                <a:srgbClr val="FF0000"/>
              </a:solidFill>
              <a:ea typeface="MS PGothic" panose="020B0600070205080204" pitchFamily="34" charset="-128"/>
            </a:endParaRPr>
          </a:p>
        </p:txBody>
      </p:sp>
    </p:spTree>
    <p:extLst>
      <p:ext uri="{BB962C8B-B14F-4D97-AF65-F5344CB8AC3E}">
        <p14:creationId xmlns:p14="http://schemas.microsoft.com/office/powerpoint/2010/main" val="2756193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1000"/>
                                        <p:tgtEl>
                                          <p:spTgt spid="7">
                                            <p:txEl>
                                              <p:pRg st="0" end="0"/>
                                            </p:txEl>
                                          </p:spTgt>
                                        </p:tgtEl>
                                      </p:cBhvr>
                                    </p:animEffect>
                                    <p:anim calcmode="lin" valueType="num">
                                      <p:cBhvr>
                                        <p:cTn id="11"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1000"/>
                                        <p:tgtEl>
                                          <p:spTgt spid="7">
                                            <p:txEl>
                                              <p:pRg st="1" end="1"/>
                                            </p:txEl>
                                          </p:spTgt>
                                        </p:tgtEl>
                                      </p:cBhvr>
                                    </p:animEffect>
                                    <p:anim calcmode="lin" valueType="num">
                                      <p:cBhvr>
                                        <p:cTn id="1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1000" fill="hold"/>
                                        <p:tgtEl>
                                          <p:spTgt spid="6"/>
                                        </p:tgtEl>
                                        <p:attrNameLst>
                                          <p:attrName>ppt_w</p:attrName>
                                        </p:attrNameLst>
                                      </p:cBhvr>
                                      <p:tavLst>
                                        <p:tav tm="0">
                                          <p:val>
                                            <p:strVal val="#ppt_w*0.70"/>
                                          </p:val>
                                        </p:tav>
                                        <p:tav tm="100000">
                                          <p:val>
                                            <p:strVal val="#ppt_w"/>
                                          </p:val>
                                        </p:tav>
                                      </p:tavLst>
                                    </p:anim>
                                    <p:anim calcmode="lin" valueType="num">
                                      <p:cBhvr>
                                        <p:cTn id="32" dur="1000" fill="hold"/>
                                        <p:tgtEl>
                                          <p:spTgt spid="6"/>
                                        </p:tgtEl>
                                        <p:attrNameLst>
                                          <p:attrName>ppt_h</p:attrName>
                                        </p:attrNameLst>
                                      </p:cBhvr>
                                      <p:tavLst>
                                        <p:tav tm="0">
                                          <p:val>
                                            <p:strVal val="#ppt_h"/>
                                          </p:val>
                                        </p:tav>
                                        <p:tav tm="100000">
                                          <p:val>
                                            <p:strVal val="#ppt_h"/>
                                          </p:val>
                                        </p:tav>
                                      </p:tavLst>
                                    </p:anim>
                                    <p:animEffect transition="in" filter="fade">
                                      <p:cBhvr>
                                        <p:cTn id="33"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160E4-18EE-E27A-F00D-E20543518D14}"/>
              </a:ext>
            </a:extLst>
          </p:cNvPr>
          <p:cNvSpPr txBox="1">
            <a:spLocks/>
          </p:cNvSpPr>
          <p:nvPr/>
        </p:nvSpPr>
        <p:spPr>
          <a:xfrm>
            <a:off x="3631856" y="1595756"/>
            <a:ext cx="105210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Tiền công trong CNTB</a:t>
            </a:r>
          </a:p>
        </p:txBody>
      </p:sp>
      <p:sp>
        <p:nvSpPr>
          <p:cNvPr id="3" name="Text Box 14">
            <a:extLst>
              <a:ext uri="{FF2B5EF4-FFF2-40B4-BE49-F238E27FC236}">
                <a16:creationId xmlns:a16="http://schemas.microsoft.com/office/drawing/2014/main" id="{8E067401-212A-1CC8-4641-89536C369BAA}"/>
              </a:ext>
            </a:extLst>
          </p:cNvPr>
          <p:cNvSpPr txBox="1">
            <a:spLocks noChangeArrowheads="1"/>
          </p:cNvSpPr>
          <p:nvPr/>
        </p:nvSpPr>
        <p:spPr bwMode="ltGray">
          <a:xfrm>
            <a:off x="571500" y="3725411"/>
            <a:ext cx="17145000" cy="969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marL="914400" indent="-914400" algn="just">
              <a:buFont typeface="Wingdings" panose="05000000000000000000" pitchFamily="2" charset="2"/>
              <a:buChar char="§"/>
            </a:pPr>
            <a:r>
              <a:rPr lang="en-US" altLang="en-US" sz="4800" dirty="0" err="1">
                <a:solidFill>
                  <a:srgbClr val="002060"/>
                </a:solidFill>
                <a:latin typeface="Arial" panose="020B0604020202020204" pitchFamily="34" charset="0"/>
                <a:sym typeface="Wingdings" panose="05000000000000000000" pitchFamily="2" charset="2"/>
              </a:rPr>
              <a:t>Tiền</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công</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là</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giá</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trị</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sức</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lao</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động</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biểu</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hiện</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thành</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tiền</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gọi</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lại</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giá</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cả</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dirty="0" err="1">
                <a:solidFill>
                  <a:srgbClr val="002060"/>
                </a:solidFill>
                <a:latin typeface="Arial" panose="020B0604020202020204" pitchFamily="34" charset="0"/>
                <a:sym typeface="Wingdings" panose="05000000000000000000" pitchFamily="2" charset="2"/>
              </a:rPr>
              <a:t>sức</a:t>
            </a:r>
            <a:r>
              <a:rPr lang="en-US" altLang="en-US" sz="4800" dirty="0">
                <a:solidFill>
                  <a:srgbClr val="002060"/>
                </a:solidFill>
                <a:latin typeface="Arial" panose="020B0604020202020204" pitchFamily="34" charset="0"/>
                <a:sym typeface="Wingdings" panose="05000000000000000000" pitchFamily="2" charset="2"/>
              </a:rPr>
              <a:t> </a:t>
            </a:r>
            <a:r>
              <a:rPr lang="en-US" altLang="en-US" sz="4800" err="1">
                <a:solidFill>
                  <a:srgbClr val="002060"/>
                </a:solidFill>
                <a:latin typeface="Arial" panose="020B0604020202020204" pitchFamily="34" charset="0"/>
                <a:sym typeface="Wingdings" panose="05000000000000000000" pitchFamily="2" charset="2"/>
              </a:rPr>
              <a:t>lao</a:t>
            </a:r>
            <a:r>
              <a:rPr lang="en-US" altLang="en-US" sz="4800">
                <a:solidFill>
                  <a:srgbClr val="002060"/>
                </a:solidFill>
                <a:latin typeface="Arial" panose="020B0604020202020204" pitchFamily="34" charset="0"/>
                <a:sym typeface="Wingdings" panose="05000000000000000000" pitchFamily="2" charset="2"/>
              </a:rPr>
              <a:t> động</a:t>
            </a:r>
          </a:p>
          <a:p>
            <a:pPr algn="just"/>
            <a:endParaRPr lang="en-US" altLang="en-US" sz="4800" dirty="0">
              <a:solidFill>
                <a:srgbClr val="002060"/>
              </a:solidFill>
              <a:latin typeface="Arial" panose="020B0604020202020204" pitchFamily="34" charset="0"/>
              <a:sym typeface="Wingdings" panose="05000000000000000000" pitchFamily="2" charset="2"/>
            </a:endParaRPr>
          </a:p>
          <a:p>
            <a:pPr marL="914400" indent="-914400" algn="just">
              <a:buFont typeface="Wingdings" panose="05000000000000000000" pitchFamily="2" charset="2"/>
              <a:buChar char="§"/>
            </a:pPr>
            <a:r>
              <a:rPr lang="en-US" altLang="en-US" sz="4800" dirty="0">
                <a:solidFill>
                  <a:srgbClr val="002060"/>
                </a:solidFill>
                <a:latin typeface="Arial" panose="020B0604020202020204" pitchFamily="34" charset="0"/>
                <a:sym typeface="Wingdings" panose="05000000000000000000" pitchFamily="2" charset="2"/>
              </a:rPr>
              <a:t>2</a:t>
            </a:r>
            <a:r>
              <a:rPr lang="vi-VN" altLang="en-US" sz="4800" dirty="0">
                <a:solidFill>
                  <a:srgbClr val="002060"/>
                </a:solidFill>
                <a:latin typeface="Arial" panose="020B0604020202020204" pitchFamily="34" charset="0"/>
                <a:sym typeface="Wingdings" panose="05000000000000000000" pitchFamily="2" charset="2"/>
              </a:rPr>
              <a:t> hình thức </a:t>
            </a:r>
            <a:r>
              <a:rPr lang="en-US" altLang="en-US" sz="4800" dirty="0" err="1">
                <a:solidFill>
                  <a:srgbClr val="002060"/>
                </a:solidFill>
                <a:latin typeface="Arial" panose="020B0604020202020204" pitchFamily="34" charset="0"/>
                <a:sym typeface="Wingdings" panose="05000000000000000000" pitchFamily="2" charset="2"/>
              </a:rPr>
              <a:t>trả</a:t>
            </a:r>
            <a:r>
              <a:rPr lang="en-US" altLang="en-US" sz="4800" dirty="0">
                <a:solidFill>
                  <a:srgbClr val="002060"/>
                </a:solidFill>
                <a:latin typeface="Arial" panose="020B0604020202020204" pitchFamily="34" charset="0"/>
                <a:sym typeface="Wingdings" panose="05000000000000000000" pitchFamily="2" charset="2"/>
              </a:rPr>
              <a:t> </a:t>
            </a:r>
            <a:r>
              <a:rPr lang="vi-VN" altLang="en-US" sz="4800" dirty="0">
                <a:solidFill>
                  <a:srgbClr val="002060"/>
                </a:solidFill>
                <a:latin typeface="Arial" panose="020B0604020202020204" pitchFamily="34" charset="0"/>
                <a:sym typeface="Wingdings" panose="05000000000000000000" pitchFamily="2" charset="2"/>
              </a:rPr>
              <a:t>tiền công:</a:t>
            </a:r>
            <a:endParaRPr lang="en-US" altLang="en-US" sz="4800" dirty="0">
              <a:solidFill>
                <a:srgbClr val="002060"/>
              </a:solidFill>
              <a:latin typeface="Arial" panose="020B0604020202020204" pitchFamily="34" charset="0"/>
              <a:sym typeface="Wingdings" panose="05000000000000000000" pitchFamily="2" charset="2"/>
            </a:endParaRPr>
          </a:p>
          <a:p>
            <a:pPr algn="just"/>
            <a:r>
              <a:rPr lang="en-US" altLang="en-US" sz="4800" dirty="0">
                <a:solidFill>
                  <a:srgbClr val="002060"/>
                </a:solidFill>
                <a:latin typeface="Arial" panose="020B0604020202020204" pitchFamily="34" charset="0"/>
                <a:sym typeface="Wingdings" panose="05000000000000000000" pitchFamily="2" charset="2"/>
              </a:rPr>
              <a:t>	+ </a:t>
            </a:r>
            <a:r>
              <a:rPr lang="vi-VN" altLang="en-US" sz="4800" dirty="0">
                <a:solidFill>
                  <a:srgbClr val="002060"/>
                </a:solidFill>
                <a:latin typeface="Arial" panose="020B0604020202020204" pitchFamily="34" charset="0"/>
                <a:sym typeface="Wingdings" panose="05000000000000000000" pitchFamily="2" charset="2"/>
              </a:rPr>
              <a:t>Tiền công trả theo thời gian</a:t>
            </a:r>
            <a:endParaRPr lang="en-US" altLang="en-US" sz="4800" dirty="0">
              <a:solidFill>
                <a:srgbClr val="002060"/>
              </a:solidFill>
              <a:latin typeface="Arial" panose="020B0604020202020204" pitchFamily="34" charset="0"/>
              <a:sym typeface="Wingdings" panose="05000000000000000000" pitchFamily="2" charset="2"/>
            </a:endParaRPr>
          </a:p>
          <a:p>
            <a:pPr algn="just"/>
            <a:r>
              <a:rPr lang="en-US" altLang="en-US" sz="4800" dirty="0">
                <a:solidFill>
                  <a:srgbClr val="002060"/>
                </a:solidFill>
                <a:latin typeface="Arial" panose="020B0604020202020204" pitchFamily="34" charset="0"/>
                <a:sym typeface="Wingdings" panose="05000000000000000000" pitchFamily="2" charset="2"/>
              </a:rPr>
              <a:t>	+ </a:t>
            </a:r>
            <a:r>
              <a:rPr lang="vi-VN" altLang="en-US" sz="4800" dirty="0">
                <a:solidFill>
                  <a:srgbClr val="002060"/>
                </a:solidFill>
                <a:latin typeface="Arial" panose="020B0604020202020204" pitchFamily="34" charset="0"/>
                <a:sym typeface="Wingdings" panose="05000000000000000000" pitchFamily="2" charset="2"/>
              </a:rPr>
              <a:t>Tiền công trả theo </a:t>
            </a:r>
            <a:r>
              <a:rPr lang="vi-VN" altLang="en-US" sz="4800">
                <a:solidFill>
                  <a:srgbClr val="002060"/>
                </a:solidFill>
                <a:latin typeface="Arial" panose="020B0604020202020204" pitchFamily="34" charset="0"/>
                <a:sym typeface="Wingdings" panose="05000000000000000000" pitchFamily="2" charset="2"/>
              </a:rPr>
              <a:t>sản phẩm</a:t>
            </a:r>
            <a:endParaRPr lang="en-US" altLang="en-US" sz="4800">
              <a:solidFill>
                <a:srgbClr val="002060"/>
              </a:solidFill>
              <a:latin typeface="Arial" panose="020B0604020202020204" pitchFamily="34" charset="0"/>
              <a:sym typeface="Wingdings" panose="05000000000000000000" pitchFamily="2" charset="2"/>
            </a:endParaRPr>
          </a:p>
          <a:p>
            <a:pPr algn="just"/>
            <a:endParaRPr lang="en-US" altLang="en-US" sz="4800" dirty="0">
              <a:solidFill>
                <a:srgbClr val="002060"/>
              </a:solidFill>
              <a:latin typeface="Arial" panose="020B0604020202020204" pitchFamily="34" charset="0"/>
              <a:sym typeface="Wingdings" panose="05000000000000000000" pitchFamily="2" charset="2"/>
            </a:endParaRPr>
          </a:p>
          <a:p>
            <a:pPr marL="914400" indent="-914400" algn="just">
              <a:buFont typeface="Wingdings" panose="05000000000000000000" pitchFamily="2" charset="2"/>
              <a:buChar char="§"/>
            </a:pPr>
            <a:r>
              <a:rPr lang="en-US" altLang="en-US" sz="4800" dirty="0">
                <a:solidFill>
                  <a:srgbClr val="002060"/>
                </a:solidFill>
                <a:latin typeface="Arial" panose="020B0604020202020204" pitchFamily="34" charset="0"/>
                <a:sym typeface="Wingdings" panose="05000000000000000000" pitchFamily="2" charset="2"/>
              </a:rPr>
              <a:t>2 </a:t>
            </a:r>
            <a:r>
              <a:rPr lang="en-US" altLang="en-US" sz="4800" dirty="0" err="1">
                <a:solidFill>
                  <a:srgbClr val="002060"/>
                </a:solidFill>
                <a:latin typeface="Arial" panose="020B0604020202020204" pitchFamily="34" charset="0"/>
                <a:sym typeface="Wingdings" panose="05000000000000000000" pitchFamily="2" charset="2"/>
              </a:rPr>
              <a:t>loại</a:t>
            </a:r>
            <a:r>
              <a:rPr lang="en-US" altLang="en-US" sz="4800" dirty="0">
                <a:solidFill>
                  <a:srgbClr val="002060"/>
                </a:solidFill>
                <a:latin typeface="Arial" panose="020B0604020202020204" pitchFamily="34" charset="0"/>
                <a:sym typeface="Wingdings" panose="05000000000000000000" pitchFamily="2" charset="2"/>
              </a:rPr>
              <a:t> t</a:t>
            </a:r>
            <a:r>
              <a:rPr lang="vi-VN" altLang="en-US" sz="4800">
                <a:solidFill>
                  <a:srgbClr val="002060"/>
                </a:solidFill>
                <a:latin typeface="Arial" panose="020B0604020202020204" pitchFamily="34" charset="0"/>
                <a:sym typeface="Wingdings" panose="05000000000000000000" pitchFamily="2" charset="2"/>
              </a:rPr>
              <a:t>iền công</a:t>
            </a:r>
            <a:endParaRPr lang="en-US" altLang="en-US" sz="4800" dirty="0">
              <a:solidFill>
                <a:srgbClr val="002060"/>
              </a:solidFill>
              <a:latin typeface="Arial" panose="020B0604020202020204" pitchFamily="34" charset="0"/>
              <a:sym typeface="Wingdings" panose="05000000000000000000" pitchFamily="2" charset="2"/>
            </a:endParaRPr>
          </a:p>
          <a:p>
            <a:pPr algn="just"/>
            <a:r>
              <a:rPr lang="en-US" altLang="en-US" sz="4800" dirty="0">
                <a:solidFill>
                  <a:srgbClr val="002060"/>
                </a:solidFill>
                <a:latin typeface="Arial" panose="020B0604020202020204" pitchFamily="34" charset="0"/>
                <a:sym typeface="Wingdings" panose="05000000000000000000" pitchFamily="2" charset="2"/>
              </a:rPr>
              <a:t>	+ </a:t>
            </a:r>
            <a:r>
              <a:rPr lang="vi-VN" altLang="en-US" sz="4800" dirty="0">
                <a:solidFill>
                  <a:srgbClr val="002060"/>
                </a:solidFill>
                <a:latin typeface="Arial" panose="020B0604020202020204" pitchFamily="34" charset="0"/>
                <a:sym typeface="Wingdings" panose="05000000000000000000" pitchFamily="2" charset="2"/>
              </a:rPr>
              <a:t>Tiền công </a:t>
            </a:r>
            <a:r>
              <a:rPr lang="vi-VN" altLang="en-US" sz="4800">
                <a:solidFill>
                  <a:srgbClr val="002060"/>
                </a:solidFill>
                <a:latin typeface="Arial" panose="020B0604020202020204" pitchFamily="34" charset="0"/>
                <a:sym typeface="Wingdings" panose="05000000000000000000" pitchFamily="2" charset="2"/>
              </a:rPr>
              <a:t>danh nghĩa</a:t>
            </a:r>
            <a:r>
              <a:rPr lang="en-US" altLang="en-US" sz="4800">
                <a:solidFill>
                  <a:srgbClr val="002060"/>
                </a:solidFill>
                <a:latin typeface="Arial" panose="020B0604020202020204" pitchFamily="34" charset="0"/>
                <a:sym typeface="Wingdings" panose="05000000000000000000" pitchFamily="2" charset="2"/>
              </a:rPr>
              <a:t>: </a:t>
            </a:r>
            <a:r>
              <a:rPr lang="en-US" altLang="en-US" sz="4800">
                <a:solidFill>
                  <a:srgbClr val="C00000"/>
                </a:solidFill>
                <a:latin typeface="Arial" panose="020B0604020202020204" pitchFamily="34" charset="0"/>
                <a:sym typeface="Wingdings" panose="05000000000000000000" pitchFamily="2" charset="2"/>
              </a:rPr>
              <a:t>số tiền nhận được sau khi hoàn thành công việc</a:t>
            </a:r>
            <a:endParaRPr lang="en-US" altLang="en-US" sz="4800" dirty="0">
              <a:solidFill>
                <a:srgbClr val="C00000"/>
              </a:solidFill>
              <a:latin typeface="Arial" panose="020B0604020202020204" pitchFamily="34" charset="0"/>
              <a:sym typeface="Wingdings" panose="05000000000000000000" pitchFamily="2" charset="2"/>
            </a:endParaRPr>
          </a:p>
          <a:p>
            <a:pPr algn="just"/>
            <a:r>
              <a:rPr lang="en-US" altLang="en-US" sz="4800" dirty="0">
                <a:solidFill>
                  <a:srgbClr val="002060"/>
                </a:solidFill>
                <a:latin typeface="Arial" panose="020B0604020202020204" pitchFamily="34" charset="0"/>
                <a:sym typeface="Wingdings" panose="05000000000000000000" pitchFamily="2" charset="2"/>
              </a:rPr>
              <a:t>	+ </a:t>
            </a:r>
            <a:r>
              <a:rPr lang="vi-VN" altLang="en-US" sz="4800" dirty="0">
                <a:solidFill>
                  <a:srgbClr val="002060"/>
                </a:solidFill>
                <a:latin typeface="Arial" panose="020B0604020202020204" pitchFamily="34" charset="0"/>
                <a:sym typeface="Wingdings" panose="05000000000000000000" pitchFamily="2" charset="2"/>
              </a:rPr>
              <a:t>Tiền công </a:t>
            </a:r>
            <a:r>
              <a:rPr lang="vi-VN" altLang="en-US" sz="4800">
                <a:solidFill>
                  <a:srgbClr val="002060"/>
                </a:solidFill>
                <a:latin typeface="Arial" panose="020B0604020202020204" pitchFamily="34" charset="0"/>
                <a:sym typeface="Wingdings" panose="05000000000000000000" pitchFamily="2" charset="2"/>
              </a:rPr>
              <a:t>thực tế</a:t>
            </a:r>
            <a:r>
              <a:rPr lang="en-US" altLang="en-US" sz="4800">
                <a:solidFill>
                  <a:srgbClr val="002060"/>
                </a:solidFill>
                <a:latin typeface="Arial" panose="020B0604020202020204" pitchFamily="34" charset="0"/>
                <a:sym typeface="Wingdings" panose="05000000000000000000" pitchFamily="2" charset="2"/>
              </a:rPr>
              <a:t>: </a:t>
            </a:r>
            <a:r>
              <a:rPr lang="en-US" altLang="en-US" sz="4800">
                <a:solidFill>
                  <a:srgbClr val="C00000"/>
                </a:solidFill>
                <a:latin typeface="Arial" panose="020B0604020202020204" pitchFamily="34" charset="0"/>
                <a:sym typeface="Wingdings" panose="05000000000000000000" pitchFamily="2" charset="2"/>
              </a:rPr>
              <a:t>là số lượng hang hóa mua đc bằng tiền công danh nghĩa, cùng một mức tiền công danh nghĩa, nếu giá cả hang hóa tang thì tiền công thực tế giảm</a:t>
            </a:r>
            <a:endParaRPr lang="en-US" altLang="en-US" sz="4800" dirty="0">
              <a:solidFill>
                <a:srgbClr val="C00000"/>
              </a:solidFill>
              <a:latin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411633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down)">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down)">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down)">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624040-0FCA-7ED7-7475-429EA0D5D567}"/>
              </a:ext>
            </a:extLst>
          </p:cNvPr>
          <p:cNvSpPr txBox="1">
            <a:spLocks/>
          </p:cNvSpPr>
          <p:nvPr/>
        </p:nvSpPr>
        <p:spPr>
          <a:xfrm>
            <a:off x="3257968" y="1673066"/>
            <a:ext cx="115878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6400" b="1" dirty="0" err="1">
                <a:solidFill>
                  <a:srgbClr val="002060"/>
                </a:solidFill>
                <a:latin typeface="Aachen" panose="02020500000000000000" pitchFamily="18" charset="0"/>
                <a:ea typeface="Aachen" panose="02020500000000000000" pitchFamily="18" charset="0"/>
                <a:cs typeface="Aachen" panose="02020500000000000000" pitchFamily="18" charset="0"/>
              </a:rPr>
              <a:t>Tuần</a:t>
            </a:r>
            <a:r>
              <a:rPr lang="en-US" sz="6400"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sz="6400" b="1" dirty="0" err="1">
                <a:solidFill>
                  <a:srgbClr val="002060"/>
                </a:solidFill>
                <a:latin typeface="Aachen" panose="02020500000000000000" pitchFamily="18" charset="0"/>
                <a:ea typeface="Aachen" panose="02020500000000000000" pitchFamily="18" charset="0"/>
                <a:cs typeface="Aachen" panose="02020500000000000000" pitchFamily="18" charset="0"/>
              </a:rPr>
              <a:t>hoàn</a:t>
            </a:r>
            <a:r>
              <a:rPr lang="en-US" sz="6400" b="1" dirty="0">
                <a:solidFill>
                  <a:srgbClr val="002060"/>
                </a:solidFill>
                <a:latin typeface="Aachen" panose="02020500000000000000" pitchFamily="18" charset="0"/>
                <a:ea typeface="Aachen" panose="02020500000000000000" pitchFamily="18" charset="0"/>
                <a:cs typeface="Aachen" panose="02020500000000000000" pitchFamily="18" charset="0"/>
              </a:rPr>
              <a:t> &amp; Chu </a:t>
            </a:r>
            <a:r>
              <a:rPr lang="en-US" sz="6400" b="1" dirty="0" err="1">
                <a:solidFill>
                  <a:srgbClr val="002060"/>
                </a:solidFill>
                <a:latin typeface="Aachen" panose="02020500000000000000" pitchFamily="18" charset="0"/>
                <a:ea typeface="Aachen" panose="02020500000000000000" pitchFamily="18" charset="0"/>
                <a:cs typeface="Aachen" panose="02020500000000000000" pitchFamily="18" charset="0"/>
              </a:rPr>
              <a:t>chuyển</a:t>
            </a:r>
            <a:r>
              <a:rPr lang="en-US" sz="6400" b="1" dirty="0">
                <a:solidFill>
                  <a:srgbClr val="002060"/>
                </a:solidFill>
                <a:latin typeface="Aachen" panose="02020500000000000000" pitchFamily="18" charset="0"/>
                <a:ea typeface="Aachen" panose="02020500000000000000" pitchFamily="18" charset="0"/>
                <a:cs typeface="Aachen" panose="02020500000000000000" pitchFamily="18" charset="0"/>
              </a:rPr>
              <a:t> Tư </a:t>
            </a:r>
            <a:r>
              <a:rPr lang="en-US" sz="6400"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endParaRPr lang="en-US" sz="6400"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sp>
        <p:nvSpPr>
          <p:cNvPr id="5" name="Text Box 14">
            <a:extLst>
              <a:ext uri="{FF2B5EF4-FFF2-40B4-BE49-F238E27FC236}">
                <a16:creationId xmlns:a16="http://schemas.microsoft.com/office/drawing/2014/main" id="{0FDB2518-B14F-CB51-E95D-909A7F36D559}"/>
              </a:ext>
            </a:extLst>
          </p:cNvPr>
          <p:cNvSpPr txBox="1">
            <a:spLocks noChangeArrowheads="1"/>
          </p:cNvSpPr>
          <p:nvPr/>
        </p:nvSpPr>
        <p:spPr bwMode="ltGray">
          <a:xfrm>
            <a:off x="1851027" y="5394961"/>
            <a:ext cx="15522574" cy="655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endParaRPr lang="vi-VN" altLang="en-US" sz="6000" b="1">
              <a:solidFill>
                <a:srgbClr val="002060"/>
              </a:solidFill>
              <a:latin typeface="Arial" panose="020B0604020202020204" pitchFamily="34" charset="0"/>
              <a:sym typeface="Wingdings" panose="05000000000000000000" pitchFamily="2" charset="2"/>
            </a:endParaRPr>
          </a:p>
          <a:p>
            <a:pPr algn="just"/>
            <a:r>
              <a:rPr lang="vi-VN" altLang="en-US" sz="6000" b="1">
                <a:solidFill>
                  <a:srgbClr val="002060"/>
                </a:solidFill>
                <a:latin typeface="Arial" panose="020B0604020202020204" pitchFamily="34" charset="0"/>
                <a:sym typeface="Wingdings" panose="05000000000000000000" pitchFamily="2" charset="2"/>
              </a:rPr>
              <a:t>			</a:t>
            </a:r>
            <a:r>
              <a:rPr lang="en-US" altLang="en-US" sz="6000" b="1">
                <a:solidFill>
                  <a:srgbClr val="002060"/>
                </a:solidFill>
                <a:latin typeface="Arial" panose="020B0604020202020204" pitchFamily="34" charset="0"/>
                <a:sym typeface="Wingdings" panose="05000000000000000000" pitchFamily="2" charset="2"/>
              </a:rPr>
              <a:t>			</a:t>
            </a:r>
            <a:r>
              <a:rPr lang="vi-VN" altLang="en-US" sz="6000" b="1">
                <a:solidFill>
                  <a:srgbClr val="002060"/>
                </a:solidFill>
                <a:latin typeface="Arial" panose="020B0604020202020204" pitchFamily="34" charset="0"/>
                <a:sym typeface="Wingdings" panose="05000000000000000000" pitchFamily="2" charset="2"/>
              </a:rPr>
              <a:t>TLSX</a:t>
            </a:r>
          </a:p>
          <a:p>
            <a:pPr algn="just"/>
            <a:r>
              <a:rPr lang="vi-VN" altLang="en-US" sz="6000" b="1">
                <a:solidFill>
                  <a:srgbClr val="002060"/>
                </a:solidFill>
                <a:latin typeface="Arial" panose="020B0604020202020204" pitchFamily="34" charset="0"/>
                <a:sym typeface="Wingdings" panose="05000000000000000000" pitchFamily="2" charset="2"/>
              </a:rPr>
              <a:t>   T  -  H  				</a:t>
            </a:r>
            <a:r>
              <a:rPr lang="en-US" altLang="en-US" sz="6000" b="1">
                <a:solidFill>
                  <a:srgbClr val="002060"/>
                </a:solidFill>
                <a:latin typeface="Arial" panose="020B0604020202020204" pitchFamily="34" charset="0"/>
                <a:sym typeface="Wingdings" panose="05000000000000000000" pitchFamily="2" charset="2"/>
              </a:rPr>
              <a:t>		</a:t>
            </a:r>
            <a:r>
              <a:rPr lang="vi-VN" altLang="en-US" sz="6000" b="1">
                <a:solidFill>
                  <a:srgbClr val="002060"/>
                </a:solidFill>
                <a:latin typeface="Arial" panose="020B0604020202020204" pitchFamily="34" charset="0"/>
                <a:sym typeface="Wingdings" panose="05000000000000000000" pitchFamily="2" charset="2"/>
              </a:rPr>
              <a:t>... SX ... H’ -  T’</a:t>
            </a:r>
          </a:p>
          <a:p>
            <a:pPr algn="just"/>
            <a:r>
              <a:rPr lang="vi-VN" altLang="en-US" sz="6000" b="1">
                <a:solidFill>
                  <a:srgbClr val="002060"/>
                </a:solidFill>
                <a:latin typeface="Arial" panose="020B0604020202020204" pitchFamily="34" charset="0"/>
                <a:sym typeface="Wingdings" panose="05000000000000000000" pitchFamily="2" charset="2"/>
              </a:rPr>
              <a:t>        			</a:t>
            </a:r>
            <a:r>
              <a:rPr lang="en-US" altLang="en-US" sz="6000" b="1">
                <a:solidFill>
                  <a:srgbClr val="002060"/>
                </a:solidFill>
                <a:latin typeface="Arial" panose="020B0604020202020204" pitchFamily="34" charset="0"/>
                <a:sym typeface="Wingdings" panose="05000000000000000000" pitchFamily="2" charset="2"/>
              </a:rPr>
              <a:t>		</a:t>
            </a:r>
            <a:r>
              <a:rPr lang="vi-VN" altLang="en-US" sz="6000" b="1">
                <a:solidFill>
                  <a:srgbClr val="002060"/>
                </a:solidFill>
                <a:latin typeface="Arial" panose="020B0604020202020204" pitchFamily="34" charset="0"/>
                <a:sym typeface="Wingdings" panose="05000000000000000000" pitchFamily="2" charset="2"/>
              </a:rPr>
              <a:t>SLĐ</a:t>
            </a:r>
          </a:p>
          <a:p>
            <a:pPr algn="just"/>
            <a:r>
              <a:rPr lang="en-US" altLang="en-US" sz="6000" b="1">
                <a:solidFill>
                  <a:srgbClr val="002060"/>
                </a:solidFill>
                <a:latin typeface="Arial" panose="020B0604020202020204" pitchFamily="34" charset="0"/>
                <a:sym typeface="Wingdings" panose="05000000000000000000" pitchFamily="2" charset="2"/>
              </a:rPr>
              <a:t>	</a:t>
            </a:r>
          </a:p>
          <a:p>
            <a:pPr algn="just"/>
            <a:r>
              <a:rPr lang="en-US" altLang="en-US" sz="6000" b="1">
                <a:solidFill>
                  <a:srgbClr val="002060"/>
                </a:solidFill>
                <a:latin typeface="Arial" panose="020B0604020202020204" pitchFamily="34" charset="0"/>
                <a:sym typeface="Wingdings" panose="05000000000000000000" pitchFamily="2" charset="2"/>
              </a:rPr>
              <a:t>     (1)		       		(2)		    			  (3)</a:t>
            </a:r>
          </a:p>
          <a:p>
            <a:pPr algn="just"/>
            <a:endParaRPr lang="en-US" altLang="en-US" sz="6000" b="1">
              <a:solidFill>
                <a:srgbClr val="002060"/>
              </a:solidFill>
              <a:latin typeface="Arial" panose="020B0604020202020204" pitchFamily="34" charset="0"/>
              <a:sym typeface="Wingdings" panose="05000000000000000000" pitchFamily="2" charset="2"/>
            </a:endParaRPr>
          </a:p>
        </p:txBody>
      </p:sp>
      <p:sp>
        <p:nvSpPr>
          <p:cNvPr id="6" name="Line 7">
            <a:extLst>
              <a:ext uri="{FF2B5EF4-FFF2-40B4-BE49-F238E27FC236}">
                <a16:creationId xmlns:a16="http://schemas.microsoft.com/office/drawing/2014/main" id="{7CCFC073-F532-9BC8-683B-161314281797}"/>
              </a:ext>
            </a:extLst>
          </p:cNvPr>
          <p:cNvSpPr>
            <a:spLocks noChangeShapeType="1"/>
          </p:cNvSpPr>
          <p:nvPr/>
        </p:nvSpPr>
        <p:spPr bwMode="auto">
          <a:xfrm flipV="1">
            <a:off x="4860880" y="6729830"/>
            <a:ext cx="22860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
        <p:nvSpPr>
          <p:cNvPr id="7" name="Line 8">
            <a:extLst>
              <a:ext uri="{FF2B5EF4-FFF2-40B4-BE49-F238E27FC236}">
                <a16:creationId xmlns:a16="http://schemas.microsoft.com/office/drawing/2014/main" id="{8ACCEB19-EAFF-3D88-5232-F4407BEA2CEB}"/>
              </a:ext>
            </a:extLst>
          </p:cNvPr>
          <p:cNvSpPr>
            <a:spLocks noChangeShapeType="1"/>
          </p:cNvSpPr>
          <p:nvPr/>
        </p:nvSpPr>
        <p:spPr bwMode="auto">
          <a:xfrm>
            <a:off x="4860880" y="7796630"/>
            <a:ext cx="228600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
        <p:nvSpPr>
          <p:cNvPr id="8" name="AutoShape 4">
            <a:extLst>
              <a:ext uri="{FF2B5EF4-FFF2-40B4-BE49-F238E27FC236}">
                <a16:creationId xmlns:a16="http://schemas.microsoft.com/office/drawing/2014/main" id="{F16CD518-3E99-ECD7-68CF-F7FC9C926F8C}"/>
              </a:ext>
            </a:extLst>
          </p:cNvPr>
          <p:cNvSpPr>
            <a:spLocks/>
          </p:cNvSpPr>
          <p:nvPr/>
        </p:nvSpPr>
        <p:spPr bwMode="auto">
          <a:xfrm rot="16200000">
            <a:off x="3116922" y="8794685"/>
            <a:ext cx="1066800" cy="1692326"/>
          </a:xfrm>
          <a:prstGeom prst="leftBrace">
            <a:avLst>
              <a:gd name="adj1" fmla="val 2142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endParaRPr lang="en-US" altLang="en-US" sz="4800" b="1">
              <a:solidFill>
                <a:srgbClr val="002060"/>
              </a:solidFill>
            </a:endParaRPr>
          </a:p>
        </p:txBody>
      </p:sp>
      <p:sp>
        <p:nvSpPr>
          <p:cNvPr id="9" name="AutoShape 5">
            <a:extLst>
              <a:ext uri="{FF2B5EF4-FFF2-40B4-BE49-F238E27FC236}">
                <a16:creationId xmlns:a16="http://schemas.microsoft.com/office/drawing/2014/main" id="{AD9A740B-DCA8-1610-A276-DA1473A599D4}"/>
              </a:ext>
            </a:extLst>
          </p:cNvPr>
          <p:cNvSpPr>
            <a:spLocks/>
          </p:cNvSpPr>
          <p:nvPr/>
        </p:nvSpPr>
        <p:spPr bwMode="auto">
          <a:xfrm rot="16200000">
            <a:off x="8656320" y="5211000"/>
            <a:ext cx="914400" cy="8920480"/>
          </a:xfrm>
          <a:prstGeom prst="leftBrace">
            <a:avLst>
              <a:gd name="adj1" fmla="val 5694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endParaRPr lang="en-US" altLang="en-US" sz="4800" b="1">
              <a:solidFill>
                <a:srgbClr val="002060"/>
              </a:solidFill>
            </a:endParaRPr>
          </a:p>
        </p:txBody>
      </p:sp>
      <p:sp>
        <p:nvSpPr>
          <p:cNvPr id="10" name="AutoShape 6">
            <a:extLst>
              <a:ext uri="{FF2B5EF4-FFF2-40B4-BE49-F238E27FC236}">
                <a16:creationId xmlns:a16="http://schemas.microsoft.com/office/drawing/2014/main" id="{A53BA4B5-D3CA-EEB9-9913-200278254F4E}"/>
              </a:ext>
            </a:extLst>
          </p:cNvPr>
          <p:cNvSpPr>
            <a:spLocks/>
          </p:cNvSpPr>
          <p:nvPr/>
        </p:nvSpPr>
        <p:spPr bwMode="auto">
          <a:xfrm rot="16200000">
            <a:off x="14103740" y="8840856"/>
            <a:ext cx="763080" cy="1509452"/>
          </a:xfrm>
          <a:prstGeom prst="leftBrace">
            <a:avLst>
              <a:gd name="adj1" fmla="val 23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endParaRPr lang="en-US" altLang="en-US" sz="4800" b="1">
              <a:solidFill>
                <a:srgbClr val="002060"/>
              </a:solidFill>
            </a:endParaRPr>
          </a:p>
        </p:txBody>
      </p:sp>
    </p:spTree>
    <p:extLst>
      <p:ext uri="{BB962C8B-B14F-4D97-AF65-F5344CB8AC3E}">
        <p14:creationId xmlns:p14="http://schemas.microsoft.com/office/powerpoint/2010/main" val="1057601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AC55FF1-3DBB-20E1-DACA-3F90EA6287DC}"/>
              </a:ext>
            </a:extLst>
          </p:cNvPr>
          <p:cNvGraphicFramePr>
            <a:graphicFrameLocks noGrp="1"/>
          </p:cNvGraphicFramePr>
          <p:nvPr/>
        </p:nvGraphicFramePr>
        <p:xfrm>
          <a:off x="1069512" y="3271520"/>
          <a:ext cx="16002000" cy="950976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gridCol w="2286000">
                  <a:extLst>
                    <a:ext uri="{9D8B030D-6E8A-4147-A177-3AD203B41FA5}">
                      <a16:colId xmlns:a16="http://schemas.microsoft.com/office/drawing/2014/main" val="20006"/>
                    </a:ext>
                  </a:extLst>
                </a:gridCol>
              </a:tblGrid>
              <a:tr h="1280160">
                <a:tc rowSpan="3">
                  <a:txBody>
                    <a:bodyPr/>
                    <a:lstStyle/>
                    <a:p>
                      <a:pPr algn="ctr"/>
                      <a:r>
                        <a:rPr lang="en-US" sz="3600" b="1" dirty="0">
                          <a:solidFill>
                            <a:srgbClr val="002060"/>
                          </a:solidFill>
                        </a:rPr>
                        <a:t>TUẦN</a:t>
                      </a:r>
                      <a:r>
                        <a:rPr lang="en-US" sz="3600" b="1" baseline="0" dirty="0">
                          <a:solidFill>
                            <a:srgbClr val="002060"/>
                          </a:solidFill>
                        </a:rPr>
                        <a:t> HOÀN TƯ BẢN</a:t>
                      </a:r>
                      <a:endParaRPr lang="vi-VN" sz="3600" b="1"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b="0">
                          <a:solidFill>
                            <a:srgbClr val="002060"/>
                          </a:solidFill>
                        </a:rPr>
                        <a:t>3</a:t>
                      </a:r>
                      <a:r>
                        <a:rPr lang="en-US" sz="3600" b="0" baseline="0">
                          <a:solidFill>
                            <a:srgbClr val="002060"/>
                          </a:solidFill>
                        </a:rPr>
                        <a:t> giai đoạn</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b="0">
                          <a:solidFill>
                            <a:srgbClr val="002060"/>
                          </a:solidFill>
                        </a:rPr>
                        <a:t>(1)</a:t>
                      </a:r>
                    </a:p>
                    <a:p>
                      <a:pPr algn="ctr"/>
                      <a:r>
                        <a:rPr lang="en-US" sz="3600" b="0">
                          <a:solidFill>
                            <a:srgbClr val="002060"/>
                          </a:solidFill>
                        </a:rPr>
                        <a:t>MUA</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3600" b="0">
                          <a:solidFill>
                            <a:srgbClr val="002060"/>
                          </a:solidFill>
                        </a:rPr>
                        <a:t>(2)</a:t>
                      </a:r>
                    </a:p>
                    <a:p>
                      <a:pPr algn="ctr"/>
                      <a:r>
                        <a:rPr lang="en-US" sz="3600" b="0">
                          <a:solidFill>
                            <a:srgbClr val="002060"/>
                          </a:solidFill>
                        </a:rPr>
                        <a:t>SẢN</a:t>
                      </a:r>
                      <a:r>
                        <a:rPr lang="en-US" sz="3600" b="0" baseline="0">
                          <a:solidFill>
                            <a:srgbClr val="002060"/>
                          </a:solidFill>
                        </a:rPr>
                        <a:t> XUẤT</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vi-VN" sz="1600" b="0">
                        <a:solidFill>
                          <a:srgbClr val="FF0000"/>
                        </a:solidFill>
                      </a:endParaRPr>
                    </a:p>
                  </a:txBody>
                  <a:tcPr anchor="ctr">
                    <a:solidFill>
                      <a:schemeClr val="accent2"/>
                    </a:solidFill>
                  </a:tcPr>
                </a:tc>
                <a:tc hMerge="1">
                  <a:txBody>
                    <a:bodyPr/>
                    <a:lstStyle/>
                    <a:p>
                      <a:pPr algn="ctr"/>
                      <a:endParaRPr lang="vi-VN" sz="1600" b="0">
                        <a:solidFill>
                          <a:srgbClr val="FF0000"/>
                        </a:solidFill>
                      </a:endParaRPr>
                    </a:p>
                  </a:txBody>
                  <a:tcPr anchor="ctr">
                    <a:solidFill>
                      <a:schemeClr val="accent2"/>
                    </a:solidFill>
                  </a:tcPr>
                </a:tc>
                <a:tc>
                  <a:txBody>
                    <a:bodyPr/>
                    <a:lstStyle/>
                    <a:p>
                      <a:pPr algn="ctr"/>
                      <a:r>
                        <a:rPr lang="en-US" sz="3600" b="0">
                          <a:solidFill>
                            <a:srgbClr val="002060"/>
                          </a:solidFill>
                        </a:rPr>
                        <a:t>(3)</a:t>
                      </a:r>
                    </a:p>
                    <a:p>
                      <a:pPr algn="ctr"/>
                      <a:r>
                        <a:rPr lang="en-US" sz="3600" b="0">
                          <a:solidFill>
                            <a:srgbClr val="002060"/>
                          </a:solidFill>
                        </a:rPr>
                        <a:t>BÁN</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828800">
                <a:tc vMerge="1">
                  <a:txBody>
                    <a:bodyPr/>
                    <a:lstStyle/>
                    <a:p>
                      <a:endParaRPr lang="vi-VN"/>
                    </a:p>
                  </a:txBody>
                  <a:tcPr>
                    <a:solidFill>
                      <a:schemeClr val="accent2"/>
                    </a:solidFill>
                  </a:tcPr>
                </a:tc>
                <a:tc>
                  <a:txBody>
                    <a:bodyPr/>
                    <a:lstStyle/>
                    <a:p>
                      <a:pPr algn="ctr"/>
                      <a:r>
                        <a:rPr lang="en-US" sz="3600" b="0">
                          <a:solidFill>
                            <a:srgbClr val="002060"/>
                          </a:solidFill>
                        </a:rPr>
                        <a:t>3 hình</a:t>
                      </a:r>
                      <a:r>
                        <a:rPr lang="en-US" sz="3600" b="0" baseline="0">
                          <a:solidFill>
                            <a:srgbClr val="002060"/>
                          </a:solidFill>
                        </a:rPr>
                        <a:t> thái</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b="0">
                          <a:solidFill>
                            <a:srgbClr val="002060"/>
                          </a:solidFill>
                        </a:rPr>
                        <a:t>TB</a:t>
                      </a:r>
                      <a:r>
                        <a:rPr lang="en-US" sz="3600" b="0" baseline="0">
                          <a:solidFill>
                            <a:srgbClr val="002060"/>
                          </a:solidFill>
                        </a:rPr>
                        <a:t> TIỀN TỆ</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3600" b="0" dirty="0">
                          <a:solidFill>
                            <a:srgbClr val="002060"/>
                          </a:solidFill>
                        </a:rPr>
                        <a:t>TƯ</a:t>
                      </a:r>
                      <a:r>
                        <a:rPr lang="en-US" sz="3600" b="0" baseline="0" dirty="0">
                          <a:solidFill>
                            <a:srgbClr val="002060"/>
                          </a:solidFill>
                        </a:rPr>
                        <a:t> BẢN SẢN XUẤT</a:t>
                      </a:r>
                    </a:p>
                    <a:p>
                      <a:pPr algn="ctr"/>
                      <a:r>
                        <a:rPr lang="en-US" sz="3600" b="0" baseline="0" dirty="0">
                          <a:solidFill>
                            <a:srgbClr val="002060"/>
                          </a:solidFill>
                        </a:rPr>
                        <a:t>(TLSX+SLĐ)</a:t>
                      </a:r>
                    </a:p>
                    <a:p>
                      <a:pPr algn="ctr"/>
                      <a:r>
                        <a:rPr lang="en-US" sz="3600" b="0" baseline="0" dirty="0">
                          <a:solidFill>
                            <a:srgbClr val="002060"/>
                          </a:solidFill>
                        </a:rPr>
                        <a:t>TBBB+TBKB</a:t>
                      </a:r>
                      <a:endParaRPr lang="vi-VN" sz="3600" b="0"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vi-VN" sz="1600" b="0">
                        <a:solidFill>
                          <a:srgbClr val="FF0000"/>
                        </a:solidFill>
                      </a:endParaRPr>
                    </a:p>
                  </a:txBody>
                  <a:tcPr anchor="ctr">
                    <a:solidFill>
                      <a:schemeClr val="accent2"/>
                    </a:solidFill>
                  </a:tcPr>
                </a:tc>
                <a:tc hMerge="1">
                  <a:txBody>
                    <a:bodyPr/>
                    <a:lstStyle/>
                    <a:p>
                      <a:pPr algn="ctr"/>
                      <a:endParaRPr lang="vi-VN" sz="1600" b="0">
                        <a:solidFill>
                          <a:srgbClr val="FF0000"/>
                        </a:solidFill>
                      </a:endParaRPr>
                    </a:p>
                  </a:txBody>
                  <a:tcPr anchor="ctr">
                    <a:solidFill>
                      <a:schemeClr val="accent2"/>
                    </a:solidFill>
                  </a:tcPr>
                </a:tc>
                <a:tc>
                  <a:txBody>
                    <a:bodyPr/>
                    <a:lstStyle/>
                    <a:p>
                      <a:pPr algn="ctr"/>
                      <a:r>
                        <a:rPr lang="en-US" sz="3600" b="0">
                          <a:solidFill>
                            <a:srgbClr val="002060"/>
                          </a:solidFill>
                        </a:rPr>
                        <a:t>TB HÀNG</a:t>
                      </a:r>
                      <a:r>
                        <a:rPr lang="en-US" sz="3600" b="0" baseline="0">
                          <a:solidFill>
                            <a:srgbClr val="002060"/>
                          </a:solidFill>
                        </a:rPr>
                        <a:t> HÓA</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828800">
                <a:tc vMerge="1">
                  <a:txBody>
                    <a:bodyPr/>
                    <a:lstStyle/>
                    <a:p>
                      <a:endParaRPr lang="vi-VN"/>
                    </a:p>
                  </a:txBody>
                  <a:tcPr>
                    <a:solidFill>
                      <a:schemeClr val="accent2"/>
                    </a:solidFill>
                  </a:tcPr>
                </a:tc>
                <a:tc>
                  <a:txBody>
                    <a:bodyPr/>
                    <a:lstStyle/>
                    <a:p>
                      <a:pPr algn="ctr"/>
                      <a:r>
                        <a:rPr lang="en-US" sz="3600" b="0">
                          <a:solidFill>
                            <a:srgbClr val="002060"/>
                          </a:solidFill>
                        </a:rPr>
                        <a:t>3 chức</a:t>
                      </a:r>
                      <a:r>
                        <a:rPr lang="en-US" sz="3600" b="0" baseline="0">
                          <a:solidFill>
                            <a:srgbClr val="002060"/>
                          </a:solidFill>
                        </a:rPr>
                        <a:t> năng</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b="0">
                          <a:solidFill>
                            <a:srgbClr val="002060"/>
                          </a:solidFill>
                        </a:rPr>
                        <a:t>Chuẩn bị</a:t>
                      </a:r>
                      <a:r>
                        <a:rPr lang="en-US" sz="3600" b="0" baseline="0">
                          <a:solidFill>
                            <a:srgbClr val="002060"/>
                          </a:solidFill>
                        </a:rPr>
                        <a:t> điều kiện </a:t>
                      </a:r>
                      <a:r>
                        <a:rPr lang="en-US" sz="3600" b="0" baseline="0">
                          <a:solidFill>
                            <a:srgbClr val="002060"/>
                          </a:solidFill>
                          <a:sym typeface="Wingdings" panose="05000000000000000000" pitchFamily="2" charset="2"/>
                        </a:rPr>
                        <a:t> m</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3600" b="0">
                          <a:solidFill>
                            <a:srgbClr val="002060"/>
                          </a:solidFill>
                        </a:rPr>
                        <a:t>Tạo ra giá</a:t>
                      </a:r>
                      <a:r>
                        <a:rPr lang="en-US" sz="3600" b="0" baseline="0">
                          <a:solidFill>
                            <a:srgbClr val="002060"/>
                          </a:solidFill>
                        </a:rPr>
                        <a:t> trị</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vi-VN" sz="1600" b="0">
                        <a:solidFill>
                          <a:srgbClr val="FF0000"/>
                        </a:solidFill>
                      </a:endParaRPr>
                    </a:p>
                  </a:txBody>
                  <a:tcPr anchor="ctr">
                    <a:solidFill>
                      <a:schemeClr val="accent2"/>
                    </a:solidFill>
                  </a:tcPr>
                </a:tc>
                <a:tc hMerge="1">
                  <a:txBody>
                    <a:bodyPr/>
                    <a:lstStyle/>
                    <a:p>
                      <a:pPr algn="ctr"/>
                      <a:endParaRPr lang="vi-VN" sz="1600" b="0">
                        <a:solidFill>
                          <a:srgbClr val="FF0000"/>
                        </a:solidFill>
                      </a:endParaRPr>
                    </a:p>
                  </a:txBody>
                  <a:tcPr anchor="ctr">
                    <a:solidFill>
                      <a:schemeClr val="accent2"/>
                    </a:solidFill>
                  </a:tcPr>
                </a:tc>
                <a:tc>
                  <a:txBody>
                    <a:bodyPr/>
                    <a:lstStyle/>
                    <a:p>
                      <a:pPr algn="ctr"/>
                      <a:r>
                        <a:rPr lang="en-US" sz="3600" b="0">
                          <a:solidFill>
                            <a:srgbClr val="002060"/>
                          </a:solidFill>
                        </a:rPr>
                        <a:t>Thực hiện</a:t>
                      </a:r>
                      <a:r>
                        <a:rPr lang="en-US" sz="3600" b="0" baseline="0">
                          <a:solidFill>
                            <a:srgbClr val="002060"/>
                          </a:solidFill>
                        </a:rPr>
                        <a:t> giá trị</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rowSpan="4">
                  <a:txBody>
                    <a:bodyPr/>
                    <a:lstStyle/>
                    <a:p>
                      <a:pPr algn="ctr"/>
                      <a:r>
                        <a:rPr lang="en-US" sz="3600" b="1" dirty="0">
                          <a:solidFill>
                            <a:srgbClr val="002060"/>
                          </a:solidFill>
                        </a:rPr>
                        <a:t>CHU CHUYỂN</a:t>
                      </a:r>
                      <a:r>
                        <a:rPr lang="en-US" sz="3600" b="1" baseline="0" dirty="0">
                          <a:solidFill>
                            <a:srgbClr val="002060"/>
                          </a:solidFill>
                        </a:rPr>
                        <a:t> TƯ BẢN</a:t>
                      </a:r>
                      <a:endParaRPr lang="vi-VN" sz="3600" b="1"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r>
                        <a:rPr lang="en-US" sz="3600" b="0">
                          <a:solidFill>
                            <a:srgbClr val="002060"/>
                          </a:solidFill>
                        </a:rPr>
                        <a:t>Thời</a:t>
                      </a:r>
                      <a:r>
                        <a:rPr lang="en-US" sz="3600" b="0" baseline="0">
                          <a:solidFill>
                            <a:srgbClr val="002060"/>
                          </a:solidFill>
                        </a:rPr>
                        <a:t> gian</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algn="ctr"/>
                      <a:r>
                        <a:rPr lang="en-US" sz="3600" b="0">
                          <a:solidFill>
                            <a:srgbClr val="002060"/>
                          </a:solidFill>
                        </a:rPr>
                        <a:t>Thời gian mua</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3600" b="0">
                          <a:solidFill>
                            <a:srgbClr val="002060"/>
                          </a:solidFill>
                        </a:rPr>
                        <a:t>Thời gian sản</a:t>
                      </a:r>
                      <a:r>
                        <a:rPr lang="en-US" sz="3600" b="0" baseline="0">
                          <a:solidFill>
                            <a:srgbClr val="002060"/>
                          </a:solidFill>
                        </a:rPr>
                        <a:t> xuất</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vi-VN" b="0">
                        <a:solidFill>
                          <a:srgbClr val="FF0000"/>
                        </a:solidFill>
                      </a:endParaRPr>
                    </a:p>
                  </a:txBody>
                  <a:tcPr anchor="ctr">
                    <a:solidFill>
                      <a:schemeClr val="accent2"/>
                    </a:solidFill>
                  </a:tcPr>
                </a:tc>
                <a:tc hMerge="1">
                  <a:txBody>
                    <a:bodyPr/>
                    <a:lstStyle/>
                    <a:p>
                      <a:pPr algn="ctr"/>
                      <a:endParaRPr lang="vi-VN" b="0">
                        <a:solidFill>
                          <a:srgbClr val="FF0000"/>
                        </a:solidFill>
                      </a:endParaRPr>
                    </a:p>
                  </a:txBody>
                  <a:tcPr anchor="ctr">
                    <a:solidFill>
                      <a:schemeClr val="accent2"/>
                    </a:solidFill>
                  </a:tcPr>
                </a:tc>
                <a:tc rowSpan="2">
                  <a:txBody>
                    <a:bodyPr/>
                    <a:lstStyle/>
                    <a:p>
                      <a:pPr algn="ctr"/>
                      <a:r>
                        <a:rPr lang="en-US" sz="3600" b="0">
                          <a:solidFill>
                            <a:srgbClr val="002060"/>
                          </a:solidFill>
                        </a:rPr>
                        <a:t>Thời gian bán</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828800">
                <a:tc vMerge="1">
                  <a:txBody>
                    <a:bodyPr/>
                    <a:lstStyle/>
                    <a:p>
                      <a:endParaRPr lang="vi-VN"/>
                    </a:p>
                  </a:txBody>
                  <a:tcPr/>
                </a:tc>
                <a:tc vMerge="1">
                  <a:txBody>
                    <a:bodyPr/>
                    <a:lstStyle/>
                    <a:p>
                      <a:endParaRPr lang="vi-VN"/>
                    </a:p>
                  </a:txBody>
                  <a:tcPr/>
                </a:tc>
                <a:tc vMerge="1">
                  <a:txBody>
                    <a:bodyPr/>
                    <a:lstStyle/>
                    <a:p>
                      <a:endParaRPr lang="vi-VN"/>
                    </a:p>
                  </a:txBody>
                  <a:tcPr/>
                </a:tc>
                <a:tc>
                  <a:txBody>
                    <a:bodyPr/>
                    <a:lstStyle/>
                    <a:p>
                      <a:pPr algn="ctr"/>
                      <a:r>
                        <a:rPr lang="en-US" sz="3600" b="0">
                          <a:solidFill>
                            <a:srgbClr val="002060"/>
                          </a:solidFill>
                        </a:rPr>
                        <a:t>Tg</a:t>
                      </a:r>
                      <a:r>
                        <a:rPr lang="en-US" sz="3600" b="0" baseline="0">
                          <a:solidFill>
                            <a:srgbClr val="002060"/>
                          </a:solidFill>
                        </a:rPr>
                        <a:t> dự trữ</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b="0">
                          <a:solidFill>
                            <a:srgbClr val="002060"/>
                          </a:solidFill>
                        </a:rPr>
                        <a:t>Tg</a:t>
                      </a:r>
                      <a:r>
                        <a:rPr lang="en-US" sz="3600" b="0" baseline="0">
                          <a:solidFill>
                            <a:srgbClr val="002060"/>
                          </a:solidFill>
                        </a:rPr>
                        <a:t> lao động</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3600" b="0">
                          <a:solidFill>
                            <a:srgbClr val="002060"/>
                          </a:solidFill>
                        </a:rPr>
                        <a:t>Tg</a:t>
                      </a:r>
                      <a:r>
                        <a:rPr lang="en-US" sz="3600" b="0" baseline="0">
                          <a:solidFill>
                            <a:srgbClr val="002060"/>
                          </a:solidFill>
                        </a:rPr>
                        <a:t> gián đoạn lao động</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vi-VN"/>
                    </a:p>
                  </a:txBody>
                  <a:tcPr/>
                </a:tc>
                <a:extLst>
                  <a:ext uri="{0D108BD9-81ED-4DB2-BD59-A6C34878D82A}">
                    <a16:rowId xmlns:a16="http://schemas.microsoft.com/office/drawing/2014/main" val="10004"/>
                  </a:ext>
                </a:extLst>
              </a:tr>
              <a:tr h="731520">
                <a:tc vMerge="1">
                  <a:txBody>
                    <a:bodyPr/>
                    <a:lstStyle/>
                    <a:p>
                      <a:endParaRPr lang="vi-VN"/>
                    </a:p>
                  </a:txBody>
                  <a:tcPr>
                    <a:solidFill>
                      <a:schemeClr val="accent2"/>
                    </a:solidFill>
                  </a:tcPr>
                </a:tc>
                <a:tc rowSpan="2">
                  <a:txBody>
                    <a:bodyPr/>
                    <a:lstStyle/>
                    <a:p>
                      <a:pPr algn="ctr"/>
                      <a:r>
                        <a:rPr lang="en-US" sz="3600" b="0">
                          <a:solidFill>
                            <a:srgbClr val="002060"/>
                          </a:solidFill>
                        </a:rPr>
                        <a:t>Tốc độ</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5">
                  <a:txBody>
                    <a:bodyPr/>
                    <a:lstStyle/>
                    <a:p>
                      <a:pPr algn="ctr"/>
                      <a:r>
                        <a:rPr lang="en-US" sz="3600" b="0">
                          <a:solidFill>
                            <a:srgbClr val="002060"/>
                          </a:solidFill>
                        </a:rPr>
                        <a:t>1 năm</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vi-VN" sz="1600" b="0">
                        <a:solidFill>
                          <a:srgbClr val="FF0000"/>
                        </a:solidFill>
                      </a:endParaRPr>
                    </a:p>
                  </a:txBody>
                  <a:tcPr anchor="ctr">
                    <a:solidFill>
                      <a:schemeClr val="accent2"/>
                    </a:solidFill>
                  </a:tcPr>
                </a:tc>
                <a:tc hMerge="1">
                  <a:txBody>
                    <a:bodyPr/>
                    <a:lstStyle/>
                    <a:p>
                      <a:pPr algn="ctr"/>
                      <a:endParaRPr lang="vi-VN" sz="1600" b="0">
                        <a:solidFill>
                          <a:srgbClr val="FF0000"/>
                        </a:solidFill>
                      </a:endParaRPr>
                    </a:p>
                  </a:txBody>
                  <a:tcPr anchor="ctr">
                    <a:solidFill>
                      <a:schemeClr val="accent2"/>
                    </a:solidFill>
                  </a:tcPr>
                </a:tc>
                <a:tc hMerge="1">
                  <a:txBody>
                    <a:bodyPr/>
                    <a:lstStyle/>
                    <a:p>
                      <a:pPr algn="ctr"/>
                      <a:endParaRPr lang="vi-VN" sz="1600" b="0">
                        <a:solidFill>
                          <a:srgbClr val="FF0000"/>
                        </a:solidFill>
                      </a:endParaRPr>
                    </a:p>
                  </a:txBody>
                  <a:tcPr anchor="ctr">
                    <a:solidFill>
                      <a:schemeClr val="accent2"/>
                    </a:solidFill>
                  </a:tcPr>
                </a:tc>
                <a:tc hMerge="1">
                  <a:txBody>
                    <a:bodyPr/>
                    <a:lstStyle/>
                    <a:p>
                      <a:pPr algn="ctr"/>
                      <a:endParaRPr lang="vi-VN" sz="1600" b="0">
                        <a:solidFill>
                          <a:srgbClr val="FF0000"/>
                        </a:solidFill>
                      </a:endParaRPr>
                    </a:p>
                  </a:txBody>
                  <a:tcPr anchor="ctr">
                    <a:solidFill>
                      <a:schemeClr val="accent2"/>
                    </a:solidFill>
                  </a:tcPr>
                </a:tc>
                <a:extLst>
                  <a:ext uri="{0D108BD9-81ED-4DB2-BD59-A6C34878D82A}">
                    <a16:rowId xmlns:a16="http://schemas.microsoft.com/office/drawing/2014/main" val="10005"/>
                  </a:ext>
                </a:extLst>
              </a:tr>
              <a:tr h="1280160">
                <a:tc vMerge="1">
                  <a:txBody>
                    <a:bodyPr/>
                    <a:lstStyle/>
                    <a:p>
                      <a:pPr algn="ctr"/>
                      <a:endParaRPr lang="vi-VN" b="0">
                        <a:solidFill>
                          <a:srgbClr val="FF0000"/>
                        </a:solidFill>
                      </a:endParaRPr>
                    </a:p>
                  </a:txBody>
                  <a:tcPr anchor="ctr">
                    <a:solidFill>
                      <a:schemeClr val="accent2"/>
                    </a:solidFill>
                  </a:tcPr>
                </a:tc>
                <a:tc vMerge="1">
                  <a:txBody>
                    <a:bodyPr/>
                    <a:lstStyle/>
                    <a:p>
                      <a:pPr algn="ctr"/>
                      <a:endParaRPr lang="vi-VN" b="0">
                        <a:solidFill>
                          <a:srgbClr val="FF0000"/>
                        </a:solidFill>
                      </a:endParaRPr>
                    </a:p>
                  </a:txBody>
                  <a:tcPr anchor="ctr">
                    <a:solidFill>
                      <a:schemeClr val="accent2"/>
                    </a:solidFill>
                  </a:tcPr>
                </a:tc>
                <a:tc gridSpan="5">
                  <a:txBody>
                    <a:bodyPr/>
                    <a:lstStyle/>
                    <a:p>
                      <a:pPr algn="ctr"/>
                      <a:r>
                        <a:rPr lang="en-US" sz="3600" b="0">
                          <a:solidFill>
                            <a:srgbClr val="002060"/>
                          </a:solidFill>
                        </a:rPr>
                        <a:t>n = CH/ch</a:t>
                      </a:r>
                    </a:p>
                    <a:p>
                      <a:pPr algn="ctr"/>
                      <a:r>
                        <a:rPr lang="en-US" sz="3600" b="0">
                          <a:solidFill>
                            <a:srgbClr val="002060"/>
                          </a:solidFill>
                        </a:rPr>
                        <a:t>(n tỷ</a:t>
                      </a:r>
                      <a:r>
                        <a:rPr lang="en-US" sz="3600" b="0" baseline="0">
                          <a:solidFill>
                            <a:srgbClr val="002060"/>
                          </a:solidFill>
                        </a:rPr>
                        <a:t> lệ thuận với m)</a:t>
                      </a:r>
                      <a:endParaRPr lang="vi-VN" sz="3600" b="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vi-VN" sz="1600" b="0">
                        <a:solidFill>
                          <a:srgbClr val="FF0000"/>
                        </a:solidFill>
                      </a:endParaRPr>
                    </a:p>
                  </a:txBody>
                  <a:tcPr anchor="ctr">
                    <a:solidFill>
                      <a:schemeClr val="accent2"/>
                    </a:solidFill>
                  </a:tcPr>
                </a:tc>
                <a:tc hMerge="1">
                  <a:txBody>
                    <a:bodyPr/>
                    <a:lstStyle/>
                    <a:p>
                      <a:pPr algn="ctr"/>
                      <a:endParaRPr lang="vi-VN" sz="1600" b="0">
                        <a:solidFill>
                          <a:srgbClr val="FF0000"/>
                        </a:solidFill>
                      </a:endParaRPr>
                    </a:p>
                  </a:txBody>
                  <a:tcPr anchor="ctr">
                    <a:solidFill>
                      <a:schemeClr val="accent2"/>
                    </a:solidFill>
                  </a:tcPr>
                </a:tc>
                <a:tc hMerge="1">
                  <a:txBody>
                    <a:bodyPr/>
                    <a:lstStyle/>
                    <a:p>
                      <a:pPr algn="ctr"/>
                      <a:endParaRPr lang="vi-VN" sz="1600" b="0">
                        <a:solidFill>
                          <a:srgbClr val="FF0000"/>
                        </a:solidFill>
                      </a:endParaRPr>
                    </a:p>
                  </a:txBody>
                  <a:tcPr anchor="ctr">
                    <a:solidFill>
                      <a:schemeClr val="accent2"/>
                    </a:solidFill>
                  </a:tcPr>
                </a:tc>
                <a:tc hMerge="1">
                  <a:txBody>
                    <a:bodyPr/>
                    <a:lstStyle/>
                    <a:p>
                      <a:pPr algn="ctr"/>
                      <a:endParaRPr lang="vi-VN" sz="1600" b="0">
                        <a:solidFill>
                          <a:srgbClr val="FF0000"/>
                        </a:solidFill>
                      </a:endParaRPr>
                    </a:p>
                  </a:txBody>
                  <a:tcPr anchor="ctr">
                    <a:solidFill>
                      <a:schemeClr val="accent2"/>
                    </a:solidFill>
                  </a:tcPr>
                </a:tc>
                <a:extLst>
                  <a:ext uri="{0D108BD9-81ED-4DB2-BD59-A6C34878D82A}">
                    <a16:rowId xmlns:a16="http://schemas.microsoft.com/office/drawing/2014/main" val="10006"/>
                  </a:ext>
                </a:extLst>
              </a:tr>
            </a:tbl>
          </a:graphicData>
        </a:graphic>
      </p:graphicFrame>
      <p:sp>
        <p:nvSpPr>
          <p:cNvPr id="3" name="Title 1">
            <a:extLst>
              <a:ext uri="{FF2B5EF4-FFF2-40B4-BE49-F238E27FC236}">
                <a16:creationId xmlns:a16="http://schemas.microsoft.com/office/drawing/2014/main" id="{8958BD49-274E-6BBD-482A-A08F24555C40}"/>
              </a:ext>
            </a:extLst>
          </p:cNvPr>
          <p:cNvSpPr txBox="1">
            <a:spLocks/>
          </p:cNvSpPr>
          <p:nvPr/>
        </p:nvSpPr>
        <p:spPr>
          <a:xfrm>
            <a:off x="3350088" y="1229996"/>
            <a:ext cx="115878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6400" b="1" dirty="0" err="1">
                <a:solidFill>
                  <a:srgbClr val="002060"/>
                </a:solidFill>
                <a:latin typeface="Aachen" panose="02020500000000000000" pitchFamily="18" charset="0"/>
                <a:ea typeface="Aachen" panose="02020500000000000000" pitchFamily="18" charset="0"/>
                <a:cs typeface="Aachen" panose="02020500000000000000" pitchFamily="18" charset="0"/>
              </a:rPr>
              <a:t>Tuần</a:t>
            </a:r>
            <a:r>
              <a:rPr lang="en-US" sz="6400"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sz="6400" b="1" dirty="0" err="1">
                <a:solidFill>
                  <a:srgbClr val="002060"/>
                </a:solidFill>
                <a:latin typeface="Aachen" panose="02020500000000000000" pitchFamily="18" charset="0"/>
                <a:ea typeface="Aachen" panose="02020500000000000000" pitchFamily="18" charset="0"/>
                <a:cs typeface="Aachen" panose="02020500000000000000" pitchFamily="18" charset="0"/>
              </a:rPr>
              <a:t>hoàn</a:t>
            </a:r>
            <a:r>
              <a:rPr lang="en-US" sz="6400" b="1" dirty="0">
                <a:solidFill>
                  <a:srgbClr val="002060"/>
                </a:solidFill>
                <a:latin typeface="Aachen" panose="02020500000000000000" pitchFamily="18" charset="0"/>
                <a:ea typeface="Aachen" panose="02020500000000000000" pitchFamily="18" charset="0"/>
                <a:cs typeface="Aachen" panose="02020500000000000000" pitchFamily="18" charset="0"/>
              </a:rPr>
              <a:t> &amp; Chu </a:t>
            </a:r>
            <a:r>
              <a:rPr lang="en-US" sz="6400" b="1" dirty="0" err="1">
                <a:solidFill>
                  <a:srgbClr val="002060"/>
                </a:solidFill>
                <a:latin typeface="Aachen" panose="02020500000000000000" pitchFamily="18" charset="0"/>
                <a:ea typeface="Aachen" panose="02020500000000000000" pitchFamily="18" charset="0"/>
                <a:cs typeface="Aachen" panose="02020500000000000000" pitchFamily="18" charset="0"/>
              </a:rPr>
              <a:t>chuyển</a:t>
            </a:r>
            <a:r>
              <a:rPr lang="en-US" sz="6400" b="1" dirty="0">
                <a:solidFill>
                  <a:srgbClr val="002060"/>
                </a:solidFill>
                <a:latin typeface="Aachen" panose="02020500000000000000" pitchFamily="18" charset="0"/>
                <a:ea typeface="Aachen" panose="02020500000000000000" pitchFamily="18" charset="0"/>
                <a:cs typeface="Aachen" panose="02020500000000000000" pitchFamily="18" charset="0"/>
              </a:rPr>
              <a:t> Tư </a:t>
            </a:r>
            <a:r>
              <a:rPr lang="en-US" sz="6400"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endParaRPr lang="en-US" sz="6400"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spTree>
    <p:extLst>
      <p:ext uri="{BB962C8B-B14F-4D97-AF65-F5344CB8AC3E}">
        <p14:creationId xmlns:p14="http://schemas.microsoft.com/office/powerpoint/2010/main" val="2205285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B61CAB9-BC04-F0B8-C1B6-470C8E08E706}"/>
              </a:ext>
            </a:extLst>
          </p:cNvPr>
          <p:cNvSpPr txBox="1">
            <a:spLocks/>
          </p:cNvSpPr>
          <p:nvPr/>
        </p:nvSpPr>
        <p:spPr>
          <a:xfrm>
            <a:off x="3426288" y="1656716"/>
            <a:ext cx="114354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TB cố định &amp; TB lưu động</a:t>
            </a:r>
          </a:p>
        </p:txBody>
      </p:sp>
      <p:graphicFrame>
        <p:nvGraphicFramePr>
          <p:cNvPr id="5" name="Diagram 4">
            <a:extLst>
              <a:ext uri="{FF2B5EF4-FFF2-40B4-BE49-F238E27FC236}">
                <a16:creationId xmlns:a16="http://schemas.microsoft.com/office/drawing/2014/main" id="{4A1F15DD-D66E-D0F8-36BB-A1DF87A8198F}"/>
              </a:ext>
            </a:extLst>
          </p:cNvPr>
          <p:cNvGraphicFramePr/>
          <p:nvPr/>
        </p:nvGraphicFramePr>
        <p:xfrm>
          <a:off x="2060112" y="4460240"/>
          <a:ext cx="14325600" cy="812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5434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graphicEl>
                                              <a:dgm id="{CD90CD8D-C8C6-4EAC-B9CE-73627B09639E}"/>
                                            </p:graphicEl>
                                          </p:spTgt>
                                        </p:tgtEl>
                                        <p:attrNameLst>
                                          <p:attrName>style.visibility</p:attrName>
                                        </p:attrNameLst>
                                      </p:cBhvr>
                                      <p:to>
                                        <p:strVal val="visible"/>
                                      </p:to>
                                    </p:set>
                                    <p:animEffect transition="in" filter="wipe(down)">
                                      <p:cBhvr>
                                        <p:cTn id="7" dur="500"/>
                                        <p:tgtEl>
                                          <p:spTgt spid="5">
                                            <p:graphicEl>
                                              <a:dgm id="{CD90CD8D-C8C6-4EAC-B9CE-73627B09639E}"/>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graphicEl>
                                              <a:dgm id="{9A2B1A9D-4BAE-4716-A66E-43F24C59A5A1}"/>
                                            </p:graphicEl>
                                          </p:spTgt>
                                        </p:tgtEl>
                                        <p:attrNameLst>
                                          <p:attrName>style.visibility</p:attrName>
                                        </p:attrNameLst>
                                      </p:cBhvr>
                                      <p:to>
                                        <p:strVal val="visible"/>
                                      </p:to>
                                    </p:set>
                                    <p:animEffect transition="in" filter="wipe(down)">
                                      <p:cBhvr>
                                        <p:cTn id="12" dur="500"/>
                                        <p:tgtEl>
                                          <p:spTgt spid="5">
                                            <p:graphicEl>
                                              <a:dgm id="{9A2B1A9D-4BAE-4716-A66E-43F24C59A5A1}"/>
                                            </p:graphic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5">
                                            <p:graphicEl>
                                              <a:dgm id="{27FCF3B8-C147-4652-9549-95D6E143D2F8}"/>
                                            </p:graphicEl>
                                          </p:spTgt>
                                        </p:tgtEl>
                                        <p:attrNameLst>
                                          <p:attrName>style.visibility</p:attrName>
                                        </p:attrNameLst>
                                      </p:cBhvr>
                                      <p:to>
                                        <p:strVal val="visible"/>
                                      </p:to>
                                    </p:set>
                                    <p:animEffect transition="in" filter="wipe(down)">
                                      <p:cBhvr>
                                        <p:cTn id="15" dur="500"/>
                                        <p:tgtEl>
                                          <p:spTgt spid="5">
                                            <p:graphicEl>
                                              <a:dgm id="{27FCF3B8-C147-4652-9549-95D6E143D2F8}"/>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5">
                                            <p:graphicEl>
                                              <a:dgm id="{8C833F80-5DB8-4C82-B5EE-96C9A317A7E0}"/>
                                            </p:graphicEl>
                                          </p:spTgt>
                                        </p:tgtEl>
                                        <p:attrNameLst>
                                          <p:attrName>style.visibility</p:attrName>
                                        </p:attrNameLst>
                                      </p:cBhvr>
                                      <p:to>
                                        <p:strVal val="visible"/>
                                      </p:to>
                                    </p:set>
                                    <p:animEffect transition="in" filter="wipe(down)">
                                      <p:cBhvr>
                                        <p:cTn id="20" dur="500"/>
                                        <p:tgtEl>
                                          <p:spTgt spid="5">
                                            <p:graphicEl>
                                              <a:dgm id="{8C833F80-5DB8-4C82-B5EE-96C9A317A7E0}"/>
                                            </p:graphic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5">
                                            <p:graphicEl>
                                              <a:dgm id="{C413CE4B-E50E-47CD-A83B-28EF491F4B14}"/>
                                            </p:graphicEl>
                                          </p:spTgt>
                                        </p:tgtEl>
                                        <p:attrNameLst>
                                          <p:attrName>style.visibility</p:attrName>
                                        </p:attrNameLst>
                                      </p:cBhvr>
                                      <p:to>
                                        <p:strVal val="visible"/>
                                      </p:to>
                                    </p:set>
                                    <p:animEffect transition="in" filter="wipe(down)">
                                      <p:cBhvr>
                                        <p:cTn id="23" dur="500"/>
                                        <p:tgtEl>
                                          <p:spTgt spid="5">
                                            <p:graphicEl>
                                              <a:dgm id="{C413CE4B-E50E-47CD-A83B-28EF491F4B14}"/>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5">
                                            <p:graphicEl>
                                              <a:dgm id="{ED3D7601-83EE-46C5-A16F-084E10F0CA64}"/>
                                            </p:graphicEl>
                                          </p:spTgt>
                                        </p:tgtEl>
                                        <p:attrNameLst>
                                          <p:attrName>style.visibility</p:attrName>
                                        </p:attrNameLst>
                                      </p:cBhvr>
                                      <p:to>
                                        <p:strVal val="visible"/>
                                      </p:to>
                                    </p:set>
                                    <p:animEffect transition="in" filter="wipe(down)">
                                      <p:cBhvr>
                                        <p:cTn id="28" dur="500"/>
                                        <p:tgtEl>
                                          <p:spTgt spid="5">
                                            <p:graphicEl>
                                              <a:dgm id="{ED3D7601-83EE-46C5-A16F-084E10F0CA64}"/>
                                            </p:graphic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5">
                                            <p:graphicEl>
                                              <a:dgm id="{D4A0E8F8-D49B-4E28-A38D-8088A6E9952E}"/>
                                            </p:graphicEl>
                                          </p:spTgt>
                                        </p:tgtEl>
                                        <p:attrNameLst>
                                          <p:attrName>style.visibility</p:attrName>
                                        </p:attrNameLst>
                                      </p:cBhvr>
                                      <p:to>
                                        <p:strVal val="visible"/>
                                      </p:to>
                                    </p:set>
                                    <p:animEffect transition="in" filter="wipe(down)">
                                      <p:cBhvr>
                                        <p:cTn id="31" dur="500"/>
                                        <p:tgtEl>
                                          <p:spTgt spid="5">
                                            <p:graphicEl>
                                              <a:dgm id="{D4A0E8F8-D49B-4E28-A38D-8088A6E9952E}"/>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5">
                                            <p:graphicEl>
                                              <a:dgm id="{7A44FBF6-FA7A-48F8-80EF-4A262E8AF7A8}"/>
                                            </p:graphicEl>
                                          </p:spTgt>
                                        </p:tgtEl>
                                        <p:attrNameLst>
                                          <p:attrName>style.visibility</p:attrName>
                                        </p:attrNameLst>
                                      </p:cBhvr>
                                      <p:to>
                                        <p:strVal val="visible"/>
                                      </p:to>
                                    </p:set>
                                    <p:animEffect transition="in" filter="wipe(down)">
                                      <p:cBhvr>
                                        <p:cTn id="36" dur="500"/>
                                        <p:tgtEl>
                                          <p:spTgt spid="5">
                                            <p:graphicEl>
                                              <a:dgm id="{7A44FBF6-FA7A-48F8-80EF-4A262E8AF7A8}"/>
                                            </p:graphic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5">
                                            <p:graphicEl>
                                              <a:dgm id="{02BB3644-6935-42A0-8594-035DDFC588F8}"/>
                                            </p:graphicEl>
                                          </p:spTgt>
                                        </p:tgtEl>
                                        <p:attrNameLst>
                                          <p:attrName>style.visibility</p:attrName>
                                        </p:attrNameLst>
                                      </p:cBhvr>
                                      <p:to>
                                        <p:strVal val="visible"/>
                                      </p:to>
                                    </p:set>
                                    <p:animEffect transition="in" filter="wipe(down)">
                                      <p:cBhvr>
                                        <p:cTn id="39" dur="500"/>
                                        <p:tgtEl>
                                          <p:spTgt spid="5">
                                            <p:graphicEl>
                                              <a:dgm id="{02BB3644-6935-42A0-8594-035DDFC588F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lvlOne"/>
        </p:bldSub>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10A78A8-3874-E13F-64DB-7C3AF2DAF5F2}"/>
              </a:ext>
            </a:extLst>
          </p:cNvPr>
          <p:cNvGraphicFramePr>
            <a:graphicFrameLocks noGrp="1"/>
          </p:cNvGraphicFramePr>
          <p:nvPr/>
        </p:nvGraphicFramePr>
        <p:xfrm>
          <a:off x="1450512" y="3576320"/>
          <a:ext cx="15697200" cy="9052560"/>
        </p:xfrm>
        <a:graphic>
          <a:graphicData uri="http://schemas.openxmlformats.org/drawingml/2006/table">
            <a:tbl>
              <a:tblPr firstRow="1" bandRow="1">
                <a:tableStyleId>{5C22544A-7EE6-4342-B048-85BDC9FD1C3A}</a:tableStyleId>
              </a:tblPr>
              <a:tblGrid>
                <a:gridCol w="3924300">
                  <a:extLst>
                    <a:ext uri="{9D8B030D-6E8A-4147-A177-3AD203B41FA5}">
                      <a16:colId xmlns:a16="http://schemas.microsoft.com/office/drawing/2014/main" val="20000"/>
                    </a:ext>
                  </a:extLst>
                </a:gridCol>
                <a:gridCol w="5997516">
                  <a:extLst>
                    <a:ext uri="{9D8B030D-6E8A-4147-A177-3AD203B41FA5}">
                      <a16:colId xmlns:a16="http://schemas.microsoft.com/office/drawing/2014/main" val="20001"/>
                    </a:ext>
                  </a:extLst>
                </a:gridCol>
                <a:gridCol w="1851084">
                  <a:extLst>
                    <a:ext uri="{9D8B030D-6E8A-4147-A177-3AD203B41FA5}">
                      <a16:colId xmlns:a16="http://schemas.microsoft.com/office/drawing/2014/main" val="20002"/>
                    </a:ext>
                  </a:extLst>
                </a:gridCol>
                <a:gridCol w="3924300">
                  <a:extLst>
                    <a:ext uri="{9D8B030D-6E8A-4147-A177-3AD203B41FA5}">
                      <a16:colId xmlns:a16="http://schemas.microsoft.com/office/drawing/2014/main" val="20003"/>
                    </a:ext>
                  </a:extLst>
                </a:gridCol>
              </a:tblGrid>
              <a:tr h="1767840">
                <a:tc>
                  <a:txBody>
                    <a:bodyPr/>
                    <a:lstStyle/>
                    <a:p>
                      <a:pPr algn="ctr"/>
                      <a:r>
                        <a:rPr lang="en-US" sz="4000">
                          <a:solidFill>
                            <a:srgbClr val="002060"/>
                          </a:solidFill>
                        </a:rPr>
                        <a:t>Căn</a:t>
                      </a:r>
                      <a:r>
                        <a:rPr lang="en-US" sz="4000" baseline="0">
                          <a:solidFill>
                            <a:srgbClr val="002060"/>
                          </a:solidFill>
                        </a:rPr>
                        <a:t> cứ phân chia</a:t>
                      </a:r>
                      <a:endParaRPr lang="vi-VN" sz="400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a:r>
                        <a:rPr lang="en-US" sz="4000" dirty="0" err="1">
                          <a:solidFill>
                            <a:srgbClr val="002060"/>
                          </a:solidFill>
                        </a:rPr>
                        <a:t>Loại</a:t>
                      </a:r>
                      <a:r>
                        <a:rPr lang="en-US" sz="4000" dirty="0">
                          <a:solidFill>
                            <a:srgbClr val="002060"/>
                          </a:solidFill>
                        </a:rPr>
                        <a:t> </a:t>
                      </a:r>
                      <a:r>
                        <a:rPr lang="en-US" sz="4000" dirty="0" err="1">
                          <a:solidFill>
                            <a:srgbClr val="002060"/>
                          </a:solidFill>
                        </a:rPr>
                        <a:t>tư</a:t>
                      </a:r>
                      <a:r>
                        <a:rPr lang="en-US" sz="4000" baseline="0" dirty="0">
                          <a:solidFill>
                            <a:srgbClr val="002060"/>
                          </a:solidFill>
                        </a:rPr>
                        <a:t> </a:t>
                      </a:r>
                      <a:r>
                        <a:rPr lang="en-US" sz="4000" baseline="0" dirty="0" err="1">
                          <a:solidFill>
                            <a:srgbClr val="002060"/>
                          </a:solidFill>
                        </a:rPr>
                        <a:t>bản</a:t>
                      </a:r>
                      <a:endParaRPr lang="vi-VN" sz="4000"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vi-VN">
                        <a:solidFill>
                          <a:srgbClr val="FF0000"/>
                        </a:solidFill>
                      </a:endParaRPr>
                    </a:p>
                  </a:txBody>
                  <a:tcPr anchor="ctr">
                    <a:solidFill>
                      <a:schemeClr val="accent2"/>
                    </a:solidFill>
                  </a:tcPr>
                </a:tc>
                <a:tc hMerge="1">
                  <a:txBody>
                    <a:bodyPr/>
                    <a:lstStyle/>
                    <a:p>
                      <a:pPr algn="ctr"/>
                      <a:endParaRPr lang="vi-VN">
                        <a:solidFill>
                          <a:srgbClr val="FF0000"/>
                        </a:solidFill>
                      </a:endParaRPr>
                    </a:p>
                  </a:txBody>
                  <a:tcPr anchor="ctr">
                    <a:solidFill>
                      <a:schemeClr val="accent2"/>
                    </a:solidFill>
                  </a:tcPr>
                </a:tc>
                <a:extLst>
                  <a:ext uri="{0D108BD9-81ED-4DB2-BD59-A6C34878D82A}">
                    <a16:rowId xmlns:a16="http://schemas.microsoft.com/office/drawing/2014/main" val="10000"/>
                  </a:ext>
                </a:extLst>
              </a:tr>
              <a:tr h="1402080">
                <a:tc rowSpan="2">
                  <a:txBody>
                    <a:bodyPr/>
                    <a:lstStyle/>
                    <a:p>
                      <a:pPr algn="ctr"/>
                      <a:r>
                        <a:rPr lang="en-US" sz="4000">
                          <a:solidFill>
                            <a:srgbClr val="002060"/>
                          </a:solidFill>
                        </a:rPr>
                        <a:t>Hai</a:t>
                      </a:r>
                      <a:r>
                        <a:rPr lang="en-US" sz="4000" baseline="0">
                          <a:solidFill>
                            <a:srgbClr val="002060"/>
                          </a:solidFill>
                        </a:rPr>
                        <a:t> mặt của lao động sản xuất</a:t>
                      </a:r>
                      <a:endParaRPr lang="vi-VN" sz="400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lang="en-US" sz="4000" dirty="0">
                          <a:solidFill>
                            <a:srgbClr val="002060"/>
                          </a:solidFill>
                        </a:rPr>
                        <a:t>TƯ</a:t>
                      </a:r>
                      <a:r>
                        <a:rPr lang="en-US" sz="4000" baseline="0" dirty="0">
                          <a:solidFill>
                            <a:srgbClr val="002060"/>
                          </a:solidFill>
                        </a:rPr>
                        <a:t> BẢN BẤT BIẾN</a:t>
                      </a:r>
                      <a:r>
                        <a:rPr lang="en-US" sz="4000" dirty="0">
                          <a:solidFill>
                            <a:srgbClr val="002060"/>
                          </a:solidFill>
                        </a:rPr>
                        <a:t> (C)</a:t>
                      </a:r>
                      <a:endParaRPr lang="vi-VN" sz="4000"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vi-VN">
                        <a:solidFill>
                          <a:srgbClr val="FF0000"/>
                        </a:solidFill>
                      </a:endParaRPr>
                    </a:p>
                  </a:txBody>
                  <a:tcPr anchor="ctr">
                    <a:solidFill>
                      <a:schemeClr val="accent2"/>
                    </a:solidFill>
                  </a:tcPr>
                </a:tc>
                <a:tc>
                  <a:txBody>
                    <a:bodyPr/>
                    <a:lstStyle/>
                    <a:p>
                      <a:pPr algn="ctr"/>
                      <a:r>
                        <a:rPr lang="en-US" sz="4000" dirty="0">
                          <a:solidFill>
                            <a:srgbClr val="002060"/>
                          </a:solidFill>
                        </a:rPr>
                        <a:t>TƯ</a:t>
                      </a:r>
                      <a:r>
                        <a:rPr lang="en-US" sz="4000" baseline="0" dirty="0">
                          <a:solidFill>
                            <a:srgbClr val="002060"/>
                          </a:solidFill>
                        </a:rPr>
                        <a:t> BẢN KHẢ BIẾN</a:t>
                      </a:r>
                      <a:endParaRPr lang="vi-VN" sz="4000"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83920">
                <a:tc vMerge="1">
                  <a:txBody>
                    <a:bodyPr/>
                    <a:lstStyle/>
                    <a:p>
                      <a:endParaRPr lang="vi-VN"/>
                    </a:p>
                  </a:txBody>
                  <a:tcPr/>
                </a:tc>
                <a:tc>
                  <a:txBody>
                    <a:bodyPr/>
                    <a:lstStyle/>
                    <a:p>
                      <a:pPr algn="ctr"/>
                      <a:r>
                        <a:rPr lang="en-US" sz="4000">
                          <a:solidFill>
                            <a:srgbClr val="002060"/>
                          </a:solidFill>
                        </a:rPr>
                        <a:t>C1</a:t>
                      </a:r>
                      <a:endParaRPr lang="vi-VN" sz="400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4000">
                          <a:solidFill>
                            <a:srgbClr val="002060"/>
                          </a:solidFill>
                        </a:rPr>
                        <a:t>C2</a:t>
                      </a:r>
                      <a:endParaRPr lang="vi-VN" sz="400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4000">
                          <a:solidFill>
                            <a:srgbClr val="002060"/>
                          </a:solidFill>
                        </a:rPr>
                        <a:t>V</a:t>
                      </a:r>
                      <a:endParaRPr lang="vi-VN" sz="400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767840">
                <a:tc rowSpan="2">
                  <a:txBody>
                    <a:bodyPr/>
                    <a:lstStyle/>
                    <a:p>
                      <a:pPr algn="ctr"/>
                      <a:r>
                        <a:rPr lang="en-US" sz="4000">
                          <a:solidFill>
                            <a:srgbClr val="002060"/>
                          </a:solidFill>
                        </a:rPr>
                        <a:t>Phương</a:t>
                      </a:r>
                      <a:r>
                        <a:rPr lang="en-US" sz="4000" baseline="0">
                          <a:solidFill>
                            <a:srgbClr val="002060"/>
                          </a:solidFill>
                        </a:rPr>
                        <a:t> thức chu chuyển giá trị</a:t>
                      </a:r>
                      <a:endParaRPr lang="vi-VN" sz="400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4000">
                          <a:solidFill>
                            <a:srgbClr val="002060"/>
                          </a:solidFill>
                        </a:rPr>
                        <a:t>TB</a:t>
                      </a:r>
                      <a:r>
                        <a:rPr lang="en-US" sz="4000" baseline="0">
                          <a:solidFill>
                            <a:srgbClr val="002060"/>
                          </a:solidFill>
                        </a:rPr>
                        <a:t> CỐ ĐỊNH</a:t>
                      </a:r>
                      <a:endParaRPr lang="vi-VN" sz="400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lang="en-US" sz="4000">
                          <a:solidFill>
                            <a:srgbClr val="002060"/>
                          </a:solidFill>
                        </a:rPr>
                        <a:t>TB LƯU</a:t>
                      </a:r>
                      <a:r>
                        <a:rPr lang="en-US" sz="4000" baseline="0">
                          <a:solidFill>
                            <a:srgbClr val="002060"/>
                          </a:solidFill>
                        </a:rPr>
                        <a:t> ĐỘNG</a:t>
                      </a:r>
                      <a:endParaRPr lang="vi-VN" sz="400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endParaRPr lang="vi-VN">
                        <a:solidFill>
                          <a:srgbClr val="FF0000"/>
                        </a:solidFill>
                      </a:endParaRPr>
                    </a:p>
                  </a:txBody>
                  <a:tcPr anchor="ctr">
                    <a:solidFill>
                      <a:schemeClr val="accent2"/>
                    </a:solidFill>
                  </a:tcPr>
                </a:tc>
                <a:extLst>
                  <a:ext uri="{0D108BD9-81ED-4DB2-BD59-A6C34878D82A}">
                    <a16:rowId xmlns:a16="http://schemas.microsoft.com/office/drawing/2014/main" val="10003"/>
                  </a:ext>
                </a:extLst>
              </a:tr>
              <a:tr h="3230880">
                <a:tc vMerge="1">
                  <a:txBody>
                    <a:bodyPr/>
                    <a:lstStyle/>
                    <a:p>
                      <a:pPr algn="ctr"/>
                      <a:endParaRPr lang="vi-VN"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4000" dirty="0" err="1">
                          <a:solidFill>
                            <a:srgbClr val="002060"/>
                          </a:solidFill>
                        </a:rPr>
                        <a:t>Tham</a:t>
                      </a:r>
                      <a:r>
                        <a:rPr lang="en-US" sz="4000" dirty="0">
                          <a:solidFill>
                            <a:srgbClr val="002060"/>
                          </a:solidFill>
                        </a:rPr>
                        <a:t> </a:t>
                      </a:r>
                      <a:r>
                        <a:rPr lang="en-US" sz="4000" dirty="0" err="1">
                          <a:solidFill>
                            <a:srgbClr val="002060"/>
                          </a:solidFill>
                        </a:rPr>
                        <a:t>gia</a:t>
                      </a:r>
                      <a:r>
                        <a:rPr lang="en-US" sz="4000" dirty="0">
                          <a:solidFill>
                            <a:srgbClr val="002060"/>
                          </a:solidFill>
                        </a:rPr>
                        <a:t> </a:t>
                      </a:r>
                      <a:r>
                        <a:rPr lang="en-US" sz="4000" dirty="0" err="1">
                          <a:solidFill>
                            <a:srgbClr val="FF0000"/>
                          </a:solidFill>
                        </a:rPr>
                        <a:t>toàn</a:t>
                      </a:r>
                      <a:r>
                        <a:rPr lang="en-US" sz="4000" baseline="0" dirty="0">
                          <a:solidFill>
                            <a:srgbClr val="FF0000"/>
                          </a:solidFill>
                        </a:rPr>
                        <a:t> </a:t>
                      </a:r>
                      <a:r>
                        <a:rPr lang="en-US" sz="4000" baseline="0" dirty="0" err="1">
                          <a:solidFill>
                            <a:srgbClr val="FF0000"/>
                          </a:solidFill>
                        </a:rPr>
                        <a:t>phần</a:t>
                      </a:r>
                      <a:r>
                        <a:rPr lang="en-US" sz="4000" baseline="0" dirty="0">
                          <a:solidFill>
                            <a:srgbClr val="FF0000"/>
                          </a:solidFill>
                        </a:rPr>
                        <a:t> </a:t>
                      </a:r>
                      <a:r>
                        <a:rPr lang="en-US" sz="4000" baseline="0" dirty="0" err="1">
                          <a:solidFill>
                            <a:srgbClr val="002060"/>
                          </a:solidFill>
                        </a:rPr>
                        <a:t>vào</a:t>
                      </a:r>
                      <a:r>
                        <a:rPr lang="en-US" sz="4000" baseline="0" dirty="0">
                          <a:solidFill>
                            <a:srgbClr val="002060"/>
                          </a:solidFill>
                        </a:rPr>
                        <a:t> </a:t>
                      </a:r>
                      <a:r>
                        <a:rPr lang="en-US" sz="4000" baseline="0" dirty="0" err="1">
                          <a:solidFill>
                            <a:srgbClr val="002060"/>
                          </a:solidFill>
                        </a:rPr>
                        <a:t>quá</a:t>
                      </a:r>
                      <a:r>
                        <a:rPr lang="en-US" sz="4000" baseline="0" dirty="0">
                          <a:solidFill>
                            <a:srgbClr val="002060"/>
                          </a:solidFill>
                        </a:rPr>
                        <a:t> </a:t>
                      </a:r>
                      <a:r>
                        <a:rPr lang="en-US" sz="4000" baseline="0" dirty="0" err="1">
                          <a:solidFill>
                            <a:srgbClr val="002060"/>
                          </a:solidFill>
                        </a:rPr>
                        <a:t>trình</a:t>
                      </a:r>
                      <a:r>
                        <a:rPr lang="en-US" sz="4000" baseline="0" dirty="0">
                          <a:solidFill>
                            <a:srgbClr val="002060"/>
                          </a:solidFill>
                        </a:rPr>
                        <a:t> </a:t>
                      </a:r>
                      <a:r>
                        <a:rPr lang="en-US" sz="4000" baseline="0" dirty="0" err="1">
                          <a:solidFill>
                            <a:srgbClr val="002060"/>
                          </a:solidFill>
                        </a:rPr>
                        <a:t>sản</a:t>
                      </a:r>
                      <a:r>
                        <a:rPr lang="en-US" sz="4000" baseline="0" dirty="0">
                          <a:solidFill>
                            <a:srgbClr val="002060"/>
                          </a:solidFill>
                        </a:rPr>
                        <a:t> </a:t>
                      </a:r>
                      <a:r>
                        <a:rPr lang="en-US" sz="4000" baseline="0" dirty="0" err="1">
                          <a:solidFill>
                            <a:srgbClr val="002060"/>
                          </a:solidFill>
                        </a:rPr>
                        <a:t>xuất</a:t>
                      </a:r>
                      <a:r>
                        <a:rPr lang="en-US" sz="4000" baseline="0" dirty="0">
                          <a:solidFill>
                            <a:srgbClr val="002060"/>
                          </a:solidFill>
                        </a:rPr>
                        <a:t> </a:t>
                      </a:r>
                      <a:r>
                        <a:rPr lang="en-US" sz="4000" baseline="0" dirty="0" err="1">
                          <a:solidFill>
                            <a:srgbClr val="002060"/>
                          </a:solidFill>
                        </a:rPr>
                        <a:t>nhưng</a:t>
                      </a:r>
                      <a:r>
                        <a:rPr lang="en-US" sz="4000" baseline="0" dirty="0">
                          <a:solidFill>
                            <a:srgbClr val="002060"/>
                          </a:solidFill>
                        </a:rPr>
                        <a:t> chu </a:t>
                      </a:r>
                      <a:r>
                        <a:rPr lang="en-US" sz="4000" baseline="0" dirty="0" err="1">
                          <a:solidFill>
                            <a:srgbClr val="002060"/>
                          </a:solidFill>
                        </a:rPr>
                        <a:t>chuyển</a:t>
                      </a:r>
                      <a:r>
                        <a:rPr lang="en-US" sz="4000" baseline="0" dirty="0">
                          <a:solidFill>
                            <a:srgbClr val="002060"/>
                          </a:solidFill>
                        </a:rPr>
                        <a:t> </a:t>
                      </a:r>
                      <a:r>
                        <a:rPr lang="en-US" sz="4000" baseline="0" dirty="0" err="1">
                          <a:solidFill>
                            <a:srgbClr val="FF0000"/>
                          </a:solidFill>
                        </a:rPr>
                        <a:t>dần</a:t>
                      </a:r>
                      <a:r>
                        <a:rPr lang="en-US" sz="4000" baseline="0" dirty="0">
                          <a:solidFill>
                            <a:srgbClr val="FF0000"/>
                          </a:solidFill>
                        </a:rPr>
                        <a:t> </a:t>
                      </a:r>
                      <a:r>
                        <a:rPr lang="en-US" sz="4000" baseline="0" dirty="0" err="1">
                          <a:solidFill>
                            <a:srgbClr val="FF0000"/>
                          </a:solidFill>
                        </a:rPr>
                        <a:t>dần</a:t>
                      </a:r>
                      <a:r>
                        <a:rPr lang="en-US" sz="4000" baseline="0" dirty="0">
                          <a:solidFill>
                            <a:srgbClr val="FF0000"/>
                          </a:solidFill>
                        </a:rPr>
                        <a:t>, </a:t>
                      </a:r>
                      <a:r>
                        <a:rPr lang="en-US" sz="4000" baseline="0" dirty="0" err="1">
                          <a:solidFill>
                            <a:srgbClr val="FF0000"/>
                          </a:solidFill>
                        </a:rPr>
                        <a:t>từng</a:t>
                      </a:r>
                      <a:r>
                        <a:rPr lang="en-US" sz="4000" baseline="0" dirty="0">
                          <a:solidFill>
                            <a:srgbClr val="FF0000"/>
                          </a:solidFill>
                        </a:rPr>
                        <a:t> </a:t>
                      </a:r>
                      <a:r>
                        <a:rPr lang="en-US" sz="4000" baseline="0" dirty="0" err="1">
                          <a:solidFill>
                            <a:srgbClr val="FF0000"/>
                          </a:solidFill>
                        </a:rPr>
                        <a:t>phần</a:t>
                      </a:r>
                      <a:r>
                        <a:rPr lang="en-US" sz="4000" baseline="0" dirty="0">
                          <a:solidFill>
                            <a:srgbClr val="002060"/>
                          </a:solidFill>
                        </a:rPr>
                        <a:t> </a:t>
                      </a:r>
                      <a:r>
                        <a:rPr lang="en-US" sz="4000" baseline="0" dirty="0" err="1">
                          <a:solidFill>
                            <a:srgbClr val="002060"/>
                          </a:solidFill>
                        </a:rPr>
                        <a:t>theo</a:t>
                      </a:r>
                      <a:r>
                        <a:rPr lang="en-US" sz="4000" baseline="0" dirty="0">
                          <a:solidFill>
                            <a:srgbClr val="002060"/>
                          </a:solidFill>
                        </a:rPr>
                        <a:t> </a:t>
                      </a:r>
                      <a:r>
                        <a:rPr lang="en-US" sz="4000" baseline="0" dirty="0" err="1">
                          <a:solidFill>
                            <a:srgbClr val="002060"/>
                          </a:solidFill>
                        </a:rPr>
                        <a:t>mức</a:t>
                      </a:r>
                      <a:r>
                        <a:rPr lang="en-US" sz="4000" baseline="0" dirty="0">
                          <a:solidFill>
                            <a:srgbClr val="002060"/>
                          </a:solidFill>
                        </a:rPr>
                        <a:t> </a:t>
                      </a:r>
                      <a:r>
                        <a:rPr lang="en-US" sz="4000" baseline="0" dirty="0" err="1">
                          <a:solidFill>
                            <a:srgbClr val="002060"/>
                          </a:solidFill>
                        </a:rPr>
                        <a:t>độ</a:t>
                      </a:r>
                      <a:r>
                        <a:rPr lang="en-US" sz="4000" baseline="0" dirty="0">
                          <a:solidFill>
                            <a:srgbClr val="002060"/>
                          </a:solidFill>
                        </a:rPr>
                        <a:t> </a:t>
                      </a:r>
                      <a:r>
                        <a:rPr lang="en-US" sz="4000" baseline="0" dirty="0" err="1">
                          <a:solidFill>
                            <a:srgbClr val="002060"/>
                          </a:solidFill>
                        </a:rPr>
                        <a:t>hao</a:t>
                      </a:r>
                      <a:r>
                        <a:rPr lang="en-US" sz="4000" baseline="0" dirty="0">
                          <a:solidFill>
                            <a:srgbClr val="002060"/>
                          </a:solidFill>
                        </a:rPr>
                        <a:t> </a:t>
                      </a:r>
                      <a:r>
                        <a:rPr lang="en-US" sz="4000" baseline="0" dirty="0" err="1">
                          <a:solidFill>
                            <a:srgbClr val="002060"/>
                          </a:solidFill>
                        </a:rPr>
                        <a:t>mòn</a:t>
                      </a:r>
                      <a:r>
                        <a:rPr lang="en-US" sz="4000" baseline="0" dirty="0">
                          <a:solidFill>
                            <a:srgbClr val="002060"/>
                          </a:solidFill>
                        </a:rPr>
                        <a:t> (</a:t>
                      </a:r>
                      <a:r>
                        <a:rPr lang="en-US" sz="4000" baseline="0" dirty="0" err="1">
                          <a:solidFill>
                            <a:srgbClr val="002060"/>
                          </a:solidFill>
                        </a:rPr>
                        <a:t>hữu</a:t>
                      </a:r>
                      <a:r>
                        <a:rPr lang="en-US" sz="4000" baseline="0" dirty="0">
                          <a:solidFill>
                            <a:srgbClr val="002060"/>
                          </a:solidFill>
                        </a:rPr>
                        <a:t> </a:t>
                      </a:r>
                      <a:r>
                        <a:rPr lang="en-US" sz="4000" baseline="0" dirty="0" err="1">
                          <a:solidFill>
                            <a:srgbClr val="002060"/>
                          </a:solidFill>
                        </a:rPr>
                        <a:t>hình</a:t>
                      </a:r>
                      <a:r>
                        <a:rPr lang="en-US" sz="4000" baseline="0" dirty="0">
                          <a:solidFill>
                            <a:srgbClr val="002060"/>
                          </a:solidFill>
                        </a:rPr>
                        <a:t>, </a:t>
                      </a:r>
                      <a:r>
                        <a:rPr lang="en-US" sz="4000" baseline="0" dirty="0" err="1">
                          <a:solidFill>
                            <a:srgbClr val="002060"/>
                          </a:solidFill>
                        </a:rPr>
                        <a:t>vô</a:t>
                      </a:r>
                      <a:r>
                        <a:rPr lang="en-US" sz="4000" baseline="0" dirty="0">
                          <a:solidFill>
                            <a:srgbClr val="002060"/>
                          </a:solidFill>
                        </a:rPr>
                        <a:t> </a:t>
                      </a:r>
                      <a:r>
                        <a:rPr lang="en-US" sz="4000" baseline="0" dirty="0" err="1">
                          <a:solidFill>
                            <a:srgbClr val="002060"/>
                          </a:solidFill>
                        </a:rPr>
                        <a:t>hình</a:t>
                      </a:r>
                      <a:r>
                        <a:rPr lang="en-US" sz="4000" baseline="0" dirty="0">
                          <a:solidFill>
                            <a:srgbClr val="002060"/>
                          </a:solidFill>
                        </a:rPr>
                        <a:t>)</a:t>
                      </a:r>
                      <a:endParaRPr lang="vi-VN" sz="4000"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lang="en-US" sz="4000" dirty="0" err="1">
                          <a:solidFill>
                            <a:srgbClr val="002060"/>
                          </a:solidFill>
                        </a:rPr>
                        <a:t>Tham</a:t>
                      </a:r>
                      <a:r>
                        <a:rPr lang="en-US" sz="4000" dirty="0">
                          <a:solidFill>
                            <a:srgbClr val="002060"/>
                          </a:solidFill>
                        </a:rPr>
                        <a:t> </a:t>
                      </a:r>
                      <a:r>
                        <a:rPr lang="en-US" sz="4000" dirty="0" err="1">
                          <a:solidFill>
                            <a:srgbClr val="002060"/>
                          </a:solidFill>
                        </a:rPr>
                        <a:t>gia</a:t>
                      </a:r>
                      <a:r>
                        <a:rPr lang="en-US" sz="4000" dirty="0">
                          <a:solidFill>
                            <a:srgbClr val="002060"/>
                          </a:solidFill>
                        </a:rPr>
                        <a:t> </a:t>
                      </a:r>
                      <a:r>
                        <a:rPr lang="en-US" sz="4000" dirty="0" err="1">
                          <a:solidFill>
                            <a:srgbClr val="FF0000"/>
                          </a:solidFill>
                        </a:rPr>
                        <a:t>toàn</a:t>
                      </a:r>
                      <a:r>
                        <a:rPr lang="en-US" sz="4000" baseline="0" dirty="0">
                          <a:solidFill>
                            <a:srgbClr val="FF0000"/>
                          </a:solidFill>
                        </a:rPr>
                        <a:t> </a:t>
                      </a:r>
                      <a:r>
                        <a:rPr lang="en-US" sz="4000" baseline="0" dirty="0" err="1">
                          <a:solidFill>
                            <a:srgbClr val="FF0000"/>
                          </a:solidFill>
                        </a:rPr>
                        <a:t>phần</a:t>
                      </a:r>
                      <a:r>
                        <a:rPr lang="en-US" sz="4000" baseline="0" dirty="0">
                          <a:solidFill>
                            <a:srgbClr val="FF0000"/>
                          </a:solidFill>
                        </a:rPr>
                        <a:t> </a:t>
                      </a:r>
                      <a:r>
                        <a:rPr lang="en-US" sz="4000" baseline="0" dirty="0" err="1">
                          <a:solidFill>
                            <a:srgbClr val="002060"/>
                          </a:solidFill>
                        </a:rPr>
                        <a:t>vào</a:t>
                      </a:r>
                      <a:r>
                        <a:rPr lang="en-US" sz="4000" baseline="0" dirty="0">
                          <a:solidFill>
                            <a:srgbClr val="002060"/>
                          </a:solidFill>
                        </a:rPr>
                        <a:t> </a:t>
                      </a:r>
                      <a:r>
                        <a:rPr lang="en-US" sz="4000" baseline="0" dirty="0" err="1">
                          <a:solidFill>
                            <a:srgbClr val="002060"/>
                          </a:solidFill>
                        </a:rPr>
                        <a:t>quá</a:t>
                      </a:r>
                      <a:r>
                        <a:rPr lang="en-US" sz="4000" baseline="0" dirty="0">
                          <a:solidFill>
                            <a:srgbClr val="002060"/>
                          </a:solidFill>
                        </a:rPr>
                        <a:t> </a:t>
                      </a:r>
                      <a:r>
                        <a:rPr lang="en-US" sz="4000" baseline="0" dirty="0" err="1">
                          <a:solidFill>
                            <a:srgbClr val="002060"/>
                          </a:solidFill>
                        </a:rPr>
                        <a:t>trình</a:t>
                      </a:r>
                      <a:r>
                        <a:rPr lang="en-US" sz="4000" baseline="0" dirty="0">
                          <a:solidFill>
                            <a:srgbClr val="002060"/>
                          </a:solidFill>
                        </a:rPr>
                        <a:t> </a:t>
                      </a:r>
                      <a:r>
                        <a:rPr lang="en-US" sz="4000" baseline="0" dirty="0" err="1">
                          <a:solidFill>
                            <a:srgbClr val="002060"/>
                          </a:solidFill>
                        </a:rPr>
                        <a:t>sản</a:t>
                      </a:r>
                      <a:r>
                        <a:rPr lang="en-US" sz="4000" baseline="0" dirty="0">
                          <a:solidFill>
                            <a:srgbClr val="002060"/>
                          </a:solidFill>
                        </a:rPr>
                        <a:t> </a:t>
                      </a:r>
                      <a:r>
                        <a:rPr lang="en-US" sz="4000" baseline="0" dirty="0" err="1">
                          <a:solidFill>
                            <a:srgbClr val="002060"/>
                          </a:solidFill>
                        </a:rPr>
                        <a:t>xuất</a:t>
                      </a:r>
                      <a:r>
                        <a:rPr lang="en-US" sz="4000" baseline="0" dirty="0">
                          <a:solidFill>
                            <a:srgbClr val="002060"/>
                          </a:solidFill>
                        </a:rPr>
                        <a:t> </a:t>
                      </a:r>
                      <a:r>
                        <a:rPr lang="en-US" sz="4000" baseline="0" dirty="0" err="1">
                          <a:solidFill>
                            <a:srgbClr val="002060"/>
                          </a:solidFill>
                        </a:rPr>
                        <a:t>và</a:t>
                      </a:r>
                      <a:r>
                        <a:rPr lang="en-US" sz="4000" baseline="0" dirty="0">
                          <a:solidFill>
                            <a:srgbClr val="002060"/>
                          </a:solidFill>
                        </a:rPr>
                        <a:t> chu </a:t>
                      </a:r>
                      <a:r>
                        <a:rPr lang="en-US" sz="4000" baseline="0" dirty="0" err="1">
                          <a:solidFill>
                            <a:srgbClr val="002060"/>
                          </a:solidFill>
                        </a:rPr>
                        <a:t>chuyển</a:t>
                      </a:r>
                      <a:r>
                        <a:rPr lang="en-US" sz="4000" baseline="0" dirty="0">
                          <a:solidFill>
                            <a:srgbClr val="002060"/>
                          </a:solidFill>
                        </a:rPr>
                        <a:t> </a:t>
                      </a:r>
                      <a:r>
                        <a:rPr lang="en-US" sz="4000" baseline="0" dirty="0" err="1">
                          <a:solidFill>
                            <a:srgbClr val="FF0000"/>
                          </a:solidFill>
                        </a:rPr>
                        <a:t>một</a:t>
                      </a:r>
                      <a:r>
                        <a:rPr lang="en-US" sz="4000" baseline="0" dirty="0">
                          <a:solidFill>
                            <a:srgbClr val="FF0000"/>
                          </a:solidFill>
                        </a:rPr>
                        <a:t> </a:t>
                      </a:r>
                      <a:r>
                        <a:rPr lang="en-US" sz="4000" baseline="0" dirty="0" err="1">
                          <a:solidFill>
                            <a:srgbClr val="FF0000"/>
                          </a:solidFill>
                        </a:rPr>
                        <a:t>lần</a:t>
                      </a:r>
                      <a:r>
                        <a:rPr lang="en-US" sz="4000" baseline="0" dirty="0">
                          <a:solidFill>
                            <a:srgbClr val="FF0000"/>
                          </a:solidFill>
                        </a:rPr>
                        <a:t>, </a:t>
                      </a:r>
                      <a:r>
                        <a:rPr lang="en-US" sz="4000" baseline="0" dirty="0" err="1">
                          <a:solidFill>
                            <a:srgbClr val="FF0000"/>
                          </a:solidFill>
                        </a:rPr>
                        <a:t>toàn</a:t>
                      </a:r>
                      <a:r>
                        <a:rPr lang="en-US" sz="4000" baseline="0" dirty="0">
                          <a:solidFill>
                            <a:srgbClr val="FF0000"/>
                          </a:solidFill>
                        </a:rPr>
                        <a:t> </a:t>
                      </a:r>
                      <a:r>
                        <a:rPr lang="en-US" sz="4000" baseline="0" dirty="0" err="1">
                          <a:solidFill>
                            <a:srgbClr val="FF0000"/>
                          </a:solidFill>
                        </a:rPr>
                        <a:t>phần</a:t>
                      </a:r>
                      <a:r>
                        <a:rPr lang="en-US" sz="4000" baseline="0" dirty="0">
                          <a:solidFill>
                            <a:srgbClr val="002060"/>
                          </a:solidFill>
                        </a:rPr>
                        <a:t> </a:t>
                      </a:r>
                      <a:r>
                        <a:rPr lang="en-US" sz="4000" baseline="0" dirty="0" err="1">
                          <a:solidFill>
                            <a:srgbClr val="002060"/>
                          </a:solidFill>
                        </a:rPr>
                        <a:t>trong</a:t>
                      </a:r>
                      <a:r>
                        <a:rPr lang="en-US" sz="4000" baseline="0" dirty="0">
                          <a:solidFill>
                            <a:srgbClr val="002060"/>
                          </a:solidFill>
                        </a:rPr>
                        <a:t> </a:t>
                      </a:r>
                      <a:r>
                        <a:rPr lang="en-US" sz="4000" baseline="0" dirty="0" err="1">
                          <a:solidFill>
                            <a:srgbClr val="002060"/>
                          </a:solidFill>
                        </a:rPr>
                        <a:t>mỗi</a:t>
                      </a:r>
                      <a:r>
                        <a:rPr lang="en-US" sz="4000" baseline="0" dirty="0">
                          <a:solidFill>
                            <a:srgbClr val="002060"/>
                          </a:solidFill>
                        </a:rPr>
                        <a:t> </a:t>
                      </a:r>
                      <a:r>
                        <a:rPr lang="en-US" sz="4000" baseline="0" dirty="0" err="1">
                          <a:solidFill>
                            <a:srgbClr val="002060"/>
                          </a:solidFill>
                        </a:rPr>
                        <a:t>quá</a:t>
                      </a:r>
                      <a:r>
                        <a:rPr lang="en-US" sz="4000" baseline="0" dirty="0">
                          <a:solidFill>
                            <a:srgbClr val="002060"/>
                          </a:solidFill>
                        </a:rPr>
                        <a:t> </a:t>
                      </a:r>
                      <a:r>
                        <a:rPr lang="en-US" sz="4000" baseline="0" dirty="0" err="1">
                          <a:solidFill>
                            <a:srgbClr val="002060"/>
                          </a:solidFill>
                        </a:rPr>
                        <a:t>trình</a:t>
                      </a:r>
                      <a:r>
                        <a:rPr lang="en-US" sz="4000" baseline="0" dirty="0">
                          <a:solidFill>
                            <a:srgbClr val="002060"/>
                          </a:solidFill>
                        </a:rPr>
                        <a:t> </a:t>
                      </a:r>
                      <a:r>
                        <a:rPr lang="en-US" sz="4000" baseline="0" dirty="0" err="1">
                          <a:solidFill>
                            <a:srgbClr val="002060"/>
                          </a:solidFill>
                        </a:rPr>
                        <a:t>sản</a:t>
                      </a:r>
                      <a:r>
                        <a:rPr lang="en-US" sz="4000" baseline="0" dirty="0">
                          <a:solidFill>
                            <a:srgbClr val="002060"/>
                          </a:solidFill>
                        </a:rPr>
                        <a:t> </a:t>
                      </a:r>
                      <a:r>
                        <a:rPr lang="en-US" sz="4000" baseline="0" dirty="0" err="1">
                          <a:solidFill>
                            <a:srgbClr val="002060"/>
                          </a:solidFill>
                        </a:rPr>
                        <a:t>xuất</a:t>
                      </a:r>
                      <a:endParaRPr lang="vi-VN" sz="4000" dirty="0">
                        <a:solidFill>
                          <a:srgbClr val="002060"/>
                        </a:solidFill>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10004"/>
                  </a:ext>
                </a:extLst>
              </a:tr>
            </a:tbl>
          </a:graphicData>
        </a:graphic>
      </p:graphicFrame>
      <p:sp>
        <p:nvSpPr>
          <p:cNvPr id="3" name="Title 1">
            <a:extLst>
              <a:ext uri="{FF2B5EF4-FFF2-40B4-BE49-F238E27FC236}">
                <a16:creationId xmlns:a16="http://schemas.microsoft.com/office/drawing/2014/main" id="{DCD3EECF-2E66-D21E-50A7-875892D2A584}"/>
              </a:ext>
            </a:extLst>
          </p:cNvPr>
          <p:cNvSpPr txBox="1">
            <a:spLocks/>
          </p:cNvSpPr>
          <p:nvPr/>
        </p:nvSpPr>
        <p:spPr>
          <a:xfrm>
            <a:off x="3426288" y="1534796"/>
            <a:ext cx="114354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TB cố định &amp; TB lưu động</a:t>
            </a:r>
          </a:p>
        </p:txBody>
      </p:sp>
    </p:spTree>
    <p:extLst>
      <p:ext uri="{BB962C8B-B14F-4D97-AF65-F5344CB8AC3E}">
        <p14:creationId xmlns:p14="http://schemas.microsoft.com/office/powerpoint/2010/main" val="2289324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7C82ED7-E1B9-8188-73F8-7A492192E5A0}"/>
              </a:ext>
            </a:extLst>
          </p:cNvPr>
          <p:cNvSpPr txBox="1">
            <a:spLocks/>
          </p:cNvSpPr>
          <p:nvPr/>
        </p:nvSpPr>
        <p:spPr>
          <a:xfrm>
            <a:off x="3342640" y="1654176"/>
            <a:ext cx="11125200" cy="1127124"/>
          </a:xfrm>
          <a:prstGeom prst="rect">
            <a:avLst/>
          </a:prstGeom>
        </p:spPr>
        <p:txBody>
          <a:bodyPr vert="horz" lIns="182880" tIns="91440" rIns="182880" bIns="9144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2000" b="1">
                <a:solidFill>
                  <a:srgbClr val="002060"/>
                </a:solidFill>
                <a:latin typeface="Aachen" panose="02020500000000000000" pitchFamily="18" charset="0"/>
                <a:ea typeface="Aachen" panose="02020500000000000000" pitchFamily="18" charset="0"/>
                <a:cs typeface="Aachen" panose="02020500000000000000" pitchFamily="18" charset="0"/>
              </a:rPr>
              <a:t>Hao mòn hữu &amp; vô hình</a:t>
            </a:r>
          </a:p>
        </p:txBody>
      </p:sp>
      <p:sp>
        <p:nvSpPr>
          <p:cNvPr id="5" name="Text Box 20">
            <a:extLst>
              <a:ext uri="{FF2B5EF4-FFF2-40B4-BE49-F238E27FC236}">
                <a16:creationId xmlns:a16="http://schemas.microsoft.com/office/drawing/2014/main" id="{CB050F3B-B6B0-A49E-3DD0-F3B727F633CE}"/>
              </a:ext>
            </a:extLst>
          </p:cNvPr>
          <p:cNvSpPr txBox="1">
            <a:spLocks noChangeArrowheads="1"/>
          </p:cNvSpPr>
          <p:nvPr/>
        </p:nvSpPr>
        <p:spPr bwMode="black">
          <a:xfrm>
            <a:off x="3114041" y="3991484"/>
            <a:ext cx="4724402" cy="584775"/>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gn="ctr" eaLnBrk="0" hangingPunct="0">
              <a:defRPr>
                <a:solidFill>
                  <a:schemeClr val="tx1"/>
                </a:solidFill>
                <a:latin typeface="Arial" panose="020B0604020202020204" pitchFamily="34" charset="0"/>
              </a:defRPr>
            </a:lvl1pPr>
            <a:lvl2pPr marL="742950" indent="-285750" algn="ctr" eaLnBrk="0" hangingPunct="0">
              <a:defRPr>
                <a:solidFill>
                  <a:schemeClr val="tx1"/>
                </a:solidFill>
                <a:latin typeface="Arial" panose="020B0604020202020204" pitchFamily="34" charset="0"/>
              </a:defRPr>
            </a:lvl2pPr>
            <a:lvl3pPr marL="1143000" indent="-228600" algn="ctr" eaLnBrk="0" hangingPunct="0">
              <a:defRPr>
                <a:solidFill>
                  <a:schemeClr val="tx1"/>
                </a:solidFill>
                <a:latin typeface="Arial" panose="020B0604020202020204" pitchFamily="34" charset="0"/>
              </a:defRPr>
            </a:lvl3pPr>
            <a:lvl4pPr marL="1600200" indent="-228600" algn="ctr" eaLnBrk="0" hangingPunct="0">
              <a:defRPr>
                <a:solidFill>
                  <a:schemeClr val="tx1"/>
                </a:solidFill>
                <a:latin typeface="Arial" panose="020B0604020202020204" pitchFamily="34" charset="0"/>
              </a:defRPr>
            </a:lvl4pPr>
            <a:lvl5pPr marL="2057400" indent="-228600" algn="ctr"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3200" b="1">
                <a:solidFill>
                  <a:srgbClr val="002060"/>
                </a:solidFill>
              </a:rPr>
              <a:t>HAO MÒN HỮU HÌNH</a:t>
            </a:r>
          </a:p>
        </p:txBody>
      </p:sp>
      <p:sp>
        <p:nvSpPr>
          <p:cNvPr id="6" name="Text Box 20">
            <a:extLst>
              <a:ext uri="{FF2B5EF4-FFF2-40B4-BE49-F238E27FC236}">
                <a16:creationId xmlns:a16="http://schemas.microsoft.com/office/drawing/2014/main" id="{C64A2549-911F-7B6A-A57E-45DB556CB388}"/>
              </a:ext>
            </a:extLst>
          </p:cNvPr>
          <p:cNvSpPr txBox="1">
            <a:spLocks noChangeArrowheads="1"/>
          </p:cNvSpPr>
          <p:nvPr/>
        </p:nvSpPr>
        <p:spPr bwMode="black">
          <a:xfrm>
            <a:off x="10743979" y="3932726"/>
            <a:ext cx="4724402" cy="584775"/>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gn="ctr" eaLnBrk="0" hangingPunct="0">
              <a:defRPr>
                <a:solidFill>
                  <a:schemeClr val="tx1"/>
                </a:solidFill>
                <a:latin typeface="Arial" panose="020B0604020202020204" pitchFamily="34" charset="0"/>
              </a:defRPr>
            </a:lvl1pPr>
            <a:lvl2pPr marL="742950" indent="-285750" algn="ctr" eaLnBrk="0" hangingPunct="0">
              <a:defRPr>
                <a:solidFill>
                  <a:schemeClr val="tx1"/>
                </a:solidFill>
                <a:latin typeface="Arial" panose="020B0604020202020204" pitchFamily="34" charset="0"/>
              </a:defRPr>
            </a:lvl2pPr>
            <a:lvl3pPr marL="1143000" indent="-228600" algn="ctr" eaLnBrk="0" hangingPunct="0">
              <a:defRPr>
                <a:solidFill>
                  <a:schemeClr val="tx1"/>
                </a:solidFill>
                <a:latin typeface="Arial" panose="020B0604020202020204" pitchFamily="34" charset="0"/>
              </a:defRPr>
            </a:lvl3pPr>
            <a:lvl4pPr marL="1600200" indent="-228600" algn="ctr" eaLnBrk="0" hangingPunct="0">
              <a:defRPr>
                <a:solidFill>
                  <a:schemeClr val="tx1"/>
                </a:solidFill>
                <a:latin typeface="Arial" panose="020B0604020202020204" pitchFamily="34" charset="0"/>
              </a:defRPr>
            </a:lvl4pPr>
            <a:lvl5pPr marL="2057400" indent="-228600" algn="ctr"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3200" b="1">
                <a:solidFill>
                  <a:srgbClr val="002060"/>
                </a:solidFill>
              </a:rPr>
              <a:t>HAO MÒN VÔ HÌNH</a:t>
            </a:r>
          </a:p>
        </p:txBody>
      </p:sp>
      <p:pic>
        <p:nvPicPr>
          <p:cNvPr id="7" name="Picture 6">
            <a:extLst>
              <a:ext uri="{FF2B5EF4-FFF2-40B4-BE49-F238E27FC236}">
                <a16:creationId xmlns:a16="http://schemas.microsoft.com/office/drawing/2014/main" id="{D245D72A-5B49-A172-371B-5C703474BB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1040" y="5130800"/>
            <a:ext cx="7162800" cy="5486400"/>
          </a:xfrm>
          <a:prstGeom prst="rect">
            <a:avLst/>
          </a:prstGeom>
        </p:spPr>
      </p:pic>
      <p:pic>
        <p:nvPicPr>
          <p:cNvPr id="8" name="Picture 7">
            <a:extLst>
              <a:ext uri="{FF2B5EF4-FFF2-40B4-BE49-F238E27FC236}">
                <a16:creationId xmlns:a16="http://schemas.microsoft.com/office/drawing/2014/main" id="{A6D53A0B-5DF0-8497-F9EA-BFBE815C76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4780" y="5092700"/>
            <a:ext cx="7162800" cy="5524500"/>
          </a:xfrm>
          <a:prstGeom prst="rect">
            <a:avLst/>
          </a:prstGeom>
        </p:spPr>
      </p:pic>
      <p:sp>
        <p:nvSpPr>
          <p:cNvPr id="9" name="Text Box 7">
            <a:extLst>
              <a:ext uri="{FF2B5EF4-FFF2-40B4-BE49-F238E27FC236}">
                <a16:creationId xmlns:a16="http://schemas.microsoft.com/office/drawing/2014/main" id="{62A584C9-F736-72FB-9D08-6497EF689DCF}"/>
              </a:ext>
            </a:extLst>
          </p:cNvPr>
          <p:cNvSpPr txBox="1">
            <a:spLocks noChangeArrowheads="1"/>
          </p:cNvSpPr>
          <p:nvPr/>
        </p:nvSpPr>
        <p:spPr bwMode="black">
          <a:xfrm>
            <a:off x="1971039" y="10922001"/>
            <a:ext cx="7162802" cy="1846659"/>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CCC050"/>
                    </a:gs>
                  </a:gsLst>
                  <a:lin ang="5400000" scaled="1"/>
                </a:gra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800" b="1" dirty="0">
                <a:solidFill>
                  <a:srgbClr val="002060"/>
                </a:solidFill>
                <a:cs typeface="Arial" panose="020B0604020202020204" pitchFamily="34" charset="0"/>
              </a:rPr>
              <a:t>HAO MÒN CẢ GIÁ TRỊ VÀ GIẢ TRỊ SỬ DỤNG DO QUÁ TRÌNH SỬ DỤNG &amp; TỰ NHIÊN</a:t>
            </a:r>
          </a:p>
        </p:txBody>
      </p:sp>
      <p:sp>
        <p:nvSpPr>
          <p:cNvPr id="10" name="Text Box 7">
            <a:extLst>
              <a:ext uri="{FF2B5EF4-FFF2-40B4-BE49-F238E27FC236}">
                <a16:creationId xmlns:a16="http://schemas.microsoft.com/office/drawing/2014/main" id="{9C302D28-81D9-CFF0-A768-35B0D7949D08}"/>
              </a:ext>
            </a:extLst>
          </p:cNvPr>
          <p:cNvSpPr txBox="1">
            <a:spLocks noChangeArrowheads="1"/>
          </p:cNvSpPr>
          <p:nvPr/>
        </p:nvSpPr>
        <p:spPr bwMode="black">
          <a:xfrm>
            <a:off x="9524780" y="11153339"/>
            <a:ext cx="7162800" cy="1261884"/>
          </a:xfrm>
          <a:prstGeom prst="rect">
            <a:avLst/>
          </a:prstGeom>
          <a:noFill/>
          <a:ln>
            <a:noFill/>
          </a:ln>
          <a:effectLst/>
          <a:extLst>
            <a:ext uri="{909E8E84-426E-40DD-AFC4-6F175D3DCCD1}">
              <a14:hiddenFill xmlns:a14="http://schemas.microsoft.com/office/drawing/2010/main">
                <a:gradFill rotWithShape="1">
                  <a:gsLst>
                    <a:gs pos="0">
                      <a:schemeClr val="accent2"/>
                    </a:gs>
                    <a:gs pos="100000">
                      <a:srgbClr val="CCC050"/>
                    </a:gs>
                  </a:gsLst>
                  <a:lin ang="5400000" scaled="1"/>
                </a:gra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3800" b="1">
                <a:solidFill>
                  <a:srgbClr val="002060"/>
                </a:solidFill>
                <a:cs typeface="Arial" panose="020B0604020202020204" pitchFamily="34" charset="0"/>
              </a:rPr>
              <a:t>HAO MÒN GIÁ TRỊ DO CÔNG NGHỆ HIỆN ĐẠI</a:t>
            </a:r>
          </a:p>
        </p:txBody>
      </p:sp>
    </p:spTree>
    <p:extLst>
      <p:ext uri="{BB962C8B-B14F-4D97-AF65-F5344CB8AC3E}">
        <p14:creationId xmlns:p14="http://schemas.microsoft.com/office/powerpoint/2010/main" val="613045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ppt_w</p:attrName>
                                        </p:attrNameLst>
                                      </p:cBhvr>
                                      <p:tavLst>
                                        <p:tav tm="0">
                                          <p:val>
                                            <p:fltVal val="0"/>
                                          </p:val>
                                        </p:tav>
                                        <p:tav tm="100000">
                                          <p:val>
                                            <p:strVal val="#ppt_w"/>
                                          </p:val>
                                        </p:tav>
                                      </p:tavLst>
                                    </p:anim>
                                    <p:anim calcmode="lin" valueType="num">
                                      <p:cBhvr>
                                        <p:cTn id="25" dur="500" fill="hold"/>
                                        <p:tgtEl>
                                          <p:spTgt spid="6"/>
                                        </p:tgtEl>
                                        <p:attrNameLst>
                                          <p:attrName>ppt_h</p:attrName>
                                        </p:attrNameLst>
                                      </p:cBhvr>
                                      <p:tavLst>
                                        <p:tav tm="0">
                                          <p:val>
                                            <p:fltVal val="0"/>
                                          </p:val>
                                        </p:tav>
                                        <p:tav tm="100000">
                                          <p:val>
                                            <p:strVal val="#ppt_h"/>
                                          </p:val>
                                        </p:tav>
                                      </p:tavLst>
                                    </p:anim>
                                    <p:animEffect transition="in" filter="fade">
                                      <p:cBhvr>
                                        <p:cTn id="26" dur="500"/>
                                        <p:tgtEl>
                                          <p:spTgt spid="6"/>
                                        </p:tgtEl>
                                      </p:cBhvr>
                                    </p:animEffect>
                                  </p:childTnLst>
                                </p:cTn>
                              </p:par>
                              <p:par>
                                <p:cTn id="27" presetID="53" presetClass="entr" presetSubtype="16"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p:cTn id="34" dur="500" fill="hold"/>
                                        <p:tgtEl>
                                          <p:spTgt spid="10"/>
                                        </p:tgtEl>
                                        <p:attrNameLst>
                                          <p:attrName>ppt_w</p:attrName>
                                        </p:attrNameLst>
                                      </p:cBhvr>
                                      <p:tavLst>
                                        <p:tav tm="0">
                                          <p:val>
                                            <p:fltVal val="0"/>
                                          </p:val>
                                        </p:tav>
                                        <p:tav tm="100000">
                                          <p:val>
                                            <p:strVal val="#ppt_w"/>
                                          </p:val>
                                        </p:tav>
                                      </p:tavLst>
                                    </p:anim>
                                    <p:anim calcmode="lin" valueType="num">
                                      <p:cBhvr>
                                        <p:cTn id="35" dur="500" fill="hold"/>
                                        <p:tgtEl>
                                          <p:spTgt spid="10"/>
                                        </p:tgtEl>
                                        <p:attrNameLst>
                                          <p:attrName>ppt_h</p:attrName>
                                        </p:attrNameLst>
                                      </p:cBhvr>
                                      <p:tavLst>
                                        <p:tav tm="0">
                                          <p:val>
                                            <p:fltVal val="0"/>
                                          </p:val>
                                        </p:tav>
                                        <p:tav tm="100000">
                                          <p:val>
                                            <p:strVal val="#ppt_h"/>
                                          </p:val>
                                        </p:tav>
                                      </p:tavLst>
                                    </p:anim>
                                    <p:animEffect transition="in" filter="fad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7FB0D1E-92B7-B09A-D362-C1E38E92FBBE}"/>
              </a:ext>
            </a:extLst>
          </p:cNvPr>
          <p:cNvSpPr txBox="1">
            <a:spLocks noChangeArrowheads="1"/>
          </p:cNvSpPr>
          <p:nvPr/>
        </p:nvSpPr>
        <p:spPr>
          <a:xfrm>
            <a:off x="3883488" y="1816736"/>
            <a:ext cx="10521024" cy="1127124"/>
          </a:xfrm>
          <a:prstGeom prst="rect">
            <a:avLst/>
          </a:prstGeom>
        </p:spPr>
        <p:txBody>
          <a:bodyPr vert="horz" lIns="182880" tIns="91440" rIns="182880" bIns="9144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12000" b="1">
                <a:solidFill>
                  <a:srgbClr val="002060"/>
                </a:solidFill>
              </a:rPr>
              <a:t>Nội dung Chương 3</a:t>
            </a:r>
          </a:p>
        </p:txBody>
      </p:sp>
      <p:sp>
        <p:nvSpPr>
          <p:cNvPr id="3" name="Freeform 2">
            <a:extLst>
              <a:ext uri="{FF2B5EF4-FFF2-40B4-BE49-F238E27FC236}">
                <a16:creationId xmlns:a16="http://schemas.microsoft.com/office/drawing/2014/main" id="{B613B164-B4B9-75FC-32CD-07578E2BA020}"/>
              </a:ext>
            </a:extLst>
          </p:cNvPr>
          <p:cNvSpPr/>
          <p:nvPr/>
        </p:nvSpPr>
        <p:spPr>
          <a:xfrm>
            <a:off x="2974514" y="4283002"/>
            <a:ext cx="2264448" cy="3234928"/>
          </a:xfrm>
          <a:custGeom>
            <a:avLst/>
            <a:gdLst>
              <a:gd name="connsiteX0" fmla="*/ 0 w 1617464"/>
              <a:gd name="connsiteY0" fmla="*/ 0 h 1132224"/>
              <a:gd name="connsiteX1" fmla="*/ 1051352 w 1617464"/>
              <a:gd name="connsiteY1" fmla="*/ 0 h 1132224"/>
              <a:gd name="connsiteX2" fmla="*/ 1617464 w 1617464"/>
              <a:gd name="connsiteY2" fmla="*/ 566112 h 1132224"/>
              <a:gd name="connsiteX3" fmla="*/ 1051352 w 1617464"/>
              <a:gd name="connsiteY3" fmla="*/ 1132224 h 1132224"/>
              <a:gd name="connsiteX4" fmla="*/ 0 w 1617464"/>
              <a:gd name="connsiteY4" fmla="*/ 1132224 h 1132224"/>
              <a:gd name="connsiteX5" fmla="*/ 566112 w 1617464"/>
              <a:gd name="connsiteY5" fmla="*/ 566112 h 1132224"/>
              <a:gd name="connsiteX6" fmla="*/ 0 w 1617464"/>
              <a:gd name="connsiteY6" fmla="*/ 0 h 113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64" h="1132224">
                <a:moveTo>
                  <a:pt x="1617464" y="0"/>
                </a:moveTo>
                <a:lnTo>
                  <a:pt x="1617464" y="735946"/>
                </a:lnTo>
                <a:lnTo>
                  <a:pt x="808732" y="1132224"/>
                </a:lnTo>
                <a:lnTo>
                  <a:pt x="0" y="735946"/>
                </a:lnTo>
                <a:lnTo>
                  <a:pt x="0" y="0"/>
                </a:lnTo>
                <a:lnTo>
                  <a:pt x="808732" y="396278"/>
                </a:lnTo>
                <a:lnTo>
                  <a:pt x="1617464"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640" tIns="1172864" rIns="40640" bIns="1172864" numCol="1" spcCol="1270" anchor="ctr" anchorCtr="0">
            <a:noAutofit/>
          </a:bodyPr>
          <a:lstStyle/>
          <a:p>
            <a:pPr algn="ctr" defTabSz="2844800">
              <a:lnSpc>
                <a:spcPct val="90000"/>
              </a:lnSpc>
              <a:spcBef>
                <a:spcPct val="0"/>
              </a:spcBef>
              <a:spcAft>
                <a:spcPct val="35000"/>
              </a:spcAft>
            </a:pPr>
            <a:r>
              <a:rPr lang="en-US" sz="6400" b="1">
                <a:solidFill>
                  <a:srgbClr val="002060"/>
                </a:solidFill>
              </a:rPr>
              <a:t>3.1.</a:t>
            </a:r>
          </a:p>
        </p:txBody>
      </p:sp>
      <p:sp>
        <p:nvSpPr>
          <p:cNvPr id="6" name="Freeform 3">
            <a:extLst>
              <a:ext uri="{FF2B5EF4-FFF2-40B4-BE49-F238E27FC236}">
                <a16:creationId xmlns:a16="http://schemas.microsoft.com/office/drawing/2014/main" id="{F0D80BD1-332E-5803-45F6-0AAADC438463}"/>
              </a:ext>
            </a:extLst>
          </p:cNvPr>
          <p:cNvSpPr/>
          <p:nvPr/>
        </p:nvSpPr>
        <p:spPr>
          <a:xfrm>
            <a:off x="5238961" y="4283005"/>
            <a:ext cx="11146750" cy="2102702"/>
          </a:xfrm>
          <a:custGeom>
            <a:avLst/>
            <a:gdLst>
              <a:gd name="connsiteX0" fmla="*/ 175229 w 1051351"/>
              <a:gd name="connsiteY0" fmla="*/ 0 h 5573375"/>
              <a:gd name="connsiteX1" fmla="*/ 876122 w 1051351"/>
              <a:gd name="connsiteY1" fmla="*/ 0 h 5573375"/>
              <a:gd name="connsiteX2" fmla="*/ 1051351 w 1051351"/>
              <a:gd name="connsiteY2" fmla="*/ 175229 h 5573375"/>
              <a:gd name="connsiteX3" fmla="*/ 1051351 w 1051351"/>
              <a:gd name="connsiteY3" fmla="*/ 5573375 h 5573375"/>
              <a:gd name="connsiteX4" fmla="*/ 1051351 w 1051351"/>
              <a:gd name="connsiteY4" fmla="*/ 5573375 h 5573375"/>
              <a:gd name="connsiteX5" fmla="*/ 0 w 1051351"/>
              <a:gd name="connsiteY5" fmla="*/ 5573375 h 5573375"/>
              <a:gd name="connsiteX6" fmla="*/ 0 w 1051351"/>
              <a:gd name="connsiteY6" fmla="*/ 5573375 h 5573375"/>
              <a:gd name="connsiteX7" fmla="*/ 0 w 1051351"/>
              <a:gd name="connsiteY7" fmla="*/ 175229 h 5573375"/>
              <a:gd name="connsiteX8" fmla="*/ 175229 w 1051351"/>
              <a:gd name="connsiteY8" fmla="*/ 0 h 557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351" h="5573375">
                <a:moveTo>
                  <a:pt x="1051351" y="928916"/>
                </a:moveTo>
                <a:lnTo>
                  <a:pt x="1051351" y="4644459"/>
                </a:lnTo>
                <a:cubicBezTo>
                  <a:pt x="1051351" y="5157483"/>
                  <a:pt x="1036552" y="5573375"/>
                  <a:pt x="1018296" y="5573375"/>
                </a:cubicBezTo>
                <a:lnTo>
                  <a:pt x="0" y="5573375"/>
                </a:lnTo>
                <a:lnTo>
                  <a:pt x="0" y="5573375"/>
                </a:lnTo>
                <a:lnTo>
                  <a:pt x="0" y="0"/>
                </a:lnTo>
                <a:lnTo>
                  <a:pt x="0" y="0"/>
                </a:lnTo>
                <a:lnTo>
                  <a:pt x="1018296" y="0"/>
                </a:lnTo>
                <a:cubicBezTo>
                  <a:pt x="1036552" y="0"/>
                  <a:pt x="1051351" y="415892"/>
                  <a:pt x="1051351" y="928916"/>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12930" tIns="130584" rIns="130584" bIns="130588" numCol="1" spcCol="1270" anchor="ctr" anchorCtr="0">
            <a:noAutofit/>
          </a:bodyPr>
          <a:lstStyle/>
          <a:p>
            <a:pPr marL="457200" lvl="1" indent="-457200" algn="just" defTabSz="1955800">
              <a:lnSpc>
                <a:spcPct val="90000"/>
              </a:lnSpc>
              <a:spcBef>
                <a:spcPct val="0"/>
              </a:spcBef>
              <a:spcAft>
                <a:spcPct val="15000"/>
              </a:spcAft>
              <a:buChar char="••"/>
            </a:pPr>
            <a:r>
              <a:rPr lang="en-US" sz="4400" b="1">
                <a:solidFill>
                  <a:srgbClr val="002060"/>
                </a:solidFill>
              </a:rPr>
              <a:t>LÝ LUẬN CỦA CÁC MÁC VỀ GIÁ TRỊ THẶNG DƯ</a:t>
            </a:r>
          </a:p>
        </p:txBody>
      </p:sp>
      <p:sp>
        <p:nvSpPr>
          <p:cNvPr id="7" name="Freeform 4">
            <a:extLst>
              <a:ext uri="{FF2B5EF4-FFF2-40B4-BE49-F238E27FC236}">
                <a16:creationId xmlns:a16="http://schemas.microsoft.com/office/drawing/2014/main" id="{1954F878-1485-BCEE-35C3-BFB976599B2A}"/>
              </a:ext>
            </a:extLst>
          </p:cNvPr>
          <p:cNvSpPr/>
          <p:nvPr/>
        </p:nvSpPr>
        <p:spPr>
          <a:xfrm>
            <a:off x="2974514" y="7130294"/>
            <a:ext cx="2264448" cy="3234928"/>
          </a:xfrm>
          <a:custGeom>
            <a:avLst/>
            <a:gdLst>
              <a:gd name="connsiteX0" fmla="*/ 0 w 1617464"/>
              <a:gd name="connsiteY0" fmla="*/ 0 h 1132224"/>
              <a:gd name="connsiteX1" fmla="*/ 1051352 w 1617464"/>
              <a:gd name="connsiteY1" fmla="*/ 0 h 1132224"/>
              <a:gd name="connsiteX2" fmla="*/ 1617464 w 1617464"/>
              <a:gd name="connsiteY2" fmla="*/ 566112 h 1132224"/>
              <a:gd name="connsiteX3" fmla="*/ 1051352 w 1617464"/>
              <a:gd name="connsiteY3" fmla="*/ 1132224 h 1132224"/>
              <a:gd name="connsiteX4" fmla="*/ 0 w 1617464"/>
              <a:gd name="connsiteY4" fmla="*/ 1132224 h 1132224"/>
              <a:gd name="connsiteX5" fmla="*/ 566112 w 1617464"/>
              <a:gd name="connsiteY5" fmla="*/ 566112 h 1132224"/>
              <a:gd name="connsiteX6" fmla="*/ 0 w 1617464"/>
              <a:gd name="connsiteY6" fmla="*/ 0 h 113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64" h="1132224">
                <a:moveTo>
                  <a:pt x="1617464" y="0"/>
                </a:moveTo>
                <a:lnTo>
                  <a:pt x="1617464" y="735946"/>
                </a:lnTo>
                <a:lnTo>
                  <a:pt x="808732" y="1132224"/>
                </a:lnTo>
                <a:lnTo>
                  <a:pt x="0" y="735946"/>
                </a:lnTo>
                <a:lnTo>
                  <a:pt x="0" y="0"/>
                </a:lnTo>
                <a:lnTo>
                  <a:pt x="808732" y="396278"/>
                </a:lnTo>
                <a:lnTo>
                  <a:pt x="1617464"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640" tIns="1172864" rIns="40640" bIns="1172864" numCol="1" spcCol="1270" anchor="ctr" anchorCtr="0">
            <a:noAutofit/>
          </a:bodyPr>
          <a:lstStyle/>
          <a:p>
            <a:pPr algn="ctr" defTabSz="2844800">
              <a:lnSpc>
                <a:spcPct val="90000"/>
              </a:lnSpc>
              <a:spcBef>
                <a:spcPct val="0"/>
              </a:spcBef>
              <a:spcAft>
                <a:spcPct val="35000"/>
              </a:spcAft>
            </a:pPr>
            <a:r>
              <a:rPr lang="en-US" sz="6400" b="1">
                <a:solidFill>
                  <a:srgbClr val="002060"/>
                </a:solidFill>
              </a:rPr>
              <a:t>3.2.</a:t>
            </a:r>
          </a:p>
        </p:txBody>
      </p:sp>
      <p:sp>
        <p:nvSpPr>
          <p:cNvPr id="8" name="Freeform 5">
            <a:extLst>
              <a:ext uri="{FF2B5EF4-FFF2-40B4-BE49-F238E27FC236}">
                <a16:creationId xmlns:a16="http://schemas.microsoft.com/office/drawing/2014/main" id="{EE4A13A6-4E0E-3962-B8F0-1F1AF3A25D8D}"/>
              </a:ext>
            </a:extLst>
          </p:cNvPr>
          <p:cNvSpPr/>
          <p:nvPr/>
        </p:nvSpPr>
        <p:spPr>
          <a:xfrm>
            <a:off x="5238961" y="7130299"/>
            <a:ext cx="11146750" cy="2102702"/>
          </a:xfrm>
          <a:custGeom>
            <a:avLst/>
            <a:gdLst>
              <a:gd name="connsiteX0" fmla="*/ 175229 w 1051351"/>
              <a:gd name="connsiteY0" fmla="*/ 0 h 5573375"/>
              <a:gd name="connsiteX1" fmla="*/ 876122 w 1051351"/>
              <a:gd name="connsiteY1" fmla="*/ 0 h 5573375"/>
              <a:gd name="connsiteX2" fmla="*/ 1051351 w 1051351"/>
              <a:gd name="connsiteY2" fmla="*/ 175229 h 5573375"/>
              <a:gd name="connsiteX3" fmla="*/ 1051351 w 1051351"/>
              <a:gd name="connsiteY3" fmla="*/ 5573375 h 5573375"/>
              <a:gd name="connsiteX4" fmla="*/ 1051351 w 1051351"/>
              <a:gd name="connsiteY4" fmla="*/ 5573375 h 5573375"/>
              <a:gd name="connsiteX5" fmla="*/ 0 w 1051351"/>
              <a:gd name="connsiteY5" fmla="*/ 5573375 h 5573375"/>
              <a:gd name="connsiteX6" fmla="*/ 0 w 1051351"/>
              <a:gd name="connsiteY6" fmla="*/ 5573375 h 5573375"/>
              <a:gd name="connsiteX7" fmla="*/ 0 w 1051351"/>
              <a:gd name="connsiteY7" fmla="*/ 175229 h 5573375"/>
              <a:gd name="connsiteX8" fmla="*/ 175229 w 1051351"/>
              <a:gd name="connsiteY8" fmla="*/ 0 h 557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351" h="5573375">
                <a:moveTo>
                  <a:pt x="1051351" y="928916"/>
                </a:moveTo>
                <a:lnTo>
                  <a:pt x="1051351" y="4644459"/>
                </a:lnTo>
                <a:cubicBezTo>
                  <a:pt x="1051351" y="5157483"/>
                  <a:pt x="1036552" y="5573375"/>
                  <a:pt x="1018296" y="5573375"/>
                </a:cubicBezTo>
                <a:lnTo>
                  <a:pt x="0" y="5573375"/>
                </a:lnTo>
                <a:lnTo>
                  <a:pt x="0" y="5573375"/>
                </a:lnTo>
                <a:lnTo>
                  <a:pt x="0" y="0"/>
                </a:lnTo>
                <a:lnTo>
                  <a:pt x="0" y="0"/>
                </a:lnTo>
                <a:lnTo>
                  <a:pt x="1018296" y="0"/>
                </a:lnTo>
                <a:cubicBezTo>
                  <a:pt x="1036552" y="0"/>
                  <a:pt x="1051351" y="415892"/>
                  <a:pt x="1051351" y="928916"/>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12930" tIns="130584" rIns="130584" bIns="130588" numCol="1" spcCol="1270" anchor="ctr" anchorCtr="0">
            <a:noAutofit/>
          </a:bodyPr>
          <a:lstStyle/>
          <a:p>
            <a:pPr marL="457200" lvl="1" indent="-457200" algn="just" defTabSz="1955800">
              <a:lnSpc>
                <a:spcPct val="90000"/>
              </a:lnSpc>
              <a:spcBef>
                <a:spcPct val="0"/>
              </a:spcBef>
              <a:spcAft>
                <a:spcPct val="15000"/>
              </a:spcAft>
              <a:buChar char="••"/>
            </a:pPr>
            <a:r>
              <a:rPr lang="en-US" sz="4400" b="1" dirty="0">
                <a:solidFill>
                  <a:srgbClr val="002060"/>
                </a:solidFill>
              </a:rPr>
              <a:t>TÍCH LŨY TƯ BẢN</a:t>
            </a:r>
          </a:p>
        </p:txBody>
      </p:sp>
      <p:sp>
        <p:nvSpPr>
          <p:cNvPr id="9" name="Freeform 6">
            <a:extLst>
              <a:ext uri="{FF2B5EF4-FFF2-40B4-BE49-F238E27FC236}">
                <a16:creationId xmlns:a16="http://schemas.microsoft.com/office/drawing/2014/main" id="{CBB74A69-5611-1FA1-215A-EF44286A6AA8}"/>
              </a:ext>
            </a:extLst>
          </p:cNvPr>
          <p:cNvSpPr/>
          <p:nvPr/>
        </p:nvSpPr>
        <p:spPr>
          <a:xfrm>
            <a:off x="2974514" y="9977586"/>
            <a:ext cx="2264448" cy="3234928"/>
          </a:xfrm>
          <a:custGeom>
            <a:avLst/>
            <a:gdLst>
              <a:gd name="connsiteX0" fmla="*/ 0 w 1617464"/>
              <a:gd name="connsiteY0" fmla="*/ 0 h 1132224"/>
              <a:gd name="connsiteX1" fmla="*/ 1051352 w 1617464"/>
              <a:gd name="connsiteY1" fmla="*/ 0 h 1132224"/>
              <a:gd name="connsiteX2" fmla="*/ 1617464 w 1617464"/>
              <a:gd name="connsiteY2" fmla="*/ 566112 h 1132224"/>
              <a:gd name="connsiteX3" fmla="*/ 1051352 w 1617464"/>
              <a:gd name="connsiteY3" fmla="*/ 1132224 h 1132224"/>
              <a:gd name="connsiteX4" fmla="*/ 0 w 1617464"/>
              <a:gd name="connsiteY4" fmla="*/ 1132224 h 1132224"/>
              <a:gd name="connsiteX5" fmla="*/ 566112 w 1617464"/>
              <a:gd name="connsiteY5" fmla="*/ 566112 h 1132224"/>
              <a:gd name="connsiteX6" fmla="*/ 0 w 1617464"/>
              <a:gd name="connsiteY6" fmla="*/ 0 h 113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64" h="1132224">
                <a:moveTo>
                  <a:pt x="1617464" y="0"/>
                </a:moveTo>
                <a:lnTo>
                  <a:pt x="1617464" y="735946"/>
                </a:lnTo>
                <a:lnTo>
                  <a:pt x="808732" y="1132224"/>
                </a:lnTo>
                <a:lnTo>
                  <a:pt x="0" y="735946"/>
                </a:lnTo>
                <a:lnTo>
                  <a:pt x="0" y="0"/>
                </a:lnTo>
                <a:lnTo>
                  <a:pt x="808732" y="396278"/>
                </a:lnTo>
                <a:lnTo>
                  <a:pt x="1617464"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640" tIns="1172864" rIns="40640" bIns="1172864" numCol="1" spcCol="1270" anchor="ctr" anchorCtr="0">
            <a:noAutofit/>
          </a:bodyPr>
          <a:lstStyle/>
          <a:p>
            <a:pPr algn="ctr" defTabSz="2844800">
              <a:lnSpc>
                <a:spcPct val="90000"/>
              </a:lnSpc>
              <a:spcBef>
                <a:spcPct val="0"/>
              </a:spcBef>
              <a:spcAft>
                <a:spcPct val="35000"/>
              </a:spcAft>
            </a:pPr>
            <a:r>
              <a:rPr lang="en-US" sz="6400" b="1">
                <a:solidFill>
                  <a:srgbClr val="002060"/>
                </a:solidFill>
              </a:rPr>
              <a:t>3.3.</a:t>
            </a:r>
          </a:p>
        </p:txBody>
      </p:sp>
      <p:sp>
        <p:nvSpPr>
          <p:cNvPr id="10" name="Freeform 7">
            <a:extLst>
              <a:ext uri="{FF2B5EF4-FFF2-40B4-BE49-F238E27FC236}">
                <a16:creationId xmlns:a16="http://schemas.microsoft.com/office/drawing/2014/main" id="{291712CC-E6D3-7C23-1FEF-7B8BD9FA1635}"/>
              </a:ext>
            </a:extLst>
          </p:cNvPr>
          <p:cNvSpPr/>
          <p:nvPr/>
        </p:nvSpPr>
        <p:spPr>
          <a:xfrm>
            <a:off x="5238961" y="9977589"/>
            <a:ext cx="11146750" cy="2102702"/>
          </a:xfrm>
          <a:custGeom>
            <a:avLst/>
            <a:gdLst>
              <a:gd name="connsiteX0" fmla="*/ 175229 w 1051351"/>
              <a:gd name="connsiteY0" fmla="*/ 0 h 5573375"/>
              <a:gd name="connsiteX1" fmla="*/ 876122 w 1051351"/>
              <a:gd name="connsiteY1" fmla="*/ 0 h 5573375"/>
              <a:gd name="connsiteX2" fmla="*/ 1051351 w 1051351"/>
              <a:gd name="connsiteY2" fmla="*/ 175229 h 5573375"/>
              <a:gd name="connsiteX3" fmla="*/ 1051351 w 1051351"/>
              <a:gd name="connsiteY3" fmla="*/ 5573375 h 5573375"/>
              <a:gd name="connsiteX4" fmla="*/ 1051351 w 1051351"/>
              <a:gd name="connsiteY4" fmla="*/ 5573375 h 5573375"/>
              <a:gd name="connsiteX5" fmla="*/ 0 w 1051351"/>
              <a:gd name="connsiteY5" fmla="*/ 5573375 h 5573375"/>
              <a:gd name="connsiteX6" fmla="*/ 0 w 1051351"/>
              <a:gd name="connsiteY6" fmla="*/ 5573375 h 5573375"/>
              <a:gd name="connsiteX7" fmla="*/ 0 w 1051351"/>
              <a:gd name="connsiteY7" fmla="*/ 175229 h 5573375"/>
              <a:gd name="connsiteX8" fmla="*/ 175229 w 1051351"/>
              <a:gd name="connsiteY8" fmla="*/ 0 h 557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351" h="5573375">
                <a:moveTo>
                  <a:pt x="1051351" y="928916"/>
                </a:moveTo>
                <a:lnTo>
                  <a:pt x="1051351" y="4644459"/>
                </a:lnTo>
                <a:cubicBezTo>
                  <a:pt x="1051351" y="5157483"/>
                  <a:pt x="1036552" y="5573375"/>
                  <a:pt x="1018296" y="5573375"/>
                </a:cubicBezTo>
                <a:lnTo>
                  <a:pt x="0" y="5573375"/>
                </a:lnTo>
                <a:lnTo>
                  <a:pt x="0" y="5573375"/>
                </a:lnTo>
                <a:lnTo>
                  <a:pt x="0" y="0"/>
                </a:lnTo>
                <a:lnTo>
                  <a:pt x="0" y="0"/>
                </a:lnTo>
                <a:lnTo>
                  <a:pt x="1018296" y="0"/>
                </a:lnTo>
                <a:cubicBezTo>
                  <a:pt x="1036552" y="0"/>
                  <a:pt x="1051351" y="415892"/>
                  <a:pt x="1051351" y="928916"/>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12930" tIns="130586" rIns="130584" bIns="130586" numCol="1" spcCol="1270" anchor="ctr" anchorCtr="0">
            <a:noAutofit/>
          </a:bodyPr>
          <a:lstStyle/>
          <a:p>
            <a:pPr marL="457200" lvl="1" indent="-457200" algn="just" defTabSz="1955800">
              <a:lnSpc>
                <a:spcPct val="90000"/>
              </a:lnSpc>
              <a:spcBef>
                <a:spcPct val="0"/>
              </a:spcBef>
              <a:spcAft>
                <a:spcPct val="15000"/>
              </a:spcAft>
              <a:buChar char="••"/>
            </a:pPr>
            <a:r>
              <a:rPr lang="en-US" sz="4400" b="1">
                <a:solidFill>
                  <a:srgbClr val="002060"/>
                </a:solidFill>
              </a:rPr>
              <a:t>CÁC HÌNH THỨC BIỂU HIỆN CỦA GIÁ TRỊ THẶNG DƯ TRONG NỀN KINH TẾ THỊ TRƯỜNG</a:t>
            </a:r>
          </a:p>
        </p:txBody>
      </p:sp>
    </p:spTree>
    <p:extLst>
      <p:ext uri="{BB962C8B-B14F-4D97-AF65-F5344CB8AC3E}">
        <p14:creationId xmlns:p14="http://schemas.microsoft.com/office/powerpoint/2010/main" val="393101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8"/>
                                        </p:tgtEl>
                                        <p:attrNameLst>
                                          <p:attrName>fillcolor</p:attrName>
                                        </p:attrNameLst>
                                      </p:cBhvr>
                                      <p:to>
                                        <a:schemeClr val="accent2"/>
                                      </p:to>
                                    </p:animClr>
                                    <p:set>
                                      <p:cBhvr>
                                        <p:cTn id="7" dur="2000" fill="hold"/>
                                        <p:tgtEl>
                                          <p:spTgt spid="8"/>
                                        </p:tgtEl>
                                        <p:attrNameLst>
                                          <p:attrName>fill.type</p:attrName>
                                        </p:attrNameLst>
                                      </p:cBhvr>
                                      <p:to>
                                        <p:strVal val="solid"/>
                                      </p:to>
                                    </p:set>
                                    <p:set>
                                      <p:cBhvr>
                                        <p:cTn id="8" dur="2000" fill="hold"/>
                                        <p:tgtEl>
                                          <p:spTgt spid="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DBB17A4-8DEF-F846-A049-7979782EDF55}"/>
              </a:ext>
            </a:extLst>
          </p:cNvPr>
          <p:cNvSpPr txBox="1">
            <a:spLocks/>
          </p:cNvSpPr>
          <p:nvPr/>
        </p:nvSpPr>
        <p:spPr>
          <a:xfrm>
            <a:off x="3578688" y="1559880"/>
            <a:ext cx="111306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Bản chất của tích lũy TB</a:t>
            </a:r>
          </a:p>
        </p:txBody>
      </p:sp>
      <p:grpSp>
        <p:nvGrpSpPr>
          <p:cNvPr id="5" name="Group 4">
            <a:extLst>
              <a:ext uri="{FF2B5EF4-FFF2-40B4-BE49-F238E27FC236}">
                <a16:creationId xmlns:a16="http://schemas.microsoft.com/office/drawing/2014/main" id="{D2B4D178-723B-E903-DC33-D77D8480CF44}"/>
              </a:ext>
            </a:extLst>
          </p:cNvPr>
          <p:cNvGrpSpPr/>
          <p:nvPr/>
        </p:nvGrpSpPr>
        <p:grpSpPr>
          <a:xfrm>
            <a:off x="1602912" y="3495040"/>
            <a:ext cx="15544800" cy="8229600"/>
            <a:chOff x="381000" y="1143000"/>
            <a:chExt cx="7772400" cy="4114800"/>
          </a:xfrm>
        </p:grpSpPr>
        <p:sp>
          <p:nvSpPr>
            <p:cNvPr id="11" name="Rectangle 3">
              <a:extLst>
                <a:ext uri="{FF2B5EF4-FFF2-40B4-BE49-F238E27FC236}">
                  <a16:creationId xmlns:a16="http://schemas.microsoft.com/office/drawing/2014/main" id="{67439F8B-6580-6D4D-4954-AA155241BFCA}"/>
                </a:ext>
              </a:extLst>
            </p:cNvPr>
            <p:cNvSpPr txBox="1">
              <a:spLocks noChangeArrowheads="1"/>
            </p:cNvSpPr>
            <p:nvPr/>
          </p:nvSpPr>
          <p:spPr bwMode="auto">
            <a:xfrm>
              <a:off x="381000" y="11430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vi-VN" altLang="en-US" sz="4000">
                  <a:solidFill>
                    <a:srgbClr val="002060"/>
                  </a:solidFill>
                </a:rPr>
                <a:t>Tái sản xuất giản đơn</a:t>
              </a:r>
            </a:p>
            <a:p>
              <a:pPr marL="0" indent="0">
                <a:buNone/>
              </a:pPr>
              <a:endParaRPr lang="en-US" altLang="en-US" sz="4000" b="0">
                <a:solidFill>
                  <a:srgbClr val="002060"/>
                </a:solidFill>
              </a:endParaRPr>
            </a:p>
            <a:p>
              <a:pPr marL="0" indent="0">
                <a:buNone/>
              </a:pPr>
              <a:r>
                <a:rPr lang="en-US" altLang="en-US" sz="4000" b="0">
                  <a:solidFill>
                    <a:srgbClr val="002060"/>
                  </a:solidFill>
                </a:rPr>
                <a:t>VD: - TB ứng trước = 100; trong đó: c = 80 v = 20</a:t>
              </a:r>
            </a:p>
            <a:p>
              <a:pPr marL="0" indent="0">
                <a:buNone/>
              </a:pPr>
              <a:r>
                <a:rPr lang="en-US" altLang="en-US" sz="4000" b="0">
                  <a:solidFill>
                    <a:srgbClr val="002060"/>
                  </a:solidFill>
                </a:rPr>
                <a:t>       - m’ = 100% </a:t>
              </a:r>
              <a:r>
                <a:rPr lang="en-US" altLang="en-US" sz="4000" b="0">
                  <a:solidFill>
                    <a:srgbClr val="002060"/>
                  </a:solidFill>
                  <a:sym typeface="Wingdings" panose="05000000000000000000" pitchFamily="2" charset="2"/>
                </a:rPr>
                <a:t></a:t>
              </a:r>
              <a:r>
                <a:rPr lang="en-US" altLang="en-US" sz="4000" b="0">
                  <a:solidFill>
                    <a:srgbClr val="002060"/>
                  </a:solidFill>
                </a:rPr>
                <a:t> m = 20</a:t>
              </a:r>
            </a:p>
            <a:p>
              <a:pPr marL="0" indent="0">
                <a:buNone/>
              </a:pPr>
              <a:r>
                <a:rPr lang="en-US" altLang="en-US" sz="4000" b="0">
                  <a:solidFill>
                    <a:srgbClr val="002060"/>
                  </a:solidFill>
                </a:rPr>
                <a:t>       - Quy mô SX của năm thứ nhất </a:t>
              </a:r>
            </a:p>
            <a:p>
              <a:pPr marL="0" indent="0">
                <a:buNone/>
              </a:pPr>
              <a:r>
                <a:rPr lang="en-US" altLang="en-US" sz="4000" b="0">
                  <a:solidFill>
                    <a:srgbClr val="002060"/>
                  </a:solidFill>
                </a:rPr>
                <a:t>	80c + 20v + 20m = 120</a:t>
              </a:r>
            </a:p>
            <a:p>
              <a:pPr marL="0" indent="0">
                <a:buNone/>
              </a:pPr>
              <a:r>
                <a:rPr lang="en-US" altLang="en-US" sz="4000" b="0">
                  <a:solidFill>
                    <a:srgbClr val="002060"/>
                  </a:solidFill>
                </a:rPr>
                <a:t>								Tiêu dùng cá nhân</a:t>
              </a:r>
            </a:p>
            <a:p>
              <a:pPr marL="0" indent="0">
                <a:buNone/>
              </a:pPr>
              <a:r>
                <a:rPr lang="en-US" altLang="en-US" sz="4000" b="0">
                  <a:solidFill>
                    <a:srgbClr val="002060"/>
                  </a:solidFill>
                </a:rPr>
                <a:t>      - Quy mô SX của năm thứ hai:</a:t>
              </a:r>
            </a:p>
            <a:p>
              <a:pPr marL="0" indent="0">
                <a:buNone/>
              </a:pPr>
              <a:r>
                <a:rPr lang="en-US" altLang="en-US" sz="4000" b="0">
                  <a:solidFill>
                    <a:srgbClr val="002060"/>
                  </a:solidFill>
                </a:rPr>
                <a:t>          80 c + 20 v + 20 m = 120</a:t>
              </a:r>
              <a:r>
                <a:rPr lang="en-US" altLang="en-US" sz="5600" b="0">
                  <a:solidFill>
                    <a:srgbClr val="002060"/>
                  </a:solidFill>
                </a:rPr>
                <a:t> 	</a:t>
              </a:r>
            </a:p>
            <a:p>
              <a:pPr marL="0" indent="0">
                <a:buNone/>
              </a:pPr>
              <a:r>
                <a:rPr lang="en-US" altLang="en-US" sz="5600" b="0">
                  <a:solidFill>
                    <a:srgbClr val="002060"/>
                  </a:solidFill>
                </a:rPr>
                <a:t>                                     		</a:t>
              </a:r>
              <a:r>
                <a:rPr lang="en-US" altLang="en-US" sz="4000" b="0">
                  <a:solidFill>
                    <a:srgbClr val="002060"/>
                  </a:solidFill>
                </a:rPr>
                <a:t>Tiêu dùng cá nhân</a:t>
              </a:r>
            </a:p>
            <a:p>
              <a:pPr marL="0" indent="0">
                <a:buNone/>
              </a:pPr>
              <a:r>
                <a:rPr lang="en-US" altLang="en-US" sz="4000" b="0">
                  <a:solidFill>
                    <a:srgbClr val="002060"/>
                  </a:solidFill>
                </a:rPr>
                <a:t>      -  Quy mô SX của năm thứ ba:</a:t>
              </a:r>
            </a:p>
            <a:p>
              <a:pPr marL="0" indent="0">
                <a:buNone/>
              </a:pPr>
              <a:r>
                <a:rPr lang="en-US" altLang="en-US" sz="4000" b="0">
                  <a:solidFill>
                    <a:srgbClr val="002060"/>
                  </a:solidFill>
                </a:rPr>
                <a:t>		80 c + 20 v + 20 m = 120</a:t>
              </a:r>
            </a:p>
          </p:txBody>
        </p:sp>
        <p:sp>
          <p:nvSpPr>
            <p:cNvPr id="12" name="Line 8">
              <a:extLst>
                <a:ext uri="{FF2B5EF4-FFF2-40B4-BE49-F238E27FC236}">
                  <a16:creationId xmlns:a16="http://schemas.microsoft.com/office/drawing/2014/main" id="{E0CBE952-D7D5-C102-3BB9-7A1024D0795D}"/>
                </a:ext>
              </a:extLst>
            </p:cNvPr>
            <p:cNvSpPr>
              <a:spLocks noChangeShapeType="1"/>
            </p:cNvSpPr>
            <p:nvPr/>
          </p:nvSpPr>
          <p:spPr bwMode="auto">
            <a:xfrm>
              <a:off x="2367280" y="3276600"/>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600" b="1"/>
            </a:p>
          </p:txBody>
        </p:sp>
        <p:sp>
          <p:nvSpPr>
            <p:cNvPr id="13" name="Line 9">
              <a:extLst>
                <a:ext uri="{FF2B5EF4-FFF2-40B4-BE49-F238E27FC236}">
                  <a16:creationId xmlns:a16="http://schemas.microsoft.com/office/drawing/2014/main" id="{49A8379E-C393-E101-E4F7-648496415A7A}"/>
                </a:ext>
              </a:extLst>
            </p:cNvPr>
            <p:cNvSpPr>
              <a:spLocks noChangeShapeType="1"/>
            </p:cNvSpPr>
            <p:nvPr/>
          </p:nvSpPr>
          <p:spPr bwMode="auto">
            <a:xfrm flipV="1">
              <a:off x="2367280" y="3581400"/>
              <a:ext cx="1447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600" b="1"/>
            </a:p>
          </p:txBody>
        </p:sp>
        <p:sp>
          <p:nvSpPr>
            <p:cNvPr id="14" name="Line 8">
              <a:extLst>
                <a:ext uri="{FF2B5EF4-FFF2-40B4-BE49-F238E27FC236}">
                  <a16:creationId xmlns:a16="http://schemas.microsoft.com/office/drawing/2014/main" id="{B767DAD2-0E9A-9DCD-2A03-CA84672723EC}"/>
                </a:ext>
              </a:extLst>
            </p:cNvPr>
            <p:cNvSpPr>
              <a:spLocks noChangeShapeType="1"/>
            </p:cNvSpPr>
            <p:nvPr/>
          </p:nvSpPr>
          <p:spPr bwMode="auto">
            <a:xfrm>
              <a:off x="2499360" y="4648200"/>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600" b="1"/>
            </a:p>
          </p:txBody>
        </p:sp>
        <p:sp>
          <p:nvSpPr>
            <p:cNvPr id="15" name="Line 9">
              <a:extLst>
                <a:ext uri="{FF2B5EF4-FFF2-40B4-BE49-F238E27FC236}">
                  <a16:creationId xmlns:a16="http://schemas.microsoft.com/office/drawing/2014/main" id="{22435F97-677B-6D5E-66CD-0F3F73A04432}"/>
                </a:ext>
              </a:extLst>
            </p:cNvPr>
            <p:cNvSpPr>
              <a:spLocks noChangeShapeType="1"/>
            </p:cNvSpPr>
            <p:nvPr/>
          </p:nvSpPr>
          <p:spPr bwMode="auto">
            <a:xfrm flipV="1">
              <a:off x="2499360" y="4953000"/>
              <a:ext cx="1447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9600" b="1"/>
            </a:p>
          </p:txBody>
        </p:sp>
      </p:grpSp>
    </p:spTree>
    <p:extLst>
      <p:ext uri="{BB962C8B-B14F-4D97-AF65-F5344CB8AC3E}">
        <p14:creationId xmlns:p14="http://schemas.microsoft.com/office/powerpoint/2010/main" val="17114260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87D21-ED51-253C-2B08-FAA7C53E1EC7}"/>
              </a:ext>
            </a:extLst>
          </p:cNvPr>
          <p:cNvSpPr txBox="1">
            <a:spLocks/>
          </p:cNvSpPr>
          <p:nvPr/>
        </p:nvSpPr>
        <p:spPr>
          <a:xfrm>
            <a:off x="4038256" y="1494156"/>
            <a:ext cx="10984628"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Bản chất của tích lũy TB</a:t>
            </a:r>
          </a:p>
        </p:txBody>
      </p:sp>
      <p:grpSp>
        <p:nvGrpSpPr>
          <p:cNvPr id="3" name="Group 2">
            <a:extLst>
              <a:ext uri="{FF2B5EF4-FFF2-40B4-BE49-F238E27FC236}">
                <a16:creationId xmlns:a16="http://schemas.microsoft.com/office/drawing/2014/main" id="{EDBDEB87-811B-2630-8CAA-56379A1C4934}"/>
              </a:ext>
            </a:extLst>
          </p:cNvPr>
          <p:cNvGrpSpPr/>
          <p:nvPr/>
        </p:nvGrpSpPr>
        <p:grpSpPr>
          <a:xfrm>
            <a:off x="1981200" y="3002280"/>
            <a:ext cx="15544800" cy="7772400"/>
            <a:chOff x="381000" y="1295400"/>
            <a:chExt cx="7848600" cy="3886200"/>
          </a:xfrm>
        </p:grpSpPr>
        <p:sp>
          <p:nvSpPr>
            <p:cNvPr id="6" name="Rectangle 3">
              <a:extLst>
                <a:ext uri="{FF2B5EF4-FFF2-40B4-BE49-F238E27FC236}">
                  <a16:creationId xmlns:a16="http://schemas.microsoft.com/office/drawing/2014/main" id="{2A474D90-CB00-00B0-2B34-09E9E637DD91}"/>
                </a:ext>
              </a:extLst>
            </p:cNvPr>
            <p:cNvSpPr txBox="1">
              <a:spLocks noChangeArrowheads="1"/>
            </p:cNvSpPr>
            <p:nvPr/>
          </p:nvSpPr>
          <p:spPr bwMode="auto">
            <a:xfrm>
              <a:off x="381000" y="1295400"/>
              <a:ext cx="78486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en-US" sz="5600" dirty="0" err="1">
                  <a:solidFill>
                    <a:srgbClr val="002060"/>
                  </a:solidFill>
                </a:rPr>
                <a:t>Tái</a:t>
              </a:r>
              <a:r>
                <a:rPr lang="en-US" sz="5600" dirty="0">
                  <a:solidFill>
                    <a:srgbClr val="002060"/>
                  </a:solidFill>
                </a:rPr>
                <a:t> SX </a:t>
              </a:r>
              <a:r>
                <a:rPr lang="en-US" sz="5600" dirty="0" err="1">
                  <a:solidFill>
                    <a:srgbClr val="002060"/>
                  </a:solidFill>
                </a:rPr>
                <a:t>mở</a:t>
              </a:r>
              <a:r>
                <a:rPr lang="en-US" sz="5600" dirty="0">
                  <a:solidFill>
                    <a:srgbClr val="002060"/>
                  </a:solidFill>
                </a:rPr>
                <a:t> </a:t>
              </a:r>
              <a:r>
                <a:rPr lang="en-US" sz="5600" dirty="0" err="1">
                  <a:solidFill>
                    <a:srgbClr val="002060"/>
                  </a:solidFill>
                </a:rPr>
                <a:t>rộng</a:t>
              </a:r>
              <a:endParaRPr lang="en-US" sz="5600" dirty="0">
                <a:solidFill>
                  <a:srgbClr val="002060"/>
                </a:solidFill>
              </a:endParaRPr>
            </a:p>
            <a:p>
              <a:pPr marL="0" indent="0" algn="just">
                <a:buNone/>
                <a:defRPr/>
              </a:pPr>
              <a:endParaRPr lang="en-US" sz="5600" b="0" dirty="0">
                <a:solidFill>
                  <a:srgbClr val="002060"/>
                </a:solidFill>
              </a:endParaRPr>
            </a:p>
            <a:p>
              <a:pPr marL="0" indent="0" algn="just">
                <a:buNone/>
                <a:defRPr/>
              </a:pPr>
              <a:r>
                <a:rPr lang="en-US" sz="5600" b="0" dirty="0" err="1">
                  <a:solidFill>
                    <a:srgbClr val="002060"/>
                  </a:solidFill>
                </a:rPr>
                <a:t>Năm</a:t>
              </a:r>
              <a:r>
                <a:rPr lang="en-US" sz="5600" b="0" dirty="0">
                  <a:solidFill>
                    <a:srgbClr val="002060"/>
                  </a:solidFill>
                </a:rPr>
                <a:t> 1: 80 c + 20 v + 20 m = 120 (m’ = 100%)</a:t>
              </a:r>
            </a:p>
            <a:p>
              <a:pPr marL="0" indent="0" algn="just">
                <a:buNone/>
                <a:defRPr/>
              </a:pPr>
              <a:endParaRPr lang="en-US" sz="5600" b="0" dirty="0">
                <a:solidFill>
                  <a:srgbClr val="002060"/>
                </a:solidFill>
              </a:endParaRPr>
            </a:p>
            <a:p>
              <a:pPr marL="0" indent="0" algn="just">
                <a:buNone/>
                <a:defRPr/>
              </a:pPr>
              <a:r>
                <a:rPr lang="en-US" sz="5600" b="0" dirty="0">
                  <a:solidFill>
                    <a:srgbClr val="002060"/>
                  </a:solidFill>
                </a:rPr>
                <a:t>	</a:t>
              </a:r>
            </a:p>
            <a:p>
              <a:pPr marL="0" indent="0" algn="just">
                <a:buNone/>
                <a:defRPr/>
              </a:pPr>
              <a:r>
                <a:rPr lang="en-US" sz="5600" b="0" dirty="0">
                  <a:solidFill>
                    <a:srgbClr val="002060"/>
                  </a:solidFill>
                </a:rPr>
                <a:t>	20 m</a:t>
              </a:r>
            </a:p>
            <a:p>
              <a:pPr marL="0" indent="0" algn="just">
                <a:buNone/>
                <a:defRPr/>
              </a:pPr>
              <a:endParaRPr lang="en-US" sz="5600" b="0" dirty="0">
                <a:solidFill>
                  <a:srgbClr val="002060"/>
                </a:solidFill>
              </a:endParaRPr>
            </a:p>
            <a:p>
              <a:pPr marL="0" indent="0" algn="just">
                <a:buNone/>
                <a:defRPr/>
              </a:pPr>
              <a:endParaRPr lang="en-US" sz="5600" b="0" dirty="0">
                <a:solidFill>
                  <a:srgbClr val="002060"/>
                </a:solidFill>
              </a:endParaRPr>
            </a:p>
            <a:p>
              <a:pPr marL="0" indent="0" algn="just">
                <a:buNone/>
                <a:defRPr/>
              </a:pPr>
              <a:r>
                <a:rPr lang="en-US" sz="5600" b="0" dirty="0" err="1">
                  <a:solidFill>
                    <a:srgbClr val="002060"/>
                  </a:solidFill>
                </a:rPr>
                <a:t>Năm</a:t>
              </a:r>
              <a:r>
                <a:rPr lang="en-US" sz="5600" b="0" dirty="0">
                  <a:solidFill>
                    <a:srgbClr val="002060"/>
                  </a:solidFill>
                </a:rPr>
                <a:t> 2 : 88 c + 22 v + 22 m </a:t>
              </a:r>
              <a:r>
                <a:rPr lang="en-US" sz="5600" b="0">
                  <a:solidFill>
                    <a:srgbClr val="002060"/>
                  </a:solidFill>
                </a:rPr>
                <a:t>= 132</a:t>
              </a:r>
            </a:p>
            <a:p>
              <a:pPr marL="0" indent="0" algn="just">
                <a:buNone/>
                <a:defRPr/>
              </a:pPr>
              <a:r>
                <a:rPr lang="en-US" sz="5600" b="0">
                  <a:solidFill>
                    <a:srgbClr val="C00000"/>
                  </a:solidFill>
                </a:rPr>
                <a:t>Năm 3 : 96.8 c + 24.2 v + 24.2 m = 145.2</a:t>
              </a:r>
            </a:p>
            <a:p>
              <a:pPr marL="0" indent="0" algn="just">
                <a:buNone/>
                <a:defRPr/>
              </a:pPr>
              <a:endParaRPr lang="en-US" sz="5600" b="0" dirty="0">
                <a:solidFill>
                  <a:srgbClr val="002060"/>
                </a:solidFill>
              </a:endParaRPr>
            </a:p>
            <a:p>
              <a:pPr marL="0" indent="0" algn="just">
                <a:buNone/>
                <a:defRPr/>
              </a:pPr>
              <a:endParaRPr lang="en-US" sz="5600" b="0" dirty="0">
                <a:solidFill>
                  <a:srgbClr val="002060"/>
                </a:solidFill>
              </a:endParaRPr>
            </a:p>
          </p:txBody>
        </p:sp>
        <p:sp>
          <p:nvSpPr>
            <p:cNvPr id="7" name="Line 4">
              <a:extLst>
                <a:ext uri="{FF2B5EF4-FFF2-40B4-BE49-F238E27FC236}">
                  <a16:creationId xmlns:a16="http://schemas.microsoft.com/office/drawing/2014/main" id="{3C858041-6248-5626-4CD2-1CD7EF06B3FF}"/>
                </a:ext>
              </a:extLst>
            </p:cNvPr>
            <p:cNvSpPr>
              <a:spLocks noChangeShapeType="1"/>
            </p:cNvSpPr>
            <p:nvPr/>
          </p:nvSpPr>
          <p:spPr bwMode="auto">
            <a:xfrm flipV="1">
              <a:off x="2438400" y="3848100"/>
              <a:ext cx="68580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solidFill>
                  <a:srgbClr val="002060"/>
                </a:solidFill>
              </a:endParaRPr>
            </a:p>
          </p:txBody>
        </p:sp>
        <p:sp>
          <p:nvSpPr>
            <p:cNvPr id="8" name="Line 5">
              <a:extLst>
                <a:ext uri="{FF2B5EF4-FFF2-40B4-BE49-F238E27FC236}">
                  <a16:creationId xmlns:a16="http://schemas.microsoft.com/office/drawing/2014/main" id="{8F4FCE8D-6CB5-DA37-1924-FB4FF6B24294}"/>
                </a:ext>
              </a:extLst>
            </p:cNvPr>
            <p:cNvSpPr>
              <a:spLocks noChangeShapeType="1"/>
            </p:cNvSpPr>
            <p:nvPr/>
          </p:nvSpPr>
          <p:spPr bwMode="auto">
            <a:xfrm>
              <a:off x="2438400" y="4152900"/>
              <a:ext cx="68580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solidFill>
                  <a:srgbClr val="002060"/>
                </a:solidFill>
              </a:endParaRPr>
            </a:p>
          </p:txBody>
        </p:sp>
        <p:sp>
          <p:nvSpPr>
            <p:cNvPr id="9" name="Rectangle 6">
              <a:extLst>
                <a:ext uri="{FF2B5EF4-FFF2-40B4-BE49-F238E27FC236}">
                  <a16:creationId xmlns:a16="http://schemas.microsoft.com/office/drawing/2014/main" id="{9CDB792C-FA63-B972-DFC2-FA87F29E1007}"/>
                </a:ext>
              </a:extLst>
            </p:cNvPr>
            <p:cNvSpPr>
              <a:spLocks noChangeArrowheads="1"/>
            </p:cNvSpPr>
            <p:nvPr/>
          </p:nvSpPr>
          <p:spPr bwMode="auto">
            <a:xfrm>
              <a:off x="3276600" y="3467100"/>
              <a:ext cx="3048000" cy="533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None/>
              </a:pPr>
              <a:r>
                <a:rPr lang="en-US" altLang="en-US" sz="6400" strike="sngStrike">
                  <a:solidFill>
                    <a:srgbClr val="002060"/>
                  </a:solidFill>
                  <a:latin typeface="Times New Roman" panose="02020603050405020304" pitchFamily="18" charset="0"/>
                </a:rPr>
                <a:t>10 m để tiêu dùng</a:t>
              </a:r>
            </a:p>
          </p:txBody>
        </p:sp>
        <p:sp>
          <p:nvSpPr>
            <p:cNvPr id="10" name="Rectangle 7">
              <a:extLst>
                <a:ext uri="{FF2B5EF4-FFF2-40B4-BE49-F238E27FC236}">
                  <a16:creationId xmlns:a16="http://schemas.microsoft.com/office/drawing/2014/main" id="{121B2206-C167-ADA2-0C1D-BA2C8B6049D1}"/>
                </a:ext>
              </a:extLst>
            </p:cNvPr>
            <p:cNvSpPr>
              <a:spLocks noChangeArrowheads="1"/>
            </p:cNvSpPr>
            <p:nvPr/>
          </p:nvSpPr>
          <p:spPr bwMode="auto">
            <a:xfrm>
              <a:off x="3200400" y="4229100"/>
              <a:ext cx="2819400" cy="6096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None/>
              </a:pPr>
              <a:r>
                <a:rPr lang="en-US" altLang="en-US" sz="6400">
                  <a:solidFill>
                    <a:srgbClr val="002060"/>
                  </a:solidFill>
                  <a:latin typeface="Times New Roman" panose="02020603050405020304" pitchFamily="18" charset="0"/>
                </a:rPr>
                <a:t>10 m để tích lũy</a:t>
              </a:r>
            </a:p>
          </p:txBody>
        </p:sp>
        <p:sp>
          <p:nvSpPr>
            <p:cNvPr id="16" name="Line 8">
              <a:extLst>
                <a:ext uri="{FF2B5EF4-FFF2-40B4-BE49-F238E27FC236}">
                  <a16:creationId xmlns:a16="http://schemas.microsoft.com/office/drawing/2014/main" id="{698CCB67-484C-4480-FEBC-CFDADEFC1AB6}"/>
                </a:ext>
              </a:extLst>
            </p:cNvPr>
            <p:cNvSpPr>
              <a:spLocks noChangeShapeType="1"/>
            </p:cNvSpPr>
            <p:nvPr/>
          </p:nvSpPr>
          <p:spPr bwMode="auto">
            <a:xfrm flipV="1">
              <a:off x="6172200" y="4305300"/>
              <a:ext cx="60960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solidFill>
                  <a:srgbClr val="002060"/>
                </a:solidFill>
              </a:endParaRPr>
            </a:p>
          </p:txBody>
        </p:sp>
        <p:sp>
          <p:nvSpPr>
            <p:cNvPr id="17" name="Line 9">
              <a:extLst>
                <a:ext uri="{FF2B5EF4-FFF2-40B4-BE49-F238E27FC236}">
                  <a16:creationId xmlns:a16="http://schemas.microsoft.com/office/drawing/2014/main" id="{7F19037B-DECD-EDE7-DA5E-E388B8C98986}"/>
                </a:ext>
              </a:extLst>
            </p:cNvPr>
            <p:cNvSpPr>
              <a:spLocks noChangeShapeType="1"/>
            </p:cNvSpPr>
            <p:nvPr/>
          </p:nvSpPr>
          <p:spPr bwMode="auto">
            <a:xfrm>
              <a:off x="6172200" y="4610100"/>
              <a:ext cx="60960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solidFill>
                  <a:srgbClr val="002060"/>
                </a:solidFill>
              </a:endParaRPr>
            </a:p>
          </p:txBody>
        </p:sp>
        <p:sp>
          <p:nvSpPr>
            <p:cNvPr id="18" name="Rectangle 10">
              <a:extLst>
                <a:ext uri="{FF2B5EF4-FFF2-40B4-BE49-F238E27FC236}">
                  <a16:creationId xmlns:a16="http://schemas.microsoft.com/office/drawing/2014/main" id="{C3FB76F8-91A8-05BB-D9AA-5269EE0700BF}"/>
                </a:ext>
              </a:extLst>
            </p:cNvPr>
            <p:cNvSpPr>
              <a:spLocks noChangeArrowheads="1"/>
            </p:cNvSpPr>
            <p:nvPr/>
          </p:nvSpPr>
          <p:spPr bwMode="auto">
            <a:xfrm>
              <a:off x="6858001" y="4152900"/>
              <a:ext cx="685800" cy="304800"/>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6400">
                  <a:solidFill>
                    <a:srgbClr val="002060"/>
                  </a:solidFill>
                  <a:latin typeface="Times New Roman" panose="02020603050405020304" pitchFamily="18" charset="0"/>
                </a:rPr>
                <a:t>8 c</a:t>
              </a:r>
            </a:p>
          </p:txBody>
        </p:sp>
        <p:sp>
          <p:nvSpPr>
            <p:cNvPr id="19" name="Rectangle 11">
              <a:extLst>
                <a:ext uri="{FF2B5EF4-FFF2-40B4-BE49-F238E27FC236}">
                  <a16:creationId xmlns:a16="http://schemas.microsoft.com/office/drawing/2014/main" id="{18307ED2-BE5C-A591-BA80-F0A3E5203451}"/>
                </a:ext>
              </a:extLst>
            </p:cNvPr>
            <p:cNvSpPr>
              <a:spLocks noChangeArrowheads="1"/>
            </p:cNvSpPr>
            <p:nvPr/>
          </p:nvSpPr>
          <p:spPr bwMode="auto">
            <a:xfrm>
              <a:off x="6781800" y="4762500"/>
              <a:ext cx="685800" cy="419100"/>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6400">
                  <a:solidFill>
                    <a:srgbClr val="002060"/>
                  </a:solidFill>
                  <a:latin typeface="Times New Roman" panose="02020603050405020304" pitchFamily="18" charset="0"/>
                </a:rPr>
                <a:t>2 v</a:t>
              </a:r>
            </a:p>
          </p:txBody>
        </p:sp>
      </p:grpSp>
    </p:spTree>
    <p:extLst>
      <p:ext uri="{BB962C8B-B14F-4D97-AF65-F5344CB8AC3E}">
        <p14:creationId xmlns:p14="http://schemas.microsoft.com/office/powerpoint/2010/main" val="3870166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C685571-8743-1916-16E3-96C219FB5499}"/>
              </a:ext>
            </a:extLst>
          </p:cNvPr>
          <p:cNvSpPr txBox="1">
            <a:spLocks/>
          </p:cNvSpPr>
          <p:nvPr/>
        </p:nvSpPr>
        <p:spPr>
          <a:xfrm>
            <a:off x="3347376" y="1595756"/>
            <a:ext cx="109782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Bản chất của tích lũy TB</a:t>
            </a:r>
          </a:p>
        </p:txBody>
      </p:sp>
      <p:sp>
        <p:nvSpPr>
          <p:cNvPr id="5" name="Rectangle 3">
            <a:extLst>
              <a:ext uri="{FF2B5EF4-FFF2-40B4-BE49-F238E27FC236}">
                <a16:creationId xmlns:a16="http://schemas.microsoft.com/office/drawing/2014/main" id="{FF6F9745-4F9B-6DF9-537A-F994281A9C11}"/>
              </a:ext>
            </a:extLst>
          </p:cNvPr>
          <p:cNvSpPr txBox="1">
            <a:spLocks noChangeArrowheads="1"/>
          </p:cNvSpPr>
          <p:nvPr/>
        </p:nvSpPr>
        <p:spPr bwMode="auto">
          <a:xfrm>
            <a:off x="1219200" y="3677920"/>
            <a:ext cx="15697200" cy="8209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0" indent="0" algn="ctr" rtl="0" eaLnBrk="0" fontAlgn="base" hangingPunct="0">
              <a:spcBef>
                <a:spcPct val="20000"/>
              </a:spcBef>
              <a:spcAft>
                <a:spcPct val="0"/>
              </a:spcAft>
              <a:buNone/>
              <a:defRPr sz="2400" kern="1200">
                <a:solidFill>
                  <a:schemeClr val="tx1"/>
                </a:solidFill>
                <a:latin typeface="+mn-lt"/>
                <a:ea typeface="+mn-ea"/>
                <a:cs typeface="+mn-cs"/>
              </a:defRPr>
            </a:lvl1pPr>
            <a:lvl2pPr marL="457200" indent="0" algn="ctr" rtl="0" eaLnBrk="0" fontAlgn="base" hangingPunct="0">
              <a:spcBef>
                <a:spcPct val="20000"/>
              </a:spcBef>
              <a:spcAft>
                <a:spcPct val="0"/>
              </a:spcAft>
              <a:buNone/>
              <a:defRPr sz="2000" kern="1200">
                <a:solidFill>
                  <a:schemeClr val="tx1"/>
                </a:solidFill>
                <a:latin typeface="+mn-lt"/>
                <a:ea typeface="+mn-ea"/>
                <a:cs typeface="+mn-cs"/>
              </a:defRPr>
            </a:lvl2pPr>
            <a:lvl3pPr marL="914400" indent="0" algn="ctr" rtl="0" eaLnBrk="0" fontAlgn="base" hangingPunct="0">
              <a:spcBef>
                <a:spcPct val="20000"/>
              </a:spcBef>
              <a:spcAft>
                <a:spcPct val="0"/>
              </a:spcAft>
              <a:buNone/>
              <a:defRPr sz="1800" kern="1200">
                <a:solidFill>
                  <a:schemeClr val="tx1"/>
                </a:solidFill>
                <a:latin typeface="+mn-lt"/>
                <a:ea typeface="+mn-ea"/>
                <a:cs typeface="+mn-cs"/>
              </a:defRPr>
            </a:lvl3pPr>
            <a:lvl4pPr marL="1371600" indent="0" algn="ctr" rtl="0" eaLnBrk="0" fontAlgn="base" hangingPunct="0">
              <a:spcBef>
                <a:spcPct val="20000"/>
              </a:spcBef>
              <a:spcAft>
                <a:spcPct val="0"/>
              </a:spcAft>
              <a:buNone/>
              <a:defRPr sz="1600" kern="1200">
                <a:solidFill>
                  <a:schemeClr val="tx1"/>
                </a:solidFill>
                <a:latin typeface="+mn-lt"/>
                <a:ea typeface="+mn-ea"/>
                <a:cs typeface="+mn-cs"/>
              </a:defRPr>
            </a:lvl4pPr>
            <a:lvl5pPr marL="1828800" indent="0" algn="ctr" rtl="0" eaLnBrk="0" fontAlgn="base" hangingPunct="0">
              <a:spcBef>
                <a:spcPct val="20000"/>
              </a:spcBef>
              <a:spcAft>
                <a:spcPct val="0"/>
              </a:spcAft>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914400" indent="-914400" algn="just" eaLnBrk="1" hangingPunct="1">
              <a:buClr>
                <a:srgbClr val="000000"/>
              </a:buClr>
              <a:buFont typeface="Arial" panose="020B0604020202020204" pitchFamily="34" charset="0"/>
              <a:buChar char="•"/>
              <a:defRPr/>
            </a:pPr>
            <a:r>
              <a:rPr lang="vi-VN" altLang="en-US" sz="6400" dirty="0">
                <a:solidFill>
                  <a:srgbClr val="002060"/>
                </a:solidFill>
                <a:latin typeface="Arial"/>
                <a:cs typeface="Arial"/>
              </a:rPr>
              <a:t>Thực chất của tích lũy tư bản là sự chuyển hóa một phần giá trị thặng dư thành tư bản, hay là quá trình tư bản hóa giá trị thặng dư</a:t>
            </a:r>
            <a:endParaRPr lang="en-US" altLang="en-US" sz="6400" dirty="0">
              <a:solidFill>
                <a:srgbClr val="002060"/>
              </a:solidFill>
              <a:latin typeface="Arial"/>
              <a:cs typeface="Arial"/>
            </a:endParaRPr>
          </a:p>
          <a:p>
            <a:pPr marL="914400" indent="-914400" algn="just" defTabSz="1828800" eaLnBrk="1" hangingPunct="1">
              <a:buClr>
                <a:srgbClr val="000000"/>
              </a:buClr>
              <a:buFont typeface="Arial" panose="020B0604020202020204" pitchFamily="34" charset="0"/>
              <a:buChar char="•"/>
              <a:defRPr/>
            </a:pPr>
            <a:r>
              <a:rPr lang="en-US" altLang="en-US" sz="6400" dirty="0" err="1">
                <a:solidFill>
                  <a:srgbClr val="002060"/>
                </a:solidFill>
                <a:latin typeface="Arial"/>
                <a:cs typeface="Arial"/>
              </a:rPr>
              <a:t>Nguồn</a:t>
            </a:r>
            <a:r>
              <a:rPr lang="en-US" altLang="en-US" sz="6400" dirty="0">
                <a:solidFill>
                  <a:srgbClr val="002060"/>
                </a:solidFill>
                <a:latin typeface="Arial"/>
                <a:cs typeface="Arial"/>
              </a:rPr>
              <a:t> </a:t>
            </a:r>
            <a:r>
              <a:rPr lang="en-US" altLang="en-US" sz="6400" dirty="0" err="1">
                <a:solidFill>
                  <a:srgbClr val="002060"/>
                </a:solidFill>
                <a:latin typeface="Arial"/>
                <a:cs typeface="Arial"/>
              </a:rPr>
              <a:t>gốc</a:t>
            </a:r>
            <a:r>
              <a:rPr lang="en-US" altLang="en-US" sz="6400" dirty="0">
                <a:solidFill>
                  <a:srgbClr val="002060"/>
                </a:solidFill>
                <a:latin typeface="Arial"/>
                <a:cs typeface="Arial"/>
              </a:rPr>
              <a:t> </a:t>
            </a:r>
            <a:r>
              <a:rPr lang="en-US" altLang="en-US" sz="6400" dirty="0" err="1">
                <a:solidFill>
                  <a:srgbClr val="002060"/>
                </a:solidFill>
                <a:latin typeface="Arial"/>
                <a:cs typeface="Arial"/>
              </a:rPr>
              <a:t>của</a:t>
            </a:r>
            <a:r>
              <a:rPr lang="en-US" altLang="en-US" sz="6400" dirty="0">
                <a:solidFill>
                  <a:srgbClr val="002060"/>
                </a:solidFill>
                <a:latin typeface="Arial"/>
                <a:cs typeface="Arial"/>
              </a:rPr>
              <a:t> </a:t>
            </a:r>
            <a:r>
              <a:rPr lang="en-US" altLang="en-US" sz="6400" dirty="0" err="1">
                <a:solidFill>
                  <a:srgbClr val="002060"/>
                </a:solidFill>
                <a:latin typeface="Arial"/>
                <a:cs typeface="Arial"/>
              </a:rPr>
              <a:t>tư</a:t>
            </a:r>
            <a:r>
              <a:rPr lang="en-US" altLang="en-US" sz="6400" dirty="0">
                <a:solidFill>
                  <a:srgbClr val="002060"/>
                </a:solidFill>
                <a:latin typeface="Arial"/>
                <a:cs typeface="Arial"/>
              </a:rPr>
              <a:t> </a:t>
            </a:r>
            <a:r>
              <a:rPr lang="en-US" altLang="en-US" sz="6400" dirty="0" err="1">
                <a:solidFill>
                  <a:srgbClr val="002060"/>
                </a:solidFill>
                <a:latin typeface="Arial"/>
                <a:cs typeface="Arial"/>
              </a:rPr>
              <a:t>bản</a:t>
            </a:r>
            <a:r>
              <a:rPr lang="en-US" altLang="en-US" sz="6400" dirty="0">
                <a:solidFill>
                  <a:srgbClr val="002060"/>
                </a:solidFill>
                <a:latin typeface="Arial"/>
                <a:cs typeface="Arial"/>
              </a:rPr>
              <a:t> </a:t>
            </a:r>
            <a:r>
              <a:rPr lang="en-US" altLang="en-US" sz="6400" dirty="0" err="1">
                <a:solidFill>
                  <a:srgbClr val="002060"/>
                </a:solidFill>
                <a:latin typeface="Arial"/>
                <a:cs typeface="Arial"/>
              </a:rPr>
              <a:t>phụ</a:t>
            </a:r>
            <a:r>
              <a:rPr lang="en-US" altLang="en-US" sz="6400" dirty="0">
                <a:solidFill>
                  <a:srgbClr val="002060"/>
                </a:solidFill>
                <a:latin typeface="Arial"/>
                <a:cs typeface="Arial"/>
              </a:rPr>
              <a:t> </a:t>
            </a:r>
            <a:r>
              <a:rPr lang="en-US" altLang="en-US" sz="6400" dirty="0" err="1">
                <a:solidFill>
                  <a:srgbClr val="002060"/>
                </a:solidFill>
                <a:latin typeface="Arial"/>
                <a:cs typeface="Arial"/>
              </a:rPr>
              <a:t>thêm</a:t>
            </a:r>
            <a:r>
              <a:rPr lang="en-US" altLang="en-US" sz="6400" dirty="0">
                <a:solidFill>
                  <a:srgbClr val="002060"/>
                </a:solidFill>
                <a:latin typeface="Arial"/>
                <a:cs typeface="Arial"/>
              </a:rPr>
              <a:t>: </a:t>
            </a:r>
            <a:r>
              <a:rPr lang="en-US" altLang="en-US" sz="6400" dirty="0" err="1">
                <a:solidFill>
                  <a:srgbClr val="002060"/>
                </a:solidFill>
                <a:latin typeface="Arial"/>
                <a:cs typeface="Arial"/>
              </a:rPr>
              <a:t>đó</a:t>
            </a:r>
            <a:r>
              <a:rPr lang="en-US" altLang="en-US" sz="6400" dirty="0">
                <a:solidFill>
                  <a:srgbClr val="002060"/>
                </a:solidFill>
                <a:latin typeface="Arial"/>
                <a:cs typeface="Arial"/>
              </a:rPr>
              <a:t> </a:t>
            </a:r>
            <a:r>
              <a:rPr lang="en-US" altLang="en-US" sz="6400" dirty="0" err="1">
                <a:solidFill>
                  <a:srgbClr val="002060"/>
                </a:solidFill>
                <a:latin typeface="Arial"/>
                <a:cs typeface="Arial"/>
              </a:rPr>
              <a:t>là</a:t>
            </a:r>
            <a:r>
              <a:rPr lang="en-US" altLang="en-US" sz="6400" dirty="0">
                <a:solidFill>
                  <a:srgbClr val="002060"/>
                </a:solidFill>
                <a:latin typeface="Arial"/>
                <a:cs typeface="Arial"/>
              </a:rPr>
              <a:t> m, </a:t>
            </a:r>
            <a:r>
              <a:rPr lang="en-US" altLang="en-US" sz="6400" dirty="0" err="1">
                <a:solidFill>
                  <a:srgbClr val="002060"/>
                </a:solidFill>
                <a:latin typeface="Arial"/>
                <a:cs typeface="Arial"/>
              </a:rPr>
              <a:t>lao</a:t>
            </a:r>
            <a:r>
              <a:rPr lang="en-US" altLang="en-US" sz="6400" dirty="0">
                <a:solidFill>
                  <a:srgbClr val="002060"/>
                </a:solidFill>
                <a:latin typeface="Arial"/>
                <a:cs typeface="Arial"/>
              </a:rPr>
              <a:t> </a:t>
            </a:r>
            <a:r>
              <a:rPr lang="en-US" altLang="en-US" sz="6400" dirty="0" err="1">
                <a:solidFill>
                  <a:srgbClr val="002060"/>
                </a:solidFill>
                <a:latin typeface="Arial"/>
                <a:cs typeface="Arial"/>
              </a:rPr>
              <a:t>động</a:t>
            </a:r>
            <a:r>
              <a:rPr lang="en-US" altLang="en-US" sz="6400" dirty="0">
                <a:solidFill>
                  <a:srgbClr val="002060"/>
                </a:solidFill>
                <a:latin typeface="Arial"/>
                <a:cs typeface="Arial"/>
              </a:rPr>
              <a:t> </a:t>
            </a:r>
            <a:r>
              <a:rPr lang="en-US" altLang="en-US" sz="6400" dirty="0" err="1">
                <a:solidFill>
                  <a:srgbClr val="002060"/>
                </a:solidFill>
                <a:latin typeface="Arial"/>
                <a:cs typeface="Arial"/>
              </a:rPr>
              <a:t>không</a:t>
            </a:r>
            <a:r>
              <a:rPr lang="en-US" altLang="en-US" sz="6400" dirty="0">
                <a:solidFill>
                  <a:srgbClr val="002060"/>
                </a:solidFill>
                <a:latin typeface="Arial"/>
                <a:cs typeface="Arial"/>
              </a:rPr>
              <a:t> </a:t>
            </a:r>
            <a:r>
              <a:rPr lang="en-US" altLang="en-US" sz="6400" dirty="0" err="1">
                <a:solidFill>
                  <a:srgbClr val="002060"/>
                </a:solidFill>
                <a:latin typeface="Arial"/>
                <a:cs typeface="Arial"/>
              </a:rPr>
              <a:t>công</a:t>
            </a:r>
            <a:r>
              <a:rPr lang="en-US" altLang="en-US" sz="6400" dirty="0">
                <a:solidFill>
                  <a:srgbClr val="002060"/>
                </a:solidFill>
                <a:latin typeface="Arial"/>
                <a:cs typeface="Arial"/>
              </a:rPr>
              <a:t> </a:t>
            </a:r>
            <a:r>
              <a:rPr lang="en-US" altLang="en-US" sz="6400" dirty="0" err="1">
                <a:solidFill>
                  <a:srgbClr val="002060"/>
                </a:solidFill>
                <a:latin typeface="Arial"/>
                <a:cs typeface="Arial"/>
              </a:rPr>
              <a:t>của</a:t>
            </a:r>
            <a:r>
              <a:rPr lang="en-US" altLang="en-US" sz="6400" dirty="0">
                <a:solidFill>
                  <a:srgbClr val="002060"/>
                </a:solidFill>
                <a:latin typeface="Arial"/>
                <a:cs typeface="Arial"/>
              </a:rPr>
              <a:t> </a:t>
            </a:r>
            <a:r>
              <a:rPr lang="en-US" altLang="en-US" sz="6400" dirty="0" err="1">
                <a:solidFill>
                  <a:srgbClr val="002060"/>
                </a:solidFill>
                <a:latin typeface="Arial"/>
                <a:cs typeface="Arial"/>
              </a:rPr>
              <a:t>công</a:t>
            </a:r>
            <a:r>
              <a:rPr lang="en-US" altLang="en-US" sz="6400" dirty="0">
                <a:solidFill>
                  <a:srgbClr val="002060"/>
                </a:solidFill>
                <a:latin typeface="Arial"/>
                <a:cs typeface="Arial"/>
              </a:rPr>
              <a:t> </a:t>
            </a:r>
            <a:r>
              <a:rPr lang="en-US" altLang="en-US" sz="6400" dirty="0" err="1">
                <a:solidFill>
                  <a:srgbClr val="002060"/>
                </a:solidFill>
                <a:latin typeface="Arial"/>
                <a:cs typeface="Arial"/>
              </a:rPr>
              <a:t>nhân</a:t>
            </a:r>
            <a:r>
              <a:rPr lang="en-US" altLang="en-US" sz="6400" dirty="0">
                <a:solidFill>
                  <a:srgbClr val="002060"/>
                </a:solidFill>
                <a:latin typeface="Arial"/>
                <a:cs typeface="Arial"/>
              </a:rPr>
              <a:t> </a:t>
            </a:r>
            <a:r>
              <a:rPr lang="en-US" altLang="en-US" sz="6400" dirty="0">
                <a:solidFill>
                  <a:srgbClr val="002060"/>
                </a:solidFill>
                <a:latin typeface="Arial"/>
                <a:cs typeface="Arial"/>
                <a:sym typeface="Wingdings" panose="05000000000000000000" pitchFamily="2" charset="2"/>
              </a:rPr>
              <a:t> </a:t>
            </a:r>
            <a:r>
              <a:rPr lang="en-US" altLang="en-US" sz="6400" dirty="0" err="1">
                <a:solidFill>
                  <a:srgbClr val="FF0000"/>
                </a:solidFill>
                <a:highlight>
                  <a:srgbClr val="FFFF00"/>
                </a:highlight>
                <a:latin typeface="Arial"/>
                <a:cs typeface="Arial"/>
                <a:sym typeface="Wingdings" panose="05000000000000000000" pitchFamily="2" charset="2"/>
              </a:rPr>
              <a:t>dùng</a:t>
            </a:r>
            <a:r>
              <a:rPr lang="en-US" altLang="en-US" sz="6400" dirty="0">
                <a:solidFill>
                  <a:srgbClr val="FF0000"/>
                </a:solidFill>
                <a:highlight>
                  <a:srgbClr val="FFFF00"/>
                </a:highlight>
                <a:latin typeface="Arial"/>
                <a:cs typeface="Arial"/>
                <a:sym typeface="Wingdings" panose="05000000000000000000" pitchFamily="2" charset="2"/>
              </a:rPr>
              <a:t> </a:t>
            </a:r>
            <a:r>
              <a:rPr lang="en-US" altLang="en-US" sz="6400" dirty="0" err="1">
                <a:solidFill>
                  <a:srgbClr val="FF0000"/>
                </a:solidFill>
                <a:highlight>
                  <a:srgbClr val="FFFF00"/>
                </a:highlight>
                <a:latin typeface="Arial"/>
                <a:cs typeface="Arial"/>
                <a:sym typeface="Wingdings" panose="05000000000000000000" pitchFamily="2" charset="2"/>
              </a:rPr>
              <a:t>chính</a:t>
            </a:r>
            <a:r>
              <a:rPr lang="en-US" altLang="en-US" sz="6400" dirty="0">
                <a:solidFill>
                  <a:srgbClr val="FF0000"/>
                </a:solidFill>
                <a:highlight>
                  <a:srgbClr val="FFFF00"/>
                </a:highlight>
                <a:latin typeface="Arial"/>
                <a:cs typeface="Arial"/>
                <a:sym typeface="Wingdings" panose="05000000000000000000" pitchFamily="2" charset="2"/>
              </a:rPr>
              <a:t> SLĐ </a:t>
            </a:r>
            <a:r>
              <a:rPr lang="en-US" altLang="en-US" sz="6400" dirty="0" err="1">
                <a:solidFill>
                  <a:srgbClr val="FF0000"/>
                </a:solidFill>
                <a:highlight>
                  <a:srgbClr val="FFFF00"/>
                </a:highlight>
                <a:latin typeface="Arial"/>
                <a:cs typeface="Arial"/>
                <a:sym typeface="Wingdings" panose="05000000000000000000" pitchFamily="2" charset="2"/>
              </a:rPr>
              <a:t>của</a:t>
            </a:r>
            <a:r>
              <a:rPr lang="en-US" altLang="en-US" sz="6400" dirty="0">
                <a:solidFill>
                  <a:srgbClr val="FF0000"/>
                </a:solidFill>
                <a:highlight>
                  <a:srgbClr val="FFFF00"/>
                </a:highlight>
                <a:latin typeface="Arial"/>
                <a:cs typeface="Arial"/>
                <a:sym typeface="Wingdings" panose="05000000000000000000" pitchFamily="2" charset="2"/>
              </a:rPr>
              <a:t> </a:t>
            </a:r>
            <a:r>
              <a:rPr lang="en-US" altLang="en-US" sz="6400" dirty="0" err="1">
                <a:solidFill>
                  <a:srgbClr val="FF0000"/>
                </a:solidFill>
                <a:highlight>
                  <a:srgbClr val="FFFF00"/>
                </a:highlight>
                <a:latin typeface="Arial"/>
                <a:cs typeface="Arial"/>
                <a:sym typeface="Wingdings" panose="05000000000000000000" pitchFamily="2" charset="2"/>
              </a:rPr>
              <a:t>công</a:t>
            </a:r>
            <a:r>
              <a:rPr lang="en-US" altLang="en-US" sz="6400" dirty="0">
                <a:solidFill>
                  <a:srgbClr val="FF0000"/>
                </a:solidFill>
                <a:highlight>
                  <a:srgbClr val="FFFF00"/>
                </a:highlight>
                <a:latin typeface="Arial"/>
                <a:cs typeface="Arial"/>
                <a:sym typeface="Wingdings" panose="05000000000000000000" pitchFamily="2" charset="2"/>
              </a:rPr>
              <a:t> </a:t>
            </a:r>
            <a:r>
              <a:rPr lang="en-US" altLang="en-US" sz="6400" dirty="0" err="1">
                <a:solidFill>
                  <a:srgbClr val="FF0000"/>
                </a:solidFill>
                <a:highlight>
                  <a:srgbClr val="FFFF00"/>
                </a:highlight>
                <a:latin typeface="Arial"/>
                <a:cs typeface="Arial"/>
                <a:sym typeface="Wingdings" panose="05000000000000000000" pitchFamily="2" charset="2"/>
              </a:rPr>
              <a:t>nhân</a:t>
            </a:r>
            <a:r>
              <a:rPr lang="en-US" altLang="en-US" sz="6400" dirty="0">
                <a:solidFill>
                  <a:srgbClr val="FF0000"/>
                </a:solidFill>
                <a:highlight>
                  <a:srgbClr val="FFFF00"/>
                </a:highlight>
                <a:latin typeface="Arial"/>
                <a:cs typeface="Arial"/>
                <a:sym typeface="Wingdings" panose="05000000000000000000" pitchFamily="2" charset="2"/>
              </a:rPr>
              <a:t> </a:t>
            </a:r>
            <a:r>
              <a:rPr lang="en-US" altLang="en-US" sz="6400" dirty="0" err="1">
                <a:solidFill>
                  <a:srgbClr val="FF0000"/>
                </a:solidFill>
                <a:highlight>
                  <a:srgbClr val="FFFF00"/>
                </a:highlight>
                <a:latin typeface="Arial"/>
                <a:cs typeface="Arial"/>
                <a:sym typeface="Wingdings" panose="05000000000000000000" pitchFamily="2" charset="2"/>
              </a:rPr>
              <a:t>để</a:t>
            </a:r>
            <a:r>
              <a:rPr lang="en-US" altLang="en-US" sz="6400" dirty="0">
                <a:solidFill>
                  <a:srgbClr val="FF0000"/>
                </a:solidFill>
                <a:highlight>
                  <a:srgbClr val="FFFF00"/>
                </a:highlight>
                <a:latin typeface="Arial"/>
                <a:cs typeface="Arial"/>
                <a:sym typeface="Wingdings" panose="05000000000000000000" pitchFamily="2" charset="2"/>
              </a:rPr>
              <a:t> </a:t>
            </a:r>
            <a:r>
              <a:rPr lang="en-US" altLang="en-US" sz="6400" dirty="0" err="1">
                <a:solidFill>
                  <a:srgbClr val="FF0000"/>
                </a:solidFill>
                <a:highlight>
                  <a:srgbClr val="FFFF00"/>
                </a:highlight>
                <a:latin typeface="Arial"/>
                <a:cs typeface="Arial"/>
                <a:sym typeface="Wingdings" panose="05000000000000000000" pitchFamily="2" charset="2"/>
              </a:rPr>
              <a:t>tăng</a:t>
            </a:r>
            <a:r>
              <a:rPr lang="en-US" altLang="en-US" sz="6400" dirty="0">
                <a:solidFill>
                  <a:srgbClr val="FF0000"/>
                </a:solidFill>
                <a:highlight>
                  <a:srgbClr val="FFFF00"/>
                </a:highlight>
                <a:latin typeface="Arial"/>
                <a:cs typeface="Arial"/>
                <a:sym typeface="Wingdings" panose="05000000000000000000" pitchFamily="2" charset="2"/>
              </a:rPr>
              <a:t> </a:t>
            </a:r>
            <a:r>
              <a:rPr lang="en-US" altLang="en-US" sz="6400" dirty="0" err="1">
                <a:solidFill>
                  <a:srgbClr val="FF0000"/>
                </a:solidFill>
                <a:highlight>
                  <a:srgbClr val="FFFF00"/>
                </a:highlight>
                <a:latin typeface="Arial"/>
                <a:cs typeface="Arial"/>
                <a:sym typeface="Wingdings" panose="05000000000000000000" pitchFamily="2" charset="2"/>
              </a:rPr>
              <a:t>bóc</a:t>
            </a:r>
            <a:r>
              <a:rPr lang="en-US" altLang="en-US" sz="6400" dirty="0">
                <a:solidFill>
                  <a:srgbClr val="FF0000"/>
                </a:solidFill>
                <a:highlight>
                  <a:srgbClr val="FFFF00"/>
                </a:highlight>
                <a:latin typeface="Arial"/>
                <a:cs typeface="Arial"/>
                <a:sym typeface="Wingdings" panose="05000000000000000000" pitchFamily="2" charset="2"/>
              </a:rPr>
              <a:t> </a:t>
            </a:r>
            <a:r>
              <a:rPr lang="en-US" altLang="en-US" sz="6400" dirty="0" err="1">
                <a:solidFill>
                  <a:srgbClr val="FF0000"/>
                </a:solidFill>
                <a:highlight>
                  <a:srgbClr val="FFFF00"/>
                </a:highlight>
                <a:latin typeface="Arial"/>
                <a:cs typeface="Arial"/>
                <a:sym typeface="Wingdings" panose="05000000000000000000" pitchFamily="2" charset="2"/>
              </a:rPr>
              <a:t>lột</a:t>
            </a:r>
            <a:r>
              <a:rPr lang="en-US" altLang="en-US" sz="6400" dirty="0">
                <a:solidFill>
                  <a:srgbClr val="FF0000"/>
                </a:solidFill>
                <a:highlight>
                  <a:srgbClr val="FFFF00"/>
                </a:highlight>
                <a:latin typeface="Arial"/>
                <a:cs typeface="Arial"/>
                <a:sym typeface="Wingdings" panose="05000000000000000000" pitchFamily="2" charset="2"/>
              </a:rPr>
              <a:t> </a:t>
            </a:r>
            <a:r>
              <a:rPr lang="en-US" altLang="en-US" sz="6400" dirty="0" err="1">
                <a:solidFill>
                  <a:srgbClr val="FF0000"/>
                </a:solidFill>
                <a:highlight>
                  <a:srgbClr val="FFFF00"/>
                </a:highlight>
                <a:latin typeface="Arial"/>
                <a:cs typeface="Arial"/>
                <a:sym typeface="Wingdings" panose="05000000000000000000" pitchFamily="2" charset="2"/>
              </a:rPr>
              <a:t>công</a:t>
            </a:r>
            <a:r>
              <a:rPr lang="en-US" altLang="en-US" sz="6400" dirty="0">
                <a:solidFill>
                  <a:srgbClr val="FF0000"/>
                </a:solidFill>
                <a:highlight>
                  <a:srgbClr val="FFFF00"/>
                </a:highlight>
                <a:latin typeface="Arial"/>
                <a:cs typeface="Arial"/>
                <a:sym typeface="Wingdings" panose="05000000000000000000" pitchFamily="2" charset="2"/>
              </a:rPr>
              <a:t> </a:t>
            </a:r>
            <a:r>
              <a:rPr lang="en-US" altLang="en-US" sz="6400" dirty="0" err="1">
                <a:solidFill>
                  <a:srgbClr val="FF0000"/>
                </a:solidFill>
                <a:highlight>
                  <a:srgbClr val="FFFF00"/>
                </a:highlight>
                <a:latin typeface="Arial"/>
                <a:cs typeface="Arial"/>
                <a:sym typeface="Wingdings" panose="05000000000000000000" pitchFamily="2" charset="2"/>
              </a:rPr>
              <a:t>nhân</a:t>
            </a:r>
            <a:endParaRPr lang="en-US" altLang="en-US" sz="6400" dirty="0">
              <a:solidFill>
                <a:srgbClr val="FF0000"/>
              </a:solidFill>
              <a:highlight>
                <a:srgbClr val="FFFF00"/>
              </a:highlight>
              <a:latin typeface="Arial"/>
              <a:cs typeface="Arial"/>
            </a:endParaRPr>
          </a:p>
        </p:txBody>
      </p:sp>
    </p:spTree>
    <p:extLst>
      <p:ext uri="{BB962C8B-B14F-4D97-AF65-F5344CB8AC3E}">
        <p14:creationId xmlns:p14="http://schemas.microsoft.com/office/powerpoint/2010/main" val="3183744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 calcmode="lin" valueType="num">
                                      <p:cBhvr>
                                        <p:cTn id="14" dur="1000" fill="hold"/>
                                        <p:tgtEl>
                                          <p:spTgt spid="5">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5">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9943F-0824-7B17-3359-7AAAE12D0B0A}"/>
              </a:ext>
            </a:extLst>
          </p:cNvPr>
          <p:cNvSpPr txBox="1">
            <a:spLocks/>
          </p:cNvSpPr>
          <p:nvPr/>
        </p:nvSpPr>
        <p:spPr>
          <a:xfrm>
            <a:off x="3550576" y="1595756"/>
            <a:ext cx="117402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Nhân tố tăng quy mô TLTB</a:t>
            </a:r>
          </a:p>
        </p:txBody>
      </p:sp>
      <p:graphicFrame>
        <p:nvGraphicFramePr>
          <p:cNvPr id="3" name="Diagram 2">
            <a:extLst>
              <a:ext uri="{FF2B5EF4-FFF2-40B4-BE49-F238E27FC236}">
                <a16:creationId xmlns:a16="http://schemas.microsoft.com/office/drawing/2014/main" id="{CC5E6D2B-BFD8-EB64-301A-491809BA4AEC}"/>
              </a:ext>
            </a:extLst>
          </p:cNvPr>
          <p:cNvGraphicFramePr/>
          <p:nvPr/>
        </p:nvGraphicFramePr>
        <p:xfrm>
          <a:off x="1876888" y="3192780"/>
          <a:ext cx="15087600" cy="955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13253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graphicEl>
                                              <a:dgm id="{C91E7C85-CEA2-4F41-9DB8-DEE5D247C0C8}"/>
                                            </p:graphicEl>
                                          </p:spTgt>
                                        </p:tgtEl>
                                        <p:attrNameLst>
                                          <p:attrName>style.visibility</p:attrName>
                                        </p:attrNameLst>
                                      </p:cBhvr>
                                      <p:to>
                                        <p:strVal val="visible"/>
                                      </p:to>
                                    </p:set>
                                    <p:animEffect transition="in" filter="wipe(down)">
                                      <p:cBhvr>
                                        <p:cTn id="7" dur="500"/>
                                        <p:tgtEl>
                                          <p:spTgt spid="3">
                                            <p:graphicEl>
                                              <a:dgm id="{C91E7C85-CEA2-4F41-9DB8-DEE5D247C0C8}"/>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graphicEl>
                                              <a:dgm id="{9369D429-FBF7-4DE6-B5C3-C2606BB0E0F0}"/>
                                            </p:graphicEl>
                                          </p:spTgt>
                                        </p:tgtEl>
                                        <p:attrNameLst>
                                          <p:attrName>style.visibility</p:attrName>
                                        </p:attrNameLst>
                                      </p:cBhvr>
                                      <p:to>
                                        <p:strVal val="visible"/>
                                      </p:to>
                                    </p:set>
                                    <p:animEffect transition="in" filter="wipe(down)">
                                      <p:cBhvr>
                                        <p:cTn id="12" dur="500"/>
                                        <p:tgtEl>
                                          <p:spTgt spid="3">
                                            <p:graphicEl>
                                              <a:dgm id="{9369D429-FBF7-4DE6-B5C3-C2606BB0E0F0}"/>
                                            </p:graphic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graphicEl>
                                              <a:dgm id="{873B91CF-69B5-4CAF-B582-34A7A696A253}"/>
                                            </p:graphicEl>
                                          </p:spTgt>
                                        </p:tgtEl>
                                        <p:attrNameLst>
                                          <p:attrName>style.visibility</p:attrName>
                                        </p:attrNameLst>
                                      </p:cBhvr>
                                      <p:to>
                                        <p:strVal val="visible"/>
                                      </p:to>
                                    </p:set>
                                    <p:animEffect transition="in" filter="wipe(down)">
                                      <p:cBhvr>
                                        <p:cTn id="15" dur="500"/>
                                        <p:tgtEl>
                                          <p:spTgt spid="3">
                                            <p:graphicEl>
                                              <a:dgm id="{873B91CF-69B5-4CAF-B582-34A7A696A253}"/>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
                                            <p:graphicEl>
                                              <a:dgm id="{7D1730D9-1400-44D5-A350-99CB187419A8}"/>
                                            </p:graphicEl>
                                          </p:spTgt>
                                        </p:tgtEl>
                                        <p:attrNameLst>
                                          <p:attrName>style.visibility</p:attrName>
                                        </p:attrNameLst>
                                      </p:cBhvr>
                                      <p:to>
                                        <p:strVal val="visible"/>
                                      </p:to>
                                    </p:set>
                                    <p:animEffect transition="in" filter="wipe(down)">
                                      <p:cBhvr>
                                        <p:cTn id="20" dur="500"/>
                                        <p:tgtEl>
                                          <p:spTgt spid="3">
                                            <p:graphicEl>
                                              <a:dgm id="{7D1730D9-1400-44D5-A350-99CB187419A8}"/>
                                            </p:graphic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
                                            <p:graphicEl>
                                              <a:dgm id="{22EC2173-A9A9-4ADB-9E19-7BB289F30AA2}"/>
                                            </p:graphicEl>
                                          </p:spTgt>
                                        </p:tgtEl>
                                        <p:attrNameLst>
                                          <p:attrName>style.visibility</p:attrName>
                                        </p:attrNameLst>
                                      </p:cBhvr>
                                      <p:to>
                                        <p:strVal val="visible"/>
                                      </p:to>
                                    </p:set>
                                    <p:animEffect transition="in" filter="wipe(down)">
                                      <p:cBhvr>
                                        <p:cTn id="23" dur="500"/>
                                        <p:tgtEl>
                                          <p:spTgt spid="3">
                                            <p:graphicEl>
                                              <a:dgm id="{22EC2173-A9A9-4ADB-9E19-7BB289F30AA2}"/>
                                            </p:graphic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
                                            <p:graphicEl>
                                              <a:dgm id="{2919E416-3DDB-41E8-9F7E-D5C544F3B7C7}"/>
                                            </p:graphicEl>
                                          </p:spTgt>
                                        </p:tgtEl>
                                        <p:attrNameLst>
                                          <p:attrName>style.visibility</p:attrName>
                                        </p:attrNameLst>
                                      </p:cBhvr>
                                      <p:to>
                                        <p:strVal val="visible"/>
                                      </p:to>
                                    </p:set>
                                    <p:animEffect transition="in" filter="wipe(down)">
                                      <p:cBhvr>
                                        <p:cTn id="28" dur="500"/>
                                        <p:tgtEl>
                                          <p:spTgt spid="3">
                                            <p:graphicEl>
                                              <a:dgm id="{2919E416-3DDB-41E8-9F7E-D5C544F3B7C7}"/>
                                            </p:graphic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
                                            <p:graphicEl>
                                              <a:dgm id="{B21D7500-336D-4F4B-9957-DD965D4A9958}"/>
                                            </p:graphicEl>
                                          </p:spTgt>
                                        </p:tgtEl>
                                        <p:attrNameLst>
                                          <p:attrName>style.visibility</p:attrName>
                                        </p:attrNameLst>
                                      </p:cBhvr>
                                      <p:to>
                                        <p:strVal val="visible"/>
                                      </p:to>
                                    </p:set>
                                    <p:animEffect transition="in" filter="wipe(down)">
                                      <p:cBhvr>
                                        <p:cTn id="31" dur="500"/>
                                        <p:tgtEl>
                                          <p:spTgt spid="3">
                                            <p:graphicEl>
                                              <a:dgm id="{B21D7500-336D-4F4B-9957-DD965D4A9958}"/>
                                            </p:graphic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3">
                                            <p:graphicEl>
                                              <a:dgm id="{04DB9DC8-C1F9-48E4-A45E-92A31AAA643B}"/>
                                            </p:graphicEl>
                                          </p:spTgt>
                                        </p:tgtEl>
                                        <p:attrNameLst>
                                          <p:attrName>style.visibility</p:attrName>
                                        </p:attrNameLst>
                                      </p:cBhvr>
                                      <p:to>
                                        <p:strVal val="visible"/>
                                      </p:to>
                                    </p:set>
                                    <p:animEffect transition="in" filter="wipe(down)">
                                      <p:cBhvr>
                                        <p:cTn id="36" dur="500"/>
                                        <p:tgtEl>
                                          <p:spTgt spid="3">
                                            <p:graphicEl>
                                              <a:dgm id="{04DB9DC8-C1F9-48E4-A45E-92A31AAA643B}"/>
                                            </p:graphic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3">
                                            <p:graphicEl>
                                              <a:dgm id="{A63D56D4-996F-43A5-BFDB-FE4CC94809A0}"/>
                                            </p:graphicEl>
                                          </p:spTgt>
                                        </p:tgtEl>
                                        <p:attrNameLst>
                                          <p:attrName>style.visibility</p:attrName>
                                        </p:attrNameLst>
                                      </p:cBhvr>
                                      <p:to>
                                        <p:strVal val="visible"/>
                                      </p:to>
                                    </p:set>
                                    <p:animEffect transition="in" filter="wipe(down)">
                                      <p:cBhvr>
                                        <p:cTn id="39" dur="500"/>
                                        <p:tgtEl>
                                          <p:spTgt spid="3">
                                            <p:graphicEl>
                                              <a:dgm id="{A63D56D4-996F-43A5-BFDB-FE4CC94809A0}"/>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Dgm bld="lvlOne"/>
        </p:bldSub>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12FE274-6C45-75C8-7DE4-282C40882FD0}"/>
              </a:ext>
            </a:extLst>
          </p:cNvPr>
          <p:cNvSpPr txBox="1">
            <a:spLocks/>
          </p:cNvSpPr>
          <p:nvPr/>
        </p:nvSpPr>
        <p:spPr>
          <a:xfrm>
            <a:off x="3182630" y="793900"/>
            <a:ext cx="117402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Trình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độ</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bóc</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lột</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(m’)</a:t>
            </a:r>
          </a:p>
        </p:txBody>
      </p:sp>
      <p:grpSp>
        <p:nvGrpSpPr>
          <p:cNvPr id="6" name="Group 5">
            <a:extLst>
              <a:ext uri="{FF2B5EF4-FFF2-40B4-BE49-F238E27FC236}">
                <a16:creationId xmlns:a16="http://schemas.microsoft.com/office/drawing/2014/main" id="{D0F4FCF2-1C5F-498E-A653-370864731A15}"/>
              </a:ext>
            </a:extLst>
          </p:cNvPr>
          <p:cNvGrpSpPr/>
          <p:nvPr/>
        </p:nvGrpSpPr>
        <p:grpSpPr>
          <a:xfrm>
            <a:off x="1925230" y="7151410"/>
            <a:ext cx="15544800" cy="5366116"/>
            <a:chOff x="471687" y="3360963"/>
            <a:chExt cx="7848600" cy="3200402"/>
          </a:xfrm>
        </p:grpSpPr>
        <p:sp>
          <p:nvSpPr>
            <p:cNvPr id="7" name="Rectangle 3">
              <a:extLst>
                <a:ext uri="{FF2B5EF4-FFF2-40B4-BE49-F238E27FC236}">
                  <a16:creationId xmlns:a16="http://schemas.microsoft.com/office/drawing/2014/main" id="{8DF9A5E5-6DB3-4CE2-A582-4319E05A7ACD}"/>
                </a:ext>
              </a:extLst>
            </p:cNvPr>
            <p:cNvSpPr txBox="1">
              <a:spLocks noChangeArrowheads="1"/>
            </p:cNvSpPr>
            <p:nvPr/>
          </p:nvSpPr>
          <p:spPr bwMode="auto">
            <a:xfrm>
              <a:off x="471687" y="3360963"/>
              <a:ext cx="78486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en-US" sz="5600" dirty="0" err="1">
                  <a:solidFill>
                    <a:srgbClr val="002060"/>
                  </a:solidFill>
                </a:rPr>
                <a:t>Các</a:t>
              </a:r>
              <a:r>
                <a:rPr lang="en-US" sz="5600" dirty="0">
                  <a:solidFill>
                    <a:srgbClr val="002060"/>
                  </a:solidFill>
                </a:rPr>
                <a:t> </a:t>
              </a:r>
              <a:r>
                <a:rPr lang="en-US" sz="5600" dirty="0" err="1">
                  <a:solidFill>
                    <a:srgbClr val="002060"/>
                  </a:solidFill>
                </a:rPr>
                <a:t>yếu</a:t>
              </a:r>
              <a:r>
                <a:rPr lang="en-US" sz="5600" dirty="0">
                  <a:solidFill>
                    <a:srgbClr val="002060"/>
                  </a:solidFill>
                </a:rPr>
                <a:t> </a:t>
              </a:r>
              <a:r>
                <a:rPr lang="en-US" sz="5600" dirty="0" err="1">
                  <a:solidFill>
                    <a:srgbClr val="002060"/>
                  </a:solidFill>
                </a:rPr>
                <a:t>tố</a:t>
              </a:r>
              <a:r>
                <a:rPr lang="en-US" sz="5600" dirty="0">
                  <a:solidFill>
                    <a:srgbClr val="002060"/>
                  </a:solidFill>
                </a:rPr>
                <a:t> </a:t>
              </a:r>
              <a:r>
                <a:rPr lang="en-US" sz="5600" dirty="0" err="1">
                  <a:solidFill>
                    <a:srgbClr val="002060"/>
                  </a:solidFill>
                </a:rPr>
                <a:t>giữ</a:t>
              </a:r>
              <a:r>
                <a:rPr lang="en-US" sz="5600" dirty="0">
                  <a:solidFill>
                    <a:srgbClr val="002060"/>
                  </a:solidFill>
                </a:rPr>
                <a:t> </a:t>
              </a:r>
              <a:r>
                <a:rPr lang="en-US" sz="5600" dirty="0" err="1">
                  <a:solidFill>
                    <a:srgbClr val="002060"/>
                  </a:solidFill>
                </a:rPr>
                <a:t>nguyên</a:t>
              </a:r>
              <a:r>
                <a:rPr lang="en-US" sz="5600" dirty="0">
                  <a:solidFill>
                    <a:srgbClr val="002060"/>
                  </a:solidFill>
                </a:rPr>
                <a:t>, </a:t>
              </a:r>
              <a:r>
                <a:rPr lang="en-US" sz="5600" dirty="0" err="1">
                  <a:solidFill>
                    <a:srgbClr val="002060"/>
                  </a:solidFill>
                </a:rPr>
                <a:t>tăng</a:t>
              </a:r>
              <a:r>
                <a:rPr lang="en-US" sz="5600" dirty="0">
                  <a:solidFill>
                    <a:srgbClr val="002060"/>
                  </a:solidFill>
                </a:rPr>
                <a:t> m’ = 200%</a:t>
              </a:r>
              <a:endParaRPr lang="en-US" sz="5600" b="0" dirty="0">
                <a:solidFill>
                  <a:srgbClr val="002060"/>
                </a:solidFill>
              </a:endParaRPr>
            </a:p>
            <a:p>
              <a:pPr marL="0" indent="0" algn="just">
                <a:buNone/>
                <a:defRPr/>
              </a:pPr>
              <a:r>
                <a:rPr lang="en-US" sz="5600" b="0" dirty="0" err="1">
                  <a:solidFill>
                    <a:srgbClr val="002060"/>
                  </a:solidFill>
                </a:rPr>
                <a:t>Năm</a:t>
              </a:r>
              <a:r>
                <a:rPr lang="en-US" sz="5600" b="0" dirty="0">
                  <a:solidFill>
                    <a:srgbClr val="002060"/>
                  </a:solidFill>
                </a:rPr>
                <a:t> 1: 80 c + 20 v + 40 m = 140 (m’ = 200%)</a:t>
              </a:r>
            </a:p>
            <a:p>
              <a:pPr marL="0" indent="0" algn="just">
                <a:buNone/>
                <a:defRPr/>
              </a:pPr>
              <a:endParaRPr lang="en-US" sz="5600" b="0" dirty="0">
                <a:solidFill>
                  <a:srgbClr val="002060"/>
                </a:solidFill>
              </a:endParaRPr>
            </a:p>
            <a:p>
              <a:pPr marL="0" indent="0" algn="just">
                <a:buNone/>
                <a:defRPr/>
              </a:pPr>
              <a:r>
                <a:rPr lang="en-US" sz="5600" b="0" dirty="0">
                  <a:solidFill>
                    <a:srgbClr val="002060"/>
                  </a:solidFill>
                </a:rPr>
                <a:t>	40 m</a:t>
              </a:r>
            </a:p>
            <a:p>
              <a:pPr marL="0" indent="0" algn="just">
                <a:buNone/>
                <a:defRPr/>
              </a:pPr>
              <a:endParaRPr lang="en-US" sz="5600" b="0" dirty="0">
                <a:solidFill>
                  <a:srgbClr val="002060"/>
                </a:solidFill>
              </a:endParaRPr>
            </a:p>
            <a:p>
              <a:pPr marL="0" indent="0" algn="just">
                <a:buNone/>
                <a:defRPr/>
              </a:pPr>
              <a:r>
                <a:rPr lang="en-US" sz="5600" b="0" dirty="0" err="1">
                  <a:solidFill>
                    <a:srgbClr val="002060"/>
                  </a:solidFill>
                </a:rPr>
                <a:t>Năm</a:t>
              </a:r>
              <a:r>
                <a:rPr lang="en-US" sz="5600" b="0" dirty="0">
                  <a:solidFill>
                    <a:srgbClr val="002060"/>
                  </a:solidFill>
                </a:rPr>
                <a:t> 2 : 96 c + 24 v + 48 m = 168</a:t>
              </a:r>
            </a:p>
            <a:p>
              <a:pPr marL="0" indent="0" algn="just">
                <a:buNone/>
                <a:defRPr/>
              </a:pPr>
              <a:endParaRPr lang="en-US" sz="5600" b="0" dirty="0">
                <a:solidFill>
                  <a:srgbClr val="002060"/>
                </a:solidFill>
              </a:endParaRPr>
            </a:p>
          </p:txBody>
        </p:sp>
        <p:sp>
          <p:nvSpPr>
            <p:cNvPr id="8" name="Line 4">
              <a:extLst>
                <a:ext uri="{FF2B5EF4-FFF2-40B4-BE49-F238E27FC236}">
                  <a16:creationId xmlns:a16="http://schemas.microsoft.com/office/drawing/2014/main" id="{0B0A8D72-BB2E-48A5-BA8D-C75955CC2F46}"/>
                </a:ext>
              </a:extLst>
            </p:cNvPr>
            <p:cNvSpPr>
              <a:spLocks noChangeShapeType="1"/>
            </p:cNvSpPr>
            <p:nvPr/>
          </p:nvSpPr>
          <p:spPr bwMode="auto">
            <a:xfrm flipV="1">
              <a:off x="1792781" y="5227862"/>
              <a:ext cx="68580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solidFill>
                  <a:srgbClr val="002060"/>
                </a:solidFill>
              </a:endParaRPr>
            </a:p>
          </p:txBody>
        </p:sp>
        <p:sp>
          <p:nvSpPr>
            <p:cNvPr id="9" name="Line 5">
              <a:extLst>
                <a:ext uri="{FF2B5EF4-FFF2-40B4-BE49-F238E27FC236}">
                  <a16:creationId xmlns:a16="http://schemas.microsoft.com/office/drawing/2014/main" id="{AD9B6C46-AE4C-49F5-B7F1-0B6BFDB4B998}"/>
                </a:ext>
              </a:extLst>
            </p:cNvPr>
            <p:cNvSpPr>
              <a:spLocks noChangeShapeType="1"/>
            </p:cNvSpPr>
            <p:nvPr/>
          </p:nvSpPr>
          <p:spPr bwMode="auto">
            <a:xfrm>
              <a:off x="1792781" y="5532663"/>
              <a:ext cx="68580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solidFill>
                  <a:srgbClr val="002060"/>
                </a:solidFill>
              </a:endParaRPr>
            </a:p>
          </p:txBody>
        </p:sp>
        <p:sp>
          <p:nvSpPr>
            <p:cNvPr id="10" name="Rectangle 6">
              <a:extLst>
                <a:ext uri="{FF2B5EF4-FFF2-40B4-BE49-F238E27FC236}">
                  <a16:creationId xmlns:a16="http://schemas.microsoft.com/office/drawing/2014/main" id="{9430E850-A6FA-4294-A089-39EAFE70591A}"/>
                </a:ext>
              </a:extLst>
            </p:cNvPr>
            <p:cNvSpPr>
              <a:spLocks noChangeArrowheads="1"/>
            </p:cNvSpPr>
            <p:nvPr/>
          </p:nvSpPr>
          <p:spPr bwMode="auto">
            <a:xfrm>
              <a:off x="2630980" y="4846863"/>
              <a:ext cx="3048000" cy="533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None/>
              </a:pPr>
              <a:r>
                <a:rPr lang="en-US" altLang="en-US" sz="6400" strike="sngStrike" dirty="0">
                  <a:solidFill>
                    <a:srgbClr val="002060"/>
                  </a:solidFill>
                  <a:latin typeface="Times New Roman" panose="02020603050405020304" pitchFamily="18" charset="0"/>
                </a:rPr>
                <a:t>20 m </a:t>
              </a:r>
              <a:r>
                <a:rPr lang="en-US" altLang="en-US" sz="6400" strike="sngStrike" dirty="0" err="1">
                  <a:solidFill>
                    <a:srgbClr val="002060"/>
                  </a:solidFill>
                  <a:latin typeface="Times New Roman" panose="02020603050405020304" pitchFamily="18" charset="0"/>
                </a:rPr>
                <a:t>để</a:t>
              </a:r>
              <a:r>
                <a:rPr lang="en-US" altLang="en-US" sz="6400" strike="sngStrike" dirty="0">
                  <a:solidFill>
                    <a:srgbClr val="002060"/>
                  </a:solidFill>
                  <a:latin typeface="Times New Roman" panose="02020603050405020304" pitchFamily="18" charset="0"/>
                </a:rPr>
                <a:t> </a:t>
              </a:r>
              <a:r>
                <a:rPr lang="en-US" altLang="en-US" sz="6400" strike="sngStrike" dirty="0" err="1">
                  <a:solidFill>
                    <a:srgbClr val="002060"/>
                  </a:solidFill>
                  <a:latin typeface="Times New Roman" panose="02020603050405020304" pitchFamily="18" charset="0"/>
                </a:rPr>
                <a:t>tiêu</a:t>
              </a:r>
              <a:r>
                <a:rPr lang="en-US" altLang="en-US" sz="6400" strike="sngStrike" dirty="0">
                  <a:solidFill>
                    <a:srgbClr val="002060"/>
                  </a:solidFill>
                  <a:latin typeface="Times New Roman" panose="02020603050405020304" pitchFamily="18" charset="0"/>
                </a:rPr>
                <a:t> </a:t>
              </a:r>
              <a:r>
                <a:rPr lang="en-US" altLang="en-US" sz="6400" strike="sngStrike" dirty="0" err="1">
                  <a:solidFill>
                    <a:srgbClr val="002060"/>
                  </a:solidFill>
                  <a:latin typeface="Times New Roman" panose="02020603050405020304" pitchFamily="18" charset="0"/>
                </a:rPr>
                <a:t>dùng</a:t>
              </a:r>
              <a:endParaRPr lang="en-US" altLang="en-US" sz="6400" strike="sngStrike" dirty="0">
                <a:solidFill>
                  <a:srgbClr val="002060"/>
                </a:solidFill>
                <a:latin typeface="Times New Roman" panose="02020603050405020304" pitchFamily="18" charset="0"/>
              </a:endParaRPr>
            </a:p>
          </p:txBody>
        </p:sp>
        <p:sp>
          <p:nvSpPr>
            <p:cNvPr id="11" name="Rectangle 7">
              <a:extLst>
                <a:ext uri="{FF2B5EF4-FFF2-40B4-BE49-F238E27FC236}">
                  <a16:creationId xmlns:a16="http://schemas.microsoft.com/office/drawing/2014/main" id="{6E34DAC3-959B-4EB4-ACDD-BAA6B4625360}"/>
                </a:ext>
              </a:extLst>
            </p:cNvPr>
            <p:cNvSpPr>
              <a:spLocks noChangeArrowheads="1"/>
            </p:cNvSpPr>
            <p:nvPr/>
          </p:nvSpPr>
          <p:spPr bwMode="auto">
            <a:xfrm>
              <a:off x="2554781" y="5608864"/>
              <a:ext cx="2819400" cy="6096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None/>
              </a:pPr>
              <a:r>
                <a:rPr lang="en-US" altLang="en-US" sz="6400" dirty="0">
                  <a:solidFill>
                    <a:srgbClr val="002060"/>
                  </a:solidFill>
                  <a:latin typeface="Times New Roman" panose="02020603050405020304" pitchFamily="18" charset="0"/>
                </a:rPr>
                <a:t>20 m </a:t>
              </a:r>
              <a:r>
                <a:rPr lang="en-US" altLang="en-US" sz="6400" dirty="0" err="1">
                  <a:solidFill>
                    <a:srgbClr val="002060"/>
                  </a:solidFill>
                  <a:latin typeface="Times New Roman" panose="02020603050405020304" pitchFamily="18" charset="0"/>
                </a:rPr>
                <a:t>để</a:t>
              </a:r>
              <a:r>
                <a:rPr lang="en-US" altLang="en-US" sz="6400" dirty="0">
                  <a:solidFill>
                    <a:srgbClr val="002060"/>
                  </a:solidFill>
                  <a:latin typeface="Times New Roman" panose="02020603050405020304" pitchFamily="18" charset="0"/>
                </a:rPr>
                <a:t> </a:t>
              </a:r>
              <a:r>
                <a:rPr lang="en-US" altLang="en-US" sz="6400" dirty="0" err="1">
                  <a:solidFill>
                    <a:srgbClr val="002060"/>
                  </a:solidFill>
                  <a:latin typeface="Times New Roman" panose="02020603050405020304" pitchFamily="18" charset="0"/>
                </a:rPr>
                <a:t>tích</a:t>
              </a:r>
              <a:r>
                <a:rPr lang="en-US" altLang="en-US" sz="6400" dirty="0">
                  <a:solidFill>
                    <a:srgbClr val="002060"/>
                  </a:solidFill>
                  <a:latin typeface="Times New Roman" panose="02020603050405020304" pitchFamily="18" charset="0"/>
                </a:rPr>
                <a:t> </a:t>
              </a:r>
              <a:r>
                <a:rPr lang="en-US" altLang="en-US" sz="6400" dirty="0" err="1">
                  <a:solidFill>
                    <a:srgbClr val="002060"/>
                  </a:solidFill>
                  <a:latin typeface="Times New Roman" panose="02020603050405020304" pitchFamily="18" charset="0"/>
                </a:rPr>
                <a:t>lũy</a:t>
              </a:r>
              <a:endParaRPr lang="en-US" altLang="en-US" sz="6400" dirty="0">
                <a:solidFill>
                  <a:srgbClr val="002060"/>
                </a:solidFill>
                <a:latin typeface="Times New Roman" panose="02020603050405020304" pitchFamily="18" charset="0"/>
              </a:endParaRPr>
            </a:p>
          </p:txBody>
        </p:sp>
        <p:sp>
          <p:nvSpPr>
            <p:cNvPr id="12" name="Line 8">
              <a:extLst>
                <a:ext uri="{FF2B5EF4-FFF2-40B4-BE49-F238E27FC236}">
                  <a16:creationId xmlns:a16="http://schemas.microsoft.com/office/drawing/2014/main" id="{CA7B19EA-54A7-4D30-8335-FD4B3B9D6542}"/>
                </a:ext>
              </a:extLst>
            </p:cNvPr>
            <p:cNvSpPr>
              <a:spLocks noChangeShapeType="1"/>
            </p:cNvSpPr>
            <p:nvPr/>
          </p:nvSpPr>
          <p:spPr bwMode="auto">
            <a:xfrm flipV="1">
              <a:off x="5526581" y="5685063"/>
              <a:ext cx="60960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solidFill>
                  <a:srgbClr val="002060"/>
                </a:solidFill>
              </a:endParaRPr>
            </a:p>
          </p:txBody>
        </p:sp>
        <p:sp>
          <p:nvSpPr>
            <p:cNvPr id="13" name="Line 9">
              <a:extLst>
                <a:ext uri="{FF2B5EF4-FFF2-40B4-BE49-F238E27FC236}">
                  <a16:creationId xmlns:a16="http://schemas.microsoft.com/office/drawing/2014/main" id="{F3C82822-FB88-426C-B26B-BA35CF0CE2CB}"/>
                </a:ext>
              </a:extLst>
            </p:cNvPr>
            <p:cNvSpPr>
              <a:spLocks noChangeShapeType="1"/>
            </p:cNvSpPr>
            <p:nvPr/>
          </p:nvSpPr>
          <p:spPr bwMode="auto">
            <a:xfrm>
              <a:off x="5526581" y="5989863"/>
              <a:ext cx="60960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solidFill>
                  <a:srgbClr val="002060"/>
                </a:solidFill>
              </a:endParaRPr>
            </a:p>
          </p:txBody>
        </p:sp>
        <p:sp>
          <p:nvSpPr>
            <p:cNvPr id="14" name="Rectangle 10">
              <a:extLst>
                <a:ext uri="{FF2B5EF4-FFF2-40B4-BE49-F238E27FC236}">
                  <a16:creationId xmlns:a16="http://schemas.microsoft.com/office/drawing/2014/main" id="{80E90B84-54A1-4242-B648-3C7013D0B054}"/>
                </a:ext>
              </a:extLst>
            </p:cNvPr>
            <p:cNvSpPr>
              <a:spLocks noChangeArrowheads="1"/>
            </p:cNvSpPr>
            <p:nvPr/>
          </p:nvSpPr>
          <p:spPr bwMode="auto">
            <a:xfrm>
              <a:off x="6212381" y="5532664"/>
              <a:ext cx="685800" cy="304800"/>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6400" dirty="0">
                  <a:solidFill>
                    <a:srgbClr val="002060"/>
                  </a:solidFill>
                  <a:latin typeface="Times New Roman" panose="02020603050405020304" pitchFamily="18" charset="0"/>
                </a:rPr>
                <a:t>16 c</a:t>
              </a:r>
            </a:p>
          </p:txBody>
        </p:sp>
        <p:sp>
          <p:nvSpPr>
            <p:cNvPr id="15" name="Rectangle 11">
              <a:extLst>
                <a:ext uri="{FF2B5EF4-FFF2-40B4-BE49-F238E27FC236}">
                  <a16:creationId xmlns:a16="http://schemas.microsoft.com/office/drawing/2014/main" id="{417DCF50-91A4-4C51-BF96-F7AE32CE51F2}"/>
                </a:ext>
              </a:extLst>
            </p:cNvPr>
            <p:cNvSpPr>
              <a:spLocks noChangeArrowheads="1"/>
            </p:cNvSpPr>
            <p:nvPr/>
          </p:nvSpPr>
          <p:spPr bwMode="auto">
            <a:xfrm>
              <a:off x="6136181" y="6142264"/>
              <a:ext cx="685800" cy="419101"/>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6400" dirty="0">
                  <a:solidFill>
                    <a:srgbClr val="002060"/>
                  </a:solidFill>
                  <a:latin typeface="Times New Roman" panose="02020603050405020304" pitchFamily="18" charset="0"/>
                </a:rPr>
                <a:t>4 v</a:t>
              </a:r>
            </a:p>
          </p:txBody>
        </p:sp>
      </p:grpSp>
      <p:sp>
        <p:nvSpPr>
          <p:cNvPr id="16" name="Rectangle 3">
            <a:extLst>
              <a:ext uri="{FF2B5EF4-FFF2-40B4-BE49-F238E27FC236}">
                <a16:creationId xmlns:a16="http://schemas.microsoft.com/office/drawing/2014/main" id="{66EE5D0F-7D3F-488F-82A3-E6C8DADEA311}"/>
              </a:ext>
            </a:extLst>
          </p:cNvPr>
          <p:cNvSpPr txBox="1">
            <a:spLocks noChangeArrowheads="1"/>
          </p:cNvSpPr>
          <p:nvPr/>
        </p:nvSpPr>
        <p:spPr bwMode="auto">
          <a:xfrm>
            <a:off x="1925230" y="2027404"/>
            <a:ext cx="15544800" cy="4275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en-US" sz="5600" dirty="0" err="1">
                <a:solidFill>
                  <a:srgbClr val="002060"/>
                </a:solidFill>
              </a:rPr>
              <a:t>Các</a:t>
            </a:r>
            <a:r>
              <a:rPr lang="en-US" sz="5600" dirty="0">
                <a:solidFill>
                  <a:srgbClr val="002060"/>
                </a:solidFill>
              </a:rPr>
              <a:t> </a:t>
            </a:r>
            <a:r>
              <a:rPr lang="en-US" sz="5600" dirty="0" err="1">
                <a:solidFill>
                  <a:srgbClr val="002060"/>
                </a:solidFill>
              </a:rPr>
              <a:t>yếu</a:t>
            </a:r>
            <a:r>
              <a:rPr lang="en-US" sz="5600" dirty="0">
                <a:solidFill>
                  <a:srgbClr val="002060"/>
                </a:solidFill>
              </a:rPr>
              <a:t> </a:t>
            </a:r>
            <a:r>
              <a:rPr lang="en-US" sz="5600" dirty="0" err="1">
                <a:solidFill>
                  <a:srgbClr val="002060"/>
                </a:solidFill>
              </a:rPr>
              <a:t>tố</a:t>
            </a:r>
            <a:r>
              <a:rPr lang="en-US" sz="5600" dirty="0">
                <a:solidFill>
                  <a:srgbClr val="002060"/>
                </a:solidFill>
              </a:rPr>
              <a:t> </a:t>
            </a:r>
            <a:r>
              <a:rPr lang="en-US" sz="5600" dirty="0" err="1">
                <a:solidFill>
                  <a:srgbClr val="002060"/>
                </a:solidFill>
              </a:rPr>
              <a:t>giữ</a:t>
            </a:r>
            <a:r>
              <a:rPr lang="en-US" sz="5600" dirty="0">
                <a:solidFill>
                  <a:srgbClr val="002060"/>
                </a:solidFill>
              </a:rPr>
              <a:t> </a:t>
            </a:r>
            <a:r>
              <a:rPr lang="en-US" sz="5600" dirty="0" err="1">
                <a:solidFill>
                  <a:srgbClr val="002060"/>
                </a:solidFill>
              </a:rPr>
              <a:t>nguyên</a:t>
            </a:r>
            <a:r>
              <a:rPr lang="en-US" sz="5600" dirty="0">
                <a:solidFill>
                  <a:srgbClr val="002060"/>
                </a:solidFill>
              </a:rPr>
              <a:t>, m’ = 100%</a:t>
            </a:r>
            <a:endParaRPr lang="en-US" sz="5600" b="0" dirty="0">
              <a:solidFill>
                <a:srgbClr val="002060"/>
              </a:solidFill>
            </a:endParaRPr>
          </a:p>
          <a:p>
            <a:pPr marL="0" indent="0" algn="just">
              <a:buNone/>
              <a:defRPr/>
            </a:pPr>
            <a:r>
              <a:rPr lang="en-US" sz="5600" b="0" dirty="0" err="1">
                <a:solidFill>
                  <a:srgbClr val="002060"/>
                </a:solidFill>
              </a:rPr>
              <a:t>Năm</a:t>
            </a:r>
            <a:r>
              <a:rPr lang="en-US" sz="5600" b="0" dirty="0">
                <a:solidFill>
                  <a:srgbClr val="002060"/>
                </a:solidFill>
              </a:rPr>
              <a:t> 1: 80 c + 20 v + 20 m = 120 (m’ = 100%)</a:t>
            </a:r>
          </a:p>
          <a:p>
            <a:pPr marL="0" indent="0" algn="just">
              <a:buNone/>
              <a:defRPr/>
            </a:pPr>
            <a:r>
              <a:rPr lang="en-US" sz="5600" b="0" dirty="0">
                <a:solidFill>
                  <a:srgbClr val="002060"/>
                </a:solidFill>
              </a:rPr>
              <a:t>	20 m</a:t>
            </a:r>
          </a:p>
          <a:p>
            <a:pPr marL="0" indent="0" algn="just">
              <a:buNone/>
              <a:defRPr/>
            </a:pPr>
            <a:endParaRPr lang="en-US" sz="5600" b="0" dirty="0">
              <a:solidFill>
                <a:srgbClr val="002060"/>
              </a:solidFill>
            </a:endParaRPr>
          </a:p>
          <a:p>
            <a:pPr marL="0" indent="0" algn="just">
              <a:buNone/>
              <a:defRPr/>
            </a:pPr>
            <a:r>
              <a:rPr lang="en-US" sz="5600" b="0" dirty="0" err="1">
                <a:solidFill>
                  <a:srgbClr val="002060"/>
                </a:solidFill>
              </a:rPr>
              <a:t>Năm</a:t>
            </a:r>
            <a:r>
              <a:rPr lang="en-US" sz="5600" b="0" dirty="0">
                <a:solidFill>
                  <a:srgbClr val="002060"/>
                </a:solidFill>
              </a:rPr>
              <a:t> 2 : 88 c + 22 v + 22 m = 132</a:t>
            </a:r>
          </a:p>
          <a:p>
            <a:pPr marL="0" indent="0" algn="just">
              <a:buNone/>
              <a:defRPr/>
            </a:pPr>
            <a:endParaRPr lang="en-US" sz="5600" b="0" dirty="0">
              <a:solidFill>
                <a:srgbClr val="002060"/>
              </a:solidFill>
            </a:endParaRPr>
          </a:p>
        </p:txBody>
      </p:sp>
      <p:sp>
        <p:nvSpPr>
          <p:cNvPr id="17" name="Line 4">
            <a:extLst>
              <a:ext uri="{FF2B5EF4-FFF2-40B4-BE49-F238E27FC236}">
                <a16:creationId xmlns:a16="http://schemas.microsoft.com/office/drawing/2014/main" id="{EBFBB318-BFBC-4D71-8A5F-9BB14C98180A}"/>
              </a:ext>
            </a:extLst>
          </p:cNvPr>
          <p:cNvSpPr>
            <a:spLocks noChangeShapeType="1"/>
          </p:cNvSpPr>
          <p:nvPr/>
        </p:nvSpPr>
        <p:spPr bwMode="auto">
          <a:xfrm flipV="1">
            <a:off x="4692686" y="4540195"/>
            <a:ext cx="1358284" cy="511058"/>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solidFill>
                <a:srgbClr val="002060"/>
              </a:solidFill>
            </a:endParaRPr>
          </a:p>
        </p:txBody>
      </p:sp>
      <p:sp>
        <p:nvSpPr>
          <p:cNvPr id="18" name="Line 5">
            <a:extLst>
              <a:ext uri="{FF2B5EF4-FFF2-40B4-BE49-F238E27FC236}">
                <a16:creationId xmlns:a16="http://schemas.microsoft.com/office/drawing/2014/main" id="{3FF83AE3-BC0E-458C-A5AB-E1E0D92D967E}"/>
              </a:ext>
            </a:extLst>
          </p:cNvPr>
          <p:cNvSpPr>
            <a:spLocks noChangeShapeType="1"/>
          </p:cNvSpPr>
          <p:nvPr/>
        </p:nvSpPr>
        <p:spPr bwMode="auto">
          <a:xfrm>
            <a:off x="4692686" y="5051255"/>
            <a:ext cx="1358284" cy="511058"/>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solidFill>
                <a:srgbClr val="002060"/>
              </a:solidFill>
            </a:endParaRPr>
          </a:p>
        </p:txBody>
      </p:sp>
      <p:sp>
        <p:nvSpPr>
          <p:cNvPr id="19" name="Rectangle 6">
            <a:extLst>
              <a:ext uri="{FF2B5EF4-FFF2-40B4-BE49-F238E27FC236}">
                <a16:creationId xmlns:a16="http://schemas.microsoft.com/office/drawing/2014/main" id="{2CF49DC8-B452-4FFD-8040-8694C43E9717}"/>
              </a:ext>
            </a:extLst>
          </p:cNvPr>
          <p:cNvSpPr>
            <a:spLocks noChangeArrowheads="1"/>
          </p:cNvSpPr>
          <p:nvPr/>
        </p:nvSpPr>
        <p:spPr bwMode="auto">
          <a:xfrm>
            <a:off x="6352808" y="3901374"/>
            <a:ext cx="6036816" cy="894352"/>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None/>
            </a:pPr>
            <a:r>
              <a:rPr lang="en-US" altLang="en-US" sz="6400" strike="sngStrike" dirty="0">
                <a:solidFill>
                  <a:srgbClr val="002060"/>
                </a:solidFill>
                <a:latin typeface="Times New Roman" panose="02020603050405020304" pitchFamily="18" charset="0"/>
              </a:rPr>
              <a:t>10 m </a:t>
            </a:r>
            <a:r>
              <a:rPr lang="en-US" altLang="en-US" sz="6400" strike="sngStrike" dirty="0" err="1">
                <a:solidFill>
                  <a:srgbClr val="002060"/>
                </a:solidFill>
                <a:latin typeface="Times New Roman" panose="02020603050405020304" pitchFamily="18" charset="0"/>
              </a:rPr>
              <a:t>để</a:t>
            </a:r>
            <a:r>
              <a:rPr lang="en-US" altLang="en-US" sz="6400" strike="sngStrike" dirty="0">
                <a:solidFill>
                  <a:srgbClr val="002060"/>
                </a:solidFill>
                <a:latin typeface="Times New Roman" panose="02020603050405020304" pitchFamily="18" charset="0"/>
              </a:rPr>
              <a:t> </a:t>
            </a:r>
            <a:r>
              <a:rPr lang="en-US" altLang="en-US" sz="6400" strike="sngStrike" dirty="0" err="1">
                <a:solidFill>
                  <a:srgbClr val="002060"/>
                </a:solidFill>
                <a:latin typeface="Times New Roman" panose="02020603050405020304" pitchFamily="18" charset="0"/>
              </a:rPr>
              <a:t>tiêu</a:t>
            </a:r>
            <a:r>
              <a:rPr lang="en-US" altLang="en-US" sz="6400" strike="sngStrike" dirty="0">
                <a:solidFill>
                  <a:srgbClr val="002060"/>
                </a:solidFill>
                <a:latin typeface="Times New Roman" panose="02020603050405020304" pitchFamily="18" charset="0"/>
              </a:rPr>
              <a:t> </a:t>
            </a:r>
            <a:r>
              <a:rPr lang="en-US" altLang="en-US" sz="6400" strike="sngStrike" dirty="0" err="1">
                <a:solidFill>
                  <a:srgbClr val="002060"/>
                </a:solidFill>
                <a:latin typeface="Times New Roman" panose="02020603050405020304" pitchFamily="18" charset="0"/>
              </a:rPr>
              <a:t>dùng</a:t>
            </a:r>
            <a:endParaRPr lang="en-US" altLang="en-US" sz="6400" strike="sngStrike" dirty="0">
              <a:solidFill>
                <a:srgbClr val="002060"/>
              </a:solidFill>
              <a:latin typeface="Times New Roman" panose="02020603050405020304" pitchFamily="18" charset="0"/>
            </a:endParaRPr>
          </a:p>
        </p:txBody>
      </p:sp>
      <p:sp>
        <p:nvSpPr>
          <p:cNvPr id="20" name="Rectangle 7">
            <a:extLst>
              <a:ext uri="{FF2B5EF4-FFF2-40B4-BE49-F238E27FC236}">
                <a16:creationId xmlns:a16="http://schemas.microsoft.com/office/drawing/2014/main" id="{B2A56E6E-E685-4A90-913E-C5F7F095ED3F}"/>
              </a:ext>
            </a:extLst>
          </p:cNvPr>
          <p:cNvSpPr>
            <a:spLocks noChangeArrowheads="1"/>
          </p:cNvSpPr>
          <p:nvPr/>
        </p:nvSpPr>
        <p:spPr bwMode="auto">
          <a:xfrm>
            <a:off x="6201891" y="5179020"/>
            <a:ext cx="5584054" cy="1022116"/>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None/>
            </a:pPr>
            <a:r>
              <a:rPr lang="en-US" altLang="en-US" sz="6400" dirty="0">
                <a:solidFill>
                  <a:srgbClr val="002060"/>
                </a:solidFill>
                <a:latin typeface="Times New Roman" panose="02020603050405020304" pitchFamily="18" charset="0"/>
              </a:rPr>
              <a:t>10 m </a:t>
            </a:r>
            <a:r>
              <a:rPr lang="en-US" altLang="en-US" sz="6400" dirty="0" err="1">
                <a:solidFill>
                  <a:srgbClr val="002060"/>
                </a:solidFill>
                <a:latin typeface="Times New Roman" panose="02020603050405020304" pitchFamily="18" charset="0"/>
              </a:rPr>
              <a:t>để</a:t>
            </a:r>
            <a:r>
              <a:rPr lang="en-US" altLang="en-US" sz="6400" dirty="0">
                <a:solidFill>
                  <a:srgbClr val="002060"/>
                </a:solidFill>
                <a:latin typeface="Times New Roman" panose="02020603050405020304" pitchFamily="18" charset="0"/>
              </a:rPr>
              <a:t> </a:t>
            </a:r>
            <a:r>
              <a:rPr lang="en-US" altLang="en-US" sz="6400" dirty="0" err="1">
                <a:solidFill>
                  <a:srgbClr val="002060"/>
                </a:solidFill>
                <a:latin typeface="Times New Roman" panose="02020603050405020304" pitchFamily="18" charset="0"/>
              </a:rPr>
              <a:t>tích</a:t>
            </a:r>
            <a:r>
              <a:rPr lang="en-US" altLang="en-US" sz="6400" dirty="0">
                <a:solidFill>
                  <a:srgbClr val="002060"/>
                </a:solidFill>
                <a:latin typeface="Times New Roman" panose="02020603050405020304" pitchFamily="18" charset="0"/>
              </a:rPr>
              <a:t> </a:t>
            </a:r>
            <a:r>
              <a:rPr lang="en-US" altLang="en-US" sz="6400" dirty="0" err="1">
                <a:solidFill>
                  <a:srgbClr val="002060"/>
                </a:solidFill>
                <a:latin typeface="Times New Roman" panose="02020603050405020304" pitchFamily="18" charset="0"/>
              </a:rPr>
              <a:t>lũy</a:t>
            </a:r>
            <a:endParaRPr lang="en-US" altLang="en-US" sz="6400" dirty="0">
              <a:solidFill>
                <a:srgbClr val="002060"/>
              </a:solidFill>
              <a:latin typeface="Times New Roman" panose="02020603050405020304" pitchFamily="18" charset="0"/>
            </a:endParaRPr>
          </a:p>
        </p:txBody>
      </p:sp>
      <p:sp>
        <p:nvSpPr>
          <p:cNvPr id="21" name="Line 8">
            <a:extLst>
              <a:ext uri="{FF2B5EF4-FFF2-40B4-BE49-F238E27FC236}">
                <a16:creationId xmlns:a16="http://schemas.microsoft.com/office/drawing/2014/main" id="{A14108B7-2681-42DF-AE77-FAB10E523FC1}"/>
              </a:ext>
            </a:extLst>
          </p:cNvPr>
          <p:cNvSpPr>
            <a:spLocks noChangeShapeType="1"/>
          </p:cNvSpPr>
          <p:nvPr/>
        </p:nvSpPr>
        <p:spPr bwMode="auto">
          <a:xfrm flipV="1">
            <a:off x="12087784" y="5306785"/>
            <a:ext cx="1207364" cy="511058"/>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solidFill>
                <a:srgbClr val="002060"/>
              </a:solidFill>
            </a:endParaRPr>
          </a:p>
        </p:txBody>
      </p:sp>
      <p:sp>
        <p:nvSpPr>
          <p:cNvPr id="22" name="Line 9">
            <a:extLst>
              <a:ext uri="{FF2B5EF4-FFF2-40B4-BE49-F238E27FC236}">
                <a16:creationId xmlns:a16="http://schemas.microsoft.com/office/drawing/2014/main" id="{8CE81C17-E286-4A86-85C4-6C5DE27B5D28}"/>
              </a:ext>
            </a:extLst>
          </p:cNvPr>
          <p:cNvSpPr>
            <a:spLocks noChangeShapeType="1"/>
          </p:cNvSpPr>
          <p:nvPr/>
        </p:nvSpPr>
        <p:spPr bwMode="auto">
          <a:xfrm>
            <a:off x="12087784" y="5817843"/>
            <a:ext cx="1207364" cy="511058"/>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solidFill>
                <a:srgbClr val="002060"/>
              </a:solidFill>
            </a:endParaRPr>
          </a:p>
        </p:txBody>
      </p:sp>
      <p:sp>
        <p:nvSpPr>
          <p:cNvPr id="23" name="Rectangle 10">
            <a:extLst>
              <a:ext uri="{FF2B5EF4-FFF2-40B4-BE49-F238E27FC236}">
                <a16:creationId xmlns:a16="http://schemas.microsoft.com/office/drawing/2014/main" id="{95E6F882-5719-40D6-98A4-0BFA65F2BE4F}"/>
              </a:ext>
            </a:extLst>
          </p:cNvPr>
          <p:cNvSpPr>
            <a:spLocks noChangeArrowheads="1"/>
          </p:cNvSpPr>
          <p:nvPr/>
        </p:nvSpPr>
        <p:spPr bwMode="auto">
          <a:xfrm>
            <a:off x="13446068" y="5051257"/>
            <a:ext cx="1358284" cy="511058"/>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6400" dirty="0">
                <a:solidFill>
                  <a:srgbClr val="002060"/>
                </a:solidFill>
                <a:latin typeface="Times New Roman" panose="02020603050405020304" pitchFamily="18" charset="0"/>
              </a:rPr>
              <a:t>8c</a:t>
            </a:r>
          </a:p>
        </p:txBody>
      </p:sp>
      <p:sp>
        <p:nvSpPr>
          <p:cNvPr id="24" name="Rectangle 11">
            <a:extLst>
              <a:ext uri="{FF2B5EF4-FFF2-40B4-BE49-F238E27FC236}">
                <a16:creationId xmlns:a16="http://schemas.microsoft.com/office/drawing/2014/main" id="{9F9D4EED-9C67-4B6C-8C6F-E6221439AF49}"/>
              </a:ext>
            </a:extLst>
          </p:cNvPr>
          <p:cNvSpPr>
            <a:spLocks noChangeArrowheads="1"/>
          </p:cNvSpPr>
          <p:nvPr/>
        </p:nvSpPr>
        <p:spPr bwMode="auto">
          <a:xfrm>
            <a:off x="13295148" y="6073375"/>
            <a:ext cx="1358284" cy="702706"/>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6400" dirty="0">
                <a:solidFill>
                  <a:srgbClr val="002060"/>
                </a:solidFill>
                <a:latin typeface="Times New Roman" panose="02020603050405020304" pitchFamily="18" charset="0"/>
              </a:rPr>
              <a:t>2v</a:t>
            </a:r>
          </a:p>
        </p:txBody>
      </p:sp>
    </p:spTree>
    <p:extLst>
      <p:ext uri="{BB962C8B-B14F-4D97-AF65-F5344CB8AC3E}">
        <p14:creationId xmlns:p14="http://schemas.microsoft.com/office/powerpoint/2010/main" val="381239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12FE274-6C45-75C8-7DE4-282C40882FD0}"/>
              </a:ext>
            </a:extLst>
          </p:cNvPr>
          <p:cNvSpPr txBox="1">
            <a:spLocks/>
          </p:cNvSpPr>
          <p:nvPr/>
        </p:nvSpPr>
        <p:spPr>
          <a:xfrm>
            <a:off x="2913208" y="1067436"/>
            <a:ext cx="117402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Năng</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suất</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lao</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động</a:t>
            </a:r>
            <a:endParaRPr lang="en-US"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sp>
        <p:nvSpPr>
          <p:cNvPr id="7" name="Rectangle 3">
            <a:extLst>
              <a:ext uri="{FF2B5EF4-FFF2-40B4-BE49-F238E27FC236}">
                <a16:creationId xmlns:a16="http://schemas.microsoft.com/office/drawing/2014/main" id="{8DF9A5E5-6DB3-4CE2-A582-4319E05A7ACD}"/>
              </a:ext>
            </a:extLst>
          </p:cNvPr>
          <p:cNvSpPr txBox="1">
            <a:spLocks noChangeArrowheads="1"/>
          </p:cNvSpPr>
          <p:nvPr/>
        </p:nvSpPr>
        <p:spPr bwMode="auto">
          <a:xfrm>
            <a:off x="1745616" y="3688080"/>
            <a:ext cx="155448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en-US" sz="5600" dirty="0">
                <a:solidFill>
                  <a:srgbClr val="002060"/>
                </a:solidFill>
                <a:hlinkClick r:id="rId2" action="ppaction://hlinksldjump"/>
              </a:rPr>
              <a:t>Theo </a:t>
            </a:r>
            <a:r>
              <a:rPr lang="en-US" sz="5600" dirty="0" err="1">
                <a:solidFill>
                  <a:srgbClr val="002060"/>
                </a:solidFill>
                <a:hlinkClick r:id="rId2" action="ppaction://hlinksldjump"/>
              </a:rPr>
              <a:t>phương</a:t>
            </a:r>
            <a:r>
              <a:rPr lang="en-US" sz="5600" dirty="0">
                <a:solidFill>
                  <a:srgbClr val="002060"/>
                </a:solidFill>
                <a:hlinkClick r:id="rId2" action="ppaction://hlinksldjump"/>
              </a:rPr>
              <a:t> </a:t>
            </a:r>
            <a:r>
              <a:rPr lang="en-US" sz="5600" dirty="0" err="1">
                <a:solidFill>
                  <a:srgbClr val="002060"/>
                </a:solidFill>
                <a:hlinkClick r:id="rId2" action="ppaction://hlinksldjump"/>
              </a:rPr>
              <a:t>pháp</a:t>
            </a:r>
            <a:r>
              <a:rPr lang="en-US" sz="5600" dirty="0">
                <a:solidFill>
                  <a:srgbClr val="002060"/>
                </a:solidFill>
                <a:hlinkClick r:id="rId2" action="ppaction://hlinksldjump"/>
              </a:rPr>
              <a:t> </a:t>
            </a:r>
            <a:r>
              <a:rPr lang="en-US" sz="5600" dirty="0" err="1">
                <a:solidFill>
                  <a:srgbClr val="002060"/>
                </a:solidFill>
                <a:hlinkClick r:id="rId2" action="ppaction://hlinksldjump"/>
              </a:rPr>
              <a:t>sản</a:t>
            </a:r>
            <a:r>
              <a:rPr lang="en-US" sz="5600" dirty="0">
                <a:solidFill>
                  <a:srgbClr val="002060"/>
                </a:solidFill>
                <a:hlinkClick r:id="rId2" action="ppaction://hlinksldjump"/>
              </a:rPr>
              <a:t> </a:t>
            </a:r>
            <a:r>
              <a:rPr lang="en-US" sz="5600" dirty="0" err="1">
                <a:solidFill>
                  <a:srgbClr val="002060"/>
                </a:solidFill>
                <a:hlinkClick r:id="rId2" action="ppaction://hlinksldjump"/>
              </a:rPr>
              <a:t>xuất</a:t>
            </a:r>
            <a:r>
              <a:rPr lang="en-US" sz="5600" dirty="0">
                <a:solidFill>
                  <a:srgbClr val="002060"/>
                </a:solidFill>
                <a:hlinkClick r:id="rId2" action="ppaction://hlinksldjump"/>
              </a:rPr>
              <a:t> m </a:t>
            </a:r>
            <a:r>
              <a:rPr lang="en-US" sz="5600" dirty="0" err="1">
                <a:solidFill>
                  <a:srgbClr val="002060"/>
                </a:solidFill>
                <a:hlinkClick r:id="rId2" action="ppaction://hlinksldjump"/>
              </a:rPr>
              <a:t>tương</a:t>
            </a:r>
            <a:r>
              <a:rPr lang="en-US" sz="5600" dirty="0">
                <a:solidFill>
                  <a:srgbClr val="002060"/>
                </a:solidFill>
                <a:hlinkClick r:id="rId2" action="ppaction://hlinksldjump"/>
              </a:rPr>
              <a:t> </a:t>
            </a:r>
            <a:r>
              <a:rPr lang="en-US" sz="5600" dirty="0" err="1">
                <a:solidFill>
                  <a:srgbClr val="002060"/>
                </a:solidFill>
                <a:hlinkClick r:id="rId2" action="ppaction://hlinksldjump"/>
              </a:rPr>
              <a:t>đối</a:t>
            </a:r>
            <a:r>
              <a:rPr lang="en-US" sz="5600" dirty="0">
                <a:solidFill>
                  <a:srgbClr val="002060"/>
                </a:solidFill>
                <a:hlinkClick r:id="rId2" action="ppaction://hlinksldjump"/>
              </a:rPr>
              <a:t>:</a:t>
            </a:r>
            <a:endParaRPr lang="en-US" sz="5600" b="0" dirty="0">
              <a:solidFill>
                <a:srgbClr val="002060"/>
              </a:solidFill>
            </a:endParaRPr>
          </a:p>
          <a:p>
            <a:pPr marL="0" indent="0" algn="just">
              <a:buNone/>
              <a:defRPr/>
            </a:pPr>
            <a:r>
              <a:rPr lang="en-US" sz="5600" b="0" dirty="0" err="1">
                <a:solidFill>
                  <a:srgbClr val="002060"/>
                </a:solidFill>
              </a:rPr>
              <a:t>Tăng</a:t>
            </a:r>
            <a:r>
              <a:rPr lang="en-US" sz="5600" b="0" dirty="0">
                <a:solidFill>
                  <a:srgbClr val="002060"/>
                </a:solidFill>
              </a:rPr>
              <a:t> NSLĐ </a:t>
            </a:r>
            <a:r>
              <a:rPr lang="en-US" sz="5600" b="0" dirty="0">
                <a:solidFill>
                  <a:srgbClr val="002060"/>
                </a:solidFill>
                <a:sym typeface="Wingdings" panose="05000000000000000000" pitchFamily="2" charset="2"/>
              </a:rPr>
              <a:t> t </a:t>
            </a:r>
            <a:r>
              <a:rPr lang="en-US" sz="5600" b="0" dirty="0" err="1">
                <a:solidFill>
                  <a:srgbClr val="002060"/>
                </a:solidFill>
                <a:sym typeface="Wingdings" panose="05000000000000000000" pitchFamily="2" charset="2"/>
              </a:rPr>
              <a:t>giảm</a:t>
            </a:r>
            <a:endParaRPr lang="en-US" sz="5600" b="0" dirty="0">
              <a:solidFill>
                <a:srgbClr val="002060"/>
              </a:solidFill>
              <a:sym typeface="Wingdings" panose="05000000000000000000" pitchFamily="2" charset="2"/>
            </a:endParaRPr>
          </a:p>
          <a:p>
            <a:pPr marL="0" indent="0" algn="just">
              <a:buNone/>
              <a:defRPr/>
            </a:pPr>
            <a:r>
              <a:rPr lang="en-US" sz="5600" b="0" dirty="0">
                <a:solidFill>
                  <a:srgbClr val="002060"/>
                </a:solidFill>
                <a:sym typeface="Wingdings" panose="05000000000000000000" pitchFamily="2" charset="2"/>
              </a:rPr>
              <a:t>t </a:t>
            </a:r>
            <a:r>
              <a:rPr lang="en-US" sz="5600" b="0" dirty="0" err="1">
                <a:solidFill>
                  <a:srgbClr val="002060"/>
                </a:solidFill>
                <a:sym typeface="Wingdings" panose="05000000000000000000" pitchFamily="2" charset="2"/>
              </a:rPr>
              <a:t>giảm</a:t>
            </a:r>
            <a:r>
              <a:rPr lang="en-US" sz="5600" b="0" dirty="0">
                <a:solidFill>
                  <a:srgbClr val="002060"/>
                </a:solidFill>
                <a:sym typeface="Wingdings" panose="05000000000000000000" pitchFamily="2" charset="2"/>
              </a:rPr>
              <a:t>  t’ </a:t>
            </a:r>
            <a:r>
              <a:rPr lang="en-US" sz="5600" b="0" dirty="0" err="1">
                <a:solidFill>
                  <a:srgbClr val="002060"/>
                </a:solidFill>
                <a:sym typeface="Wingdings" panose="05000000000000000000" pitchFamily="2" charset="2"/>
              </a:rPr>
              <a:t>tăng</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tương</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ứng</a:t>
            </a:r>
            <a:endParaRPr lang="en-US" sz="5600" b="0" dirty="0">
              <a:solidFill>
                <a:srgbClr val="002060"/>
              </a:solidFill>
              <a:sym typeface="Wingdings" panose="05000000000000000000" pitchFamily="2" charset="2"/>
            </a:endParaRPr>
          </a:p>
          <a:p>
            <a:pPr marL="0" indent="0" algn="just">
              <a:buNone/>
              <a:defRPr/>
            </a:pPr>
            <a:r>
              <a:rPr lang="en-US" sz="5600" b="0" dirty="0">
                <a:solidFill>
                  <a:srgbClr val="002060"/>
                </a:solidFill>
                <a:sym typeface="Wingdings" panose="05000000000000000000" pitchFamily="2" charset="2"/>
              </a:rPr>
              <a:t>t’ </a:t>
            </a:r>
            <a:r>
              <a:rPr lang="en-US" sz="5600" b="0" dirty="0" err="1">
                <a:solidFill>
                  <a:srgbClr val="002060"/>
                </a:solidFill>
                <a:sym typeface="Wingdings" panose="05000000000000000000" pitchFamily="2" charset="2"/>
              </a:rPr>
              <a:t>tăng</a:t>
            </a:r>
            <a:r>
              <a:rPr lang="en-US" sz="5600" b="0" dirty="0">
                <a:solidFill>
                  <a:srgbClr val="002060"/>
                </a:solidFill>
                <a:sym typeface="Wingdings" panose="05000000000000000000" pitchFamily="2" charset="2"/>
              </a:rPr>
              <a:t>  m’ </a:t>
            </a:r>
            <a:r>
              <a:rPr lang="en-US" sz="5600" b="0" dirty="0" err="1">
                <a:solidFill>
                  <a:srgbClr val="002060"/>
                </a:solidFill>
                <a:sym typeface="Wingdings" panose="05000000000000000000" pitchFamily="2" charset="2"/>
              </a:rPr>
              <a:t>tăng</a:t>
            </a:r>
            <a:r>
              <a:rPr lang="en-US" sz="5600" b="0" dirty="0">
                <a:solidFill>
                  <a:srgbClr val="002060"/>
                </a:solidFill>
                <a:sym typeface="Wingdings" panose="05000000000000000000" pitchFamily="2" charset="2"/>
              </a:rPr>
              <a:t> (1)</a:t>
            </a:r>
          </a:p>
          <a:p>
            <a:pPr marL="0" indent="0" algn="just">
              <a:buNone/>
              <a:defRPr/>
            </a:pPr>
            <a:r>
              <a:rPr lang="en-US" sz="5600" b="0" dirty="0" err="1">
                <a:solidFill>
                  <a:srgbClr val="002060"/>
                </a:solidFill>
                <a:sym typeface="Wingdings" panose="05000000000000000000" pitchFamily="2" charset="2"/>
              </a:rPr>
              <a:t>Mà</a:t>
            </a:r>
            <a:r>
              <a:rPr lang="en-US" sz="5600" b="0" dirty="0">
                <a:solidFill>
                  <a:srgbClr val="002060"/>
                </a:solidFill>
                <a:sym typeface="Wingdings" panose="05000000000000000000" pitchFamily="2" charset="2"/>
              </a:rPr>
              <a:t>: m’ </a:t>
            </a:r>
            <a:r>
              <a:rPr lang="en-US" sz="5600" b="0" dirty="0" err="1">
                <a:solidFill>
                  <a:srgbClr val="002060"/>
                </a:solidFill>
                <a:sym typeface="Wingdings" panose="05000000000000000000" pitchFamily="2" charset="2"/>
              </a:rPr>
              <a:t>tăng</a:t>
            </a:r>
            <a:r>
              <a:rPr lang="en-US" sz="5600" b="0" dirty="0">
                <a:solidFill>
                  <a:srgbClr val="002060"/>
                </a:solidFill>
                <a:sym typeface="Wingdings" panose="05000000000000000000" pitchFamily="2" charset="2"/>
              </a:rPr>
              <a:t>  </a:t>
            </a:r>
            <a:r>
              <a:rPr lang="en-US" sz="5600" b="0" dirty="0" err="1">
                <a:solidFill>
                  <a:srgbClr val="002060"/>
                </a:solidFill>
                <a:sym typeface="Wingdings" panose="05000000000000000000" pitchFamily="2" charset="2"/>
              </a:rPr>
              <a:t>Quy</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mô</a:t>
            </a:r>
            <a:r>
              <a:rPr lang="en-US" sz="5600" b="0" dirty="0">
                <a:solidFill>
                  <a:srgbClr val="002060"/>
                </a:solidFill>
                <a:sym typeface="Wingdings" panose="05000000000000000000" pitchFamily="2" charset="2"/>
              </a:rPr>
              <a:t> TLTB </a:t>
            </a:r>
            <a:r>
              <a:rPr lang="en-US" sz="5600" b="0" dirty="0" err="1">
                <a:solidFill>
                  <a:srgbClr val="002060"/>
                </a:solidFill>
                <a:sym typeface="Wingdings" panose="05000000000000000000" pitchFamily="2" charset="2"/>
              </a:rPr>
              <a:t>tăng</a:t>
            </a:r>
            <a:r>
              <a:rPr lang="en-US" sz="5600" b="0" dirty="0">
                <a:solidFill>
                  <a:srgbClr val="002060"/>
                </a:solidFill>
                <a:sym typeface="Wingdings" panose="05000000000000000000" pitchFamily="2" charset="2"/>
              </a:rPr>
              <a:t> (2)</a:t>
            </a:r>
          </a:p>
          <a:p>
            <a:pPr marL="0" indent="0" algn="just">
              <a:buNone/>
              <a:defRPr/>
            </a:pPr>
            <a:r>
              <a:rPr lang="en-US" sz="5600" b="0" dirty="0" err="1">
                <a:solidFill>
                  <a:srgbClr val="002060"/>
                </a:solidFill>
                <a:sym typeface="Wingdings" panose="05000000000000000000" pitchFamily="2" charset="2"/>
              </a:rPr>
              <a:t>Từ</a:t>
            </a:r>
            <a:r>
              <a:rPr lang="en-US" sz="5600" b="0" dirty="0">
                <a:solidFill>
                  <a:srgbClr val="002060"/>
                </a:solidFill>
                <a:sym typeface="Wingdings" panose="05000000000000000000" pitchFamily="2" charset="2"/>
              </a:rPr>
              <a:t> (1) </a:t>
            </a:r>
            <a:r>
              <a:rPr lang="en-US" sz="5600" b="0" dirty="0" err="1">
                <a:solidFill>
                  <a:srgbClr val="002060"/>
                </a:solidFill>
                <a:sym typeface="Wingdings" panose="05000000000000000000" pitchFamily="2" charset="2"/>
              </a:rPr>
              <a:t>và</a:t>
            </a:r>
            <a:r>
              <a:rPr lang="en-US" sz="5600" b="0" dirty="0">
                <a:solidFill>
                  <a:srgbClr val="002060"/>
                </a:solidFill>
                <a:sym typeface="Wingdings" panose="05000000000000000000" pitchFamily="2" charset="2"/>
              </a:rPr>
              <a:t> (2)  NSLĐ </a:t>
            </a:r>
            <a:r>
              <a:rPr lang="en-US" sz="5600" b="0" dirty="0" err="1">
                <a:solidFill>
                  <a:srgbClr val="002060"/>
                </a:solidFill>
                <a:sym typeface="Wingdings" panose="05000000000000000000" pitchFamily="2" charset="2"/>
              </a:rPr>
              <a:t>tỷ</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lệ</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thuận</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với</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quy</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mô</a:t>
            </a:r>
            <a:r>
              <a:rPr lang="en-US" sz="5600" b="0" dirty="0">
                <a:solidFill>
                  <a:srgbClr val="002060"/>
                </a:solidFill>
                <a:sym typeface="Wingdings" panose="05000000000000000000" pitchFamily="2" charset="2"/>
              </a:rPr>
              <a:t> TLTB</a:t>
            </a:r>
            <a:endParaRPr lang="en-US" sz="5600" b="0" dirty="0">
              <a:solidFill>
                <a:srgbClr val="002060"/>
              </a:solidFill>
            </a:endParaRPr>
          </a:p>
          <a:p>
            <a:pPr marL="0" indent="0" algn="just">
              <a:buNone/>
              <a:defRPr/>
            </a:pPr>
            <a:endParaRPr lang="en-US" sz="5600" b="0" dirty="0">
              <a:solidFill>
                <a:srgbClr val="002060"/>
              </a:solidFill>
            </a:endParaRPr>
          </a:p>
        </p:txBody>
      </p:sp>
    </p:spTree>
    <p:extLst>
      <p:ext uri="{BB962C8B-B14F-4D97-AF65-F5344CB8AC3E}">
        <p14:creationId xmlns:p14="http://schemas.microsoft.com/office/powerpoint/2010/main" val="9098366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12FE274-6C45-75C8-7DE4-282C40882FD0}"/>
              </a:ext>
            </a:extLst>
          </p:cNvPr>
          <p:cNvSpPr txBox="1">
            <a:spLocks/>
          </p:cNvSpPr>
          <p:nvPr/>
        </p:nvSpPr>
        <p:spPr>
          <a:xfrm>
            <a:off x="2913208" y="1067436"/>
            <a:ext cx="117402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Quy</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mô</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của</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tư</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ứng</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trước</a:t>
            </a:r>
            <a:endParaRPr lang="en-US"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sp>
        <p:nvSpPr>
          <p:cNvPr id="7" name="Rectangle 3">
            <a:extLst>
              <a:ext uri="{FF2B5EF4-FFF2-40B4-BE49-F238E27FC236}">
                <a16:creationId xmlns:a16="http://schemas.microsoft.com/office/drawing/2014/main" id="{8DF9A5E5-6DB3-4CE2-A582-4319E05A7ACD}"/>
              </a:ext>
            </a:extLst>
          </p:cNvPr>
          <p:cNvSpPr txBox="1">
            <a:spLocks noChangeArrowheads="1"/>
          </p:cNvSpPr>
          <p:nvPr/>
        </p:nvSpPr>
        <p:spPr bwMode="auto">
          <a:xfrm>
            <a:off x="1745616" y="3688080"/>
            <a:ext cx="155448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en-US" sz="5600" dirty="0" err="1">
                <a:solidFill>
                  <a:srgbClr val="002060"/>
                </a:solidFill>
              </a:rPr>
              <a:t>Tái</a:t>
            </a:r>
            <a:r>
              <a:rPr lang="en-US" sz="5600" dirty="0">
                <a:solidFill>
                  <a:srgbClr val="002060"/>
                </a:solidFill>
              </a:rPr>
              <a:t> SX </a:t>
            </a:r>
            <a:r>
              <a:rPr lang="en-US" sz="5600" dirty="0" err="1">
                <a:solidFill>
                  <a:srgbClr val="002060"/>
                </a:solidFill>
              </a:rPr>
              <a:t>mở</a:t>
            </a:r>
            <a:r>
              <a:rPr lang="en-US" sz="5600" dirty="0">
                <a:solidFill>
                  <a:srgbClr val="002060"/>
                </a:solidFill>
              </a:rPr>
              <a:t> </a:t>
            </a:r>
            <a:r>
              <a:rPr lang="en-US" sz="5600" dirty="0" err="1">
                <a:solidFill>
                  <a:srgbClr val="002060"/>
                </a:solidFill>
              </a:rPr>
              <a:t>rộng</a:t>
            </a:r>
            <a:endParaRPr lang="en-US" sz="5600" dirty="0">
              <a:solidFill>
                <a:srgbClr val="002060"/>
              </a:solidFill>
            </a:endParaRPr>
          </a:p>
          <a:p>
            <a:pPr marL="0" indent="0" algn="just">
              <a:buNone/>
              <a:defRPr/>
            </a:pPr>
            <a:r>
              <a:rPr lang="en-US" sz="5600" b="0" dirty="0" err="1">
                <a:solidFill>
                  <a:srgbClr val="002060"/>
                </a:solidFill>
              </a:rPr>
              <a:t>Nếu</a:t>
            </a:r>
            <a:r>
              <a:rPr lang="en-US" sz="5600" b="0" dirty="0">
                <a:solidFill>
                  <a:srgbClr val="002060"/>
                </a:solidFill>
              </a:rPr>
              <a:t> c + v = 100 </a:t>
            </a:r>
            <a:r>
              <a:rPr lang="en-US" sz="5600" b="0" dirty="0" err="1">
                <a:solidFill>
                  <a:srgbClr val="002060"/>
                </a:solidFill>
              </a:rPr>
              <a:t>và</a:t>
            </a:r>
            <a:r>
              <a:rPr lang="en-US" sz="5600" b="0" dirty="0">
                <a:solidFill>
                  <a:srgbClr val="002060"/>
                </a:solidFill>
              </a:rPr>
              <a:t> c/v = 8/2</a:t>
            </a:r>
          </a:p>
          <a:p>
            <a:pPr marL="0" indent="0" algn="just">
              <a:buNone/>
              <a:defRPr/>
            </a:pPr>
            <a:r>
              <a:rPr lang="en-US" sz="5600" b="0" dirty="0" err="1">
                <a:solidFill>
                  <a:srgbClr val="002060"/>
                </a:solidFill>
              </a:rPr>
              <a:t>Năm</a:t>
            </a:r>
            <a:r>
              <a:rPr lang="en-US" sz="5600" b="0" dirty="0">
                <a:solidFill>
                  <a:srgbClr val="002060"/>
                </a:solidFill>
              </a:rPr>
              <a:t> 1: 80 c + 20 v + 20 m = 120 (m’ = 100%)</a:t>
            </a:r>
          </a:p>
          <a:p>
            <a:pPr marL="0" indent="0" algn="just">
              <a:buNone/>
              <a:defRPr/>
            </a:pPr>
            <a:r>
              <a:rPr lang="en-US" sz="5600" b="0" dirty="0" err="1">
                <a:solidFill>
                  <a:srgbClr val="002060"/>
                </a:solidFill>
              </a:rPr>
              <a:t>Tỷ</a:t>
            </a:r>
            <a:r>
              <a:rPr lang="en-US" sz="5600" b="0" dirty="0">
                <a:solidFill>
                  <a:srgbClr val="002060"/>
                </a:solidFill>
              </a:rPr>
              <a:t> </a:t>
            </a:r>
            <a:r>
              <a:rPr lang="en-US" sz="5600" b="0" dirty="0" err="1">
                <a:solidFill>
                  <a:srgbClr val="002060"/>
                </a:solidFill>
              </a:rPr>
              <a:t>lệ</a:t>
            </a:r>
            <a:r>
              <a:rPr lang="en-US" sz="5600" b="0" dirty="0">
                <a:solidFill>
                  <a:srgbClr val="002060"/>
                </a:solidFill>
              </a:rPr>
              <a:t> </a:t>
            </a:r>
            <a:r>
              <a:rPr lang="en-US" sz="5600" b="0" dirty="0" err="1">
                <a:solidFill>
                  <a:srgbClr val="002060"/>
                </a:solidFill>
              </a:rPr>
              <a:t>tích</a:t>
            </a:r>
            <a:r>
              <a:rPr lang="en-US" sz="5600" b="0" dirty="0">
                <a:solidFill>
                  <a:srgbClr val="002060"/>
                </a:solidFill>
              </a:rPr>
              <a:t> </a:t>
            </a:r>
            <a:r>
              <a:rPr lang="en-US" sz="5600" b="0" dirty="0" err="1">
                <a:solidFill>
                  <a:srgbClr val="002060"/>
                </a:solidFill>
              </a:rPr>
              <a:t>lũy</a:t>
            </a:r>
            <a:r>
              <a:rPr lang="en-US" sz="5600" b="0" dirty="0">
                <a:solidFill>
                  <a:srgbClr val="002060"/>
                </a:solidFill>
              </a:rPr>
              <a:t> 50% </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tích</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lũy</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được</a:t>
            </a:r>
            <a:r>
              <a:rPr lang="en-US" sz="5600" b="0" dirty="0">
                <a:solidFill>
                  <a:srgbClr val="002060"/>
                </a:solidFill>
                <a:sym typeface="Wingdings" panose="05000000000000000000" pitchFamily="2" charset="2"/>
              </a:rPr>
              <a:t> 10 m</a:t>
            </a:r>
            <a:endParaRPr lang="en-US" sz="5600" b="0" dirty="0">
              <a:solidFill>
                <a:srgbClr val="002060"/>
              </a:solidFill>
            </a:endParaRPr>
          </a:p>
          <a:p>
            <a:pPr marL="0" indent="0" algn="just">
              <a:buNone/>
              <a:defRPr/>
            </a:pPr>
            <a:r>
              <a:rPr lang="en-US" sz="5600" b="0" dirty="0" err="1">
                <a:solidFill>
                  <a:srgbClr val="002060"/>
                </a:solidFill>
              </a:rPr>
              <a:t>Nếu</a:t>
            </a:r>
            <a:r>
              <a:rPr lang="en-US" sz="5600" b="0" dirty="0">
                <a:solidFill>
                  <a:srgbClr val="002060"/>
                </a:solidFill>
              </a:rPr>
              <a:t> c + v = 1000 </a:t>
            </a:r>
            <a:r>
              <a:rPr lang="en-US" sz="5600" b="0" dirty="0" err="1">
                <a:solidFill>
                  <a:srgbClr val="002060"/>
                </a:solidFill>
              </a:rPr>
              <a:t>và</a:t>
            </a:r>
            <a:r>
              <a:rPr lang="en-US" sz="5600" b="0" dirty="0">
                <a:solidFill>
                  <a:srgbClr val="002060"/>
                </a:solidFill>
              </a:rPr>
              <a:t> c/v = 8/2</a:t>
            </a:r>
          </a:p>
          <a:p>
            <a:pPr marL="0" indent="0" algn="just">
              <a:buNone/>
              <a:defRPr/>
            </a:pPr>
            <a:r>
              <a:rPr lang="en-US" sz="5600" b="0" dirty="0" err="1">
                <a:solidFill>
                  <a:srgbClr val="002060"/>
                </a:solidFill>
              </a:rPr>
              <a:t>Năm</a:t>
            </a:r>
            <a:r>
              <a:rPr lang="en-US" sz="5600" b="0" dirty="0">
                <a:solidFill>
                  <a:srgbClr val="002060"/>
                </a:solidFill>
              </a:rPr>
              <a:t> 1 : 800 c + 200 v + 200 m = 1200 (m’ = 100%)</a:t>
            </a:r>
          </a:p>
          <a:p>
            <a:pPr marL="0" indent="0" algn="just">
              <a:buNone/>
              <a:defRPr/>
            </a:pPr>
            <a:r>
              <a:rPr lang="en-US" sz="5600" b="0" dirty="0" err="1">
                <a:solidFill>
                  <a:srgbClr val="002060"/>
                </a:solidFill>
              </a:rPr>
              <a:t>Tỷ</a:t>
            </a:r>
            <a:r>
              <a:rPr lang="en-US" sz="5600" b="0" dirty="0">
                <a:solidFill>
                  <a:srgbClr val="002060"/>
                </a:solidFill>
              </a:rPr>
              <a:t> </a:t>
            </a:r>
            <a:r>
              <a:rPr lang="en-US" sz="5600" b="0" dirty="0" err="1">
                <a:solidFill>
                  <a:srgbClr val="002060"/>
                </a:solidFill>
              </a:rPr>
              <a:t>lệ</a:t>
            </a:r>
            <a:r>
              <a:rPr lang="en-US" sz="5600" b="0" dirty="0">
                <a:solidFill>
                  <a:srgbClr val="002060"/>
                </a:solidFill>
              </a:rPr>
              <a:t> </a:t>
            </a:r>
            <a:r>
              <a:rPr lang="en-US" sz="5600" b="0" dirty="0" err="1">
                <a:solidFill>
                  <a:srgbClr val="002060"/>
                </a:solidFill>
              </a:rPr>
              <a:t>tích</a:t>
            </a:r>
            <a:r>
              <a:rPr lang="en-US" sz="5600" b="0" dirty="0">
                <a:solidFill>
                  <a:srgbClr val="002060"/>
                </a:solidFill>
              </a:rPr>
              <a:t> </a:t>
            </a:r>
            <a:r>
              <a:rPr lang="en-US" sz="5600" b="0" dirty="0" err="1">
                <a:solidFill>
                  <a:srgbClr val="002060"/>
                </a:solidFill>
              </a:rPr>
              <a:t>lũy</a:t>
            </a:r>
            <a:r>
              <a:rPr lang="en-US" sz="5600" b="0" dirty="0">
                <a:solidFill>
                  <a:srgbClr val="002060"/>
                </a:solidFill>
              </a:rPr>
              <a:t> 50% </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tích</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lũy</a:t>
            </a:r>
            <a:r>
              <a:rPr lang="en-US" sz="5600" b="0" dirty="0">
                <a:solidFill>
                  <a:srgbClr val="002060"/>
                </a:solidFill>
                <a:sym typeface="Wingdings" panose="05000000000000000000" pitchFamily="2" charset="2"/>
              </a:rPr>
              <a:t> </a:t>
            </a:r>
            <a:r>
              <a:rPr lang="en-US" sz="5600" b="0" dirty="0" err="1">
                <a:solidFill>
                  <a:srgbClr val="002060"/>
                </a:solidFill>
                <a:sym typeface="Wingdings" panose="05000000000000000000" pitchFamily="2" charset="2"/>
              </a:rPr>
              <a:t>được</a:t>
            </a:r>
            <a:r>
              <a:rPr lang="en-US" sz="5600" b="0" dirty="0">
                <a:solidFill>
                  <a:srgbClr val="002060"/>
                </a:solidFill>
                <a:sym typeface="Wingdings" panose="05000000000000000000" pitchFamily="2" charset="2"/>
              </a:rPr>
              <a:t> 100 m</a:t>
            </a:r>
            <a:endParaRPr lang="en-US" sz="5600" b="0" dirty="0">
              <a:solidFill>
                <a:srgbClr val="002060"/>
              </a:solidFill>
            </a:endParaRPr>
          </a:p>
          <a:p>
            <a:pPr marL="0" indent="0" algn="just">
              <a:buNone/>
              <a:defRPr/>
            </a:pPr>
            <a:endParaRPr lang="en-US" sz="5600" b="0" dirty="0">
              <a:solidFill>
                <a:srgbClr val="002060"/>
              </a:solidFill>
            </a:endParaRPr>
          </a:p>
        </p:txBody>
      </p:sp>
    </p:spTree>
    <p:extLst>
      <p:ext uri="{BB962C8B-B14F-4D97-AF65-F5344CB8AC3E}">
        <p14:creationId xmlns:p14="http://schemas.microsoft.com/office/powerpoint/2010/main" val="16217938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12FE274-6C45-75C8-7DE4-282C40882FD0}"/>
              </a:ext>
            </a:extLst>
          </p:cNvPr>
          <p:cNvSpPr txBox="1">
            <a:spLocks/>
          </p:cNvSpPr>
          <p:nvPr/>
        </p:nvSpPr>
        <p:spPr>
          <a:xfrm>
            <a:off x="2913208" y="786756"/>
            <a:ext cx="117402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Tư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sử</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dụng</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&amp; Tư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tiêu</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dùng</a:t>
            </a:r>
            <a:endParaRPr lang="en-US"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graphicFrame>
        <p:nvGraphicFramePr>
          <p:cNvPr id="5" name="Group 68">
            <a:extLst>
              <a:ext uri="{FF2B5EF4-FFF2-40B4-BE49-F238E27FC236}">
                <a16:creationId xmlns:a16="http://schemas.microsoft.com/office/drawing/2014/main" id="{1FFF15C4-EF63-0394-5DE1-40904754601F}"/>
              </a:ext>
            </a:extLst>
          </p:cNvPr>
          <p:cNvGraphicFramePr>
            <a:graphicFrameLocks/>
          </p:cNvGraphicFramePr>
          <p:nvPr>
            <p:extLst>
              <p:ext uri="{D42A27DB-BD31-4B8C-83A1-F6EECF244321}">
                <p14:modId xmlns:p14="http://schemas.microsoft.com/office/powerpoint/2010/main" val="3246246134"/>
              </p:ext>
            </p:extLst>
          </p:nvPr>
        </p:nvGraphicFramePr>
        <p:xfrm>
          <a:off x="1295401" y="4518406"/>
          <a:ext cx="15697198" cy="9158722"/>
        </p:xfrm>
        <a:graphic>
          <a:graphicData uri="http://schemas.openxmlformats.org/drawingml/2006/table">
            <a:tbl>
              <a:tblPr/>
              <a:tblGrid>
                <a:gridCol w="1640092">
                  <a:extLst>
                    <a:ext uri="{9D8B030D-6E8A-4147-A177-3AD203B41FA5}">
                      <a16:colId xmlns:a16="http://schemas.microsoft.com/office/drawing/2014/main" val="20000"/>
                    </a:ext>
                  </a:extLst>
                </a:gridCol>
                <a:gridCol w="2233318">
                  <a:extLst>
                    <a:ext uri="{9D8B030D-6E8A-4147-A177-3AD203B41FA5}">
                      <a16:colId xmlns:a16="http://schemas.microsoft.com/office/drawing/2014/main" val="20001"/>
                    </a:ext>
                  </a:extLst>
                </a:gridCol>
                <a:gridCol w="2326372">
                  <a:extLst>
                    <a:ext uri="{9D8B030D-6E8A-4147-A177-3AD203B41FA5}">
                      <a16:colId xmlns:a16="http://schemas.microsoft.com/office/drawing/2014/main" val="20002"/>
                    </a:ext>
                  </a:extLst>
                </a:gridCol>
                <a:gridCol w="2242042">
                  <a:extLst>
                    <a:ext uri="{9D8B030D-6E8A-4147-A177-3AD203B41FA5}">
                      <a16:colId xmlns:a16="http://schemas.microsoft.com/office/drawing/2014/main" val="20003"/>
                    </a:ext>
                  </a:extLst>
                </a:gridCol>
                <a:gridCol w="2835774">
                  <a:extLst>
                    <a:ext uri="{9D8B030D-6E8A-4147-A177-3AD203B41FA5}">
                      <a16:colId xmlns:a16="http://schemas.microsoft.com/office/drawing/2014/main" val="20004"/>
                    </a:ext>
                  </a:extLst>
                </a:gridCol>
                <a:gridCol w="4419600">
                  <a:extLst>
                    <a:ext uri="{9D8B030D-6E8A-4147-A177-3AD203B41FA5}">
                      <a16:colId xmlns:a16="http://schemas.microsoft.com/office/drawing/2014/main" val="20005"/>
                    </a:ext>
                  </a:extLst>
                </a:gridCol>
              </a:tblGrid>
              <a:tr h="2856926">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rgbClr val="002060"/>
                          </a:solidFill>
                          <a:effectLst/>
                          <a:latin typeface="Arial" panose="020B0604020202020204" pitchFamily="34" charset="0"/>
                          <a:ea typeface="MS PGothic" panose="020B0600070205080204" pitchFamily="34" charset="-128"/>
                        </a:rPr>
                        <a:t>Thế hệ máy</a:t>
                      </a:r>
                    </a:p>
                  </a:txBody>
                  <a:tcPr marL="182880" marR="182880" marT="91444" marB="9144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rgbClr val="002060"/>
                          </a:solidFill>
                          <a:effectLst/>
                          <a:latin typeface="Arial" panose="020B0604020202020204" pitchFamily="34" charset="0"/>
                          <a:ea typeface="MS PGothic" panose="020B0600070205080204" pitchFamily="34" charset="-128"/>
                        </a:rPr>
                        <a:t>Giá trị máy</a:t>
                      </a:r>
                    </a:p>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rgbClr val="002060"/>
                          </a:solidFill>
                          <a:effectLst/>
                          <a:latin typeface="Arial" panose="020B0604020202020204" pitchFamily="34" charset="0"/>
                          <a:ea typeface="MS PGothic" panose="020B0600070205080204" pitchFamily="34" charset="-128"/>
                        </a:rPr>
                        <a:t>(tr.USD)</a:t>
                      </a:r>
                    </a:p>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rgbClr val="002060"/>
                          </a:solidFill>
                          <a:effectLst/>
                          <a:latin typeface="Arial" panose="020B0604020202020204" pitchFamily="34" charset="0"/>
                          <a:ea typeface="MS PGothic" panose="020B0600070205080204" pitchFamily="34" charset="-128"/>
                        </a:rPr>
                        <a:t>TBSD</a:t>
                      </a:r>
                    </a:p>
                  </a:txBody>
                  <a:tcPr marL="182880" marR="182880" marT="91444" marB="9144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rgbClr val="002060"/>
                          </a:solidFill>
                          <a:effectLst/>
                          <a:latin typeface="Arial" panose="020B0604020202020204" pitchFamily="34" charset="0"/>
                          <a:ea typeface="MS PGothic" panose="020B0600070205080204" pitchFamily="34" charset="-128"/>
                        </a:rPr>
                        <a:t>Năng lực sx SP</a:t>
                      </a:r>
                    </a:p>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rgbClr val="002060"/>
                          </a:solidFill>
                          <a:effectLst/>
                          <a:latin typeface="Arial" panose="020B0604020202020204" pitchFamily="34" charset="0"/>
                          <a:ea typeface="MS PGothic" panose="020B0600070205080204" pitchFamily="34" charset="-128"/>
                        </a:rPr>
                        <a:t>(tr. SP)</a:t>
                      </a:r>
                    </a:p>
                  </a:txBody>
                  <a:tcPr marL="182880" marR="182880" marT="91444" marB="9144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rgbClr val="002060"/>
                          </a:solidFill>
                          <a:effectLst/>
                          <a:latin typeface="Arial" panose="020B0604020202020204" pitchFamily="34" charset="0"/>
                          <a:ea typeface="MS PGothic" panose="020B0600070205080204" pitchFamily="34" charset="-128"/>
                        </a:rPr>
                        <a:t>Khấu hao trong 1 SP </a:t>
                      </a:r>
                    </a:p>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rgbClr val="002060"/>
                          </a:solidFill>
                          <a:effectLst/>
                          <a:latin typeface="Arial" panose="020B0604020202020204" pitchFamily="34" charset="0"/>
                          <a:ea typeface="MS PGothic" panose="020B0600070205080204" pitchFamily="34" charset="-128"/>
                        </a:rPr>
                        <a:t>(USD)</a:t>
                      </a:r>
                    </a:p>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rgbClr val="002060"/>
                          </a:solidFill>
                          <a:effectLst/>
                          <a:latin typeface="Arial" panose="020B0604020202020204" pitchFamily="34" charset="0"/>
                          <a:ea typeface="MS PGothic" panose="020B0600070205080204" pitchFamily="34" charset="-128"/>
                        </a:rPr>
                        <a:t>TBTD</a:t>
                      </a:r>
                    </a:p>
                  </a:txBody>
                  <a:tcPr marL="182880" marR="182880" marT="91444" marB="9144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rgbClr val="002060"/>
                          </a:solidFill>
                          <a:effectLst/>
                          <a:latin typeface="Arial" panose="020B0604020202020204" pitchFamily="34" charset="0"/>
                          <a:ea typeface="MS PGothic" panose="020B0600070205080204" pitchFamily="34" charset="-128"/>
                        </a:rPr>
                        <a:t>Chênh lệch TBSD &amp; TBTD </a:t>
                      </a:r>
                    </a:p>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rgbClr val="002060"/>
                          </a:solidFill>
                          <a:effectLst/>
                          <a:latin typeface="Arial" panose="020B0604020202020204" pitchFamily="34" charset="0"/>
                          <a:ea typeface="MS PGothic" panose="020B0600070205080204" pitchFamily="34" charset="-128"/>
                        </a:rPr>
                        <a:t>(USD)</a:t>
                      </a:r>
                    </a:p>
                  </a:txBody>
                  <a:tcPr marL="182880" marR="182880" marT="91444" marB="9144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1" i="0" u="none" strike="noStrike" cap="none" normalizeH="0" baseline="0">
                          <a:ln>
                            <a:noFill/>
                          </a:ln>
                          <a:solidFill>
                            <a:srgbClr val="002060"/>
                          </a:solidFill>
                          <a:effectLst/>
                          <a:latin typeface="Arial" panose="020B0604020202020204" pitchFamily="34" charset="0"/>
                          <a:ea typeface="MS PGothic" panose="020B0600070205080204" pitchFamily="34" charset="-128"/>
                        </a:rPr>
                        <a:t>Khả năng tích lũy tăng so với thế hệ máy 1</a:t>
                      </a:r>
                    </a:p>
                  </a:txBody>
                  <a:tcPr marL="182880" marR="182880" marT="91444" marB="9144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99776">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I</a:t>
                      </a:r>
                    </a:p>
                  </a:txBody>
                  <a:tcPr marL="182880" marR="182880" marT="91444" marB="91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10</a:t>
                      </a:r>
                    </a:p>
                  </a:txBody>
                  <a:tcPr marL="182880" marR="182880" marT="91444" marB="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1</a:t>
                      </a:r>
                    </a:p>
                  </a:txBody>
                  <a:tcPr marL="182880" marR="182880" marT="91444" marB="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10</a:t>
                      </a:r>
                    </a:p>
                  </a:txBody>
                  <a:tcPr marL="182880" marR="182880" marT="91444" marB="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9.999.990</a:t>
                      </a:r>
                    </a:p>
                  </a:txBody>
                  <a:tcPr marL="182880" marR="182880" marT="91444" marB="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endPar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endParaRPr>
                    </a:p>
                  </a:txBody>
                  <a:tcPr marL="182880" marR="182880" marT="91444" marB="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02244">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II</a:t>
                      </a:r>
                    </a:p>
                  </a:txBody>
                  <a:tcPr marL="182880" marR="182880" marT="91444" marB="91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14</a:t>
                      </a:r>
                    </a:p>
                  </a:txBody>
                  <a:tcPr marL="182880" marR="182880" marT="91444" marB="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2</a:t>
                      </a:r>
                    </a:p>
                  </a:txBody>
                  <a:tcPr marL="182880" marR="182880" marT="91444" marB="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7</a:t>
                      </a:r>
                    </a:p>
                  </a:txBody>
                  <a:tcPr marL="182880" marR="182880" marT="91444" marB="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13.999.993</a:t>
                      </a:r>
                    </a:p>
                  </a:txBody>
                  <a:tcPr marL="182880" marR="182880" marT="91444" marB="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highlight>
                            <a:srgbClr val="FFFF00"/>
                          </a:highlight>
                          <a:latin typeface="Arial" panose="020B0604020202020204" pitchFamily="34" charset="0"/>
                          <a:ea typeface="MS PGothic" panose="020B0600070205080204" pitchFamily="34" charset="-128"/>
                        </a:rPr>
                        <a:t>2 triệu SP x (10-7) = 6 triệu USD</a:t>
                      </a:r>
                    </a:p>
                  </a:txBody>
                  <a:tcPr marL="182880" marR="182880" marT="91444" marB="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99776">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III</a:t>
                      </a:r>
                    </a:p>
                  </a:txBody>
                  <a:tcPr marL="182880" marR="182880" marT="91444" marB="9144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18</a:t>
                      </a:r>
                    </a:p>
                  </a:txBody>
                  <a:tcPr marL="182880" marR="182880" marT="91444" marB="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3</a:t>
                      </a:r>
                    </a:p>
                  </a:txBody>
                  <a:tcPr marL="182880" marR="182880" marT="91444" marB="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6</a:t>
                      </a:r>
                    </a:p>
                  </a:txBody>
                  <a:tcPr marL="182880" marR="182880" marT="91444" marB="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latin typeface="Arial" panose="020B0604020202020204" pitchFamily="34" charset="0"/>
                          <a:ea typeface="MS PGothic" panose="020B0600070205080204" pitchFamily="34" charset="-128"/>
                        </a:rPr>
                        <a:t>17.999.994</a:t>
                      </a:r>
                    </a:p>
                  </a:txBody>
                  <a:tcPr marL="182880" marR="182880" marT="91444" marB="9144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Verdana" panose="020B0604030504040204" pitchFamily="34" charset="0"/>
                          <a:ea typeface="MS PGothic" panose="020B0600070205080204" pitchFamily="34" charset="-128"/>
                        </a:defRPr>
                      </a:lvl1pPr>
                      <a:lvl2pPr marL="742950" indent="-285750">
                        <a:spcBef>
                          <a:spcPct val="20000"/>
                        </a:spcBef>
                        <a:defRPr sz="2400">
                          <a:solidFill>
                            <a:schemeClr val="tx1"/>
                          </a:solidFill>
                          <a:latin typeface="Verdana" panose="020B0604030504040204" pitchFamily="34" charset="0"/>
                          <a:ea typeface="MS PGothic" panose="020B0600070205080204" pitchFamily="34" charset="-128"/>
                        </a:defRPr>
                      </a:lvl2pPr>
                      <a:lvl3pPr marL="1143000" indent="-228600">
                        <a:spcBef>
                          <a:spcPct val="20000"/>
                        </a:spcBef>
                        <a:defRPr sz="2000">
                          <a:solidFill>
                            <a:schemeClr val="tx1"/>
                          </a:solidFill>
                          <a:latin typeface="Verdana" panose="020B0604030504040204" pitchFamily="34" charset="0"/>
                          <a:ea typeface="MS PGothic" panose="020B0600070205080204" pitchFamily="34" charset="-128"/>
                        </a:defRPr>
                      </a:lvl3pPr>
                      <a:lvl4pPr marL="1600200" indent="-228600">
                        <a:spcBef>
                          <a:spcPct val="20000"/>
                        </a:spcBef>
                        <a:defRPr>
                          <a:solidFill>
                            <a:schemeClr val="tx1"/>
                          </a:solidFill>
                          <a:latin typeface="Verdana" panose="020B0604030504040204" pitchFamily="34" charset="0"/>
                          <a:ea typeface="MS PGothic" panose="020B0600070205080204" pitchFamily="34" charset="-128"/>
                        </a:defRPr>
                      </a:lvl4pPr>
                      <a:lvl5pPr marL="2057400" indent="-228600">
                        <a:spcBef>
                          <a:spcPct val="20000"/>
                        </a:spcBef>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tabLst/>
                      </a:pPr>
                      <a:r>
                        <a:rPr kumimoji="0" lang="en-US" altLang="en-US" sz="3200" b="0" i="0" u="none" strike="noStrike" cap="none" normalizeH="0" baseline="0">
                          <a:ln>
                            <a:noFill/>
                          </a:ln>
                          <a:solidFill>
                            <a:srgbClr val="002060"/>
                          </a:solidFill>
                          <a:effectLst/>
                          <a:highlight>
                            <a:srgbClr val="00FF00"/>
                          </a:highlight>
                          <a:latin typeface="Arial" panose="020B0604020202020204" pitchFamily="34" charset="0"/>
                          <a:ea typeface="MS PGothic" panose="020B0600070205080204" pitchFamily="34" charset="-128"/>
                        </a:rPr>
                        <a:t>3 triệu SP x (10 - 6) = 12 triệu USD</a:t>
                      </a:r>
                    </a:p>
                  </a:txBody>
                  <a:tcPr marL="182880" marR="182880" marT="91444" marB="9144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Hộp Văn bản 1">
            <a:extLst>
              <a:ext uri="{FF2B5EF4-FFF2-40B4-BE49-F238E27FC236}">
                <a16:creationId xmlns:a16="http://schemas.microsoft.com/office/drawing/2014/main" id="{1627787F-B188-470A-43D5-2F069DB52570}"/>
              </a:ext>
            </a:extLst>
          </p:cNvPr>
          <p:cNvSpPr txBox="1"/>
          <p:nvPr/>
        </p:nvSpPr>
        <p:spPr>
          <a:xfrm>
            <a:off x="463061" y="2029830"/>
            <a:ext cx="17830801" cy="2308324"/>
          </a:xfrm>
          <a:prstGeom prst="rect">
            <a:avLst/>
          </a:prstGeom>
          <a:noFill/>
        </p:spPr>
        <p:txBody>
          <a:bodyPr wrap="square" rtlCol="0">
            <a:spAutoFit/>
          </a:bodyPr>
          <a:lstStyle/>
          <a:p>
            <a:r>
              <a:rPr lang="en-US" b="1">
                <a:solidFill>
                  <a:srgbClr val="C00000"/>
                </a:solidFill>
              </a:rPr>
              <a:t>TBSD: </a:t>
            </a:r>
            <a:r>
              <a:rPr lang="en-US">
                <a:solidFill>
                  <a:srgbClr val="C00000"/>
                </a:solidFill>
              </a:rPr>
              <a:t>Toàn bộ giá trị máy móc thiết bị - c1</a:t>
            </a:r>
          </a:p>
          <a:p>
            <a:r>
              <a:rPr lang="en-US" b="1">
                <a:solidFill>
                  <a:srgbClr val="C00000"/>
                </a:solidFill>
              </a:rPr>
              <a:t>TBTD: </a:t>
            </a:r>
            <a:r>
              <a:rPr lang="en-US">
                <a:solidFill>
                  <a:srgbClr val="C00000"/>
                </a:solidFill>
              </a:rPr>
              <a:t>Toàn bộ phần tiêu hao của tư bản sử dụng trg mỗi hang hóa – c1/n (n: số lg hang hóa)</a:t>
            </a:r>
          </a:p>
        </p:txBody>
      </p:sp>
    </p:spTree>
    <p:extLst>
      <p:ext uri="{BB962C8B-B14F-4D97-AF65-F5344CB8AC3E}">
        <p14:creationId xmlns:p14="http://schemas.microsoft.com/office/powerpoint/2010/main" val="12033389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8D4CC-99C0-6999-3059-FA4A09395B6F}"/>
              </a:ext>
            </a:extLst>
          </p:cNvPr>
          <p:cNvSpPr txBox="1">
            <a:spLocks/>
          </p:cNvSpPr>
          <p:nvPr/>
        </p:nvSpPr>
        <p:spPr>
          <a:xfrm>
            <a:off x="4180496" y="1575436"/>
            <a:ext cx="105210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a:solidFill>
                  <a:srgbClr val="002060"/>
                </a:solidFill>
                <a:latin typeface="Aachen" panose="02020500000000000000" pitchFamily="18" charset="0"/>
                <a:ea typeface="Aachen" panose="02020500000000000000" pitchFamily="18" charset="0"/>
                <a:cs typeface="Aachen" panose="02020500000000000000" pitchFamily="18" charset="0"/>
              </a:rPr>
              <a:t>Hệ quả của tích lũy TB</a:t>
            </a:r>
          </a:p>
        </p:txBody>
      </p:sp>
      <p:graphicFrame>
        <p:nvGraphicFramePr>
          <p:cNvPr id="3" name="Diagram 2">
            <a:extLst>
              <a:ext uri="{FF2B5EF4-FFF2-40B4-BE49-F238E27FC236}">
                <a16:creationId xmlns:a16="http://schemas.microsoft.com/office/drawing/2014/main" id="{6C88CD14-88C6-786F-09B8-3BEC0AE48080}"/>
              </a:ext>
            </a:extLst>
          </p:cNvPr>
          <p:cNvGraphicFramePr/>
          <p:nvPr>
            <p:extLst>
              <p:ext uri="{D42A27DB-BD31-4B8C-83A1-F6EECF244321}">
                <p14:modId xmlns:p14="http://schemas.microsoft.com/office/powerpoint/2010/main" val="4210778454"/>
              </p:ext>
            </p:extLst>
          </p:nvPr>
        </p:nvGraphicFramePr>
        <p:xfrm>
          <a:off x="2275840" y="2915920"/>
          <a:ext cx="14478000" cy="955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4427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D12880C-71DA-D056-4D3C-F46B5622CA65}"/>
              </a:ext>
            </a:extLst>
          </p:cNvPr>
          <p:cNvSpPr txBox="1">
            <a:spLocks/>
          </p:cNvSpPr>
          <p:nvPr/>
        </p:nvSpPr>
        <p:spPr>
          <a:xfrm>
            <a:off x="2798736" y="1474882"/>
            <a:ext cx="123498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Tích</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tụ</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và</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Tập</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trung</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Tư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endParaRPr lang="en-US"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sp>
        <p:nvSpPr>
          <p:cNvPr id="5" name="Text Box 14">
            <a:extLst>
              <a:ext uri="{FF2B5EF4-FFF2-40B4-BE49-F238E27FC236}">
                <a16:creationId xmlns:a16="http://schemas.microsoft.com/office/drawing/2014/main" id="{19796411-2DB0-B1E8-5992-0B716AA68CCA}"/>
              </a:ext>
            </a:extLst>
          </p:cNvPr>
          <p:cNvSpPr txBox="1">
            <a:spLocks noChangeArrowheads="1"/>
          </p:cNvSpPr>
          <p:nvPr/>
        </p:nvSpPr>
        <p:spPr bwMode="ltGray">
          <a:xfrm>
            <a:off x="1566081" y="3493134"/>
            <a:ext cx="15155838" cy="8092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lnSpc>
                <a:spcPct val="150000"/>
              </a:lnSpc>
            </a:pPr>
            <a:r>
              <a:rPr lang="vi-VN" altLang="en-US" sz="4400" dirty="0">
                <a:solidFill>
                  <a:srgbClr val="002060"/>
                </a:solidFill>
                <a:highlight>
                  <a:srgbClr val="FFFF00"/>
                </a:highlight>
                <a:latin typeface="Arial" panose="020B0604020202020204" pitchFamily="34" charset="0"/>
                <a:sym typeface="Wingdings" panose="05000000000000000000" pitchFamily="2" charset="2"/>
              </a:rPr>
              <a:t>Tích tụ TB: </a:t>
            </a:r>
            <a:r>
              <a:rPr lang="vi-VN" altLang="en-US" sz="4400" dirty="0">
                <a:solidFill>
                  <a:srgbClr val="002060"/>
                </a:solidFill>
                <a:latin typeface="Arial" panose="020B0604020202020204" pitchFamily="34" charset="0"/>
                <a:sym typeface="Wingdings" panose="05000000000000000000" pitchFamily="2" charset="2"/>
              </a:rPr>
              <a:t>sự tăng quy mô của tư bản cá biệt bằng cách tích lũy TB, là kết quả trực tiếp của tích lũy tư bản.</a:t>
            </a:r>
            <a:endParaRPr lang="en-US" altLang="en-US" sz="4400" dirty="0">
              <a:solidFill>
                <a:srgbClr val="002060"/>
              </a:solidFill>
              <a:latin typeface="Arial" panose="020B0604020202020204" pitchFamily="34" charset="0"/>
              <a:sym typeface="Wingdings" panose="05000000000000000000" pitchFamily="2" charset="2"/>
            </a:endParaRPr>
          </a:p>
          <a:p>
            <a:pPr algn="just">
              <a:lnSpc>
                <a:spcPct val="150000"/>
              </a:lnSpc>
            </a:pPr>
            <a:r>
              <a:rPr lang="vi-VN" altLang="en-US" sz="4400" dirty="0">
                <a:solidFill>
                  <a:srgbClr val="002060"/>
                </a:solidFill>
                <a:latin typeface="Arial" panose="020B0604020202020204" pitchFamily="34" charset="0"/>
                <a:sym typeface="Wingdings" panose="05000000000000000000" pitchFamily="2" charset="2"/>
              </a:rPr>
              <a:t>→  Tổng tư bản xã hội tăng lên</a:t>
            </a:r>
            <a:endParaRPr lang="en-US" altLang="en-US" sz="4400" dirty="0">
              <a:solidFill>
                <a:srgbClr val="002060"/>
              </a:solidFill>
              <a:latin typeface="Arial" panose="020B0604020202020204" pitchFamily="34" charset="0"/>
              <a:sym typeface="Wingdings" panose="05000000000000000000" pitchFamily="2" charset="2"/>
            </a:endParaRPr>
          </a:p>
          <a:p>
            <a:pPr algn="just">
              <a:lnSpc>
                <a:spcPct val="150000"/>
              </a:lnSpc>
            </a:pPr>
            <a:r>
              <a:rPr lang="en-US" altLang="en-US" sz="4400" dirty="0" err="1">
                <a:solidFill>
                  <a:srgbClr val="002060"/>
                </a:solidFill>
                <a:latin typeface="Arial" panose="020B0604020202020204" pitchFamily="34" charset="0"/>
                <a:sym typeface="Wingdings" panose="05000000000000000000" pitchFamily="2" charset="2"/>
              </a:rPr>
              <a:t>Ví</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dụ</a:t>
            </a:r>
            <a:r>
              <a:rPr lang="en-US" altLang="en-US" sz="4400" dirty="0">
                <a:solidFill>
                  <a:srgbClr val="002060"/>
                </a:solidFill>
                <a:latin typeface="Arial" panose="020B0604020202020204" pitchFamily="34" charset="0"/>
                <a:sym typeface="Wingdings" panose="05000000000000000000" pitchFamily="2" charset="2"/>
              </a:rPr>
              <a:t>:</a:t>
            </a:r>
          </a:p>
          <a:p>
            <a:pPr algn="just">
              <a:lnSpc>
                <a:spcPct val="150000"/>
              </a:lnSpc>
            </a:pPr>
            <a:r>
              <a:rPr lang="en-US" altLang="en-US" sz="4400" dirty="0">
                <a:solidFill>
                  <a:srgbClr val="002060"/>
                </a:solidFill>
                <a:latin typeface="Arial" panose="020B0604020202020204" pitchFamily="34" charset="0"/>
                <a:sym typeface="Wingdings" panose="05000000000000000000" pitchFamily="2" charset="2"/>
              </a:rPr>
              <a:t>TBCB A = 10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TBCB B = 10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 TBXH = 20 </a:t>
            </a:r>
            <a:r>
              <a:rPr lang="en-US" altLang="en-US" sz="4400" dirty="0" err="1">
                <a:solidFill>
                  <a:srgbClr val="002060"/>
                </a:solidFill>
                <a:latin typeface="Arial" panose="020B0604020202020204" pitchFamily="34" charset="0"/>
                <a:sym typeface="Wingdings" panose="05000000000000000000" pitchFamily="2" charset="2"/>
              </a:rPr>
              <a:t>tỷ</a:t>
            </a:r>
            <a:endParaRPr lang="en-US" altLang="en-US" sz="4400" dirty="0">
              <a:solidFill>
                <a:srgbClr val="002060"/>
              </a:solidFill>
              <a:latin typeface="Arial" panose="020B0604020202020204" pitchFamily="34" charset="0"/>
              <a:sym typeface="Wingdings" panose="05000000000000000000" pitchFamily="2" charset="2"/>
            </a:endParaRPr>
          </a:p>
          <a:p>
            <a:pPr algn="just">
              <a:lnSpc>
                <a:spcPct val="150000"/>
              </a:lnSpc>
            </a:pPr>
            <a:r>
              <a:rPr lang="en-US" altLang="en-US" sz="4400" dirty="0">
                <a:solidFill>
                  <a:srgbClr val="002060"/>
                </a:solidFill>
                <a:latin typeface="Arial" panose="020B0604020202020204" pitchFamily="34" charset="0"/>
                <a:sym typeface="Wingdings" panose="05000000000000000000" pitchFamily="2" charset="2"/>
              </a:rPr>
              <a:t>Qua 10 </a:t>
            </a:r>
            <a:r>
              <a:rPr lang="en-US" altLang="en-US" sz="4400" dirty="0" err="1">
                <a:solidFill>
                  <a:srgbClr val="002060"/>
                </a:solidFill>
                <a:latin typeface="Arial" panose="020B0604020202020204" pitchFamily="34" charset="0"/>
                <a:sym typeface="Wingdings" panose="05000000000000000000" pitchFamily="2" charset="2"/>
              </a:rPr>
              <a:t>năm</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tích</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lũy</a:t>
            </a:r>
            <a:r>
              <a:rPr lang="en-US" altLang="en-US" sz="4400" dirty="0">
                <a:solidFill>
                  <a:srgbClr val="002060"/>
                </a:solidFill>
                <a:latin typeface="Arial" panose="020B0604020202020204" pitchFamily="34" charset="0"/>
                <a:sym typeface="Wingdings" panose="05000000000000000000" pitchFamily="2" charset="2"/>
              </a:rPr>
              <a:t> (1 </a:t>
            </a:r>
            <a:r>
              <a:rPr lang="en-US" altLang="en-US" sz="4400" dirty="0" err="1">
                <a:solidFill>
                  <a:srgbClr val="002060"/>
                </a:solidFill>
                <a:latin typeface="Arial" panose="020B0604020202020204" pitchFamily="34" charset="0"/>
                <a:sym typeface="Wingdings" panose="05000000000000000000" pitchFamily="2" charset="2"/>
              </a:rPr>
              <a:t>năm</a:t>
            </a:r>
            <a:r>
              <a:rPr lang="en-US" altLang="en-US" sz="4400" dirty="0">
                <a:solidFill>
                  <a:srgbClr val="002060"/>
                </a:solidFill>
                <a:latin typeface="Arial" panose="020B0604020202020204" pitchFamily="34" charset="0"/>
                <a:sym typeface="Wingdings" panose="05000000000000000000" pitchFamily="2" charset="2"/>
              </a:rPr>
              <a:t> = 1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a:t>
            </a:r>
          </a:p>
          <a:p>
            <a:pPr algn="just">
              <a:lnSpc>
                <a:spcPct val="150000"/>
              </a:lnSpc>
            </a:pPr>
            <a:r>
              <a:rPr lang="en-US" altLang="en-US" sz="4400" dirty="0">
                <a:solidFill>
                  <a:srgbClr val="002060"/>
                </a:solidFill>
                <a:latin typeface="Arial" panose="020B0604020202020204" pitchFamily="34" charset="0"/>
                <a:sym typeface="Wingdings" panose="05000000000000000000" pitchFamily="2" charset="2"/>
              </a:rPr>
              <a:t>TBCB A = 20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TBCB B = 20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 TBXH = 40 </a:t>
            </a:r>
            <a:r>
              <a:rPr lang="en-US" altLang="en-US" sz="4400" dirty="0" err="1">
                <a:solidFill>
                  <a:srgbClr val="002060"/>
                </a:solidFill>
                <a:latin typeface="Arial" panose="020B0604020202020204" pitchFamily="34" charset="0"/>
                <a:sym typeface="Wingdings" panose="05000000000000000000" pitchFamily="2" charset="2"/>
              </a:rPr>
              <a:t>tỷ</a:t>
            </a:r>
            <a:endParaRPr lang="en-US" altLang="en-US" sz="4400" dirty="0">
              <a:solidFill>
                <a:srgbClr val="002060"/>
              </a:solidFill>
              <a:latin typeface="Arial" panose="020B0604020202020204" pitchFamily="34" charset="0"/>
              <a:sym typeface="Wingdings" panose="05000000000000000000" pitchFamily="2" charset="2"/>
            </a:endParaRPr>
          </a:p>
          <a:p>
            <a:pPr algn="just">
              <a:lnSpc>
                <a:spcPct val="150000"/>
              </a:lnSpc>
            </a:pPr>
            <a:r>
              <a:rPr lang="en-US" altLang="en-US" sz="4400" dirty="0">
                <a:solidFill>
                  <a:srgbClr val="002060"/>
                </a:solidFill>
                <a:latin typeface="Arial" panose="020B0604020202020204" pitchFamily="34" charset="0"/>
                <a:sym typeface="Wingdings" panose="05000000000000000000" pitchFamily="2" charset="2"/>
              </a:rPr>
              <a:t> </a:t>
            </a:r>
            <a:endParaRPr lang="vi-VN" altLang="en-US" sz="4400" dirty="0">
              <a:solidFill>
                <a:srgbClr val="002060"/>
              </a:solidFill>
              <a:latin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2240889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down)">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down)">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wipe(down)">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D12880C-71DA-D056-4D3C-F46B5622CA65}"/>
              </a:ext>
            </a:extLst>
          </p:cNvPr>
          <p:cNvSpPr txBox="1">
            <a:spLocks/>
          </p:cNvSpPr>
          <p:nvPr/>
        </p:nvSpPr>
        <p:spPr>
          <a:xfrm>
            <a:off x="2798736" y="1474882"/>
            <a:ext cx="123498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Tích</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tụ</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và</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Tập</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trung</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Tư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endParaRPr lang="en-US"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sp>
        <p:nvSpPr>
          <p:cNvPr id="5" name="Text Box 14">
            <a:extLst>
              <a:ext uri="{FF2B5EF4-FFF2-40B4-BE49-F238E27FC236}">
                <a16:creationId xmlns:a16="http://schemas.microsoft.com/office/drawing/2014/main" id="{19796411-2DB0-B1E8-5992-0B716AA68CCA}"/>
              </a:ext>
            </a:extLst>
          </p:cNvPr>
          <p:cNvSpPr txBox="1">
            <a:spLocks noChangeArrowheads="1"/>
          </p:cNvSpPr>
          <p:nvPr/>
        </p:nvSpPr>
        <p:spPr bwMode="ltGray">
          <a:xfrm>
            <a:off x="1566081" y="2750185"/>
            <a:ext cx="15155838" cy="9108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lnSpc>
                <a:spcPct val="150000"/>
              </a:lnSpc>
            </a:pPr>
            <a:r>
              <a:rPr lang="vi-VN" altLang="en-US" sz="4400" dirty="0">
                <a:solidFill>
                  <a:srgbClr val="002060"/>
                </a:solidFill>
                <a:highlight>
                  <a:srgbClr val="FFFF00"/>
                </a:highlight>
                <a:latin typeface="Arial" panose="020B0604020202020204" pitchFamily="34" charset="0"/>
                <a:sym typeface="Wingdings" panose="05000000000000000000" pitchFamily="2" charset="2"/>
              </a:rPr>
              <a:t>Tập trung TB: </a:t>
            </a:r>
            <a:r>
              <a:rPr lang="vi-VN" altLang="en-US" sz="4400" dirty="0">
                <a:solidFill>
                  <a:srgbClr val="002060"/>
                </a:solidFill>
                <a:latin typeface="Arial" panose="020B0604020202020204" pitchFamily="34" charset="0"/>
                <a:sym typeface="Wingdings" panose="05000000000000000000" pitchFamily="2" charset="2"/>
              </a:rPr>
              <a:t>sự tăng quy mô của tư bản cá biệt bằng cách kết hợp nhiều TB nhỏ lại thành một TB mới lớn hơn trên cơ sở tự nguyện hoặc cưỡng bức</a:t>
            </a:r>
          </a:p>
          <a:p>
            <a:pPr algn="just">
              <a:lnSpc>
                <a:spcPct val="150000"/>
              </a:lnSpc>
            </a:pPr>
            <a:r>
              <a:rPr lang="vi-VN" altLang="en-US" sz="4400" dirty="0">
                <a:solidFill>
                  <a:srgbClr val="002060"/>
                </a:solidFill>
                <a:latin typeface="Arial" panose="020B0604020202020204" pitchFamily="34" charset="0"/>
                <a:sym typeface="Wingdings" panose="05000000000000000000" pitchFamily="2" charset="2"/>
              </a:rPr>
              <a:t>→  Tổng tư bản xã hội không tăng nhưng thúc đẩy nhanh nền sản xuất lớn ra đời</a:t>
            </a:r>
            <a:endParaRPr lang="en-US" altLang="en-US" sz="4400" dirty="0">
              <a:solidFill>
                <a:srgbClr val="002060"/>
              </a:solidFill>
              <a:latin typeface="Arial" panose="020B0604020202020204" pitchFamily="34" charset="0"/>
              <a:sym typeface="Wingdings" panose="05000000000000000000" pitchFamily="2" charset="2"/>
            </a:endParaRPr>
          </a:p>
          <a:p>
            <a:pPr algn="just">
              <a:lnSpc>
                <a:spcPct val="150000"/>
              </a:lnSpc>
            </a:pPr>
            <a:r>
              <a:rPr lang="en-US" altLang="en-US" sz="4400" dirty="0" err="1">
                <a:solidFill>
                  <a:srgbClr val="002060"/>
                </a:solidFill>
                <a:latin typeface="Arial" panose="020B0604020202020204" pitchFamily="34" charset="0"/>
                <a:sym typeface="Wingdings" panose="05000000000000000000" pitchFamily="2" charset="2"/>
              </a:rPr>
              <a:t>Ví</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dụ</a:t>
            </a:r>
            <a:r>
              <a:rPr lang="en-US" altLang="en-US" sz="4400" dirty="0">
                <a:solidFill>
                  <a:srgbClr val="002060"/>
                </a:solidFill>
                <a:latin typeface="Arial" panose="020B0604020202020204" pitchFamily="34" charset="0"/>
                <a:sym typeface="Wingdings" panose="05000000000000000000" pitchFamily="2" charset="2"/>
              </a:rPr>
              <a:t>:</a:t>
            </a:r>
          </a:p>
          <a:p>
            <a:pPr algn="just">
              <a:lnSpc>
                <a:spcPct val="150000"/>
              </a:lnSpc>
            </a:pPr>
            <a:r>
              <a:rPr lang="en-US" altLang="en-US" sz="4400" dirty="0">
                <a:solidFill>
                  <a:srgbClr val="002060"/>
                </a:solidFill>
                <a:latin typeface="Arial" panose="020B0604020202020204" pitchFamily="34" charset="0"/>
                <a:sym typeface="Wingdings" panose="05000000000000000000" pitchFamily="2" charset="2"/>
              </a:rPr>
              <a:t>TBCB A = 10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TBCB B = 10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 TBXH = 20 </a:t>
            </a:r>
            <a:r>
              <a:rPr lang="en-US" altLang="en-US" sz="4400" dirty="0" err="1">
                <a:solidFill>
                  <a:srgbClr val="002060"/>
                </a:solidFill>
                <a:latin typeface="Arial" panose="020B0604020202020204" pitchFamily="34" charset="0"/>
                <a:sym typeface="Wingdings" panose="05000000000000000000" pitchFamily="2" charset="2"/>
              </a:rPr>
              <a:t>tỷ</a:t>
            </a:r>
            <a:endParaRPr lang="en-US" altLang="en-US" sz="4400" dirty="0">
              <a:solidFill>
                <a:srgbClr val="002060"/>
              </a:solidFill>
              <a:latin typeface="Arial" panose="020B0604020202020204" pitchFamily="34" charset="0"/>
              <a:sym typeface="Wingdings" panose="05000000000000000000" pitchFamily="2" charset="2"/>
            </a:endParaRPr>
          </a:p>
          <a:p>
            <a:pPr algn="just">
              <a:lnSpc>
                <a:spcPct val="150000"/>
              </a:lnSpc>
            </a:pPr>
            <a:r>
              <a:rPr lang="en-US" altLang="en-US" sz="4400" dirty="0" err="1">
                <a:solidFill>
                  <a:srgbClr val="002060"/>
                </a:solidFill>
                <a:latin typeface="Arial" panose="020B0604020202020204" pitchFamily="34" charset="0"/>
                <a:sym typeface="Wingdings" panose="05000000000000000000" pitchFamily="2" charset="2"/>
              </a:rPr>
              <a:t>Thông</a:t>
            </a:r>
            <a:r>
              <a:rPr lang="en-US" altLang="en-US" sz="4400" dirty="0">
                <a:solidFill>
                  <a:srgbClr val="002060"/>
                </a:solidFill>
                <a:latin typeface="Arial" panose="020B0604020202020204" pitchFamily="34" charset="0"/>
                <a:sym typeface="Wingdings" panose="05000000000000000000" pitchFamily="2" charset="2"/>
              </a:rPr>
              <a:t> qua </a:t>
            </a:r>
            <a:r>
              <a:rPr lang="en-US" altLang="en-US" sz="4400" dirty="0" err="1">
                <a:solidFill>
                  <a:srgbClr val="002060"/>
                </a:solidFill>
                <a:latin typeface="Arial" panose="020B0604020202020204" pitchFamily="34" charset="0"/>
                <a:sym typeface="Wingdings" panose="05000000000000000000" pitchFamily="2" charset="2"/>
              </a:rPr>
              <a:t>sáp</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nhập</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mua</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lại</a:t>
            </a:r>
            <a:r>
              <a:rPr lang="en-US" altLang="en-US" sz="4400" dirty="0">
                <a:solidFill>
                  <a:srgbClr val="002060"/>
                </a:solidFill>
                <a:latin typeface="Arial" panose="020B0604020202020204" pitchFamily="34" charset="0"/>
                <a:sym typeface="Wingdings" panose="05000000000000000000" pitchFamily="2" charset="2"/>
              </a:rPr>
              <a:t>:</a:t>
            </a:r>
          </a:p>
          <a:p>
            <a:pPr algn="just">
              <a:lnSpc>
                <a:spcPct val="150000"/>
              </a:lnSpc>
            </a:pPr>
            <a:r>
              <a:rPr lang="en-US" altLang="en-US" sz="4400" dirty="0">
                <a:solidFill>
                  <a:srgbClr val="002060"/>
                </a:solidFill>
                <a:latin typeface="Arial" panose="020B0604020202020204" pitchFamily="34" charset="0"/>
                <a:sym typeface="Wingdings" panose="05000000000000000000" pitchFamily="2" charset="2"/>
              </a:rPr>
              <a:t>TBCB A = 20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TBCB B = 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 TBXH = 20 </a:t>
            </a:r>
            <a:r>
              <a:rPr lang="en-US" altLang="en-US" sz="4400" dirty="0" err="1">
                <a:solidFill>
                  <a:srgbClr val="002060"/>
                </a:solidFill>
                <a:latin typeface="Arial" panose="020B0604020202020204" pitchFamily="34" charset="0"/>
                <a:sym typeface="Wingdings" panose="05000000000000000000" pitchFamily="2" charset="2"/>
              </a:rPr>
              <a:t>tỷ</a:t>
            </a:r>
            <a:endParaRPr lang="en-US" altLang="en-US" sz="4400" dirty="0">
              <a:solidFill>
                <a:srgbClr val="002060"/>
              </a:solidFill>
              <a:latin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637896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down)">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down)">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D12880C-71DA-D056-4D3C-F46B5622CA65}"/>
              </a:ext>
            </a:extLst>
          </p:cNvPr>
          <p:cNvSpPr txBox="1">
            <a:spLocks/>
          </p:cNvSpPr>
          <p:nvPr/>
        </p:nvSpPr>
        <p:spPr>
          <a:xfrm>
            <a:off x="2798736" y="1474882"/>
            <a:ext cx="123498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Tích</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tụ</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và</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Tập</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trung</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Tư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endParaRPr lang="en-US"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sp>
        <p:nvSpPr>
          <p:cNvPr id="5" name="Text Box 14">
            <a:extLst>
              <a:ext uri="{FF2B5EF4-FFF2-40B4-BE49-F238E27FC236}">
                <a16:creationId xmlns:a16="http://schemas.microsoft.com/office/drawing/2014/main" id="{19796411-2DB0-B1E8-5992-0B716AA68CCA}"/>
              </a:ext>
            </a:extLst>
          </p:cNvPr>
          <p:cNvSpPr txBox="1">
            <a:spLocks noChangeArrowheads="1"/>
          </p:cNvSpPr>
          <p:nvPr/>
        </p:nvSpPr>
        <p:spPr bwMode="ltGray">
          <a:xfrm>
            <a:off x="1566081" y="2864495"/>
            <a:ext cx="15155838" cy="10123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lnSpc>
                <a:spcPct val="150000"/>
              </a:lnSpc>
            </a:pPr>
            <a:r>
              <a:rPr lang="en-US" altLang="en-US" sz="4400" dirty="0" err="1">
                <a:solidFill>
                  <a:srgbClr val="002060"/>
                </a:solidFill>
                <a:latin typeface="Arial" panose="020B0604020202020204" pitchFamily="34" charset="0"/>
                <a:sym typeface="Wingdings" panose="05000000000000000000" pitchFamily="2" charset="2"/>
              </a:rPr>
              <a:t>Mối</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quan</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hệ</a:t>
            </a:r>
            <a:r>
              <a:rPr lang="en-US" altLang="en-US" sz="4400" dirty="0">
                <a:solidFill>
                  <a:srgbClr val="002060"/>
                </a:solidFill>
                <a:latin typeface="Arial" panose="020B0604020202020204" pitchFamily="34" charset="0"/>
                <a:sym typeface="Wingdings" panose="05000000000000000000" pitchFamily="2" charset="2"/>
              </a:rPr>
              <a:t>: </a:t>
            </a:r>
            <a:r>
              <a:rPr lang="en-US" altLang="en-US" sz="3600" dirty="0">
                <a:solidFill>
                  <a:srgbClr val="002060"/>
                </a:solidFill>
                <a:latin typeface="Arial" panose="020B0604020202020204" pitchFamily="34" charset="0"/>
                <a:sym typeface="Wingdings" panose="05000000000000000000" pitchFamily="2" charset="2"/>
              </a:rPr>
              <a:t>TLTB </a:t>
            </a:r>
            <a:r>
              <a:rPr lang="en-US" altLang="en-US" sz="3600" dirty="0" err="1">
                <a:solidFill>
                  <a:srgbClr val="002060"/>
                </a:solidFill>
                <a:latin typeface="Arial" panose="020B0604020202020204" pitchFamily="34" charset="0"/>
                <a:sym typeface="Wingdings" panose="05000000000000000000" pitchFamily="2" charset="2"/>
              </a:rPr>
              <a:t>tăng</a:t>
            </a:r>
            <a:r>
              <a:rPr lang="en-US" altLang="en-US" sz="3600" dirty="0">
                <a:solidFill>
                  <a:srgbClr val="002060"/>
                </a:solidFill>
                <a:latin typeface="Arial" panose="020B0604020202020204" pitchFamily="34" charset="0"/>
                <a:sym typeface="Wingdings" panose="05000000000000000000" pitchFamily="2" charset="2"/>
              </a:rPr>
              <a:t>  TTTB </a:t>
            </a:r>
            <a:r>
              <a:rPr lang="en-US" altLang="en-US" sz="3600" dirty="0" err="1">
                <a:solidFill>
                  <a:srgbClr val="002060"/>
                </a:solidFill>
                <a:latin typeface="Arial" panose="020B0604020202020204" pitchFamily="34" charset="0"/>
                <a:sym typeface="Wingdings" panose="05000000000000000000" pitchFamily="2" charset="2"/>
              </a:rPr>
              <a:t>tăng</a:t>
            </a:r>
            <a:r>
              <a:rPr lang="en-US" altLang="en-US" sz="3600" dirty="0">
                <a:solidFill>
                  <a:srgbClr val="002060"/>
                </a:solidFill>
                <a:latin typeface="Arial" panose="020B0604020202020204" pitchFamily="34" charset="0"/>
                <a:sym typeface="Wingdings" panose="05000000000000000000" pitchFamily="2" charset="2"/>
              </a:rPr>
              <a:t>  </a:t>
            </a:r>
            <a:r>
              <a:rPr lang="en-US" altLang="en-US" sz="3600" dirty="0" err="1">
                <a:solidFill>
                  <a:srgbClr val="002060"/>
                </a:solidFill>
                <a:latin typeface="Arial" panose="020B0604020202020204" pitchFamily="34" charset="0"/>
                <a:sym typeface="Wingdings" panose="05000000000000000000" pitchFamily="2" charset="2"/>
              </a:rPr>
              <a:t>TTrTB</a:t>
            </a:r>
            <a:r>
              <a:rPr lang="en-US" altLang="en-US" sz="3600" dirty="0">
                <a:solidFill>
                  <a:srgbClr val="002060"/>
                </a:solidFill>
                <a:latin typeface="Arial" panose="020B0604020202020204" pitchFamily="34" charset="0"/>
                <a:sym typeface="Wingdings" panose="05000000000000000000" pitchFamily="2" charset="2"/>
              </a:rPr>
              <a:t> </a:t>
            </a:r>
            <a:r>
              <a:rPr lang="en-US" altLang="en-US" sz="3600" dirty="0" err="1">
                <a:solidFill>
                  <a:srgbClr val="002060"/>
                </a:solidFill>
                <a:latin typeface="Arial" panose="020B0604020202020204" pitchFamily="34" charset="0"/>
                <a:sym typeface="Wingdings" panose="05000000000000000000" pitchFamily="2" charset="2"/>
              </a:rPr>
              <a:t>tăng</a:t>
            </a:r>
            <a:r>
              <a:rPr lang="en-US" altLang="en-US" sz="3600" dirty="0">
                <a:solidFill>
                  <a:srgbClr val="002060"/>
                </a:solidFill>
                <a:latin typeface="Arial" panose="020B0604020202020204" pitchFamily="34" charset="0"/>
                <a:sym typeface="Wingdings" panose="05000000000000000000" pitchFamily="2" charset="2"/>
              </a:rPr>
              <a:t>  TLTB </a:t>
            </a:r>
            <a:r>
              <a:rPr lang="en-US" altLang="en-US" sz="3600" dirty="0" err="1">
                <a:solidFill>
                  <a:srgbClr val="002060"/>
                </a:solidFill>
                <a:latin typeface="Arial" panose="020B0604020202020204" pitchFamily="34" charset="0"/>
                <a:sym typeface="Wingdings" panose="05000000000000000000" pitchFamily="2" charset="2"/>
              </a:rPr>
              <a:t>tăng</a:t>
            </a:r>
            <a:endParaRPr lang="en-US" altLang="en-US" sz="3600" dirty="0">
              <a:solidFill>
                <a:srgbClr val="002060"/>
              </a:solidFill>
              <a:latin typeface="Arial" panose="020B0604020202020204" pitchFamily="34" charset="0"/>
              <a:sym typeface="Wingdings" panose="05000000000000000000" pitchFamily="2" charset="2"/>
            </a:endParaRPr>
          </a:p>
          <a:p>
            <a:pPr algn="just">
              <a:lnSpc>
                <a:spcPct val="150000"/>
              </a:lnSpc>
            </a:pPr>
            <a:r>
              <a:rPr lang="en-US" altLang="en-US" sz="4400" dirty="0" err="1">
                <a:solidFill>
                  <a:srgbClr val="002060"/>
                </a:solidFill>
                <a:latin typeface="Arial" panose="020B0604020202020204" pitchFamily="34" charset="0"/>
                <a:sym typeface="Wingdings" panose="05000000000000000000" pitchFamily="2" charset="2"/>
              </a:rPr>
              <a:t>Ví</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dụ</a:t>
            </a:r>
            <a:r>
              <a:rPr lang="en-US" altLang="en-US" sz="4400" dirty="0">
                <a:solidFill>
                  <a:srgbClr val="002060"/>
                </a:solidFill>
                <a:latin typeface="Arial" panose="020B0604020202020204" pitchFamily="34" charset="0"/>
                <a:sym typeface="Wingdings" panose="05000000000000000000" pitchFamily="2" charset="2"/>
              </a:rPr>
              <a:t>:</a:t>
            </a:r>
          </a:p>
          <a:p>
            <a:pPr algn="just">
              <a:lnSpc>
                <a:spcPct val="150000"/>
              </a:lnSpc>
            </a:pPr>
            <a:r>
              <a:rPr lang="en-US" altLang="en-US" sz="4400" dirty="0">
                <a:solidFill>
                  <a:srgbClr val="002060"/>
                </a:solidFill>
                <a:latin typeface="Arial" panose="020B0604020202020204" pitchFamily="34" charset="0"/>
                <a:sym typeface="Wingdings" panose="05000000000000000000" pitchFamily="2" charset="2"/>
              </a:rPr>
              <a:t>TBCB A = 10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TBCB B = 10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 TBXH = 20 </a:t>
            </a:r>
            <a:r>
              <a:rPr lang="en-US" altLang="en-US" sz="4400" dirty="0" err="1">
                <a:solidFill>
                  <a:srgbClr val="002060"/>
                </a:solidFill>
                <a:latin typeface="Arial" panose="020B0604020202020204" pitchFamily="34" charset="0"/>
                <a:sym typeface="Wingdings" panose="05000000000000000000" pitchFamily="2" charset="2"/>
              </a:rPr>
              <a:t>tỷ</a:t>
            </a:r>
            <a:endParaRPr lang="en-US" altLang="en-US" sz="4400" dirty="0">
              <a:solidFill>
                <a:srgbClr val="002060"/>
              </a:solidFill>
              <a:latin typeface="Arial" panose="020B0604020202020204" pitchFamily="34" charset="0"/>
              <a:sym typeface="Wingdings" panose="05000000000000000000" pitchFamily="2" charset="2"/>
            </a:endParaRPr>
          </a:p>
          <a:p>
            <a:pPr algn="just">
              <a:lnSpc>
                <a:spcPct val="150000"/>
              </a:lnSpc>
            </a:pPr>
            <a:r>
              <a:rPr lang="en-US" altLang="en-US" sz="4400" dirty="0">
                <a:solidFill>
                  <a:srgbClr val="002060"/>
                </a:solidFill>
                <a:latin typeface="Arial" panose="020B0604020202020204" pitchFamily="34" charset="0"/>
                <a:sym typeface="Wingdings" panose="05000000000000000000" pitchFamily="2" charset="2"/>
              </a:rPr>
              <a:t>1. Qua 10 </a:t>
            </a:r>
            <a:r>
              <a:rPr lang="en-US" altLang="en-US" sz="4400" dirty="0" err="1">
                <a:solidFill>
                  <a:srgbClr val="002060"/>
                </a:solidFill>
                <a:latin typeface="Arial" panose="020B0604020202020204" pitchFamily="34" charset="0"/>
                <a:sym typeface="Wingdings" panose="05000000000000000000" pitchFamily="2" charset="2"/>
              </a:rPr>
              <a:t>năm</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tích</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lũy</a:t>
            </a:r>
            <a:r>
              <a:rPr lang="en-US" altLang="en-US" sz="4400" dirty="0">
                <a:solidFill>
                  <a:srgbClr val="002060"/>
                </a:solidFill>
                <a:latin typeface="Arial" panose="020B0604020202020204" pitchFamily="34" charset="0"/>
                <a:sym typeface="Wingdings" panose="05000000000000000000" pitchFamily="2" charset="2"/>
              </a:rPr>
              <a:t> (1 </a:t>
            </a:r>
            <a:r>
              <a:rPr lang="en-US" altLang="en-US" sz="4400" dirty="0" err="1">
                <a:solidFill>
                  <a:srgbClr val="002060"/>
                </a:solidFill>
                <a:latin typeface="Arial" panose="020B0604020202020204" pitchFamily="34" charset="0"/>
                <a:sym typeface="Wingdings" panose="05000000000000000000" pitchFamily="2" charset="2"/>
              </a:rPr>
              <a:t>năm</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tích</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lũy</a:t>
            </a:r>
            <a:r>
              <a:rPr lang="en-US" altLang="en-US" sz="4400" dirty="0">
                <a:solidFill>
                  <a:srgbClr val="002060"/>
                </a:solidFill>
                <a:latin typeface="Arial" panose="020B0604020202020204" pitchFamily="34" charset="0"/>
                <a:sym typeface="Wingdings" panose="05000000000000000000" pitchFamily="2" charset="2"/>
              </a:rPr>
              <a:t> 1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a:t>
            </a:r>
          </a:p>
          <a:p>
            <a:pPr algn="just">
              <a:lnSpc>
                <a:spcPct val="150000"/>
              </a:lnSpc>
            </a:pPr>
            <a:r>
              <a:rPr lang="en-US" altLang="en-US" sz="4400" dirty="0">
                <a:solidFill>
                  <a:srgbClr val="002060"/>
                </a:solidFill>
                <a:latin typeface="Arial" panose="020B0604020202020204" pitchFamily="34" charset="0"/>
                <a:sym typeface="Wingdings" panose="05000000000000000000" pitchFamily="2" charset="2"/>
              </a:rPr>
              <a:t>TBCB A = 20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TBCB B = 20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 TBXH = 40 </a:t>
            </a:r>
            <a:r>
              <a:rPr lang="en-US" altLang="en-US" sz="4400" dirty="0" err="1">
                <a:solidFill>
                  <a:srgbClr val="002060"/>
                </a:solidFill>
                <a:latin typeface="Arial" panose="020B0604020202020204" pitchFamily="34" charset="0"/>
                <a:sym typeface="Wingdings" panose="05000000000000000000" pitchFamily="2" charset="2"/>
              </a:rPr>
              <a:t>tỷ</a:t>
            </a:r>
            <a:endParaRPr lang="en-US" altLang="en-US" sz="4400" dirty="0">
              <a:solidFill>
                <a:srgbClr val="002060"/>
              </a:solidFill>
              <a:latin typeface="Arial" panose="020B0604020202020204" pitchFamily="34" charset="0"/>
              <a:sym typeface="Wingdings" panose="05000000000000000000" pitchFamily="2" charset="2"/>
            </a:endParaRPr>
          </a:p>
          <a:p>
            <a:pPr algn="just">
              <a:lnSpc>
                <a:spcPct val="150000"/>
              </a:lnSpc>
            </a:pPr>
            <a:r>
              <a:rPr lang="en-US" altLang="en-US" sz="4400" dirty="0">
                <a:solidFill>
                  <a:srgbClr val="002060"/>
                </a:solidFill>
                <a:latin typeface="Arial" panose="020B0604020202020204" pitchFamily="34" charset="0"/>
                <a:sym typeface="Wingdings" panose="05000000000000000000" pitchFamily="2" charset="2"/>
              </a:rPr>
              <a:t>2. Qua 10 </a:t>
            </a:r>
            <a:r>
              <a:rPr lang="en-US" altLang="en-US" sz="4400" dirty="0" err="1">
                <a:solidFill>
                  <a:srgbClr val="002060"/>
                </a:solidFill>
                <a:latin typeface="Arial" panose="020B0604020202020204" pitchFamily="34" charset="0"/>
                <a:sym typeface="Wingdings" panose="05000000000000000000" pitchFamily="2" charset="2"/>
              </a:rPr>
              <a:t>năm</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tích</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lũy</a:t>
            </a:r>
            <a:r>
              <a:rPr lang="en-US" altLang="en-US" sz="4400" dirty="0">
                <a:solidFill>
                  <a:srgbClr val="002060"/>
                </a:solidFill>
                <a:latin typeface="Arial" panose="020B0604020202020204" pitchFamily="34" charset="0"/>
                <a:sym typeface="Wingdings" panose="05000000000000000000" pitchFamily="2" charset="2"/>
              </a:rPr>
              <a:t> (1 </a:t>
            </a:r>
            <a:r>
              <a:rPr lang="en-US" altLang="en-US" sz="4400" dirty="0" err="1">
                <a:solidFill>
                  <a:srgbClr val="002060"/>
                </a:solidFill>
                <a:latin typeface="Arial" panose="020B0604020202020204" pitchFamily="34" charset="0"/>
                <a:sym typeface="Wingdings" panose="05000000000000000000" pitchFamily="2" charset="2"/>
              </a:rPr>
              <a:t>năm</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tích</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lũy</a:t>
            </a:r>
            <a:r>
              <a:rPr lang="en-US" altLang="en-US" sz="4400" dirty="0">
                <a:solidFill>
                  <a:srgbClr val="002060"/>
                </a:solidFill>
                <a:latin typeface="Arial" panose="020B0604020202020204" pitchFamily="34" charset="0"/>
                <a:sym typeface="Wingdings" panose="05000000000000000000" pitchFamily="2" charset="2"/>
              </a:rPr>
              <a:t> 10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a:t>
            </a:r>
          </a:p>
          <a:p>
            <a:pPr algn="just">
              <a:lnSpc>
                <a:spcPct val="150000"/>
              </a:lnSpc>
            </a:pPr>
            <a:r>
              <a:rPr lang="en-US" altLang="en-US" sz="4400" dirty="0">
                <a:solidFill>
                  <a:srgbClr val="002060"/>
                </a:solidFill>
                <a:latin typeface="Arial" panose="020B0604020202020204" pitchFamily="34" charset="0"/>
                <a:sym typeface="Wingdings" panose="05000000000000000000" pitchFamily="2" charset="2"/>
              </a:rPr>
              <a:t>TBCB A = 110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TBCB B = 110 </a:t>
            </a:r>
            <a:r>
              <a:rPr lang="en-US" altLang="en-US" sz="4400" dirty="0" err="1">
                <a:solidFill>
                  <a:srgbClr val="002060"/>
                </a:solidFill>
                <a:latin typeface="Arial" panose="020B0604020202020204" pitchFamily="34" charset="0"/>
                <a:sym typeface="Wingdings" panose="05000000000000000000" pitchFamily="2" charset="2"/>
              </a:rPr>
              <a:t>tỷ</a:t>
            </a:r>
            <a:r>
              <a:rPr lang="en-US" altLang="en-US" sz="4400" dirty="0">
                <a:solidFill>
                  <a:srgbClr val="002060"/>
                </a:solidFill>
                <a:latin typeface="Arial" panose="020B0604020202020204" pitchFamily="34" charset="0"/>
                <a:sym typeface="Wingdings" panose="05000000000000000000" pitchFamily="2" charset="2"/>
              </a:rPr>
              <a:t>  TBXH = 220 </a:t>
            </a:r>
            <a:r>
              <a:rPr lang="en-US" altLang="en-US" sz="4400" dirty="0" err="1">
                <a:solidFill>
                  <a:srgbClr val="002060"/>
                </a:solidFill>
                <a:latin typeface="Arial" panose="020B0604020202020204" pitchFamily="34" charset="0"/>
                <a:sym typeface="Wingdings" panose="05000000000000000000" pitchFamily="2" charset="2"/>
              </a:rPr>
              <a:t>tỷ</a:t>
            </a:r>
            <a:endParaRPr lang="en-US" altLang="en-US" sz="4400" dirty="0">
              <a:solidFill>
                <a:srgbClr val="002060"/>
              </a:solidFill>
              <a:latin typeface="Arial" panose="020B0604020202020204" pitchFamily="34" charset="0"/>
              <a:sym typeface="Wingdings" panose="05000000000000000000" pitchFamily="2" charset="2"/>
            </a:endParaRPr>
          </a:p>
          <a:p>
            <a:pPr marL="685800" indent="-685800" algn="just">
              <a:lnSpc>
                <a:spcPct val="150000"/>
              </a:lnSpc>
              <a:buFont typeface="Wingdings" panose="05000000000000000000" pitchFamily="2" charset="2"/>
              <a:buChar char="à"/>
            </a:pPr>
            <a:r>
              <a:rPr lang="en-US" altLang="en-US" sz="4400" dirty="0" err="1">
                <a:solidFill>
                  <a:srgbClr val="002060"/>
                </a:solidFill>
                <a:latin typeface="Arial" panose="020B0604020202020204" pitchFamily="34" charset="0"/>
                <a:sym typeface="Wingdings" panose="05000000000000000000" pitchFamily="2" charset="2"/>
              </a:rPr>
              <a:t>Trường</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hợp</a:t>
            </a:r>
            <a:r>
              <a:rPr lang="en-US" altLang="en-US" sz="4400" dirty="0">
                <a:solidFill>
                  <a:srgbClr val="002060"/>
                </a:solidFill>
                <a:latin typeface="Arial" panose="020B0604020202020204" pitchFamily="34" charset="0"/>
                <a:sym typeface="Wingdings" panose="05000000000000000000" pitchFamily="2" charset="2"/>
              </a:rPr>
              <a:t> (1) </a:t>
            </a:r>
            <a:r>
              <a:rPr lang="en-US" altLang="en-US" sz="4400" dirty="0" err="1">
                <a:solidFill>
                  <a:srgbClr val="002060"/>
                </a:solidFill>
                <a:latin typeface="Arial" panose="020B0604020202020204" pitchFamily="34" charset="0"/>
                <a:sym typeface="Wingdings" panose="05000000000000000000" pitchFamily="2" charset="2"/>
              </a:rPr>
              <a:t>nếu</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tập</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trung</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cho</a:t>
            </a:r>
            <a:r>
              <a:rPr lang="en-US" altLang="en-US" sz="4400" dirty="0">
                <a:solidFill>
                  <a:srgbClr val="002060"/>
                </a:solidFill>
                <a:latin typeface="Arial" panose="020B0604020202020204" pitchFamily="34" charset="0"/>
                <a:sym typeface="Wingdings" panose="05000000000000000000" pitchFamily="2" charset="2"/>
              </a:rPr>
              <a:t> A </a:t>
            </a:r>
            <a:r>
              <a:rPr lang="en-US" altLang="en-US" sz="4400" dirty="0" err="1">
                <a:solidFill>
                  <a:srgbClr val="002060"/>
                </a:solidFill>
                <a:latin typeface="Arial" panose="020B0604020202020204" pitchFamily="34" charset="0"/>
                <a:sym typeface="Wingdings" panose="05000000000000000000" pitchFamily="2" charset="2"/>
              </a:rPr>
              <a:t>thì</a:t>
            </a:r>
            <a:r>
              <a:rPr lang="en-US" altLang="en-US" sz="4400" dirty="0">
                <a:solidFill>
                  <a:srgbClr val="002060"/>
                </a:solidFill>
                <a:latin typeface="Arial" panose="020B0604020202020204" pitchFamily="34" charset="0"/>
                <a:sym typeface="Wingdings" panose="05000000000000000000" pitchFamily="2" charset="2"/>
              </a:rPr>
              <a:t> TBCB A = 40 </a:t>
            </a:r>
            <a:r>
              <a:rPr lang="en-US" altLang="en-US" sz="4400" dirty="0" err="1">
                <a:solidFill>
                  <a:srgbClr val="002060"/>
                </a:solidFill>
                <a:latin typeface="Arial" panose="020B0604020202020204" pitchFamily="34" charset="0"/>
                <a:sym typeface="Wingdings" panose="05000000000000000000" pitchFamily="2" charset="2"/>
              </a:rPr>
              <a:t>tỷ</a:t>
            </a:r>
            <a:endParaRPr lang="en-US" altLang="en-US" sz="4400" dirty="0">
              <a:solidFill>
                <a:srgbClr val="002060"/>
              </a:solidFill>
              <a:latin typeface="Arial" panose="020B0604020202020204" pitchFamily="34" charset="0"/>
              <a:sym typeface="Wingdings" panose="05000000000000000000" pitchFamily="2" charset="2"/>
            </a:endParaRPr>
          </a:p>
          <a:p>
            <a:pPr marL="685800" indent="-685800" algn="just">
              <a:lnSpc>
                <a:spcPct val="150000"/>
              </a:lnSpc>
              <a:buFont typeface="Wingdings" panose="05000000000000000000" pitchFamily="2" charset="2"/>
              <a:buChar char="à"/>
            </a:pPr>
            <a:r>
              <a:rPr lang="en-US" altLang="en-US" sz="4400" dirty="0" err="1">
                <a:solidFill>
                  <a:srgbClr val="002060"/>
                </a:solidFill>
                <a:latin typeface="Arial" panose="020B0604020202020204" pitchFamily="34" charset="0"/>
                <a:sym typeface="Wingdings" panose="05000000000000000000" pitchFamily="2" charset="2"/>
              </a:rPr>
              <a:t>Trường</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hợp</a:t>
            </a:r>
            <a:r>
              <a:rPr lang="en-US" altLang="en-US" sz="4400" dirty="0">
                <a:solidFill>
                  <a:srgbClr val="002060"/>
                </a:solidFill>
                <a:latin typeface="Arial" panose="020B0604020202020204" pitchFamily="34" charset="0"/>
                <a:sym typeface="Wingdings" panose="05000000000000000000" pitchFamily="2" charset="2"/>
              </a:rPr>
              <a:t> (2) </a:t>
            </a:r>
            <a:r>
              <a:rPr lang="en-US" altLang="en-US" sz="4400" dirty="0" err="1">
                <a:solidFill>
                  <a:srgbClr val="002060"/>
                </a:solidFill>
                <a:latin typeface="Arial" panose="020B0604020202020204" pitchFamily="34" charset="0"/>
                <a:sym typeface="Wingdings" panose="05000000000000000000" pitchFamily="2" charset="2"/>
              </a:rPr>
              <a:t>nếu</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tập</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trung</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cho</a:t>
            </a:r>
            <a:r>
              <a:rPr lang="en-US" altLang="en-US" sz="4400" dirty="0">
                <a:solidFill>
                  <a:srgbClr val="002060"/>
                </a:solidFill>
                <a:latin typeface="Arial" panose="020B0604020202020204" pitchFamily="34" charset="0"/>
                <a:sym typeface="Wingdings" panose="05000000000000000000" pitchFamily="2" charset="2"/>
              </a:rPr>
              <a:t> A </a:t>
            </a:r>
            <a:r>
              <a:rPr lang="en-US" altLang="en-US" sz="4400" dirty="0" err="1">
                <a:solidFill>
                  <a:srgbClr val="002060"/>
                </a:solidFill>
                <a:latin typeface="Arial" panose="020B0604020202020204" pitchFamily="34" charset="0"/>
                <a:sym typeface="Wingdings" panose="05000000000000000000" pitchFamily="2" charset="2"/>
              </a:rPr>
              <a:t>thì</a:t>
            </a:r>
            <a:r>
              <a:rPr lang="en-US" altLang="en-US" sz="4400" dirty="0">
                <a:solidFill>
                  <a:srgbClr val="002060"/>
                </a:solidFill>
                <a:latin typeface="Arial" panose="020B0604020202020204" pitchFamily="34" charset="0"/>
                <a:sym typeface="Wingdings" panose="05000000000000000000" pitchFamily="2" charset="2"/>
              </a:rPr>
              <a:t> TBCB A = 220 </a:t>
            </a:r>
            <a:r>
              <a:rPr lang="en-US" altLang="en-US" sz="4400" dirty="0" err="1">
                <a:solidFill>
                  <a:srgbClr val="002060"/>
                </a:solidFill>
                <a:latin typeface="Arial" panose="020B0604020202020204" pitchFamily="34" charset="0"/>
                <a:sym typeface="Wingdings" panose="05000000000000000000" pitchFamily="2" charset="2"/>
              </a:rPr>
              <a:t>tỷ</a:t>
            </a:r>
            <a:endParaRPr lang="en-US" altLang="en-US" sz="4400" dirty="0">
              <a:solidFill>
                <a:srgbClr val="002060"/>
              </a:solidFill>
              <a:latin typeface="Arial" panose="020B0604020202020204" pitchFamily="34" charset="0"/>
              <a:sym typeface="Wingdings" panose="05000000000000000000" pitchFamily="2" charset="2"/>
            </a:endParaRPr>
          </a:p>
          <a:p>
            <a:pPr marL="685800" indent="-685800" algn="just">
              <a:lnSpc>
                <a:spcPct val="150000"/>
              </a:lnSpc>
              <a:buFont typeface="Wingdings" panose="05000000000000000000" pitchFamily="2" charset="2"/>
              <a:buChar char="à"/>
            </a:pPr>
            <a:r>
              <a:rPr lang="en-US" altLang="en-US" sz="4400" dirty="0">
                <a:solidFill>
                  <a:srgbClr val="002060"/>
                </a:solidFill>
                <a:latin typeface="Arial" panose="020B0604020202020204" pitchFamily="34" charset="0"/>
                <a:sym typeface="Wingdings" panose="05000000000000000000" pitchFamily="2" charset="2"/>
              </a:rPr>
              <a:t>Khi </a:t>
            </a:r>
            <a:r>
              <a:rPr lang="en-US" altLang="en-US" sz="4400" dirty="0" err="1">
                <a:solidFill>
                  <a:srgbClr val="002060"/>
                </a:solidFill>
                <a:latin typeface="Arial" panose="020B0604020202020204" pitchFamily="34" charset="0"/>
                <a:sym typeface="Wingdings" panose="05000000000000000000" pitchFamily="2" charset="2"/>
              </a:rPr>
              <a:t>tư</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bản</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ứng</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trước</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tăng</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như</a:t>
            </a:r>
            <a:r>
              <a:rPr lang="en-US" altLang="en-US" sz="4400" dirty="0">
                <a:solidFill>
                  <a:srgbClr val="002060"/>
                </a:solidFill>
                <a:latin typeface="Arial" panose="020B0604020202020204" pitchFamily="34" charset="0"/>
                <a:sym typeface="Wingdings" panose="05000000000000000000" pitchFamily="2" charset="2"/>
              </a:rPr>
              <a:t> (2)  </a:t>
            </a:r>
            <a:r>
              <a:rPr lang="en-US" altLang="en-US" sz="4400" dirty="0" err="1">
                <a:solidFill>
                  <a:srgbClr val="002060"/>
                </a:solidFill>
                <a:latin typeface="Arial" panose="020B0604020202020204" pitchFamily="34" charset="0"/>
                <a:sym typeface="Wingdings" panose="05000000000000000000" pitchFamily="2" charset="2"/>
              </a:rPr>
              <a:t>quy</a:t>
            </a:r>
            <a:r>
              <a:rPr lang="en-US" altLang="en-US" sz="4400" dirty="0">
                <a:solidFill>
                  <a:srgbClr val="002060"/>
                </a:solidFill>
                <a:latin typeface="Arial" panose="020B0604020202020204" pitchFamily="34" charset="0"/>
                <a:sym typeface="Wingdings" panose="05000000000000000000" pitchFamily="2" charset="2"/>
              </a:rPr>
              <a:t> </a:t>
            </a:r>
            <a:r>
              <a:rPr lang="en-US" altLang="en-US" sz="4400" dirty="0" err="1">
                <a:solidFill>
                  <a:srgbClr val="002060"/>
                </a:solidFill>
                <a:latin typeface="Arial" panose="020B0604020202020204" pitchFamily="34" charset="0"/>
                <a:sym typeface="Wingdings" panose="05000000000000000000" pitchFamily="2" charset="2"/>
              </a:rPr>
              <a:t>mô</a:t>
            </a:r>
            <a:r>
              <a:rPr lang="en-US" altLang="en-US" sz="4400" dirty="0">
                <a:solidFill>
                  <a:srgbClr val="002060"/>
                </a:solidFill>
                <a:latin typeface="Arial" panose="020B0604020202020204" pitchFamily="34" charset="0"/>
                <a:sym typeface="Wingdings" panose="05000000000000000000" pitchFamily="2" charset="2"/>
              </a:rPr>
              <a:t> TLTB </a:t>
            </a:r>
            <a:r>
              <a:rPr lang="en-US" altLang="en-US" sz="4400" dirty="0" err="1">
                <a:solidFill>
                  <a:srgbClr val="002060"/>
                </a:solidFill>
                <a:latin typeface="Arial" panose="020B0604020202020204" pitchFamily="34" charset="0"/>
                <a:sym typeface="Wingdings" panose="05000000000000000000" pitchFamily="2" charset="2"/>
              </a:rPr>
              <a:t>tăng</a:t>
            </a:r>
            <a:r>
              <a:rPr lang="en-US" altLang="en-US" sz="4400" dirty="0">
                <a:solidFill>
                  <a:srgbClr val="002060"/>
                </a:solidFill>
                <a:latin typeface="Arial" panose="020B0604020202020204" pitchFamily="34" charset="0"/>
                <a:sym typeface="Wingdings" panose="05000000000000000000" pitchFamily="2" charset="2"/>
              </a:rPr>
              <a:t> </a:t>
            </a:r>
          </a:p>
        </p:txBody>
      </p:sp>
    </p:spTree>
    <p:extLst>
      <p:ext uri="{BB962C8B-B14F-4D97-AF65-F5344CB8AC3E}">
        <p14:creationId xmlns:p14="http://schemas.microsoft.com/office/powerpoint/2010/main" val="270983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down)">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down)">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wipe(down)">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wipe(down)">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wipe(down)">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wipe(down)">
                                      <p:cBhvr>
                                        <p:cTn id="5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93CD1-94C6-26FC-BB62-F6AFABBF181C}"/>
              </a:ext>
            </a:extLst>
          </p:cNvPr>
          <p:cNvSpPr txBox="1">
            <a:spLocks/>
          </p:cNvSpPr>
          <p:nvPr/>
        </p:nvSpPr>
        <p:spPr>
          <a:xfrm>
            <a:off x="2859696" y="1412876"/>
            <a:ext cx="121974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Cấu</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tạo</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hữu</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cơ</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của</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Tư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endParaRPr lang="en-US"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mc:AlternateContent xmlns:mc="http://schemas.openxmlformats.org/markup-compatibility/2006" xmlns:a14="http://schemas.microsoft.com/office/drawing/2010/main">
        <mc:Choice Requires="a14">
          <p:sp>
            <p:nvSpPr>
              <p:cNvPr id="3" name="Text Box 14">
                <a:extLst>
                  <a:ext uri="{FF2B5EF4-FFF2-40B4-BE49-F238E27FC236}">
                    <a16:creationId xmlns:a16="http://schemas.microsoft.com/office/drawing/2014/main" id="{A3DA6415-F803-7741-1272-9C5B5BB088D2}"/>
                  </a:ext>
                </a:extLst>
              </p:cNvPr>
              <p:cNvSpPr txBox="1">
                <a:spLocks noChangeArrowheads="1"/>
              </p:cNvSpPr>
              <p:nvPr/>
            </p:nvSpPr>
            <p:spPr bwMode="ltGray">
              <a:xfrm>
                <a:off x="1566081" y="4205817"/>
                <a:ext cx="15155838" cy="912634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lnSpc>
                    <a:spcPct val="150000"/>
                  </a:lnSpc>
                </a:pPr>
                <a:r>
                  <a:rPr lang="vi-VN" altLang="en-US" sz="5000">
                    <a:solidFill>
                      <a:srgbClr val="002060"/>
                    </a:solidFill>
                    <a:highlight>
                      <a:srgbClr val="FFFF00"/>
                    </a:highlight>
                    <a:latin typeface="Arial" panose="020B0604020202020204" pitchFamily="34" charset="0"/>
                    <a:sym typeface="Wingdings" panose="05000000000000000000" pitchFamily="2" charset="2"/>
                  </a:rPr>
                  <a:t>Mặt hiện vật: </a:t>
                </a:r>
                <a:r>
                  <a:rPr lang="vi-VN" altLang="en-US" sz="5000">
                    <a:solidFill>
                      <a:srgbClr val="002060"/>
                    </a:solidFill>
                    <a:latin typeface="Arial" panose="020B0604020202020204" pitchFamily="34" charset="0"/>
                    <a:sym typeface="Wingdings" panose="05000000000000000000" pitchFamily="2" charset="2"/>
                  </a:rPr>
                  <a:t>gồm có TLSX và số lượng SLĐ sử dụng TLSX ấy phản ánh sự biến động về LLSX trong CNTB.</a:t>
                </a:r>
                <a:endParaRPr lang="en-US" altLang="en-US" sz="5000">
                  <a:solidFill>
                    <a:srgbClr val="002060"/>
                  </a:solidFill>
                  <a:latin typeface="Arial" panose="020B0604020202020204" pitchFamily="34" charset="0"/>
                  <a:sym typeface="Wingdings" panose="05000000000000000000" pitchFamily="2" charset="2"/>
                </a:endParaRPr>
              </a:p>
              <a:p>
                <a:pPr marL="914400" indent="-914400" algn="just">
                  <a:lnSpc>
                    <a:spcPct val="150000"/>
                  </a:lnSpc>
                  <a:buFont typeface="Wingdings" panose="05000000000000000000" pitchFamily="2" charset="2"/>
                  <a:buChar char="à"/>
                </a:pPr>
                <a:r>
                  <a:rPr lang="en-US" altLang="en-US" sz="5000">
                    <a:solidFill>
                      <a:srgbClr val="002060"/>
                    </a:solidFill>
                    <a:latin typeface="Arial" panose="020B0604020202020204" pitchFamily="34" charset="0"/>
                    <a:sym typeface="Wingdings" panose="05000000000000000000" pitchFamily="2" charset="2"/>
                  </a:rPr>
                  <a:t>Cấu tạo kỹ thuật TB </a:t>
                </a:r>
                <a14:m>
                  <m:oMath xmlns:m="http://schemas.openxmlformats.org/officeDocument/2006/math">
                    <m:r>
                      <a:rPr lang="en-US" altLang="en-US" sz="5000" i="1">
                        <a:solidFill>
                          <a:srgbClr val="002060"/>
                        </a:solidFill>
                        <a:latin typeface="Cambria Math" panose="02040503050406030204" pitchFamily="18" charset="0"/>
                        <a:sym typeface="Wingdings" panose="05000000000000000000" pitchFamily="2" charset="2"/>
                      </a:rPr>
                      <m:t>=</m:t>
                    </m:r>
                    <m:f>
                      <m:fPr>
                        <m:ctrlPr>
                          <a:rPr lang="en-US" altLang="en-US" sz="5000" i="1">
                            <a:solidFill>
                              <a:srgbClr val="002060"/>
                            </a:solidFill>
                            <a:latin typeface="Cambria Math" panose="02040503050406030204" pitchFamily="18" charset="0"/>
                            <a:sym typeface="Wingdings" panose="05000000000000000000" pitchFamily="2" charset="2"/>
                          </a:rPr>
                        </m:ctrlPr>
                      </m:fPr>
                      <m:num>
                        <m:r>
                          <a:rPr lang="en-US" altLang="en-US" sz="5000" i="1">
                            <a:solidFill>
                              <a:srgbClr val="002060"/>
                            </a:solidFill>
                            <a:latin typeface="Cambria Math" panose="02040503050406030204" pitchFamily="18" charset="0"/>
                            <a:sym typeface="Wingdings" panose="05000000000000000000" pitchFamily="2" charset="2"/>
                          </a:rPr>
                          <m:t>𝐾h</m:t>
                        </m:r>
                        <m:r>
                          <a:rPr lang="en-US" altLang="en-US" sz="5000" i="1">
                            <a:solidFill>
                              <a:srgbClr val="002060"/>
                            </a:solidFill>
                            <a:latin typeface="Cambria Math" panose="02040503050406030204" pitchFamily="18" charset="0"/>
                            <a:sym typeface="Wingdings" panose="05000000000000000000" pitchFamily="2" charset="2"/>
                          </a:rPr>
                          <m:t>ố</m:t>
                        </m:r>
                        <m:r>
                          <a:rPr lang="en-US" altLang="en-US" sz="5000" i="1">
                            <a:solidFill>
                              <a:srgbClr val="002060"/>
                            </a:solidFill>
                            <a:latin typeface="Cambria Math" panose="02040503050406030204" pitchFamily="18" charset="0"/>
                            <a:sym typeface="Wingdings" panose="05000000000000000000" pitchFamily="2" charset="2"/>
                          </a:rPr>
                          <m:t>𝑖</m:t>
                        </m:r>
                        <m:r>
                          <a:rPr lang="en-US" altLang="en-US" sz="5000" i="1">
                            <a:solidFill>
                              <a:srgbClr val="002060"/>
                            </a:solidFill>
                            <a:latin typeface="Cambria Math" panose="02040503050406030204" pitchFamily="18" charset="0"/>
                            <a:sym typeface="Wingdings" panose="05000000000000000000" pitchFamily="2" charset="2"/>
                          </a:rPr>
                          <m:t> </m:t>
                        </m:r>
                        <m:r>
                          <a:rPr lang="en-US" altLang="en-US" sz="5000" i="1">
                            <a:solidFill>
                              <a:srgbClr val="002060"/>
                            </a:solidFill>
                            <a:latin typeface="Cambria Math" panose="02040503050406030204" pitchFamily="18" charset="0"/>
                            <a:sym typeface="Wingdings" panose="05000000000000000000" pitchFamily="2" charset="2"/>
                          </a:rPr>
                          <m:t>𝑙</m:t>
                        </m:r>
                        <m:r>
                          <a:rPr lang="en-US" altLang="en-US" sz="5000" i="1">
                            <a:solidFill>
                              <a:srgbClr val="002060"/>
                            </a:solidFill>
                            <a:latin typeface="Cambria Math" panose="02040503050406030204" pitchFamily="18" charset="0"/>
                            <a:sym typeface="Wingdings" panose="05000000000000000000" pitchFamily="2" charset="2"/>
                          </a:rPr>
                          <m:t>ượ</m:t>
                        </m:r>
                        <m:r>
                          <a:rPr lang="en-US" altLang="en-US" sz="5000" i="1">
                            <a:solidFill>
                              <a:srgbClr val="002060"/>
                            </a:solidFill>
                            <a:latin typeface="Cambria Math" panose="02040503050406030204" pitchFamily="18" charset="0"/>
                            <a:sym typeface="Wingdings" panose="05000000000000000000" pitchFamily="2" charset="2"/>
                          </a:rPr>
                          <m:t>𝑛𝑔</m:t>
                        </m:r>
                        <m:r>
                          <a:rPr lang="en-US" altLang="en-US" sz="5000" i="1">
                            <a:solidFill>
                              <a:srgbClr val="002060"/>
                            </a:solidFill>
                            <a:latin typeface="Cambria Math" panose="02040503050406030204" pitchFamily="18" charset="0"/>
                            <a:sym typeface="Wingdings" panose="05000000000000000000" pitchFamily="2" charset="2"/>
                          </a:rPr>
                          <m:t> </m:t>
                        </m:r>
                        <m:r>
                          <a:rPr lang="en-US" altLang="en-US" sz="5000" i="1">
                            <a:solidFill>
                              <a:srgbClr val="002060"/>
                            </a:solidFill>
                            <a:latin typeface="Cambria Math" panose="02040503050406030204" pitchFamily="18" charset="0"/>
                            <a:sym typeface="Wingdings" panose="05000000000000000000" pitchFamily="2" charset="2"/>
                          </a:rPr>
                          <m:t>𝑇𝐿𝑆𝑋</m:t>
                        </m:r>
                      </m:num>
                      <m:den>
                        <m:r>
                          <a:rPr lang="en-US" altLang="en-US" sz="5000" i="1">
                            <a:solidFill>
                              <a:srgbClr val="002060"/>
                            </a:solidFill>
                            <a:latin typeface="Cambria Math" panose="02040503050406030204" pitchFamily="18" charset="0"/>
                            <a:sym typeface="Wingdings" panose="05000000000000000000" pitchFamily="2" charset="2"/>
                          </a:rPr>
                          <m:t>𝑆</m:t>
                        </m:r>
                        <m:r>
                          <a:rPr lang="en-US" altLang="en-US" sz="5000" i="1">
                            <a:solidFill>
                              <a:srgbClr val="002060"/>
                            </a:solidFill>
                            <a:latin typeface="Cambria Math" panose="02040503050406030204" pitchFamily="18" charset="0"/>
                            <a:sym typeface="Wingdings" panose="05000000000000000000" pitchFamily="2" charset="2"/>
                          </a:rPr>
                          <m:t>ố </m:t>
                        </m:r>
                        <m:r>
                          <a:rPr lang="en-US" altLang="en-US" sz="5000" i="1">
                            <a:solidFill>
                              <a:srgbClr val="002060"/>
                            </a:solidFill>
                            <a:latin typeface="Cambria Math" panose="02040503050406030204" pitchFamily="18" charset="0"/>
                            <a:sym typeface="Wingdings" panose="05000000000000000000" pitchFamily="2" charset="2"/>
                          </a:rPr>
                          <m:t>𝑙</m:t>
                        </m:r>
                        <m:r>
                          <a:rPr lang="en-US" altLang="en-US" sz="5000" i="1">
                            <a:solidFill>
                              <a:srgbClr val="002060"/>
                            </a:solidFill>
                            <a:latin typeface="Cambria Math" panose="02040503050406030204" pitchFamily="18" charset="0"/>
                            <a:sym typeface="Wingdings" panose="05000000000000000000" pitchFamily="2" charset="2"/>
                          </a:rPr>
                          <m:t>ượ</m:t>
                        </m:r>
                        <m:r>
                          <a:rPr lang="en-US" altLang="en-US" sz="5000" i="1">
                            <a:solidFill>
                              <a:srgbClr val="002060"/>
                            </a:solidFill>
                            <a:latin typeface="Cambria Math" panose="02040503050406030204" pitchFamily="18" charset="0"/>
                            <a:sym typeface="Wingdings" panose="05000000000000000000" pitchFamily="2" charset="2"/>
                          </a:rPr>
                          <m:t>𝑛𝑔</m:t>
                        </m:r>
                        <m:r>
                          <a:rPr lang="en-US" altLang="en-US" sz="5000" i="1">
                            <a:solidFill>
                              <a:srgbClr val="002060"/>
                            </a:solidFill>
                            <a:latin typeface="Cambria Math" panose="02040503050406030204" pitchFamily="18" charset="0"/>
                            <a:sym typeface="Wingdings" panose="05000000000000000000" pitchFamily="2" charset="2"/>
                          </a:rPr>
                          <m:t> </m:t>
                        </m:r>
                        <m:r>
                          <a:rPr lang="en-US" altLang="en-US" sz="5000" i="1">
                            <a:solidFill>
                              <a:srgbClr val="002060"/>
                            </a:solidFill>
                            <a:latin typeface="Cambria Math" panose="02040503050406030204" pitchFamily="18" charset="0"/>
                            <a:sym typeface="Wingdings" panose="05000000000000000000" pitchFamily="2" charset="2"/>
                          </a:rPr>
                          <m:t>𝑙𝑎𝑜</m:t>
                        </m:r>
                        <m:r>
                          <a:rPr lang="en-US" altLang="en-US" sz="5000" i="1">
                            <a:solidFill>
                              <a:srgbClr val="002060"/>
                            </a:solidFill>
                            <a:latin typeface="Cambria Math" panose="02040503050406030204" pitchFamily="18" charset="0"/>
                            <a:sym typeface="Wingdings" panose="05000000000000000000" pitchFamily="2" charset="2"/>
                          </a:rPr>
                          <m:t> độ</m:t>
                        </m:r>
                        <m:r>
                          <a:rPr lang="en-US" altLang="en-US" sz="5000" i="1">
                            <a:solidFill>
                              <a:srgbClr val="002060"/>
                            </a:solidFill>
                            <a:latin typeface="Cambria Math" panose="02040503050406030204" pitchFamily="18" charset="0"/>
                            <a:sym typeface="Wingdings" panose="05000000000000000000" pitchFamily="2" charset="2"/>
                          </a:rPr>
                          <m:t>𝑛𝑔</m:t>
                        </m:r>
                      </m:den>
                    </m:f>
                  </m:oMath>
                </a14:m>
                <a:endParaRPr lang="en-US" altLang="en-US" sz="5000">
                  <a:solidFill>
                    <a:srgbClr val="002060"/>
                  </a:solidFill>
                  <a:latin typeface="Arial" panose="020B0604020202020204" pitchFamily="34" charset="0"/>
                  <a:sym typeface="Wingdings" panose="05000000000000000000" pitchFamily="2" charset="2"/>
                </a:endParaRPr>
              </a:p>
              <a:p>
                <a:pPr algn="just">
                  <a:lnSpc>
                    <a:spcPct val="150000"/>
                  </a:lnSpc>
                </a:pPr>
                <a:r>
                  <a:rPr lang="vi-VN" altLang="en-US" sz="5000">
                    <a:solidFill>
                      <a:srgbClr val="002060"/>
                    </a:solidFill>
                    <a:highlight>
                      <a:srgbClr val="FFFF00"/>
                    </a:highlight>
                    <a:latin typeface="Arial" panose="020B0604020202020204" pitchFamily="34" charset="0"/>
                    <a:sym typeface="Wingdings" panose="05000000000000000000" pitchFamily="2" charset="2"/>
                  </a:rPr>
                  <a:t>Mặt giá trị: </a:t>
                </a:r>
                <a:r>
                  <a:rPr lang="vi-VN" altLang="en-US" sz="5000">
                    <a:solidFill>
                      <a:srgbClr val="002060"/>
                    </a:solidFill>
                    <a:latin typeface="Arial" panose="020B0604020202020204" pitchFamily="34" charset="0"/>
                    <a:sym typeface="Wingdings" panose="05000000000000000000" pitchFamily="2" charset="2"/>
                  </a:rPr>
                  <a:t>gồm có TBBB (c) và TBKB (v).</a:t>
                </a:r>
              </a:p>
              <a:p>
                <a:pPr marL="914400" indent="-914400" algn="just">
                  <a:lnSpc>
                    <a:spcPct val="150000"/>
                  </a:lnSpc>
                  <a:buFont typeface="Wingdings" panose="05000000000000000000" pitchFamily="2" charset="2"/>
                  <a:buChar char="à"/>
                </a:pPr>
                <a:r>
                  <a:rPr lang="en-US" altLang="en-US" sz="5000">
                    <a:solidFill>
                      <a:srgbClr val="002060"/>
                    </a:solidFill>
                    <a:latin typeface="Arial" panose="020B0604020202020204" pitchFamily="34" charset="0"/>
                    <a:sym typeface="Wingdings" panose="05000000000000000000" pitchFamily="2" charset="2"/>
                  </a:rPr>
                  <a:t>Cấu tạo giá trị TB</a:t>
                </a:r>
                <a14:m>
                  <m:oMath xmlns:m="http://schemas.openxmlformats.org/officeDocument/2006/math">
                    <m:r>
                      <a:rPr lang="en-US" altLang="en-US" sz="5000" i="1">
                        <a:solidFill>
                          <a:srgbClr val="002060"/>
                        </a:solidFill>
                        <a:latin typeface="Cambria Math" panose="02040503050406030204" pitchFamily="18" charset="0"/>
                        <a:sym typeface="Wingdings" panose="05000000000000000000" pitchFamily="2" charset="2"/>
                      </a:rPr>
                      <m:t>=</m:t>
                    </m:r>
                    <m:f>
                      <m:fPr>
                        <m:ctrlPr>
                          <a:rPr lang="en-US" altLang="en-US" sz="5000" i="1">
                            <a:solidFill>
                              <a:srgbClr val="002060"/>
                            </a:solidFill>
                            <a:latin typeface="Cambria Math" panose="02040503050406030204" pitchFamily="18" charset="0"/>
                            <a:sym typeface="Wingdings" panose="05000000000000000000" pitchFamily="2" charset="2"/>
                          </a:rPr>
                        </m:ctrlPr>
                      </m:fPr>
                      <m:num>
                        <m:r>
                          <a:rPr lang="en-US" altLang="en-US" sz="5000" i="1">
                            <a:solidFill>
                              <a:srgbClr val="002060"/>
                            </a:solidFill>
                            <a:latin typeface="Cambria Math" panose="02040503050406030204" pitchFamily="18" charset="0"/>
                            <a:sym typeface="Wingdings" panose="05000000000000000000" pitchFamily="2" charset="2"/>
                          </a:rPr>
                          <m:t>𝑐</m:t>
                        </m:r>
                      </m:num>
                      <m:den>
                        <m:r>
                          <a:rPr lang="en-US" altLang="en-US" sz="5000" i="1">
                            <a:solidFill>
                              <a:srgbClr val="002060"/>
                            </a:solidFill>
                            <a:latin typeface="Cambria Math" panose="02040503050406030204" pitchFamily="18" charset="0"/>
                            <a:sym typeface="Wingdings" panose="05000000000000000000" pitchFamily="2" charset="2"/>
                          </a:rPr>
                          <m:t>𝑣</m:t>
                        </m:r>
                      </m:den>
                    </m:f>
                  </m:oMath>
                </a14:m>
                <a:endParaRPr lang="en-US" altLang="en-US" sz="5000">
                  <a:solidFill>
                    <a:srgbClr val="002060"/>
                  </a:solidFill>
                  <a:latin typeface="Arial" panose="020B0604020202020204" pitchFamily="34" charset="0"/>
                  <a:sym typeface="Wingdings" panose="05000000000000000000" pitchFamily="2" charset="2"/>
                </a:endParaRPr>
              </a:p>
              <a:p>
                <a:pPr marL="914400" indent="-914400" algn="just">
                  <a:lnSpc>
                    <a:spcPct val="150000"/>
                  </a:lnSpc>
                  <a:buFont typeface="Wingdings" panose="05000000000000000000" pitchFamily="2" charset="2"/>
                  <a:buChar char="à"/>
                </a:pPr>
                <a:r>
                  <a:rPr lang="en-US" altLang="en-US" sz="5000">
                    <a:solidFill>
                      <a:srgbClr val="002060"/>
                    </a:solidFill>
                    <a:latin typeface="Arial" panose="020B0604020202020204" pitchFamily="34" charset="0"/>
                    <a:sym typeface="Wingdings" panose="05000000000000000000" pitchFamily="2" charset="2"/>
                  </a:rPr>
                  <a:t>Phản ánh sự biến động về QHSX trong CNTB</a:t>
                </a:r>
                <a:endParaRPr lang="vi-VN" altLang="en-US" sz="5000">
                  <a:solidFill>
                    <a:srgbClr val="002060"/>
                  </a:solidFill>
                  <a:latin typeface="Arial" panose="020B0604020202020204" pitchFamily="34" charset="0"/>
                  <a:sym typeface="Wingdings" panose="05000000000000000000" pitchFamily="2" charset="2"/>
                </a:endParaRPr>
              </a:p>
            </p:txBody>
          </p:sp>
        </mc:Choice>
        <mc:Fallback xmlns="">
          <p:sp>
            <p:nvSpPr>
              <p:cNvPr id="3" name="Text Box 14">
                <a:extLst>
                  <a:ext uri="{FF2B5EF4-FFF2-40B4-BE49-F238E27FC236}">
                    <a16:creationId xmlns:a16="http://schemas.microsoft.com/office/drawing/2014/main" id="{A3DA6415-F803-7741-1272-9C5B5BB088D2}"/>
                  </a:ext>
                </a:extLst>
              </p:cNvPr>
              <p:cNvSpPr txBox="1">
                <a:spLocks noRot="1" noChangeAspect="1" noMove="1" noResize="1" noEditPoints="1" noAdjustHandles="1" noChangeArrowheads="1" noChangeShapeType="1" noTextEdit="1"/>
              </p:cNvSpPr>
              <p:nvPr/>
            </p:nvSpPr>
            <p:spPr bwMode="ltGray">
              <a:xfrm>
                <a:off x="1566081" y="4205817"/>
                <a:ext cx="15155838" cy="9126345"/>
              </a:xfrm>
              <a:prstGeom prst="rect">
                <a:avLst/>
              </a:prstGeom>
              <a:blipFill>
                <a:blip r:embed="rId2"/>
                <a:stretch>
                  <a:fillRect l="-1931" r="-1931" b="-273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 name="Hộp Văn bản 3">
            <a:extLst>
              <a:ext uri="{FF2B5EF4-FFF2-40B4-BE49-F238E27FC236}">
                <a16:creationId xmlns:a16="http://schemas.microsoft.com/office/drawing/2014/main" id="{177BC730-DBB4-0E79-FBDA-6BDE3256A281}"/>
              </a:ext>
            </a:extLst>
          </p:cNvPr>
          <p:cNvSpPr txBox="1"/>
          <p:nvPr/>
        </p:nvSpPr>
        <p:spPr>
          <a:xfrm>
            <a:off x="783040" y="2588078"/>
            <a:ext cx="16721919" cy="1569660"/>
          </a:xfrm>
          <a:prstGeom prst="rect">
            <a:avLst/>
          </a:prstGeom>
          <a:noFill/>
        </p:spPr>
        <p:txBody>
          <a:bodyPr wrap="square" rtlCol="0">
            <a:spAutoFit/>
          </a:bodyPr>
          <a:lstStyle/>
          <a:p>
            <a:r>
              <a:rPr lang="en-US" b="1">
                <a:solidFill>
                  <a:srgbClr val="C00000"/>
                </a:solidFill>
              </a:rPr>
              <a:t>CTHC: </a:t>
            </a:r>
            <a:r>
              <a:rPr lang="en-US">
                <a:solidFill>
                  <a:srgbClr val="C00000"/>
                </a:solidFill>
              </a:rPr>
              <a:t>Sự thay đổi cấu tạo giá trị do sự thay đổi của cấu tạo kỹ thuật gây ra</a:t>
            </a:r>
          </a:p>
        </p:txBody>
      </p:sp>
    </p:spTree>
    <p:extLst>
      <p:ext uri="{BB962C8B-B14F-4D97-AF65-F5344CB8AC3E}">
        <p14:creationId xmlns:p14="http://schemas.microsoft.com/office/powerpoint/2010/main" val="129501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457C7D3-88C8-4B1E-45EF-B298C5514996}"/>
              </a:ext>
            </a:extLst>
          </p:cNvPr>
          <p:cNvSpPr txBox="1">
            <a:spLocks/>
          </p:cNvSpPr>
          <p:nvPr/>
        </p:nvSpPr>
        <p:spPr>
          <a:xfrm>
            <a:off x="3045288" y="1006476"/>
            <a:ext cx="121974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Bất</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bình</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đẳng</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xã</a:t>
            </a:r>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b="1" dirty="0" err="1">
                <a:solidFill>
                  <a:srgbClr val="002060"/>
                </a:solidFill>
                <a:latin typeface="Aachen" panose="02020500000000000000" pitchFamily="18" charset="0"/>
                <a:ea typeface="Aachen" panose="02020500000000000000" pitchFamily="18" charset="0"/>
                <a:cs typeface="Aachen" panose="02020500000000000000" pitchFamily="18" charset="0"/>
              </a:rPr>
              <a:t>hội</a:t>
            </a:r>
            <a:endParaRPr lang="en-US"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sp>
        <p:nvSpPr>
          <p:cNvPr id="5" name="TextBox 4">
            <a:extLst>
              <a:ext uri="{FF2B5EF4-FFF2-40B4-BE49-F238E27FC236}">
                <a16:creationId xmlns:a16="http://schemas.microsoft.com/office/drawing/2014/main" id="{2408945C-C2FD-961B-1E3E-0ACD41996296}"/>
              </a:ext>
            </a:extLst>
          </p:cNvPr>
          <p:cNvSpPr txBox="1"/>
          <p:nvPr/>
        </p:nvSpPr>
        <p:spPr>
          <a:xfrm>
            <a:off x="1069512" y="3175000"/>
            <a:ext cx="2155824" cy="1200329"/>
          </a:xfrm>
          <a:prstGeom prst="rect">
            <a:avLst/>
          </a:prstGeom>
        </p:spPr>
        <p:style>
          <a:lnRef idx="2">
            <a:schemeClr val="dk1"/>
          </a:lnRef>
          <a:fillRef idx="1">
            <a:schemeClr val="lt1"/>
          </a:fillRef>
          <a:effectRef idx="0">
            <a:schemeClr val="dk1"/>
          </a:effectRef>
          <a:fontRef idx="minor">
            <a:schemeClr val="dk1"/>
          </a:fontRef>
        </p:style>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lnSpc>
                <a:spcPct val="90000"/>
              </a:lnSpc>
            </a:pPr>
            <a:r>
              <a:rPr lang="en-US" altLang="en-US" sz="4000">
                <a:solidFill>
                  <a:srgbClr val="002060"/>
                </a:solidFill>
                <a:latin typeface="Arial" panose="020B0604020202020204" pitchFamily="34" charset="0"/>
              </a:rPr>
              <a:t>Cạnh tranh</a:t>
            </a:r>
          </a:p>
        </p:txBody>
      </p:sp>
      <p:sp>
        <p:nvSpPr>
          <p:cNvPr id="6" name="TextBox 5">
            <a:extLst>
              <a:ext uri="{FF2B5EF4-FFF2-40B4-BE49-F238E27FC236}">
                <a16:creationId xmlns:a16="http://schemas.microsoft.com/office/drawing/2014/main" id="{96B8C07D-C27B-8685-A621-7840FA34FB89}"/>
              </a:ext>
            </a:extLst>
          </p:cNvPr>
          <p:cNvSpPr txBox="1"/>
          <p:nvPr/>
        </p:nvSpPr>
        <p:spPr>
          <a:xfrm>
            <a:off x="1069512" y="5003801"/>
            <a:ext cx="2155824" cy="646331"/>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gn="ctr">
              <a:lnSpc>
                <a:spcPct val="90000"/>
              </a:lnSpc>
              <a:defRPr/>
            </a:pPr>
            <a:r>
              <a:rPr lang="en-US" sz="4000">
                <a:solidFill>
                  <a:srgbClr val="002060"/>
                </a:solidFill>
              </a:rPr>
              <a:t>KHCN</a:t>
            </a:r>
          </a:p>
        </p:txBody>
      </p:sp>
      <p:sp>
        <p:nvSpPr>
          <p:cNvPr id="7" name="TextBox 6">
            <a:extLst>
              <a:ext uri="{FF2B5EF4-FFF2-40B4-BE49-F238E27FC236}">
                <a16:creationId xmlns:a16="http://schemas.microsoft.com/office/drawing/2014/main" id="{D892E4E2-995B-7941-147F-AB0CB2B6589C}"/>
              </a:ext>
            </a:extLst>
          </p:cNvPr>
          <p:cNvSpPr txBox="1"/>
          <p:nvPr/>
        </p:nvSpPr>
        <p:spPr>
          <a:xfrm>
            <a:off x="3815887" y="4025900"/>
            <a:ext cx="2155826" cy="646331"/>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gn="ctr">
              <a:lnSpc>
                <a:spcPct val="90000"/>
              </a:lnSpc>
              <a:defRPr/>
            </a:pPr>
            <a:r>
              <a:rPr lang="en-US" sz="4000">
                <a:solidFill>
                  <a:srgbClr val="002060"/>
                </a:solidFill>
              </a:rPr>
              <a:t>C/V tăng</a:t>
            </a:r>
          </a:p>
        </p:txBody>
      </p:sp>
      <p:sp>
        <p:nvSpPr>
          <p:cNvPr id="8" name="TextBox 7">
            <a:extLst>
              <a:ext uri="{FF2B5EF4-FFF2-40B4-BE49-F238E27FC236}">
                <a16:creationId xmlns:a16="http://schemas.microsoft.com/office/drawing/2014/main" id="{E08E8ED8-DBD3-F4F1-3622-804BE9C9D511}"/>
              </a:ext>
            </a:extLst>
          </p:cNvPr>
          <p:cNvSpPr txBox="1"/>
          <p:nvPr/>
        </p:nvSpPr>
        <p:spPr>
          <a:xfrm>
            <a:off x="6901987" y="4025900"/>
            <a:ext cx="2155826" cy="1200329"/>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lnSpc>
                <a:spcPct val="90000"/>
              </a:lnSpc>
            </a:pPr>
            <a:r>
              <a:rPr lang="en-US" altLang="en-US" sz="4000">
                <a:solidFill>
                  <a:srgbClr val="002060"/>
                </a:solidFill>
                <a:latin typeface="Arial" panose="020B0604020202020204" pitchFamily="34" charset="0"/>
              </a:rPr>
              <a:t>Thất nghiệp</a:t>
            </a:r>
          </a:p>
        </p:txBody>
      </p:sp>
      <p:sp>
        <p:nvSpPr>
          <p:cNvPr id="9" name="TextBox 8">
            <a:extLst>
              <a:ext uri="{FF2B5EF4-FFF2-40B4-BE49-F238E27FC236}">
                <a16:creationId xmlns:a16="http://schemas.microsoft.com/office/drawing/2014/main" id="{F054A716-5C39-1A4B-A30C-B54B7B4E45C2}"/>
              </a:ext>
            </a:extLst>
          </p:cNvPr>
          <p:cNvSpPr txBox="1"/>
          <p:nvPr/>
        </p:nvSpPr>
        <p:spPr>
          <a:xfrm>
            <a:off x="9988086" y="4025900"/>
            <a:ext cx="2743200" cy="1200329"/>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lnSpc>
                <a:spcPct val="90000"/>
              </a:lnSpc>
            </a:pPr>
            <a:r>
              <a:rPr lang="en-US" altLang="en-US" sz="4000">
                <a:solidFill>
                  <a:srgbClr val="002060"/>
                </a:solidFill>
                <a:latin typeface="Arial" panose="020B0604020202020204" pitchFamily="34" charset="0"/>
              </a:rPr>
              <a:t>Tiền công giảm</a:t>
            </a:r>
          </a:p>
        </p:txBody>
      </p:sp>
      <p:sp>
        <p:nvSpPr>
          <p:cNvPr id="10" name="TextBox 9">
            <a:extLst>
              <a:ext uri="{FF2B5EF4-FFF2-40B4-BE49-F238E27FC236}">
                <a16:creationId xmlns:a16="http://schemas.microsoft.com/office/drawing/2014/main" id="{79E83280-551A-8016-EA75-03AD199E7754}"/>
              </a:ext>
            </a:extLst>
          </p:cNvPr>
          <p:cNvSpPr txBox="1"/>
          <p:nvPr/>
        </p:nvSpPr>
        <p:spPr>
          <a:xfrm>
            <a:off x="13417086" y="4025900"/>
            <a:ext cx="3432176" cy="1200329"/>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lnSpc>
                <a:spcPct val="90000"/>
              </a:lnSpc>
            </a:pPr>
            <a:r>
              <a:rPr lang="en-US" altLang="en-US" sz="4000">
                <a:solidFill>
                  <a:srgbClr val="002060"/>
                </a:solidFill>
                <a:latin typeface="Arial" panose="020B0604020202020204" pitchFamily="34" charset="0"/>
              </a:rPr>
              <a:t>BBĐ NLĐ – giới chủ</a:t>
            </a:r>
          </a:p>
        </p:txBody>
      </p:sp>
      <p:sp>
        <p:nvSpPr>
          <p:cNvPr id="11" name="TextBox 10">
            <a:extLst>
              <a:ext uri="{FF2B5EF4-FFF2-40B4-BE49-F238E27FC236}">
                <a16:creationId xmlns:a16="http://schemas.microsoft.com/office/drawing/2014/main" id="{884D475C-73A5-0D8F-1842-D4A77BE9FBFE}"/>
              </a:ext>
            </a:extLst>
          </p:cNvPr>
          <p:cNvSpPr txBox="1"/>
          <p:nvPr/>
        </p:nvSpPr>
        <p:spPr>
          <a:xfrm>
            <a:off x="3358686" y="7073900"/>
            <a:ext cx="3200400" cy="1200329"/>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lnSpc>
                <a:spcPct val="90000"/>
              </a:lnSpc>
            </a:pPr>
            <a:r>
              <a:rPr lang="en-US" altLang="en-US" sz="4000">
                <a:solidFill>
                  <a:srgbClr val="002060"/>
                </a:solidFill>
                <a:latin typeface="Arial" panose="020B0604020202020204" pitchFamily="34" charset="0"/>
              </a:rPr>
              <a:t>m tăng nhờ NSLĐ</a:t>
            </a:r>
          </a:p>
        </p:txBody>
      </p:sp>
      <p:sp>
        <p:nvSpPr>
          <p:cNvPr id="12" name="TextBox 11">
            <a:extLst>
              <a:ext uri="{FF2B5EF4-FFF2-40B4-BE49-F238E27FC236}">
                <a16:creationId xmlns:a16="http://schemas.microsoft.com/office/drawing/2014/main" id="{A71522AE-2C3A-FEE0-416E-C244F8C350E7}"/>
              </a:ext>
            </a:extLst>
          </p:cNvPr>
          <p:cNvSpPr txBox="1"/>
          <p:nvPr/>
        </p:nvSpPr>
        <p:spPr>
          <a:xfrm>
            <a:off x="7473486" y="7096126"/>
            <a:ext cx="4914900" cy="1200329"/>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lnSpc>
                <a:spcPct val="90000"/>
              </a:lnSpc>
            </a:pPr>
            <a:r>
              <a:rPr lang="en-US" altLang="en-US" sz="4000">
                <a:solidFill>
                  <a:srgbClr val="002060"/>
                </a:solidFill>
                <a:latin typeface="Arial" panose="020B0604020202020204" pitchFamily="34" charset="0"/>
              </a:rPr>
              <a:t>Cầu về LĐ kỹ thuật cao tăng</a:t>
            </a:r>
          </a:p>
        </p:txBody>
      </p:sp>
      <p:sp>
        <p:nvSpPr>
          <p:cNvPr id="13" name="TextBox 12">
            <a:extLst>
              <a:ext uri="{FF2B5EF4-FFF2-40B4-BE49-F238E27FC236}">
                <a16:creationId xmlns:a16="http://schemas.microsoft.com/office/drawing/2014/main" id="{F2D0DF46-170B-64DC-5A65-28F9CF2F9539}"/>
              </a:ext>
            </a:extLst>
          </p:cNvPr>
          <p:cNvSpPr txBox="1"/>
          <p:nvPr/>
        </p:nvSpPr>
        <p:spPr>
          <a:xfrm>
            <a:off x="5873286" y="8724900"/>
            <a:ext cx="3200400" cy="1200329"/>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lnSpc>
                <a:spcPct val="90000"/>
              </a:lnSpc>
            </a:pPr>
            <a:r>
              <a:rPr lang="en-US" altLang="en-US" sz="4000">
                <a:solidFill>
                  <a:srgbClr val="002060"/>
                </a:solidFill>
                <a:latin typeface="Arial" panose="020B0604020202020204" pitchFamily="34" charset="0"/>
              </a:rPr>
              <a:t>Phân cực thị trường LĐ</a:t>
            </a:r>
          </a:p>
        </p:txBody>
      </p:sp>
      <p:sp>
        <p:nvSpPr>
          <p:cNvPr id="14" name="TextBox 13">
            <a:extLst>
              <a:ext uri="{FF2B5EF4-FFF2-40B4-BE49-F238E27FC236}">
                <a16:creationId xmlns:a16="http://schemas.microsoft.com/office/drawing/2014/main" id="{E81C15B1-A369-EB30-3860-0F7A2890140A}"/>
              </a:ext>
            </a:extLst>
          </p:cNvPr>
          <p:cNvSpPr txBox="1"/>
          <p:nvPr/>
        </p:nvSpPr>
        <p:spPr>
          <a:xfrm>
            <a:off x="11473986" y="8756650"/>
            <a:ext cx="3203576" cy="175432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lnSpc>
                <a:spcPct val="90000"/>
              </a:lnSpc>
            </a:pPr>
            <a:r>
              <a:rPr lang="en-US" altLang="en-US" sz="4000">
                <a:solidFill>
                  <a:srgbClr val="002060"/>
                </a:solidFill>
                <a:latin typeface="Arial" panose="020B0604020202020204" pitchFamily="34" charset="0"/>
              </a:rPr>
              <a:t>Hình thành tầng lớp trung lưu</a:t>
            </a:r>
          </a:p>
        </p:txBody>
      </p:sp>
      <p:sp>
        <p:nvSpPr>
          <p:cNvPr id="15" name="TextBox 14">
            <a:extLst>
              <a:ext uri="{FF2B5EF4-FFF2-40B4-BE49-F238E27FC236}">
                <a16:creationId xmlns:a16="http://schemas.microsoft.com/office/drawing/2014/main" id="{5E088F9B-8DB3-8509-0A1E-8BAF667ECF39}"/>
              </a:ext>
            </a:extLst>
          </p:cNvPr>
          <p:cNvSpPr txBox="1"/>
          <p:nvPr/>
        </p:nvSpPr>
        <p:spPr>
          <a:xfrm>
            <a:off x="8330737" y="11099801"/>
            <a:ext cx="4057650" cy="1754326"/>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lnSpc>
                <a:spcPct val="90000"/>
              </a:lnSpc>
            </a:pPr>
            <a:r>
              <a:rPr lang="en-US" altLang="en-US" sz="4000">
                <a:solidFill>
                  <a:srgbClr val="002060"/>
                </a:solidFill>
                <a:latin typeface="Arial" panose="020B0604020202020204" pitchFamily="34" charset="0"/>
              </a:rPr>
              <a:t>BBĐ xã hội và vai trò của tầng lớp trung lưu</a:t>
            </a:r>
          </a:p>
        </p:txBody>
      </p:sp>
      <p:cxnSp>
        <p:nvCxnSpPr>
          <p:cNvPr id="16" name="Straight Arrow Connector 15">
            <a:extLst>
              <a:ext uri="{FF2B5EF4-FFF2-40B4-BE49-F238E27FC236}">
                <a16:creationId xmlns:a16="http://schemas.microsoft.com/office/drawing/2014/main" id="{4EFCC581-A8E9-56D5-2B69-ACA5EC5E7619}"/>
              </a:ext>
            </a:extLst>
          </p:cNvPr>
          <p:cNvCxnSpPr>
            <a:stCxn id="5" idx="3"/>
            <a:endCxn id="7" idx="1"/>
          </p:cNvCxnSpPr>
          <p:nvPr/>
        </p:nvCxnSpPr>
        <p:spPr>
          <a:xfrm>
            <a:off x="3225336" y="3775165"/>
            <a:ext cx="590551" cy="57390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FA13216-22B3-722D-C70C-308EA2974DF5}"/>
              </a:ext>
            </a:extLst>
          </p:cNvPr>
          <p:cNvCxnSpPr>
            <a:endCxn id="7" idx="1"/>
          </p:cNvCxnSpPr>
          <p:nvPr/>
        </p:nvCxnSpPr>
        <p:spPr>
          <a:xfrm flipV="1">
            <a:off x="3225337" y="4349066"/>
            <a:ext cx="590550" cy="100081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2BEC411-7565-B18F-B73D-8C924DD825C4}"/>
              </a:ext>
            </a:extLst>
          </p:cNvPr>
          <p:cNvCxnSpPr/>
          <p:nvPr/>
        </p:nvCxnSpPr>
        <p:spPr>
          <a:xfrm>
            <a:off x="5971713" y="4387851"/>
            <a:ext cx="930274" cy="635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C654724-FCE7-5121-8584-56EC2422FB18}"/>
              </a:ext>
            </a:extLst>
          </p:cNvPr>
          <p:cNvCxnSpPr/>
          <p:nvPr/>
        </p:nvCxnSpPr>
        <p:spPr>
          <a:xfrm>
            <a:off x="9057813" y="4425950"/>
            <a:ext cx="93027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F55E082-3F8A-7DB0-5EC2-14F1570742A2}"/>
              </a:ext>
            </a:extLst>
          </p:cNvPr>
          <p:cNvCxnSpPr/>
          <p:nvPr/>
        </p:nvCxnSpPr>
        <p:spPr>
          <a:xfrm>
            <a:off x="12731287" y="4387850"/>
            <a:ext cx="83502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990E67B-5F90-E6EE-19B7-C06B5BC633E2}"/>
              </a:ext>
            </a:extLst>
          </p:cNvPr>
          <p:cNvCxnSpPr>
            <a:stCxn id="6" idx="2"/>
            <a:endCxn id="11" idx="1"/>
          </p:cNvCxnSpPr>
          <p:nvPr/>
        </p:nvCxnSpPr>
        <p:spPr>
          <a:xfrm>
            <a:off x="2147424" y="5650132"/>
            <a:ext cx="1211262" cy="20239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94B82F8-10AE-4A9D-7AEC-C57B89524DD3}"/>
              </a:ext>
            </a:extLst>
          </p:cNvPr>
          <p:cNvCxnSpPr/>
          <p:nvPr/>
        </p:nvCxnSpPr>
        <p:spPr>
          <a:xfrm>
            <a:off x="6543213" y="7464426"/>
            <a:ext cx="93027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82E5B38-88C3-EF24-4181-A1EAA04E08BE}"/>
              </a:ext>
            </a:extLst>
          </p:cNvPr>
          <p:cNvCxnSpPr>
            <a:stCxn id="12" idx="2"/>
          </p:cNvCxnSpPr>
          <p:nvPr/>
        </p:nvCxnSpPr>
        <p:spPr>
          <a:xfrm flipH="1">
            <a:off x="7702088" y="8296455"/>
            <a:ext cx="2228848" cy="4284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21AF35A-8569-AAE6-2DCC-B71A76AADE75}"/>
              </a:ext>
            </a:extLst>
          </p:cNvPr>
          <p:cNvCxnSpPr>
            <a:stCxn id="12" idx="2"/>
            <a:endCxn id="14" idx="0"/>
          </p:cNvCxnSpPr>
          <p:nvPr/>
        </p:nvCxnSpPr>
        <p:spPr>
          <a:xfrm>
            <a:off x="9930936" y="8296455"/>
            <a:ext cx="3144838" cy="46019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2C70806-16AA-3707-3986-32706C18F4FB}"/>
              </a:ext>
            </a:extLst>
          </p:cNvPr>
          <p:cNvCxnSpPr>
            <a:endCxn id="15" idx="0"/>
          </p:cNvCxnSpPr>
          <p:nvPr/>
        </p:nvCxnSpPr>
        <p:spPr>
          <a:xfrm>
            <a:off x="8330737" y="10614027"/>
            <a:ext cx="2028825" cy="48577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10FC221-B16C-495A-DE75-282252A0780C}"/>
              </a:ext>
            </a:extLst>
          </p:cNvPr>
          <p:cNvCxnSpPr>
            <a:stCxn id="14" idx="2"/>
            <a:endCxn id="15" idx="0"/>
          </p:cNvCxnSpPr>
          <p:nvPr/>
        </p:nvCxnSpPr>
        <p:spPr>
          <a:xfrm flipH="1">
            <a:off x="10359562" y="10510976"/>
            <a:ext cx="2716212" cy="5888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181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down)">
                                      <p:cBhvr>
                                        <p:cTn id="16" dur="500"/>
                                        <p:tgtEl>
                                          <p:spTgt spid="16"/>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down)">
                                      <p:cBhvr>
                                        <p:cTn id="24" dur="500"/>
                                        <p:tgtEl>
                                          <p:spTgt spid="18"/>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down)">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down)">
                                      <p:cBhvr>
                                        <p:cTn id="40" dur="500"/>
                                        <p:tgtEl>
                                          <p:spTgt spid="20"/>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down)">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wipe(down)">
                                      <p:cBhvr>
                                        <p:cTn id="48" dur="500"/>
                                        <p:tgtEl>
                                          <p:spTgt spid="21"/>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down)">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wipe(down)">
                                      <p:cBhvr>
                                        <p:cTn id="56" dur="500"/>
                                        <p:tgtEl>
                                          <p:spTgt spid="22"/>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down)">
                                      <p:cBhvr>
                                        <p:cTn id="59" dur="5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wipe(down)">
                                      <p:cBhvr>
                                        <p:cTn id="64" dur="500"/>
                                        <p:tgtEl>
                                          <p:spTgt spid="23"/>
                                        </p:tgtEl>
                                      </p:cBhvr>
                                    </p:animEffect>
                                  </p:childTnLst>
                                </p:cTn>
                              </p:par>
                              <p:par>
                                <p:cTn id="65" presetID="22" presetClass="entr" presetSubtype="4"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wipe(down)">
                                      <p:cBhvr>
                                        <p:cTn id="67" dur="500"/>
                                        <p:tgtEl>
                                          <p:spTgt spid="24"/>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wipe(down)">
                                      <p:cBhvr>
                                        <p:cTn id="70" dur="500"/>
                                        <p:tgtEl>
                                          <p:spTgt spid="13"/>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wipe(down)">
                                      <p:cBhvr>
                                        <p:cTn id="73" dur="500"/>
                                        <p:tgtEl>
                                          <p:spTgt spid="1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wipe(down)">
                                      <p:cBhvr>
                                        <p:cTn id="78" dur="500"/>
                                        <p:tgtEl>
                                          <p:spTgt spid="25"/>
                                        </p:tgtEl>
                                      </p:cBhvr>
                                    </p:animEffect>
                                  </p:childTnLst>
                                </p:cTn>
                              </p:par>
                              <p:par>
                                <p:cTn id="79" presetID="22" presetClass="entr" presetSubtype="4" fill="hold"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wipe(down)">
                                      <p:cBhvr>
                                        <p:cTn id="81" dur="500"/>
                                        <p:tgtEl>
                                          <p:spTgt spid="26"/>
                                        </p:tgtEl>
                                      </p:cBhvr>
                                    </p:animEffect>
                                  </p:childTnLst>
                                </p:cTn>
                              </p:par>
                              <p:par>
                                <p:cTn id="82" presetID="22" presetClass="entr" presetSubtype="4" fill="hold" grpId="0" nodeType="withEffect">
                                  <p:stCondLst>
                                    <p:cond delay="0"/>
                                  </p:stCondLst>
                                  <p:childTnLst>
                                    <p:set>
                                      <p:cBhvr>
                                        <p:cTn id="83" dur="1" fill="hold">
                                          <p:stCondLst>
                                            <p:cond delay="0"/>
                                          </p:stCondLst>
                                        </p:cTn>
                                        <p:tgtEl>
                                          <p:spTgt spid="15"/>
                                        </p:tgtEl>
                                        <p:attrNameLst>
                                          <p:attrName>style.visibility</p:attrName>
                                        </p:attrNameLst>
                                      </p:cBhvr>
                                      <p:to>
                                        <p:strVal val="visible"/>
                                      </p:to>
                                    </p:set>
                                    <p:animEffect transition="in" filter="wipe(down)">
                                      <p:cBhvr>
                                        <p:cTn id="8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4"/>
          <p:cNvSpPr txBox="1">
            <a:spLocks noChangeArrowheads="1"/>
          </p:cNvSpPr>
          <p:nvPr/>
        </p:nvSpPr>
        <p:spPr bwMode="ltGray">
          <a:xfrm>
            <a:off x="693965" y="2214087"/>
            <a:ext cx="16875578" cy="11079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just"/>
            <a:r>
              <a:rPr lang="vi-VN" altLang="en-US" sz="4200" b="1" dirty="0">
                <a:solidFill>
                  <a:srgbClr val="FF0000"/>
                </a:solidFill>
                <a:latin typeface="+mn-lt"/>
                <a:sym typeface="Wingdings" panose="05000000000000000000" pitchFamily="2" charset="2"/>
              </a:rPr>
              <a:t>Bài 1:</a:t>
            </a:r>
            <a:r>
              <a:rPr lang="vi-VN" altLang="en-US" sz="4200" dirty="0">
                <a:latin typeface="+mn-lt"/>
                <a:sym typeface="Wingdings" panose="05000000000000000000" pitchFamily="2" charset="2"/>
              </a:rPr>
              <a:t> Công ty sản xuất thiết bị cơ khí, trong quá trình SX SP, hao mòn thiết bị máy móc là 100.000USD. Chi phí nguyên liệu, vật liệu và nhiên liệu là 300.000 USD.  Hãy xác định chi phí tư bản khả biến nếu biết rằng giá trị SP là 1.000.000 USD và m’=200%.</a:t>
            </a:r>
            <a:endParaRPr lang="en-US" altLang="en-US" sz="4200" dirty="0">
              <a:latin typeface="+mn-lt"/>
              <a:sym typeface="Wingdings" panose="05000000000000000000" pitchFamily="2" charset="2"/>
            </a:endParaRPr>
          </a:p>
          <a:p>
            <a:pPr algn="just"/>
            <a:r>
              <a:rPr lang="vi-VN" altLang="en-US" sz="4200" b="1" dirty="0">
                <a:solidFill>
                  <a:srgbClr val="FF0000"/>
                </a:solidFill>
                <a:latin typeface="+mn-lt"/>
                <a:sym typeface="Wingdings" panose="05000000000000000000" pitchFamily="2" charset="2"/>
              </a:rPr>
              <a:t>Bài 2:</a:t>
            </a:r>
            <a:r>
              <a:rPr lang="vi-VN" altLang="en-US" sz="4200" dirty="0">
                <a:latin typeface="+mn-lt"/>
                <a:sym typeface="Wingdings" panose="05000000000000000000" pitchFamily="2" charset="2"/>
              </a:rPr>
              <a:t> công ty may X có 100 công nhân làm thuê. Trong một tháng công ty sản xuất được 25.000 sp áo len với chi phí tư bản bất biến là 500.000 USD. Giá trị sức lao động một tháng của mỗi công nhân là 750USD, m’=200%. Hãy xác định giá trị của một đơn vị SP và kết cấu của nó</a:t>
            </a:r>
            <a:endParaRPr lang="en-US" altLang="en-US" sz="4200" dirty="0">
              <a:latin typeface="+mn-lt"/>
              <a:sym typeface="Wingdings" panose="05000000000000000000" pitchFamily="2" charset="2"/>
            </a:endParaRPr>
          </a:p>
          <a:p>
            <a:pPr algn="just"/>
            <a:r>
              <a:rPr lang="vi-VN" altLang="en-US" sz="4200" b="1" dirty="0">
                <a:solidFill>
                  <a:srgbClr val="FF0000"/>
                </a:solidFill>
                <a:latin typeface="+mn-lt"/>
                <a:sym typeface="Wingdings" panose="05000000000000000000" pitchFamily="2" charset="2"/>
              </a:rPr>
              <a:t>Bài 3: </a:t>
            </a:r>
            <a:r>
              <a:rPr lang="vi-VN" altLang="en-US" sz="4200" dirty="0">
                <a:latin typeface="+mn-lt"/>
                <a:sym typeface="Wingdings" panose="05000000000000000000" pitchFamily="2" charset="2"/>
              </a:rPr>
              <a:t>Ngày làm việc 8h, m’=300%. Sau đó nhà TB kéo dài ngày làm việc đến 10h. Mức độ bóc lột thay đổi thế nào nếu giá trị sức lao động không đổi. Nhà TB sử dụng phương pháp nào để nâng cao giá trị thặng dư?</a:t>
            </a:r>
            <a:endParaRPr lang="en-US" altLang="en-US" sz="4200" dirty="0">
              <a:latin typeface="+mn-lt"/>
              <a:sym typeface="Wingdings" panose="05000000000000000000" pitchFamily="2" charset="2"/>
            </a:endParaRPr>
          </a:p>
          <a:p>
            <a:pPr algn="just"/>
            <a:r>
              <a:rPr lang="vi-VN" altLang="en-US" sz="4200" b="1" dirty="0">
                <a:solidFill>
                  <a:srgbClr val="FF0000"/>
                </a:solidFill>
                <a:latin typeface="+mn-lt"/>
                <a:sym typeface="Wingdings" panose="05000000000000000000" pitchFamily="2" charset="2"/>
              </a:rPr>
              <a:t>Bài </a:t>
            </a:r>
            <a:r>
              <a:rPr lang="en-US" altLang="en-US" sz="4200" b="1" dirty="0">
                <a:solidFill>
                  <a:srgbClr val="FF0000"/>
                </a:solidFill>
                <a:latin typeface="+mn-lt"/>
                <a:sym typeface="Wingdings" panose="05000000000000000000" pitchFamily="2" charset="2"/>
              </a:rPr>
              <a:t>4</a:t>
            </a:r>
            <a:r>
              <a:rPr lang="vi-VN" altLang="en-US" sz="4200" b="1" dirty="0">
                <a:solidFill>
                  <a:srgbClr val="FF0000"/>
                </a:solidFill>
                <a:latin typeface="+mn-lt"/>
                <a:sym typeface="Wingdings" panose="05000000000000000000" pitchFamily="2" charset="2"/>
              </a:rPr>
              <a:t>:</a:t>
            </a:r>
            <a:r>
              <a:rPr lang="vi-VN" altLang="en-US" sz="4200" dirty="0">
                <a:latin typeface="+mn-lt"/>
                <a:sym typeface="Wingdings" panose="05000000000000000000" pitchFamily="2" charset="2"/>
              </a:rPr>
              <a:t> Tư bản đầu tư 900.000 USD, trong đó bỏ vào tư liệu sản xuất 780.000USD. Số công nhân thu hút vào sản xuất là 400 người, trình độ bóc lột là 300%. Hỏi  lượng giá trị mới do 1 công nhân tạo ra là bao nhiêu ?</a:t>
            </a:r>
          </a:p>
        </p:txBody>
      </p:sp>
      <p:pic>
        <p:nvPicPr>
          <p:cNvPr id="3" name="Picture 2">
            <a:extLst>
              <a:ext uri="{FF2B5EF4-FFF2-40B4-BE49-F238E27FC236}">
                <a16:creationId xmlns:a16="http://schemas.microsoft.com/office/drawing/2014/main" id="{AC9F6848-BE01-C342-4BA8-E0E5B9141A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98239"/>
            <a:ext cx="2432976" cy="1784350"/>
          </a:xfrm>
          <a:prstGeom prst="rect">
            <a:avLst/>
          </a:prstGeom>
        </p:spPr>
      </p:pic>
      <p:sp>
        <p:nvSpPr>
          <p:cNvPr id="7" name="Title 1">
            <a:extLst>
              <a:ext uri="{FF2B5EF4-FFF2-40B4-BE49-F238E27FC236}">
                <a16:creationId xmlns:a16="http://schemas.microsoft.com/office/drawing/2014/main" id="{71CC9B5B-1D5A-4826-B988-71F56D380E0C}"/>
              </a:ext>
            </a:extLst>
          </p:cNvPr>
          <p:cNvSpPr txBox="1">
            <a:spLocks/>
          </p:cNvSpPr>
          <p:nvPr/>
        </p:nvSpPr>
        <p:spPr>
          <a:xfrm>
            <a:off x="3045288" y="1006476"/>
            <a:ext cx="121974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solidFill>
                  <a:srgbClr val="002060"/>
                </a:solidFill>
                <a:latin typeface="Aachen" panose="02020500000000000000" pitchFamily="18" charset="0"/>
                <a:ea typeface="Aachen" panose="02020500000000000000" pitchFamily="18" charset="0"/>
                <a:cs typeface="Aachen" panose="02020500000000000000" pitchFamily="18" charset="0"/>
              </a:rPr>
              <a:t>BÀI TẬP VẬN DỤNG</a:t>
            </a:r>
          </a:p>
        </p:txBody>
      </p:sp>
    </p:spTree>
    <p:extLst>
      <p:ext uri="{BB962C8B-B14F-4D97-AF65-F5344CB8AC3E}">
        <p14:creationId xmlns:p14="http://schemas.microsoft.com/office/powerpoint/2010/main" val="2834264011"/>
      </p:ext>
    </p:extLst>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A7F72D9-7109-3E0A-2BE9-4C1664684450}"/>
              </a:ext>
            </a:extLst>
          </p:cNvPr>
          <p:cNvSpPr txBox="1">
            <a:spLocks noChangeArrowheads="1"/>
          </p:cNvSpPr>
          <p:nvPr/>
        </p:nvSpPr>
        <p:spPr>
          <a:xfrm>
            <a:off x="3733456" y="1636396"/>
            <a:ext cx="10521024" cy="1127124"/>
          </a:xfrm>
          <a:prstGeom prst="rect">
            <a:avLst/>
          </a:prstGeom>
        </p:spPr>
        <p:txBody>
          <a:bodyPr vert="horz" lIns="182880" tIns="91440" rIns="182880" bIns="9144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12000" b="1">
                <a:solidFill>
                  <a:srgbClr val="002060"/>
                </a:solidFill>
              </a:rPr>
              <a:t>Nội dung Chương 3</a:t>
            </a:r>
          </a:p>
        </p:txBody>
      </p:sp>
      <p:sp>
        <p:nvSpPr>
          <p:cNvPr id="3" name="Freeform 2">
            <a:extLst>
              <a:ext uri="{FF2B5EF4-FFF2-40B4-BE49-F238E27FC236}">
                <a16:creationId xmlns:a16="http://schemas.microsoft.com/office/drawing/2014/main" id="{762B35D8-1DDF-BD11-F403-8D55F1A83079}"/>
              </a:ext>
            </a:extLst>
          </p:cNvPr>
          <p:cNvSpPr/>
          <p:nvPr/>
        </p:nvSpPr>
        <p:spPr>
          <a:xfrm>
            <a:off x="2824482" y="4343962"/>
            <a:ext cx="2264448" cy="3234928"/>
          </a:xfrm>
          <a:custGeom>
            <a:avLst/>
            <a:gdLst>
              <a:gd name="connsiteX0" fmla="*/ 0 w 1617464"/>
              <a:gd name="connsiteY0" fmla="*/ 0 h 1132224"/>
              <a:gd name="connsiteX1" fmla="*/ 1051352 w 1617464"/>
              <a:gd name="connsiteY1" fmla="*/ 0 h 1132224"/>
              <a:gd name="connsiteX2" fmla="*/ 1617464 w 1617464"/>
              <a:gd name="connsiteY2" fmla="*/ 566112 h 1132224"/>
              <a:gd name="connsiteX3" fmla="*/ 1051352 w 1617464"/>
              <a:gd name="connsiteY3" fmla="*/ 1132224 h 1132224"/>
              <a:gd name="connsiteX4" fmla="*/ 0 w 1617464"/>
              <a:gd name="connsiteY4" fmla="*/ 1132224 h 1132224"/>
              <a:gd name="connsiteX5" fmla="*/ 566112 w 1617464"/>
              <a:gd name="connsiteY5" fmla="*/ 566112 h 1132224"/>
              <a:gd name="connsiteX6" fmla="*/ 0 w 1617464"/>
              <a:gd name="connsiteY6" fmla="*/ 0 h 113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64" h="1132224">
                <a:moveTo>
                  <a:pt x="1617464" y="0"/>
                </a:moveTo>
                <a:lnTo>
                  <a:pt x="1617464" y="735946"/>
                </a:lnTo>
                <a:lnTo>
                  <a:pt x="808732" y="1132224"/>
                </a:lnTo>
                <a:lnTo>
                  <a:pt x="0" y="735946"/>
                </a:lnTo>
                <a:lnTo>
                  <a:pt x="0" y="0"/>
                </a:lnTo>
                <a:lnTo>
                  <a:pt x="808732" y="396278"/>
                </a:lnTo>
                <a:lnTo>
                  <a:pt x="1617464"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640" tIns="1172864" rIns="40640" bIns="1172864" numCol="1" spcCol="1270" anchor="ctr" anchorCtr="0">
            <a:noAutofit/>
          </a:bodyPr>
          <a:lstStyle/>
          <a:p>
            <a:pPr algn="ctr" defTabSz="2844800">
              <a:lnSpc>
                <a:spcPct val="90000"/>
              </a:lnSpc>
              <a:spcBef>
                <a:spcPct val="0"/>
              </a:spcBef>
              <a:spcAft>
                <a:spcPct val="35000"/>
              </a:spcAft>
            </a:pPr>
            <a:r>
              <a:rPr lang="en-US" sz="6400" b="1">
                <a:solidFill>
                  <a:srgbClr val="002060"/>
                </a:solidFill>
              </a:rPr>
              <a:t>3.1.</a:t>
            </a:r>
          </a:p>
        </p:txBody>
      </p:sp>
      <p:sp>
        <p:nvSpPr>
          <p:cNvPr id="27" name="Freeform 3">
            <a:extLst>
              <a:ext uri="{FF2B5EF4-FFF2-40B4-BE49-F238E27FC236}">
                <a16:creationId xmlns:a16="http://schemas.microsoft.com/office/drawing/2014/main" id="{4AD55E56-9C82-A223-46F0-8FC16F2B8BD6}"/>
              </a:ext>
            </a:extLst>
          </p:cNvPr>
          <p:cNvSpPr/>
          <p:nvPr/>
        </p:nvSpPr>
        <p:spPr>
          <a:xfrm>
            <a:off x="5088929" y="4343965"/>
            <a:ext cx="11146750" cy="2102702"/>
          </a:xfrm>
          <a:custGeom>
            <a:avLst/>
            <a:gdLst>
              <a:gd name="connsiteX0" fmla="*/ 175229 w 1051351"/>
              <a:gd name="connsiteY0" fmla="*/ 0 h 5573375"/>
              <a:gd name="connsiteX1" fmla="*/ 876122 w 1051351"/>
              <a:gd name="connsiteY1" fmla="*/ 0 h 5573375"/>
              <a:gd name="connsiteX2" fmla="*/ 1051351 w 1051351"/>
              <a:gd name="connsiteY2" fmla="*/ 175229 h 5573375"/>
              <a:gd name="connsiteX3" fmla="*/ 1051351 w 1051351"/>
              <a:gd name="connsiteY3" fmla="*/ 5573375 h 5573375"/>
              <a:gd name="connsiteX4" fmla="*/ 1051351 w 1051351"/>
              <a:gd name="connsiteY4" fmla="*/ 5573375 h 5573375"/>
              <a:gd name="connsiteX5" fmla="*/ 0 w 1051351"/>
              <a:gd name="connsiteY5" fmla="*/ 5573375 h 5573375"/>
              <a:gd name="connsiteX6" fmla="*/ 0 w 1051351"/>
              <a:gd name="connsiteY6" fmla="*/ 5573375 h 5573375"/>
              <a:gd name="connsiteX7" fmla="*/ 0 w 1051351"/>
              <a:gd name="connsiteY7" fmla="*/ 175229 h 5573375"/>
              <a:gd name="connsiteX8" fmla="*/ 175229 w 1051351"/>
              <a:gd name="connsiteY8" fmla="*/ 0 h 557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351" h="5573375">
                <a:moveTo>
                  <a:pt x="1051351" y="928916"/>
                </a:moveTo>
                <a:lnTo>
                  <a:pt x="1051351" y="4644459"/>
                </a:lnTo>
                <a:cubicBezTo>
                  <a:pt x="1051351" y="5157483"/>
                  <a:pt x="1036552" y="5573375"/>
                  <a:pt x="1018296" y="5573375"/>
                </a:cubicBezTo>
                <a:lnTo>
                  <a:pt x="0" y="5573375"/>
                </a:lnTo>
                <a:lnTo>
                  <a:pt x="0" y="5573375"/>
                </a:lnTo>
                <a:lnTo>
                  <a:pt x="0" y="0"/>
                </a:lnTo>
                <a:lnTo>
                  <a:pt x="0" y="0"/>
                </a:lnTo>
                <a:lnTo>
                  <a:pt x="1018296" y="0"/>
                </a:lnTo>
                <a:cubicBezTo>
                  <a:pt x="1036552" y="0"/>
                  <a:pt x="1051351" y="415892"/>
                  <a:pt x="1051351" y="928916"/>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12930" tIns="130584" rIns="130584" bIns="130588" numCol="1" spcCol="1270" anchor="ctr" anchorCtr="0">
            <a:noAutofit/>
          </a:bodyPr>
          <a:lstStyle/>
          <a:p>
            <a:pPr marL="457200" lvl="1" indent="-457200" algn="just" defTabSz="1955800">
              <a:lnSpc>
                <a:spcPct val="90000"/>
              </a:lnSpc>
              <a:spcBef>
                <a:spcPct val="0"/>
              </a:spcBef>
              <a:spcAft>
                <a:spcPct val="15000"/>
              </a:spcAft>
              <a:buChar char="••"/>
            </a:pPr>
            <a:r>
              <a:rPr lang="en-US" sz="4400" b="1">
                <a:solidFill>
                  <a:srgbClr val="002060"/>
                </a:solidFill>
              </a:rPr>
              <a:t>LÝ LUẬN CỦA CÁC MÁC VỀ GIÁ TRỊ THẶNG DƯ</a:t>
            </a:r>
          </a:p>
        </p:txBody>
      </p:sp>
      <p:sp>
        <p:nvSpPr>
          <p:cNvPr id="28" name="Freeform 4">
            <a:extLst>
              <a:ext uri="{FF2B5EF4-FFF2-40B4-BE49-F238E27FC236}">
                <a16:creationId xmlns:a16="http://schemas.microsoft.com/office/drawing/2014/main" id="{0147D0BA-0BA5-7965-0847-3D35029C89DF}"/>
              </a:ext>
            </a:extLst>
          </p:cNvPr>
          <p:cNvSpPr/>
          <p:nvPr/>
        </p:nvSpPr>
        <p:spPr>
          <a:xfrm>
            <a:off x="2824482" y="7191254"/>
            <a:ext cx="2264448" cy="3234928"/>
          </a:xfrm>
          <a:custGeom>
            <a:avLst/>
            <a:gdLst>
              <a:gd name="connsiteX0" fmla="*/ 0 w 1617464"/>
              <a:gd name="connsiteY0" fmla="*/ 0 h 1132224"/>
              <a:gd name="connsiteX1" fmla="*/ 1051352 w 1617464"/>
              <a:gd name="connsiteY1" fmla="*/ 0 h 1132224"/>
              <a:gd name="connsiteX2" fmla="*/ 1617464 w 1617464"/>
              <a:gd name="connsiteY2" fmla="*/ 566112 h 1132224"/>
              <a:gd name="connsiteX3" fmla="*/ 1051352 w 1617464"/>
              <a:gd name="connsiteY3" fmla="*/ 1132224 h 1132224"/>
              <a:gd name="connsiteX4" fmla="*/ 0 w 1617464"/>
              <a:gd name="connsiteY4" fmla="*/ 1132224 h 1132224"/>
              <a:gd name="connsiteX5" fmla="*/ 566112 w 1617464"/>
              <a:gd name="connsiteY5" fmla="*/ 566112 h 1132224"/>
              <a:gd name="connsiteX6" fmla="*/ 0 w 1617464"/>
              <a:gd name="connsiteY6" fmla="*/ 0 h 113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64" h="1132224">
                <a:moveTo>
                  <a:pt x="1617464" y="0"/>
                </a:moveTo>
                <a:lnTo>
                  <a:pt x="1617464" y="735946"/>
                </a:lnTo>
                <a:lnTo>
                  <a:pt x="808732" y="1132224"/>
                </a:lnTo>
                <a:lnTo>
                  <a:pt x="0" y="735946"/>
                </a:lnTo>
                <a:lnTo>
                  <a:pt x="0" y="0"/>
                </a:lnTo>
                <a:lnTo>
                  <a:pt x="808732" y="396278"/>
                </a:lnTo>
                <a:lnTo>
                  <a:pt x="1617464"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640" tIns="1172864" rIns="40640" bIns="1172864" numCol="1" spcCol="1270" anchor="ctr" anchorCtr="0">
            <a:noAutofit/>
          </a:bodyPr>
          <a:lstStyle/>
          <a:p>
            <a:pPr algn="ctr" defTabSz="2844800">
              <a:lnSpc>
                <a:spcPct val="90000"/>
              </a:lnSpc>
              <a:spcBef>
                <a:spcPct val="0"/>
              </a:spcBef>
              <a:spcAft>
                <a:spcPct val="35000"/>
              </a:spcAft>
            </a:pPr>
            <a:r>
              <a:rPr lang="en-US" sz="6400" b="1">
                <a:solidFill>
                  <a:srgbClr val="002060"/>
                </a:solidFill>
              </a:rPr>
              <a:t>3.2.</a:t>
            </a:r>
          </a:p>
        </p:txBody>
      </p:sp>
      <p:sp>
        <p:nvSpPr>
          <p:cNvPr id="29" name="Freeform 5">
            <a:extLst>
              <a:ext uri="{FF2B5EF4-FFF2-40B4-BE49-F238E27FC236}">
                <a16:creationId xmlns:a16="http://schemas.microsoft.com/office/drawing/2014/main" id="{25ADD9CD-BB5C-DEBC-A46C-060C1D0344FD}"/>
              </a:ext>
            </a:extLst>
          </p:cNvPr>
          <p:cNvSpPr/>
          <p:nvPr/>
        </p:nvSpPr>
        <p:spPr>
          <a:xfrm>
            <a:off x="5088929" y="7191259"/>
            <a:ext cx="11146750" cy="2102702"/>
          </a:xfrm>
          <a:custGeom>
            <a:avLst/>
            <a:gdLst>
              <a:gd name="connsiteX0" fmla="*/ 175229 w 1051351"/>
              <a:gd name="connsiteY0" fmla="*/ 0 h 5573375"/>
              <a:gd name="connsiteX1" fmla="*/ 876122 w 1051351"/>
              <a:gd name="connsiteY1" fmla="*/ 0 h 5573375"/>
              <a:gd name="connsiteX2" fmla="*/ 1051351 w 1051351"/>
              <a:gd name="connsiteY2" fmla="*/ 175229 h 5573375"/>
              <a:gd name="connsiteX3" fmla="*/ 1051351 w 1051351"/>
              <a:gd name="connsiteY3" fmla="*/ 5573375 h 5573375"/>
              <a:gd name="connsiteX4" fmla="*/ 1051351 w 1051351"/>
              <a:gd name="connsiteY4" fmla="*/ 5573375 h 5573375"/>
              <a:gd name="connsiteX5" fmla="*/ 0 w 1051351"/>
              <a:gd name="connsiteY5" fmla="*/ 5573375 h 5573375"/>
              <a:gd name="connsiteX6" fmla="*/ 0 w 1051351"/>
              <a:gd name="connsiteY6" fmla="*/ 5573375 h 5573375"/>
              <a:gd name="connsiteX7" fmla="*/ 0 w 1051351"/>
              <a:gd name="connsiteY7" fmla="*/ 175229 h 5573375"/>
              <a:gd name="connsiteX8" fmla="*/ 175229 w 1051351"/>
              <a:gd name="connsiteY8" fmla="*/ 0 h 557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351" h="5573375">
                <a:moveTo>
                  <a:pt x="1051351" y="928916"/>
                </a:moveTo>
                <a:lnTo>
                  <a:pt x="1051351" y="4644459"/>
                </a:lnTo>
                <a:cubicBezTo>
                  <a:pt x="1051351" y="5157483"/>
                  <a:pt x="1036552" y="5573375"/>
                  <a:pt x="1018296" y="5573375"/>
                </a:cubicBezTo>
                <a:lnTo>
                  <a:pt x="0" y="5573375"/>
                </a:lnTo>
                <a:lnTo>
                  <a:pt x="0" y="5573375"/>
                </a:lnTo>
                <a:lnTo>
                  <a:pt x="0" y="0"/>
                </a:lnTo>
                <a:lnTo>
                  <a:pt x="0" y="0"/>
                </a:lnTo>
                <a:lnTo>
                  <a:pt x="1018296" y="0"/>
                </a:lnTo>
                <a:cubicBezTo>
                  <a:pt x="1036552" y="0"/>
                  <a:pt x="1051351" y="415892"/>
                  <a:pt x="1051351" y="928916"/>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12930" tIns="130584" rIns="130584" bIns="130588" numCol="1" spcCol="1270" anchor="ctr" anchorCtr="0">
            <a:noAutofit/>
          </a:bodyPr>
          <a:lstStyle/>
          <a:p>
            <a:pPr marL="457200" lvl="1" indent="-457200" algn="just" defTabSz="1955800">
              <a:lnSpc>
                <a:spcPct val="90000"/>
              </a:lnSpc>
              <a:spcBef>
                <a:spcPct val="0"/>
              </a:spcBef>
              <a:spcAft>
                <a:spcPct val="15000"/>
              </a:spcAft>
              <a:buChar char="••"/>
            </a:pPr>
            <a:r>
              <a:rPr lang="en-US" sz="4400" b="1" dirty="0">
                <a:solidFill>
                  <a:srgbClr val="002060"/>
                </a:solidFill>
              </a:rPr>
              <a:t>TÍCH LŨY TƯ BẢN</a:t>
            </a:r>
          </a:p>
        </p:txBody>
      </p:sp>
      <p:sp>
        <p:nvSpPr>
          <p:cNvPr id="30" name="Freeform 6">
            <a:extLst>
              <a:ext uri="{FF2B5EF4-FFF2-40B4-BE49-F238E27FC236}">
                <a16:creationId xmlns:a16="http://schemas.microsoft.com/office/drawing/2014/main" id="{04742768-85D2-F307-659A-45BFE6E4ACCA}"/>
              </a:ext>
            </a:extLst>
          </p:cNvPr>
          <p:cNvSpPr/>
          <p:nvPr/>
        </p:nvSpPr>
        <p:spPr>
          <a:xfrm>
            <a:off x="2824482" y="10038546"/>
            <a:ext cx="2264448" cy="3234928"/>
          </a:xfrm>
          <a:custGeom>
            <a:avLst/>
            <a:gdLst>
              <a:gd name="connsiteX0" fmla="*/ 0 w 1617464"/>
              <a:gd name="connsiteY0" fmla="*/ 0 h 1132224"/>
              <a:gd name="connsiteX1" fmla="*/ 1051352 w 1617464"/>
              <a:gd name="connsiteY1" fmla="*/ 0 h 1132224"/>
              <a:gd name="connsiteX2" fmla="*/ 1617464 w 1617464"/>
              <a:gd name="connsiteY2" fmla="*/ 566112 h 1132224"/>
              <a:gd name="connsiteX3" fmla="*/ 1051352 w 1617464"/>
              <a:gd name="connsiteY3" fmla="*/ 1132224 h 1132224"/>
              <a:gd name="connsiteX4" fmla="*/ 0 w 1617464"/>
              <a:gd name="connsiteY4" fmla="*/ 1132224 h 1132224"/>
              <a:gd name="connsiteX5" fmla="*/ 566112 w 1617464"/>
              <a:gd name="connsiteY5" fmla="*/ 566112 h 1132224"/>
              <a:gd name="connsiteX6" fmla="*/ 0 w 1617464"/>
              <a:gd name="connsiteY6" fmla="*/ 0 h 113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64" h="1132224">
                <a:moveTo>
                  <a:pt x="1617464" y="0"/>
                </a:moveTo>
                <a:lnTo>
                  <a:pt x="1617464" y="735946"/>
                </a:lnTo>
                <a:lnTo>
                  <a:pt x="808732" y="1132224"/>
                </a:lnTo>
                <a:lnTo>
                  <a:pt x="0" y="735946"/>
                </a:lnTo>
                <a:lnTo>
                  <a:pt x="0" y="0"/>
                </a:lnTo>
                <a:lnTo>
                  <a:pt x="808732" y="396278"/>
                </a:lnTo>
                <a:lnTo>
                  <a:pt x="1617464"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0640" tIns="1172864" rIns="40640" bIns="1172864" numCol="1" spcCol="1270" anchor="ctr" anchorCtr="0">
            <a:noAutofit/>
          </a:bodyPr>
          <a:lstStyle/>
          <a:p>
            <a:pPr algn="ctr" defTabSz="2844800">
              <a:lnSpc>
                <a:spcPct val="90000"/>
              </a:lnSpc>
              <a:spcBef>
                <a:spcPct val="0"/>
              </a:spcBef>
              <a:spcAft>
                <a:spcPct val="35000"/>
              </a:spcAft>
            </a:pPr>
            <a:r>
              <a:rPr lang="en-US" sz="6400" b="1">
                <a:solidFill>
                  <a:srgbClr val="002060"/>
                </a:solidFill>
              </a:rPr>
              <a:t>3.3.</a:t>
            </a:r>
          </a:p>
        </p:txBody>
      </p:sp>
      <p:sp>
        <p:nvSpPr>
          <p:cNvPr id="31" name="Freeform 7">
            <a:extLst>
              <a:ext uri="{FF2B5EF4-FFF2-40B4-BE49-F238E27FC236}">
                <a16:creationId xmlns:a16="http://schemas.microsoft.com/office/drawing/2014/main" id="{9917784F-DCA5-DCC4-D775-8D4C372631A5}"/>
              </a:ext>
            </a:extLst>
          </p:cNvPr>
          <p:cNvSpPr/>
          <p:nvPr/>
        </p:nvSpPr>
        <p:spPr>
          <a:xfrm>
            <a:off x="5088929" y="10038549"/>
            <a:ext cx="11146750" cy="2102702"/>
          </a:xfrm>
          <a:custGeom>
            <a:avLst/>
            <a:gdLst>
              <a:gd name="connsiteX0" fmla="*/ 175229 w 1051351"/>
              <a:gd name="connsiteY0" fmla="*/ 0 h 5573375"/>
              <a:gd name="connsiteX1" fmla="*/ 876122 w 1051351"/>
              <a:gd name="connsiteY1" fmla="*/ 0 h 5573375"/>
              <a:gd name="connsiteX2" fmla="*/ 1051351 w 1051351"/>
              <a:gd name="connsiteY2" fmla="*/ 175229 h 5573375"/>
              <a:gd name="connsiteX3" fmla="*/ 1051351 w 1051351"/>
              <a:gd name="connsiteY3" fmla="*/ 5573375 h 5573375"/>
              <a:gd name="connsiteX4" fmla="*/ 1051351 w 1051351"/>
              <a:gd name="connsiteY4" fmla="*/ 5573375 h 5573375"/>
              <a:gd name="connsiteX5" fmla="*/ 0 w 1051351"/>
              <a:gd name="connsiteY5" fmla="*/ 5573375 h 5573375"/>
              <a:gd name="connsiteX6" fmla="*/ 0 w 1051351"/>
              <a:gd name="connsiteY6" fmla="*/ 5573375 h 5573375"/>
              <a:gd name="connsiteX7" fmla="*/ 0 w 1051351"/>
              <a:gd name="connsiteY7" fmla="*/ 175229 h 5573375"/>
              <a:gd name="connsiteX8" fmla="*/ 175229 w 1051351"/>
              <a:gd name="connsiteY8" fmla="*/ 0 h 557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351" h="5573375">
                <a:moveTo>
                  <a:pt x="1051351" y="928916"/>
                </a:moveTo>
                <a:lnTo>
                  <a:pt x="1051351" y="4644459"/>
                </a:lnTo>
                <a:cubicBezTo>
                  <a:pt x="1051351" y="5157483"/>
                  <a:pt x="1036552" y="5573375"/>
                  <a:pt x="1018296" y="5573375"/>
                </a:cubicBezTo>
                <a:lnTo>
                  <a:pt x="0" y="5573375"/>
                </a:lnTo>
                <a:lnTo>
                  <a:pt x="0" y="5573375"/>
                </a:lnTo>
                <a:lnTo>
                  <a:pt x="0" y="0"/>
                </a:lnTo>
                <a:lnTo>
                  <a:pt x="0" y="0"/>
                </a:lnTo>
                <a:lnTo>
                  <a:pt x="1018296" y="0"/>
                </a:lnTo>
                <a:cubicBezTo>
                  <a:pt x="1036552" y="0"/>
                  <a:pt x="1051351" y="415892"/>
                  <a:pt x="1051351" y="928916"/>
                </a:cubicBez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12930" tIns="130586" rIns="130584" bIns="130586" numCol="1" spcCol="1270" anchor="ctr" anchorCtr="0">
            <a:noAutofit/>
          </a:bodyPr>
          <a:lstStyle/>
          <a:p>
            <a:pPr marL="457200" lvl="1" indent="-457200" algn="just" defTabSz="1955800">
              <a:lnSpc>
                <a:spcPct val="90000"/>
              </a:lnSpc>
              <a:spcBef>
                <a:spcPct val="0"/>
              </a:spcBef>
              <a:spcAft>
                <a:spcPct val="15000"/>
              </a:spcAft>
              <a:buChar char="••"/>
            </a:pPr>
            <a:r>
              <a:rPr lang="en-US" sz="4400" b="1">
                <a:solidFill>
                  <a:srgbClr val="002060"/>
                </a:solidFill>
              </a:rPr>
              <a:t>CÁC HÌNH THỨC BIỂU HIỆN CỦA GIÁ TRỊ THẶNG DƯ TRONG NỀN KINH TẾ THỊ TRƯỜNG</a:t>
            </a:r>
          </a:p>
        </p:txBody>
      </p:sp>
    </p:spTree>
    <p:extLst>
      <p:ext uri="{BB962C8B-B14F-4D97-AF65-F5344CB8AC3E}">
        <p14:creationId xmlns:p14="http://schemas.microsoft.com/office/powerpoint/2010/main" val="244478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1"/>
                                        </p:tgtEl>
                                        <p:attrNameLst>
                                          <p:attrName>fillcolor</p:attrName>
                                        </p:attrNameLst>
                                      </p:cBhvr>
                                      <p:to>
                                        <a:schemeClr val="accent2"/>
                                      </p:to>
                                    </p:animClr>
                                    <p:set>
                                      <p:cBhvr>
                                        <p:cTn id="7" dur="2000" fill="hold"/>
                                        <p:tgtEl>
                                          <p:spTgt spid="31"/>
                                        </p:tgtEl>
                                        <p:attrNameLst>
                                          <p:attrName>fill.type</p:attrName>
                                        </p:attrNameLst>
                                      </p:cBhvr>
                                      <p:to>
                                        <p:strVal val="solid"/>
                                      </p:to>
                                    </p:set>
                                    <p:set>
                                      <p:cBhvr>
                                        <p:cTn id="8" dur="2000" fill="hold"/>
                                        <p:tgtEl>
                                          <p:spTgt spid="3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E6543C-F33F-EDEE-68DB-4089C001592E}"/>
              </a:ext>
            </a:extLst>
          </p:cNvPr>
          <p:cNvSpPr txBox="1">
            <a:spLocks/>
          </p:cNvSpPr>
          <p:nvPr/>
        </p:nvSpPr>
        <p:spPr>
          <a:xfrm>
            <a:off x="3327056" y="1107440"/>
            <a:ext cx="105210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2844800">
              <a:spcAft>
                <a:spcPct val="35000"/>
              </a:spcAft>
              <a:defRPr/>
            </a:pPr>
            <a:r>
              <a:rPr lang="en-US" sz="5600" b="1">
                <a:solidFill>
                  <a:srgbClr val="002060"/>
                </a:solidFill>
                <a:latin typeface="Aachen" panose="02020500000000000000" pitchFamily="18" charset="0"/>
                <a:ea typeface="Aachen" panose="02020500000000000000" pitchFamily="18" charset="0"/>
                <a:cs typeface="Aachen" panose="02020500000000000000" pitchFamily="18" charset="0"/>
              </a:rPr>
              <a:t>Chi phí sản xuất TBCN</a:t>
            </a:r>
          </a:p>
        </p:txBody>
      </p:sp>
      <p:sp>
        <p:nvSpPr>
          <p:cNvPr id="5" name="Rectangle 3">
            <a:extLst>
              <a:ext uri="{FF2B5EF4-FFF2-40B4-BE49-F238E27FC236}">
                <a16:creationId xmlns:a16="http://schemas.microsoft.com/office/drawing/2014/main" id="{3342FD39-9034-A1B2-172B-DC2BC8B0D05B}"/>
              </a:ext>
            </a:extLst>
          </p:cNvPr>
          <p:cNvSpPr txBox="1">
            <a:spLocks noChangeArrowheads="1"/>
          </p:cNvSpPr>
          <p:nvPr/>
        </p:nvSpPr>
        <p:spPr>
          <a:xfrm>
            <a:off x="1026160" y="3088640"/>
            <a:ext cx="15544800" cy="10058400"/>
          </a:xfrm>
          <a:prstGeom prst="rect">
            <a:avLst/>
          </a:prstGeom>
        </p:spPr>
        <p:txBody>
          <a:bodyPr vert="horz" lIns="182880" tIns="91440" rIns="182880" bIns="9144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altLang="en-US" sz="4800">
                <a:solidFill>
                  <a:srgbClr val="002060"/>
                </a:solidFill>
              </a:rPr>
              <a:t>GTHH = c + (v + m)</a:t>
            </a:r>
          </a:p>
          <a:p>
            <a:pPr algn="just"/>
            <a:r>
              <a:rPr lang="en-US" altLang="en-US" sz="4800" i="1">
                <a:solidFill>
                  <a:srgbClr val="002060"/>
                </a:solidFill>
              </a:rPr>
              <a:t>Đứng trên quan điểm XH:</a:t>
            </a:r>
          </a:p>
          <a:p>
            <a:pPr algn="just">
              <a:buFontTx/>
              <a:buNone/>
            </a:pPr>
            <a:r>
              <a:rPr lang="en-US" altLang="en-US" sz="4800">
                <a:solidFill>
                  <a:srgbClr val="002060"/>
                </a:solidFill>
              </a:rPr>
              <a:t>	Để sx ra h² phải hao phí về LĐ</a:t>
            </a:r>
          </a:p>
          <a:p>
            <a:pPr algn="just">
              <a:buFontTx/>
              <a:buNone/>
            </a:pPr>
            <a:endParaRPr lang="en-US" altLang="en-US" sz="4800">
              <a:solidFill>
                <a:srgbClr val="002060"/>
              </a:solidFill>
            </a:endParaRPr>
          </a:p>
          <a:p>
            <a:pPr algn="just"/>
            <a:endParaRPr lang="en-US" altLang="en-US" sz="4800" i="1">
              <a:solidFill>
                <a:srgbClr val="002060"/>
              </a:solidFill>
            </a:endParaRPr>
          </a:p>
          <a:p>
            <a:pPr algn="just"/>
            <a:r>
              <a:rPr lang="en-US" altLang="en-US" sz="4800" i="1">
                <a:solidFill>
                  <a:srgbClr val="002060"/>
                </a:solidFill>
              </a:rPr>
              <a:t>Đối với nhà TB:</a:t>
            </a:r>
          </a:p>
          <a:p>
            <a:pPr algn="just">
              <a:buFontTx/>
              <a:buNone/>
            </a:pPr>
            <a:r>
              <a:rPr lang="en-US" altLang="en-US" sz="4800">
                <a:solidFill>
                  <a:srgbClr val="002060"/>
                </a:solidFill>
              </a:rPr>
              <a:t>	Để sx ra h² phải hao phí về TB</a:t>
            </a:r>
          </a:p>
          <a:p>
            <a:pPr algn="just">
              <a:buFontTx/>
              <a:buNone/>
            </a:pPr>
            <a:endParaRPr lang="en-US" altLang="en-US" sz="4800">
              <a:solidFill>
                <a:srgbClr val="002060"/>
              </a:solidFill>
            </a:endParaRPr>
          </a:p>
          <a:p>
            <a:pPr algn="just"/>
            <a:endParaRPr lang="en-US" altLang="en-US" sz="4800">
              <a:solidFill>
                <a:srgbClr val="002060"/>
              </a:solidFill>
            </a:endParaRPr>
          </a:p>
        </p:txBody>
      </p:sp>
      <p:sp>
        <p:nvSpPr>
          <p:cNvPr id="6" name="Rectangle 5">
            <a:extLst>
              <a:ext uri="{FF2B5EF4-FFF2-40B4-BE49-F238E27FC236}">
                <a16:creationId xmlns:a16="http://schemas.microsoft.com/office/drawing/2014/main" id="{FB483521-E6D0-0377-850D-D4D84E926AA1}"/>
              </a:ext>
            </a:extLst>
          </p:cNvPr>
          <p:cNvSpPr>
            <a:spLocks noChangeArrowheads="1"/>
          </p:cNvSpPr>
          <p:nvPr/>
        </p:nvSpPr>
        <p:spPr bwMode="auto">
          <a:xfrm>
            <a:off x="12913362" y="3634740"/>
            <a:ext cx="2397940" cy="9779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a:solidFill>
                  <a:srgbClr val="002060"/>
                </a:solidFill>
                <a:latin typeface="Arial" panose="020B0604020202020204" pitchFamily="34" charset="0"/>
                <a:cs typeface="Arial" panose="020B0604020202020204" pitchFamily="34" charset="0"/>
              </a:rPr>
              <a:t>LĐ quá khứ</a:t>
            </a:r>
          </a:p>
        </p:txBody>
      </p:sp>
      <p:sp>
        <p:nvSpPr>
          <p:cNvPr id="7" name="Rectangle 6">
            <a:extLst>
              <a:ext uri="{FF2B5EF4-FFF2-40B4-BE49-F238E27FC236}">
                <a16:creationId xmlns:a16="http://schemas.microsoft.com/office/drawing/2014/main" id="{2487697A-5F25-2F71-389E-490D7109E314}"/>
              </a:ext>
            </a:extLst>
          </p:cNvPr>
          <p:cNvSpPr>
            <a:spLocks noChangeArrowheads="1"/>
          </p:cNvSpPr>
          <p:nvPr/>
        </p:nvSpPr>
        <p:spPr bwMode="auto">
          <a:xfrm>
            <a:off x="13065760" y="5742940"/>
            <a:ext cx="2245540" cy="6985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a:solidFill>
                  <a:srgbClr val="002060"/>
                </a:solidFill>
                <a:latin typeface="Arial" panose="020B0604020202020204" pitchFamily="34" charset="0"/>
                <a:cs typeface="Arial" panose="020B0604020202020204" pitchFamily="34" charset="0"/>
              </a:rPr>
              <a:t>LĐ sống</a:t>
            </a:r>
          </a:p>
        </p:txBody>
      </p:sp>
      <p:sp>
        <p:nvSpPr>
          <p:cNvPr id="8" name="Rectangle 7">
            <a:extLst>
              <a:ext uri="{FF2B5EF4-FFF2-40B4-BE49-F238E27FC236}">
                <a16:creationId xmlns:a16="http://schemas.microsoft.com/office/drawing/2014/main" id="{E62E944A-D6D7-48F9-EFE8-377B1CF35B6D}"/>
              </a:ext>
            </a:extLst>
          </p:cNvPr>
          <p:cNvSpPr>
            <a:spLocks noChangeArrowheads="1"/>
          </p:cNvSpPr>
          <p:nvPr/>
        </p:nvSpPr>
        <p:spPr bwMode="auto">
          <a:xfrm>
            <a:off x="14132562" y="4536440"/>
            <a:ext cx="1178740" cy="8382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a:solidFill>
                  <a:srgbClr val="002060"/>
                </a:solidFill>
                <a:latin typeface="Arial" panose="020B0604020202020204" pitchFamily="34" charset="0"/>
                <a:cs typeface="Arial" panose="020B0604020202020204" pitchFamily="34" charset="0"/>
              </a:rPr>
              <a:t>(c)</a:t>
            </a:r>
          </a:p>
        </p:txBody>
      </p:sp>
      <p:sp>
        <p:nvSpPr>
          <p:cNvPr id="9" name="Rectangle 8">
            <a:extLst>
              <a:ext uri="{FF2B5EF4-FFF2-40B4-BE49-F238E27FC236}">
                <a16:creationId xmlns:a16="http://schemas.microsoft.com/office/drawing/2014/main" id="{4A9A6FBF-38A4-9FE4-A8AF-2AD9FE51BEC0}"/>
              </a:ext>
            </a:extLst>
          </p:cNvPr>
          <p:cNvSpPr>
            <a:spLocks noChangeArrowheads="1"/>
          </p:cNvSpPr>
          <p:nvPr/>
        </p:nvSpPr>
        <p:spPr bwMode="auto">
          <a:xfrm>
            <a:off x="13522960" y="6657340"/>
            <a:ext cx="1788340" cy="6985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a:solidFill>
                  <a:srgbClr val="002060"/>
                </a:solidFill>
                <a:latin typeface="Arial" panose="020B0604020202020204" pitchFamily="34" charset="0"/>
                <a:cs typeface="Arial" panose="020B0604020202020204" pitchFamily="34" charset="0"/>
              </a:rPr>
              <a:t>(v+m)</a:t>
            </a:r>
          </a:p>
        </p:txBody>
      </p:sp>
      <p:sp>
        <p:nvSpPr>
          <p:cNvPr id="10" name="Line 8">
            <a:extLst>
              <a:ext uri="{FF2B5EF4-FFF2-40B4-BE49-F238E27FC236}">
                <a16:creationId xmlns:a16="http://schemas.microsoft.com/office/drawing/2014/main" id="{C81CC5F3-69E7-3015-9B93-AD6E5256E4E5}"/>
              </a:ext>
            </a:extLst>
          </p:cNvPr>
          <p:cNvSpPr>
            <a:spLocks noChangeShapeType="1"/>
          </p:cNvSpPr>
          <p:nvPr/>
        </p:nvSpPr>
        <p:spPr bwMode="auto">
          <a:xfrm>
            <a:off x="11541760" y="5425440"/>
            <a:ext cx="1100516" cy="558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1" name="Line 9">
            <a:extLst>
              <a:ext uri="{FF2B5EF4-FFF2-40B4-BE49-F238E27FC236}">
                <a16:creationId xmlns:a16="http://schemas.microsoft.com/office/drawing/2014/main" id="{0A9B1264-4932-095F-3A9E-A99F600EF59B}"/>
              </a:ext>
            </a:extLst>
          </p:cNvPr>
          <p:cNvSpPr>
            <a:spLocks noChangeShapeType="1"/>
          </p:cNvSpPr>
          <p:nvPr/>
        </p:nvSpPr>
        <p:spPr bwMode="auto">
          <a:xfrm flipV="1">
            <a:off x="11541760" y="4536440"/>
            <a:ext cx="1100516"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2" name="Rectangle 11">
            <a:extLst>
              <a:ext uri="{FF2B5EF4-FFF2-40B4-BE49-F238E27FC236}">
                <a16:creationId xmlns:a16="http://schemas.microsoft.com/office/drawing/2014/main" id="{E0BC1DE7-AA88-3D3D-5F3B-F6CC5B9E7717}"/>
              </a:ext>
            </a:extLst>
          </p:cNvPr>
          <p:cNvSpPr>
            <a:spLocks noChangeArrowheads="1"/>
          </p:cNvSpPr>
          <p:nvPr/>
        </p:nvSpPr>
        <p:spPr bwMode="auto">
          <a:xfrm>
            <a:off x="12456160" y="7813040"/>
            <a:ext cx="2855140" cy="8382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a:solidFill>
                  <a:srgbClr val="002060"/>
                </a:solidFill>
                <a:latin typeface="Arial" panose="020B0604020202020204" pitchFamily="34" charset="0"/>
                <a:cs typeface="Arial" panose="020B0604020202020204" pitchFamily="34" charset="0"/>
              </a:rPr>
              <a:t>TBBB (c)</a:t>
            </a:r>
          </a:p>
        </p:txBody>
      </p:sp>
      <p:sp>
        <p:nvSpPr>
          <p:cNvPr id="13" name="Rectangle 12">
            <a:extLst>
              <a:ext uri="{FF2B5EF4-FFF2-40B4-BE49-F238E27FC236}">
                <a16:creationId xmlns:a16="http://schemas.microsoft.com/office/drawing/2014/main" id="{65F40ADB-BDE8-4152-5D34-6D6594DBF644}"/>
              </a:ext>
            </a:extLst>
          </p:cNvPr>
          <p:cNvSpPr>
            <a:spLocks noChangeArrowheads="1"/>
          </p:cNvSpPr>
          <p:nvPr/>
        </p:nvSpPr>
        <p:spPr bwMode="auto">
          <a:xfrm>
            <a:off x="12760960" y="9184640"/>
            <a:ext cx="2550340" cy="8382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a:solidFill>
                  <a:srgbClr val="002060"/>
                </a:solidFill>
                <a:latin typeface="Arial" panose="020B0604020202020204" pitchFamily="34" charset="0"/>
                <a:cs typeface="Arial" panose="020B0604020202020204" pitchFamily="34" charset="0"/>
              </a:rPr>
              <a:t>TBKB (v)</a:t>
            </a:r>
          </a:p>
        </p:txBody>
      </p:sp>
      <p:sp>
        <p:nvSpPr>
          <p:cNvPr id="14" name="Line 15">
            <a:extLst>
              <a:ext uri="{FF2B5EF4-FFF2-40B4-BE49-F238E27FC236}">
                <a16:creationId xmlns:a16="http://schemas.microsoft.com/office/drawing/2014/main" id="{9F10CB49-C758-D58A-6D74-A84DC24BE9BC}"/>
              </a:ext>
            </a:extLst>
          </p:cNvPr>
          <p:cNvSpPr>
            <a:spLocks noChangeShapeType="1"/>
          </p:cNvSpPr>
          <p:nvPr/>
        </p:nvSpPr>
        <p:spPr bwMode="auto">
          <a:xfrm flipV="1">
            <a:off x="11541760" y="8244840"/>
            <a:ext cx="825388" cy="558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5" name="Line 16">
            <a:extLst>
              <a:ext uri="{FF2B5EF4-FFF2-40B4-BE49-F238E27FC236}">
                <a16:creationId xmlns:a16="http://schemas.microsoft.com/office/drawing/2014/main" id="{DBF44B08-9D73-67BD-2E87-82D85D59BDEA}"/>
              </a:ext>
            </a:extLst>
          </p:cNvPr>
          <p:cNvSpPr>
            <a:spLocks noChangeShapeType="1"/>
          </p:cNvSpPr>
          <p:nvPr/>
        </p:nvSpPr>
        <p:spPr bwMode="auto">
          <a:xfrm>
            <a:off x="11541760" y="8867140"/>
            <a:ext cx="825388" cy="6985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6" name="Line 17">
            <a:extLst>
              <a:ext uri="{FF2B5EF4-FFF2-40B4-BE49-F238E27FC236}">
                <a16:creationId xmlns:a16="http://schemas.microsoft.com/office/drawing/2014/main" id="{1A645F0F-E7D6-2A55-2BB4-493D146CF0B7}"/>
              </a:ext>
            </a:extLst>
          </p:cNvPr>
          <p:cNvSpPr>
            <a:spLocks noChangeShapeType="1"/>
          </p:cNvSpPr>
          <p:nvPr/>
        </p:nvSpPr>
        <p:spPr bwMode="auto">
          <a:xfrm>
            <a:off x="7426961" y="9794240"/>
            <a:ext cx="4264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7" name="Line 18">
            <a:extLst>
              <a:ext uri="{FF2B5EF4-FFF2-40B4-BE49-F238E27FC236}">
                <a16:creationId xmlns:a16="http://schemas.microsoft.com/office/drawing/2014/main" id="{1D9F44E6-6160-3024-A746-9249014E9DE7}"/>
              </a:ext>
            </a:extLst>
          </p:cNvPr>
          <p:cNvSpPr>
            <a:spLocks noChangeShapeType="1"/>
          </p:cNvSpPr>
          <p:nvPr/>
        </p:nvSpPr>
        <p:spPr bwMode="auto">
          <a:xfrm>
            <a:off x="10322560" y="9845040"/>
            <a:ext cx="0" cy="558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rgbClr val="002060"/>
              </a:solidFill>
            </a:endParaRPr>
          </a:p>
        </p:txBody>
      </p:sp>
      <p:sp>
        <p:nvSpPr>
          <p:cNvPr id="18" name="Rectangle 17">
            <a:extLst>
              <a:ext uri="{FF2B5EF4-FFF2-40B4-BE49-F238E27FC236}">
                <a16:creationId xmlns:a16="http://schemas.microsoft.com/office/drawing/2014/main" id="{B896AC6C-D5FC-CFCF-AEF3-2FBEB81713E8}"/>
              </a:ext>
            </a:extLst>
          </p:cNvPr>
          <p:cNvSpPr>
            <a:spLocks noChangeArrowheads="1"/>
          </p:cNvSpPr>
          <p:nvPr/>
        </p:nvSpPr>
        <p:spPr bwMode="auto">
          <a:xfrm>
            <a:off x="7731761" y="10759440"/>
            <a:ext cx="4814762" cy="5588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a:solidFill>
                  <a:srgbClr val="002060"/>
                </a:solidFill>
                <a:latin typeface="Arial" panose="020B0604020202020204" pitchFamily="34" charset="0"/>
                <a:cs typeface="Arial" panose="020B0604020202020204" pitchFamily="34" charset="0"/>
              </a:rPr>
              <a:t>Chi phí sx TBCN</a:t>
            </a:r>
          </a:p>
        </p:txBody>
      </p:sp>
      <p:sp>
        <p:nvSpPr>
          <p:cNvPr id="19" name="Rectangle 18">
            <a:extLst>
              <a:ext uri="{FF2B5EF4-FFF2-40B4-BE49-F238E27FC236}">
                <a16:creationId xmlns:a16="http://schemas.microsoft.com/office/drawing/2014/main" id="{593F6865-34AE-22E9-51A2-4EE3D2558319}"/>
              </a:ext>
            </a:extLst>
          </p:cNvPr>
          <p:cNvSpPr>
            <a:spLocks noChangeArrowheads="1"/>
          </p:cNvSpPr>
          <p:nvPr/>
        </p:nvSpPr>
        <p:spPr bwMode="auto">
          <a:xfrm>
            <a:off x="8493761" y="11838940"/>
            <a:ext cx="3163986" cy="6985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a:solidFill>
                  <a:srgbClr val="002060"/>
                </a:solidFill>
                <a:latin typeface="Arial" panose="020B0604020202020204" pitchFamily="34" charset="0"/>
                <a:cs typeface="Arial" panose="020B0604020202020204" pitchFamily="34" charset="0"/>
              </a:rPr>
              <a:t>k = c + v</a:t>
            </a:r>
          </a:p>
        </p:txBody>
      </p:sp>
    </p:spTree>
    <p:extLst>
      <p:ext uri="{BB962C8B-B14F-4D97-AF65-F5344CB8AC3E}">
        <p14:creationId xmlns:p14="http://schemas.microsoft.com/office/powerpoint/2010/main" val="356926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iterate type="lt">
                                    <p:tmPct val="5000"/>
                                  </p:iterate>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p:cTn id="17" dur="1000" fill="hold"/>
                                        <p:tgtEl>
                                          <p:spTgt spid="5">
                                            <p:txEl>
                                              <p:pRg st="2" end="2"/>
                                            </p:txEl>
                                          </p:spTgt>
                                        </p:tgtEl>
                                        <p:attrNameLst>
                                          <p:attrName>ppt_w</p:attrName>
                                        </p:attrNameLst>
                                      </p:cBhvr>
                                      <p:tavLst>
                                        <p:tav tm="0">
                                          <p:val>
                                            <p:fltVal val="0"/>
                                          </p:val>
                                        </p:tav>
                                        <p:tav tm="100000">
                                          <p:val>
                                            <p:strVal val="#ppt_w"/>
                                          </p:val>
                                        </p:tav>
                                      </p:tavLst>
                                    </p:anim>
                                    <p:anim calcmode="lin" valueType="num">
                                      <p:cBhvr>
                                        <p:cTn id="18" dur="1000" fill="hold"/>
                                        <p:tgtEl>
                                          <p:spTgt spid="5">
                                            <p:txEl>
                                              <p:pRg st="2" end="2"/>
                                            </p:txEl>
                                          </p:spTgt>
                                        </p:tgtEl>
                                        <p:attrNameLst>
                                          <p:attrName>ppt_h</p:attrName>
                                        </p:attrNameLst>
                                      </p:cBhvr>
                                      <p:tavLst>
                                        <p:tav tm="0">
                                          <p:val>
                                            <p:fltVal val="0"/>
                                          </p:val>
                                        </p:tav>
                                        <p:tav tm="100000">
                                          <p:val>
                                            <p:strVal val="#ppt_h"/>
                                          </p:val>
                                        </p:tav>
                                      </p:tavLst>
                                    </p:anim>
                                    <p:anim calcmode="lin" valueType="num">
                                      <p:cBhvr>
                                        <p:cTn id="19" dur="1000" fill="hold"/>
                                        <p:tgtEl>
                                          <p:spTgt spid="5">
                                            <p:txEl>
                                              <p:pRg st="2" end="2"/>
                                            </p:txEl>
                                          </p:spTgt>
                                        </p:tgtEl>
                                        <p:attrNameLst>
                                          <p:attrName>style.rotation</p:attrName>
                                        </p:attrNameLst>
                                      </p:cBhvr>
                                      <p:tavLst>
                                        <p:tav tm="0">
                                          <p:val>
                                            <p:fltVal val="90"/>
                                          </p:val>
                                        </p:tav>
                                        <p:tav tm="100000">
                                          <p:val>
                                            <p:fltVal val="0"/>
                                          </p:val>
                                        </p:tav>
                                      </p:tavLst>
                                    </p:anim>
                                    <p:animEffect transition="in" filter="fade">
                                      <p:cBhvr>
                                        <p:cTn id="20" dur="1000"/>
                                        <p:tgtEl>
                                          <p:spTgt spid="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linds(horizontal)">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linds(horizontal)">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iterate type="lt">
                                    <p:tmPct val="5000"/>
                                  </p:iterate>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blinds(horizontal)">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31" presetClass="entr" presetSubtype="0" fill="hold" grpId="0" nodeType="clickEffect">
                                  <p:stCondLst>
                                    <p:cond delay="0"/>
                                  </p:stCondLst>
                                  <p:iterate type="lt">
                                    <p:tmPct val="5000"/>
                                  </p:iterate>
                                  <p:childTnLst>
                                    <p:set>
                                      <p:cBhvr>
                                        <p:cTn id="47" dur="1" fill="hold">
                                          <p:stCondLst>
                                            <p:cond delay="0"/>
                                          </p:stCondLst>
                                        </p:cTn>
                                        <p:tgtEl>
                                          <p:spTgt spid="7"/>
                                        </p:tgtEl>
                                        <p:attrNameLst>
                                          <p:attrName>style.visibility</p:attrName>
                                        </p:attrNameLst>
                                      </p:cBhvr>
                                      <p:to>
                                        <p:strVal val="visible"/>
                                      </p:to>
                                    </p:set>
                                    <p:anim calcmode="lin" valueType="num">
                                      <p:cBhvr>
                                        <p:cTn id="48" dur="1000" fill="hold"/>
                                        <p:tgtEl>
                                          <p:spTgt spid="7"/>
                                        </p:tgtEl>
                                        <p:attrNameLst>
                                          <p:attrName>ppt_w</p:attrName>
                                        </p:attrNameLst>
                                      </p:cBhvr>
                                      <p:tavLst>
                                        <p:tav tm="0">
                                          <p:val>
                                            <p:fltVal val="0"/>
                                          </p:val>
                                        </p:tav>
                                        <p:tav tm="100000">
                                          <p:val>
                                            <p:strVal val="#ppt_w"/>
                                          </p:val>
                                        </p:tav>
                                      </p:tavLst>
                                    </p:anim>
                                    <p:anim calcmode="lin" valueType="num">
                                      <p:cBhvr>
                                        <p:cTn id="49" dur="1000" fill="hold"/>
                                        <p:tgtEl>
                                          <p:spTgt spid="7"/>
                                        </p:tgtEl>
                                        <p:attrNameLst>
                                          <p:attrName>ppt_h</p:attrName>
                                        </p:attrNameLst>
                                      </p:cBhvr>
                                      <p:tavLst>
                                        <p:tav tm="0">
                                          <p:val>
                                            <p:fltVal val="0"/>
                                          </p:val>
                                        </p:tav>
                                        <p:tav tm="100000">
                                          <p:val>
                                            <p:strVal val="#ppt_h"/>
                                          </p:val>
                                        </p:tav>
                                      </p:tavLst>
                                    </p:anim>
                                    <p:anim calcmode="lin" valueType="num">
                                      <p:cBhvr>
                                        <p:cTn id="50" dur="1000" fill="hold"/>
                                        <p:tgtEl>
                                          <p:spTgt spid="7"/>
                                        </p:tgtEl>
                                        <p:attrNameLst>
                                          <p:attrName>style.rotation</p:attrName>
                                        </p:attrNameLst>
                                      </p:cBhvr>
                                      <p:tavLst>
                                        <p:tav tm="0">
                                          <p:val>
                                            <p:fltVal val="90"/>
                                          </p:val>
                                        </p:tav>
                                        <p:tav tm="100000">
                                          <p:val>
                                            <p:fltVal val="0"/>
                                          </p:val>
                                        </p:tav>
                                      </p:tavLst>
                                    </p:anim>
                                    <p:animEffect transition="in" filter="fade">
                                      <p:cBhvr>
                                        <p:cTn id="51" dur="10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blinds(horizontal)">
                                      <p:cBhvr>
                                        <p:cTn id="56" dur="500"/>
                                        <p:tgtEl>
                                          <p:spTgt spid="9"/>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5">
                                            <p:txEl>
                                              <p:pRg st="5" end="5"/>
                                            </p:txEl>
                                          </p:spTgt>
                                        </p:tgtEl>
                                        <p:attrNameLst>
                                          <p:attrName>style.visibility</p:attrName>
                                        </p:attrNameLst>
                                      </p:cBhvr>
                                      <p:to>
                                        <p:strVal val="visible"/>
                                      </p:to>
                                    </p:set>
                                    <p:animEffect transition="in" filter="blinds(horizontal)">
                                      <p:cBhvr>
                                        <p:cTn id="61" dur="500"/>
                                        <p:tgtEl>
                                          <p:spTgt spid="5">
                                            <p:txEl>
                                              <p:pRg st="5" end="5"/>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1" presetClass="entr" presetSubtype="0" fill="hold" nodeType="clickEffect">
                                  <p:stCondLst>
                                    <p:cond delay="0"/>
                                  </p:stCondLst>
                                  <p:iterate type="lt">
                                    <p:tmPct val="5000"/>
                                  </p:iterate>
                                  <p:childTnLst>
                                    <p:set>
                                      <p:cBhvr>
                                        <p:cTn id="65" dur="1" fill="hold">
                                          <p:stCondLst>
                                            <p:cond delay="0"/>
                                          </p:stCondLst>
                                        </p:cTn>
                                        <p:tgtEl>
                                          <p:spTgt spid="5">
                                            <p:txEl>
                                              <p:pRg st="6" end="6"/>
                                            </p:txEl>
                                          </p:spTgt>
                                        </p:tgtEl>
                                        <p:attrNameLst>
                                          <p:attrName>style.visibility</p:attrName>
                                        </p:attrNameLst>
                                      </p:cBhvr>
                                      <p:to>
                                        <p:strVal val="visible"/>
                                      </p:to>
                                    </p:set>
                                    <p:anim calcmode="lin" valueType="num">
                                      <p:cBhvr>
                                        <p:cTn id="66" dur="1000" fill="hold"/>
                                        <p:tgtEl>
                                          <p:spTgt spid="5">
                                            <p:txEl>
                                              <p:pRg st="6" end="6"/>
                                            </p:txEl>
                                          </p:spTgt>
                                        </p:tgtEl>
                                        <p:attrNameLst>
                                          <p:attrName>ppt_w</p:attrName>
                                        </p:attrNameLst>
                                      </p:cBhvr>
                                      <p:tavLst>
                                        <p:tav tm="0">
                                          <p:val>
                                            <p:fltVal val="0"/>
                                          </p:val>
                                        </p:tav>
                                        <p:tav tm="100000">
                                          <p:val>
                                            <p:strVal val="#ppt_w"/>
                                          </p:val>
                                        </p:tav>
                                      </p:tavLst>
                                    </p:anim>
                                    <p:anim calcmode="lin" valueType="num">
                                      <p:cBhvr>
                                        <p:cTn id="67" dur="1000" fill="hold"/>
                                        <p:tgtEl>
                                          <p:spTgt spid="5">
                                            <p:txEl>
                                              <p:pRg st="6" end="6"/>
                                            </p:txEl>
                                          </p:spTgt>
                                        </p:tgtEl>
                                        <p:attrNameLst>
                                          <p:attrName>ppt_h</p:attrName>
                                        </p:attrNameLst>
                                      </p:cBhvr>
                                      <p:tavLst>
                                        <p:tav tm="0">
                                          <p:val>
                                            <p:fltVal val="0"/>
                                          </p:val>
                                        </p:tav>
                                        <p:tav tm="100000">
                                          <p:val>
                                            <p:strVal val="#ppt_h"/>
                                          </p:val>
                                        </p:tav>
                                      </p:tavLst>
                                    </p:anim>
                                    <p:anim calcmode="lin" valueType="num">
                                      <p:cBhvr>
                                        <p:cTn id="68" dur="1000" fill="hold"/>
                                        <p:tgtEl>
                                          <p:spTgt spid="5">
                                            <p:txEl>
                                              <p:pRg st="6" end="6"/>
                                            </p:txEl>
                                          </p:spTgt>
                                        </p:tgtEl>
                                        <p:attrNameLst>
                                          <p:attrName>style.rotation</p:attrName>
                                        </p:attrNameLst>
                                      </p:cBhvr>
                                      <p:tavLst>
                                        <p:tav tm="0">
                                          <p:val>
                                            <p:fltVal val="90"/>
                                          </p:val>
                                        </p:tav>
                                        <p:tav tm="100000">
                                          <p:val>
                                            <p:fltVal val="0"/>
                                          </p:val>
                                        </p:tav>
                                      </p:tavLst>
                                    </p:anim>
                                    <p:animEffect transition="in" filter="fade">
                                      <p:cBhvr>
                                        <p:cTn id="69" dur="1000"/>
                                        <p:tgtEl>
                                          <p:spTgt spid="5">
                                            <p:txEl>
                                              <p:pRg st="6" end="6"/>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blinds(horizontal)">
                                      <p:cBhvr>
                                        <p:cTn id="74" dur="500"/>
                                        <p:tgtEl>
                                          <p:spTgt spid="14"/>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blinds(horizontal)">
                                      <p:cBhvr>
                                        <p:cTn id="79" dur="500"/>
                                        <p:tgtEl>
                                          <p:spTgt spid="1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fade">
                                      <p:cBhvr>
                                        <p:cTn id="84" dur="2000"/>
                                        <p:tgtEl>
                                          <p:spTgt spid="1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13"/>
                                        </p:tgtEl>
                                        <p:attrNameLst>
                                          <p:attrName>style.visibility</p:attrName>
                                        </p:attrNameLst>
                                      </p:cBhvr>
                                      <p:to>
                                        <p:strVal val="visible"/>
                                      </p:to>
                                    </p:set>
                                    <p:animEffect transition="in" filter="fade">
                                      <p:cBhvr>
                                        <p:cTn id="89" dur="2000"/>
                                        <p:tgtEl>
                                          <p:spTgt spid="13"/>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16"/>
                                        </p:tgtEl>
                                        <p:attrNameLst>
                                          <p:attrName>style.visibility</p:attrName>
                                        </p:attrNameLst>
                                      </p:cBhvr>
                                      <p:to>
                                        <p:strVal val="visible"/>
                                      </p:to>
                                    </p:set>
                                    <p:animEffect transition="in" filter="fade">
                                      <p:cBhvr>
                                        <p:cTn id="94" dur="2000"/>
                                        <p:tgtEl>
                                          <p:spTgt spid="1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17"/>
                                        </p:tgtEl>
                                        <p:attrNameLst>
                                          <p:attrName>style.visibility</p:attrName>
                                        </p:attrNameLst>
                                      </p:cBhvr>
                                      <p:to>
                                        <p:strVal val="visible"/>
                                      </p:to>
                                    </p:set>
                                    <p:animEffect transition="in" filter="fade">
                                      <p:cBhvr>
                                        <p:cTn id="99" dur="2000"/>
                                        <p:tgtEl>
                                          <p:spTgt spid="17"/>
                                        </p:tgtEl>
                                      </p:cBhvr>
                                    </p:animEffect>
                                  </p:childTnLst>
                                </p:cTn>
                              </p:par>
                            </p:childTnLst>
                          </p:cTn>
                        </p:par>
                      </p:childTnLst>
                    </p:cTn>
                  </p:par>
                  <p:par>
                    <p:cTn id="100" fill="hold">
                      <p:stCondLst>
                        <p:cond delay="indefinite"/>
                      </p:stCondLst>
                      <p:childTnLst>
                        <p:par>
                          <p:cTn id="101" fill="hold">
                            <p:stCondLst>
                              <p:cond delay="0"/>
                            </p:stCondLst>
                            <p:childTnLst>
                              <p:par>
                                <p:cTn id="102" presetID="31" presetClass="entr" presetSubtype="0" fill="hold" grpId="0" nodeType="clickEffect">
                                  <p:stCondLst>
                                    <p:cond delay="0"/>
                                  </p:stCondLst>
                                  <p:iterate type="lt">
                                    <p:tmPct val="5000"/>
                                  </p:iterate>
                                  <p:childTnLst>
                                    <p:set>
                                      <p:cBhvr>
                                        <p:cTn id="103" dur="1" fill="hold">
                                          <p:stCondLst>
                                            <p:cond delay="0"/>
                                          </p:stCondLst>
                                        </p:cTn>
                                        <p:tgtEl>
                                          <p:spTgt spid="18"/>
                                        </p:tgtEl>
                                        <p:attrNameLst>
                                          <p:attrName>style.visibility</p:attrName>
                                        </p:attrNameLst>
                                      </p:cBhvr>
                                      <p:to>
                                        <p:strVal val="visible"/>
                                      </p:to>
                                    </p:set>
                                    <p:anim calcmode="lin" valueType="num">
                                      <p:cBhvr>
                                        <p:cTn id="104" dur="1000" fill="hold"/>
                                        <p:tgtEl>
                                          <p:spTgt spid="18"/>
                                        </p:tgtEl>
                                        <p:attrNameLst>
                                          <p:attrName>ppt_w</p:attrName>
                                        </p:attrNameLst>
                                      </p:cBhvr>
                                      <p:tavLst>
                                        <p:tav tm="0">
                                          <p:val>
                                            <p:fltVal val="0"/>
                                          </p:val>
                                        </p:tav>
                                        <p:tav tm="100000">
                                          <p:val>
                                            <p:strVal val="#ppt_w"/>
                                          </p:val>
                                        </p:tav>
                                      </p:tavLst>
                                    </p:anim>
                                    <p:anim calcmode="lin" valueType="num">
                                      <p:cBhvr>
                                        <p:cTn id="105" dur="1000" fill="hold"/>
                                        <p:tgtEl>
                                          <p:spTgt spid="18"/>
                                        </p:tgtEl>
                                        <p:attrNameLst>
                                          <p:attrName>ppt_h</p:attrName>
                                        </p:attrNameLst>
                                      </p:cBhvr>
                                      <p:tavLst>
                                        <p:tav tm="0">
                                          <p:val>
                                            <p:fltVal val="0"/>
                                          </p:val>
                                        </p:tav>
                                        <p:tav tm="100000">
                                          <p:val>
                                            <p:strVal val="#ppt_h"/>
                                          </p:val>
                                        </p:tav>
                                      </p:tavLst>
                                    </p:anim>
                                    <p:anim calcmode="lin" valueType="num">
                                      <p:cBhvr>
                                        <p:cTn id="106" dur="1000" fill="hold"/>
                                        <p:tgtEl>
                                          <p:spTgt spid="18"/>
                                        </p:tgtEl>
                                        <p:attrNameLst>
                                          <p:attrName>style.rotation</p:attrName>
                                        </p:attrNameLst>
                                      </p:cBhvr>
                                      <p:tavLst>
                                        <p:tav tm="0">
                                          <p:val>
                                            <p:fltVal val="90"/>
                                          </p:val>
                                        </p:tav>
                                        <p:tav tm="100000">
                                          <p:val>
                                            <p:fltVal val="0"/>
                                          </p:val>
                                        </p:tav>
                                      </p:tavLst>
                                    </p:anim>
                                    <p:animEffect transition="in" filter="fade">
                                      <p:cBhvr>
                                        <p:cTn id="107" dur="1000"/>
                                        <p:tgtEl>
                                          <p:spTgt spid="18"/>
                                        </p:tgtEl>
                                      </p:cBhvr>
                                    </p:animEffect>
                                  </p:childTnLst>
                                </p:cTn>
                              </p:par>
                            </p:childTnLst>
                          </p:cTn>
                        </p:par>
                      </p:childTnLst>
                    </p:cTn>
                  </p:par>
                  <p:par>
                    <p:cTn id="108" fill="hold">
                      <p:stCondLst>
                        <p:cond delay="indefinite"/>
                      </p:stCondLst>
                      <p:childTnLst>
                        <p:par>
                          <p:cTn id="109" fill="hold">
                            <p:stCondLst>
                              <p:cond delay="0"/>
                            </p:stCondLst>
                            <p:childTnLst>
                              <p:par>
                                <p:cTn id="110" presetID="31" presetClass="entr" presetSubtype="0" fill="hold" grpId="0" nodeType="clickEffect">
                                  <p:stCondLst>
                                    <p:cond delay="0"/>
                                  </p:stCondLst>
                                  <p:iterate type="lt">
                                    <p:tmPct val="5000"/>
                                  </p:iterate>
                                  <p:childTnLst>
                                    <p:set>
                                      <p:cBhvr>
                                        <p:cTn id="111" dur="1" fill="hold">
                                          <p:stCondLst>
                                            <p:cond delay="0"/>
                                          </p:stCondLst>
                                        </p:cTn>
                                        <p:tgtEl>
                                          <p:spTgt spid="19"/>
                                        </p:tgtEl>
                                        <p:attrNameLst>
                                          <p:attrName>style.visibility</p:attrName>
                                        </p:attrNameLst>
                                      </p:cBhvr>
                                      <p:to>
                                        <p:strVal val="visible"/>
                                      </p:to>
                                    </p:set>
                                    <p:anim calcmode="lin" valueType="num">
                                      <p:cBhvr>
                                        <p:cTn id="112" dur="1000" fill="hold"/>
                                        <p:tgtEl>
                                          <p:spTgt spid="19"/>
                                        </p:tgtEl>
                                        <p:attrNameLst>
                                          <p:attrName>ppt_w</p:attrName>
                                        </p:attrNameLst>
                                      </p:cBhvr>
                                      <p:tavLst>
                                        <p:tav tm="0">
                                          <p:val>
                                            <p:fltVal val="0"/>
                                          </p:val>
                                        </p:tav>
                                        <p:tav tm="100000">
                                          <p:val>
                                            <p:strVal val="#ppt_w"/>
                                          </p:val>
                                        </p:tav>
                                      </p:tavLst>
                                    </p:anim>
                                    <p:anim calcmode="lin" valueType="num">
                                      <p:cBhvr>
                                        <p:cTn id="113" dur="1000" fill="hold"/>
                                        <p:tgtEl>
                                          <p:spTgt spid="19"/>
                                        </p:tgtEl>
                                        <p:attrNameLst>
                                          <p:attrName>ppt_h</p:attrName>
                                        </p:attrNameLst>
                                      </p:cBhvr>
                                      <p:tavLst>
                                        <p:tav tm="0">
                                          <p:val>
                                            <p:fltVal val="0"/>
                                          </p:val>
                                        </p:tav>
                                        <p:tav tm="100000">
                                          <p:val>
                                            <p:strVal val="#ppt_h"/>
                                          </p:val>
                                        </p:tav>
                                      </p:tavLst>
                                    </p:anim>
                                    <p:anim calcmode="lin" valueType="num">
                                      <p:cBhvr>
                                        <p:cTn id="114" dur="1000" fill="hold"/>
                                        <p:tgtEl>
                                          <p:spTgt spid="19"/>
                                        </p:tgtEl>
                                        <p:attrNameLst>
                                          <p:attrName>style.rotation</p:attrName>
                                        </p:attrNameLst>
                                      </p:cBhvr>
                                      <p:tavLst>
                                        <p:tav tm="0">
                                          <p:val>
                                            <p:fltVal val="90"/>
                                          </p:val>
                                        </p:tav>
                                        <p:tav tm="100000">
                                          <p:val>
                                            <p:fltVal val="0"/>
                                          </p:val>
                                        </p:tav>
                                      </p:tavLst>
                                    </p:anim>
                                    <p:animEffect transition="in" filter="fade">
                                      <p:cBhvr>
                                        <p:cTn id="115"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C70BC-D558-500B-973A-D446E3FCF4F4}"/>
              </a:ext>
            </a:extLst>
          </p:cNvPr>
          <p:cNvSpPr txBox="1">
            <a:spLocks/>
          </p:cNvSpPr>
          <p:nvPr/>
        </p:nvSpPr>
        <p:spPr>
          <a:xfrm>
            <a:off x="3728720" y="1615440"/>
            <a:ext cx="10363200"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2844800">
              <a:spcAft>
                <a:spcPct val="35000"/>
              </a:spcAft>
              <a:defRPr/>
            </a:pPr>
            <a:r>
              <a:rPr lang="en-US" sz="5600" b="1">
                <a:solidFill>
                  <a:srgbClr val="002060"/>
                </a:solidFill>
                <a:latin typeface="Aachen" panose="02020500000000000000" pitchFamily="18" charset="0"/>
                <a:ea typeface="Aachen" panose="02020500000000000000" pitchFamily="18" charset="0"/>
                <a:cs typeface="Aachen" panose="02020500000000000000" pitchFamily="18" charset="0"/>
              </a:rPr>
              <a:t>Chi phí sản xuất TBCN</a:t>
            </a:r>
          </a:p>
        </p:txBody>
      </p:sp>
      <p:sp>
        <p:nvSpPr>
          <p:cNvPr id="3" name="Rectangle 2">
            <a:extLst>
              <a:ext uri="{FF2B5EF4-FFF2-40B4-BE49-F238E27FC236}">
                <a16:creationId xmlns:a16="http://schemas.microsoft.com/office/drawing/2014/main" id="{D890097F-8653-4C69-4EF6-64B4012FBFF0}"/>
              </a:ext>
            </a:extLst>
          </p:cNvPr>
          <p:cNvSpPr/>
          <p:nvPr/>
        </p:nvSpPr>
        <p:spPr>
          <a:xfrm>
            <a:off x="2052320" y="3997757"/>
            <a:ext cx="14478000" cy="7711406"/>
          </a:xfrm>
          <a:prstGeom prst="rect">
            <a:avLst/>
          </a:prstGeom>
        </p:spPr>
        <p:txBody>
          <a:bodyPr wrap="square">
            <a:spAutoFit/>
          </a:bodyPr>
          <a:lstStyle/>
          <a:p>
            <a:pPr marL="685800" indent="-685800" algn="just">
              <a:lnSpc>
                <a:spcPct val="150000"/>
              </a:lnSpc>
              <a:buFontTx/>
              <a:buChar char="-"/>
            </a:pPr>
            <a:r>
              <a:rPr lang="vi-VN" altLang="en-US">
                <a:solidFill>
                  <a:srgbClr val="002060"/>
                </a:solidFill>
                <a:sym typeface="Wingdings" panose="05000000000000000000" pitchFamily="2" charset="2"/>
              </a:rPr>
              <a:t>Phạm trù chi phí sản xuất TBCN đã che dấu thực chất bóc lột của nhà TB đối với công nhân làm thuê:</a:t>
            </a:r>
            <a:r>
              <a:rPr lang="en-US" altLang="en-US">
                <a:solidFill>
                  <a:srgbClr val="002060"/>
                </a:solidFill>
                <a:sym typeface="Wingdings" panose="05000000000000000000" pitchFamily="2" charset="2"/>
              </a:rPr>
              <a:t> GTHH = c + v + m      GTHH = k + m</a:t>
            </a:r>
          </a:p>
          <a:p>
            <a:pPr marL="685800" indent="-685800" algn="just">
              <a:lnSpc>
                <a:spcPct val="150000"/>
              </a:lnSpc>
              <a:buFontTx/>
              <a:buChar char="-"/>
            </a:pPr>
            <a:endParaRPr lang="en-US" altLang="en-US">
              <a:solidFill>
                <a:srgbClr val="002060"/>
              </a:solidFill>
              <a:sym typeface="Wingdings" panose="05000000000000000000" pitchFamily="2" charset="2"/>
            </a:endParaRPr>
          </a:p>
          <a:p>
            <a:pPr marL="685800" indent="-685800" algn="just">
              <a:lnSpc>
                <a:spcPct val="150000"/>
              </a:lnSpc>
              <a:buFontTx/>
              <a:buChar char="-"/>
            </a:pPr>
            <a:r>
              <a:rPr lang="vi-VN" altLang="en-US">
                <a:solidFill>
                  <a:srgbClr val="002060"/>
                </a:solidFill>
                <a:sym typeface="Wingdings" panose="05000000000000000000" pitchFamily="2" charset="2"/>
              </a:rPr>
              <a:t>Phân biệt chi phí sản xuất TBCN (k) với TB ứng trước (K)</a:t>
            </a:r>
          </a:p>
          <a:p>
            <a:pPr algn="ctr">
              <a:lnSpc>
                <a:spcPct val="150000"/>
              </a:lnSpc>
            </a:pPr>
            <a:r>
              <a:rPr lang="vi-VN" altLang="en-US">
                <a:solidFill>
                  <a:srgbClr val="002060"/>
                </a:solidFill>
                <a:sym typeface="Wingdings" panose="05000000000000000000" pitchFamily="2" charset="2"/>
              </a:rPr>
              <a:t>k &lt; K</a:t>
            </a:r>
          </a:p>
        </p:txBody>
      </p:sp>
      <p:sp>
        <p:nvSpPr>
          <p:cNvPr id="20" name="Right Brace 19">
            <a:extLst>
              <a:ext uri="{FF2B5EF4-FFF2-40B4-BE49-F238E27FC236}">
                <a16:creationId xmlns:a16="http://schemas.microsoft.com/office/drawing/2014/main" id="{CE6EB383-94C6-3185-62FF-943CF8B109E0}"/>
              </a:ext>
            </a:extLst>
          </p:cNvPr>
          <p:cNvSpPr/>
          <p:nvPr/>
        </p:nvSpPr>
        <p:spPr>
          <a:xfrm rot="5400000">
            <a:off x="6463644" y="6835256"/>
            <a:ext cx="1066800" cy="129516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9600">
              <a:solidFill>
                <a:srgbClr val="002060"/>
              </a:solidFill>
            </a:endParaRPr>
          </a:p>
        </p:txBody>
      </p:sp>
      <p:sp>
        <p:nvSpPr>
          <p:cNvPr id="21" name="TextBox 20">
            <a:extLst>
              <a:ext uri="{FF2B5EF4-FFF2-40B4-BE49-F238E27FC236}">
                <a16:creationId xmlns:a16="http://schemas.microsoft.com/office/drawing/2014/main" id="{4BDAA390-6FC3-BBD3-3712-CEF1AEFB938C}"/>
              </a:ext>
            </a:extLst>
          </p:cNvPr>
          <p:cNvSpPr txBox="1"/>
          <p:nvPr/>
        </p:nvSpPr>
        <p:spPr>
          <a:xfrm>
            <a:off x="6692132" y="7887178"/>
            <a:ext cx="762000" cy="1569660"/>
          </a:xfrm>
          <a:prstGeom prst="rect">
            <a:avLst/>
          </a:prstGeom>
          <a:noFill/>
        </p:spPr>
        <p:txBody>
          <a:bodyPr wrap="square" rtlCol="0">
            <a:spAutoFit/>
          </a:bodyPr>
          <a:lstStyle/>
          <a:p>
            <a:pPr algn="ctr"/>
            <a:r>
              <a:rPr lang="en-US" sz="9600">
                <a:solidFill>
                  <a:srgbClr val="002060"/>
                </a:solidFill>
              </a:rPr>
              <a:t>k</a:t>
            </a:r>
          </a:p>
        </p:txBody>
      </p:sp>
    </p:spTree>
    <p:extLst>
      <p:ext uri="{BB962C8B-B14F-4D97-AF65-F5344CB8AC3E}">
        <p14:creationId xmlns:p14="http://schemas.microsoft.com/office/powerpoint/2010/main" val="348407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down)">
                                      <p:cBhvr>
                                        <p:cTn id="10" dur="500"/>
                                        <p:tgtEl>
                                          <p:spTgt spid="2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down)">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down)">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down)">
                                      <p:cBhvr>
                                        <p:cTn id="2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0" grpId="0" animBg="1"/>
      <p:bldP spid="21" grpId="0" uiExpand="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645344-FC68-8B9D-1B95-B85CFECFF512}"/>
              </a:ext>
            </a:extLst>
          </p:cNvPr>
          <p:cNvSpPr txBox="1">
            <a:spLocks/>
          </p:cNvSpPr>
          <p:nvPr/>
        </p:nvSpPr>
        <p:spPr>
          <a:xfrm>
            <a:off x="3489616" y="1127760"/>
            <a:ext cx="10521024" cy="1127124"/>
          </a:xfrm>
          <a:prstGeom prst="rect">
            <a:avLst/>
          </a:prstGeom>
        </p:spPr>
        <p:txBody>
          <a:bodyPr vert="horz" lIns="182880" tIns="91440" rIns="182880" bIns="9144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2844800">
              <a:spcAft>
                <a:spcPct val="35000"/>
              </a:spcAft>
              <a:defRPr/>
            </a:pPr>
            <a:r>
              <a:rPr lang="en-US" sz="5600" b="1" dirty="0">
                <a:solidFill>
                  <a:srgbClr val="002060"/>
                </a:solidFill>
                <a:latin typeface="Aachen" panose="02020500000000000000" pitchFamily="18" charset="0"/>
                <a:ea typeface="Aachen" panose="02020500000000000000" pitchFamily="18" charset="0"/>
                <a:cs typeface="Aachen" panose="02020500000000000000" pitchFamily="18" charset="0"/>
              </a:rPr>
              <a:t>Tư </a:t>
            </a:r>
            <a:r>
              <a:rPr lang="en-US" sz="5600"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r>
              <a:rPr lang="en-US" sz="5600"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sz="5600" b="1" dirty="0" err="1">
                <a:solidFill>
                  <a:srgbClr val="002060"/>
                </a:solidFill>
                <a:latin typeface="Aachen" panose="02020500000000000000" pitchFamily="18" charset="0"/>
                <a:ea typeface="Aachen" panose="02020500000000000000" pitchFamily="18" charset="0"/>
                <a:cs typeface="Aachen" panose="02020500000000000000" pitchFamily="18" charset="0"/>
              </a:rPr>
              <a:t>ứng</a:t>
            </a:r>
            <a:r>
              <a:rPr lang="en-US" sz="5600"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sz="5600" b="1" dirty="0" err="1">
                <a:solidFill>
                  <a:srgbClr val="002060"/>
                </a:solidFill>
                <a:latin typeface="Aachen" panose="02020500000000000000" pitchFamily="18" charset="0"/>
                <a:ea typeface="Aachen" panose="02020500000000000000" pitchFamily="18" charset="0"/>
                <a:cs typeface="Aachen" panose="02020500000000000000" pitchFamily="18" charset="0"/>
              </a:rPr>
              <a:t>trước</a:t>
            </a:r>
            <a:r>
              <a:rPr lang="en-US" sz="5600"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sz="5600" b="1" dirty="0" err="1">
                <a:solidFill>
                  <a:srgbClr val="002060"/>
                </a:solidFill>
                <a:latin typeface="Aachen" panose="02020500000000000000" pitchFamily="18" charset="0"/>
                <a:ea typeface="Aachen" panose="02020500000000000000" pitchFamily="18" charset="0"/>
                <a:cs typeface="Aachen" panose="02020500000000000000" pitchFamily="18" charset="0"/>
              </a:rPr>
              <a:t>và</a:t>
            </a:r>
            <a:r>
              <a:rPr lang="en-US" sz="5600" b="1" dirty="0">
                <a:solidFill>
                  <a:srgbClr val="002060"/>
                </a:solidFill>
                <a:latin typeface="Aachen" panose="02020500000000000000" pitchFamily="18" charset="0"/>
                <a:ea typeface="Aachen" panose="02020500000000000000" pitchFamily="18" charset="0"/>
                <a:cs typeface="Aachen" panose="02020500000000000000" pitchFamily="18" charset="0"/>
              </a:rPr>
              <a:t> Chi </a:t>
            </a:r>
            <a:r>
              <a:rPr lang="en-US" sz="5600" b="1" dirty="0" err="1">
                <a:solidFill>
                  <a:srgbClr val="002060"/>
                </a:solidFill>
                <a:latin typeface="Aachen" panose="02020500000000000000" pitchFamily="18" charset="0"/>
                <a:ea typeface="Aachen" panose="02020500000000000000" pitchFamily="18" charset="0"/>
                <a:cs typeface="Aachen" panose="02020500000000000000" pitchFamily="18" charset="0"/>
              </a:rPr>
              <a:t>phí</a:t>
            </a:r>
            <a:r>
              <a:rPr lang="en-US" sz="5600"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sz="5600" b="1" dirty="0" err="1">
                <a:solidFill>
                  <a:srgbClr val="002060"/>
                </a:solidFill>
                <a:latin typeface="Aachen" panose="02020500000000000000" pitchFamily="18" charset="0"/>
                <a:ea typeface="Aachen" panose="02020500000000000000" pitchFamily="18" charset="0"/>
                <a:cs typeface="Aachen" panose="02020500000000000000" pitchFamily="18" charset="0"/>
              </a:rPr>
              <a:t>sx</a:t>
            </a:r>
            <a:r>
              <a:rPr lang="en-US" sz="5600"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sz="5600" b="1" dirty="0" err="1">
                <a:solidFill>
                  <a:srgbClr val="002060"/>
                </a:solidFill>
                <a:latin typeface="Aachen" panose="02020500000000000000" pitchFamily="18" charset="0"/>
                <a:ea typeface="Aachen" panose="02020500000000000000" pitchFamily="18" charset="0"/>
                <a:cs typeface="Aachen" panose="02020500000000000000" pitchFamily="18" charset="0"/>
              </a:rPr>
              <a:t>tư</a:t>
            </a:r>
            <a:r>
              <a:rPr lang="en-US" sz="5600" b="1" dirty="0">
                <a:solidFill>
                  <a:srgbClr val="002060"/>
                </a:solidFill>
                <a:latin typeface="Aachen" panose="02020500000000000000" pitchFamily="18" charset="0"/>
                <a:ea typeface="Aachen" panose="02020500000000000000" pitchFamily="18" charset="0"/>
                <a:cs typeface="Aachen" panose="02020500000000000000" pitchFamily="18" charset="0"/>
              </a:rPr>
              <a:t> </a:t>
            </a:r>
            <a:r>
              <a:rPr lang="en-US" sz="5600" b="1" dirty="0" err="1">
                <a:solidFill>
                  <a:srgbClr val="002060"/>
                </a:solidFill>
                <a:latin typeface="Aachen" panose="02020500000000000000" pitchFamily="18" charset="0"/>
                <a:ea typeface="Aachen" panose="02020500000000000000" pitchFamily="18" charset="0"/>
                <a:cs typeface="Aachen" panose="02020500000000000000" pitchFamily="18" charset="0"/>
              </a:rPr>
              <a:t>bản</a:t>
            </a:r>
            <a:endParaRPr lang="en-US" sz="5600" b="1" dirty="0">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sp>
        <p:nvSpPr>
          <p:cNvPr id="5" name="Rectangle 2">
            <a:extLst>
              <a:ext uri="{FF2B5EF4-FFF2-40B4-BE49-F238E27FC236}">
                <a16:creationId xmlns:a16="http://schemas.microsoft.com/office/drawing/2014/main" id="{D66D8C13-4445-28C3-E1F1-77D08644C51B}"/>
              </a:ext>
            </a:extLst>
          </p:cNvPr>
          <p:cNvSpPr txBox="1">
            <a:spLocks noChangeArrowheads="1"/>
          </p:cNvSpPr>
          <p:nvPr/>
        </p:nvSpPr>
        <p:spPr bwMode="auto">
          <a:xfrm>
            <a:off x="1666240" y="2956560"/>
            <a:ext cx="15544800" cy="10210800"/>
          </a:xfrm>
          <a:prstGeom prst="rect">
            <a:avLst/>
          </a:prstGeom>
        </p:spPr>
        <p:txBody>
          <a:bodyPr vert="horz" wrap="square" lIns="182880" tIns="91440" rIns="182880" bIns="91440" numCol="1" rtlCol="0" anchor="t" anchorCtr="0" compatLnSpc="1">
            <a:prstTxWarp prst="textNoShape">
              <a:avLst/>
            </a:prstTxWarp>
            <a:noAutofit/>
          </a:bodyPr>
          <a:lstStyle>
            <a:lvl1pPr marL="0" indent="0" algn="ctr" defTabSz="685800" rtl="0" fontAlgn="base">
              <a:lnSpc>
                <a:spcPct val="90000"/>
              </a:lnSpc>
              <a:spcBef>
                <a:spcPts val="750"/>
              </a:spcBef>
              <a:spcAft>
                <a:spcPct val="0"/>
              </a:spcAft>
              <a:buFont typeface="Arial" panose="020B0604020202020204" pitchFamily="34" charset="0"/>
              <a:buNone/>
              <a:defRPr sz="1800" kern="1200">
                <a:solidFill>
                  <a:schemeClr val="tx1"/>
                </a:solidFill>
                <a:latin typeface="+mn-lt"/>
                <a:ea typeface="+mn-ea"/>
                <a:cs typeface="+mn-cs"/>
              </a:defRPr>
            </a:lvl1pPr>
            <a:lvl2pPr marL="342900" indent="0" algn="ctr" defTabSz="685800" rtl="0" fontAlgn="base">
              <a:lnSpc>
                <a:spcPct val="90000"/>
              </a:lnSpc>
              <a:spcBef>
                <a:spcPts val="375"/>
              </a:spcBef>
              <a:spcAft>
                <a:spcPct val="0"/>
              </a:spcAft>
              <a:buFont typeface="Arial" panose="020B0604020202020204" pitchFamily="34" charset="0"/>
              <a:buNone/>
              <a:defRPr sz="1500" kern="1200">
                <a:solidFill>
                  <a:schemeClr val="tx1"/>
                </a:solidFill>
                <a:latin typeface="+mn-lt"/>
                <a:ea typeface="+mn-ea"/>
                <a:cs typeface="+mn-cs"/>
              </a:defRPr>
            </a:lvl2pPr>
            <a:lvl3pPr marL="685800" indent="0" algn="ctr" defTabSz="685800" rtl="0" fontAlgn="base">
              <a:lnSpc>
                <a:spcPct val="90000"/>
              </a:lnSpc>
              <a:spcBef>
                <a:spcPts val="375"/>
              </a:spcBef>
              <a:spcAft>
                <a:spcPct val="0"/>
              </a:spcAft>
              <a:buFont typeface="Arial" panose="020B0604020202020204" pitchFamily="34" charset="0"/>
              <a:buNone/>
              <a:defRPr sz="1350" kern="1200">
                <a:solidFill>
                  <a:schemeClr val="tx1"/>
                </a:solidFill>
                <a:latin typeface="+mn-lt"/>
                <a:ea typeface="+mn-ea"/>
                <a:cs typeface="+mn-cs"/>
              </a:defRPr>
            </a:lvl3pPr>
            <a:lvl4pPr marL="1028700" indent="0" algn="ctr" defTabSz="685800" rtl="0" fontAlgn="base">
              <a:lnSpc>
                <a:spcPct val="90000"/>
              </a:lnSpc>
              <a:spcBef>
                <a:spcPts val="375"/>
              </a:spcBef>
              <a:spcAft>
                <a:spcPct val="0"/>
              </a:spcAft>
              <a:buFont typeface="Arial" panose="020B0604020202020204" pitchFamily="34" charset="0"/>
              <a:buNone/>
              <a:defRPr sz="1200" kern="1200">
                <a:solidFill>
                  <a:schemeClr val="tx1"/>
                </a:solidFill>
                <a:latin typeface="+mn-lt"/>
                <a:ea typeface="+mn-ea"/>
                <a:cs typeface="+mn-cs"/>
              </a:defRPr>
            </a:lvl4pPr>
            <a:lvl5pPr marL="1371600" indent="0" algn="ctr" defTabSz="685800" rtl="0" fontAlgn="base">
              <a:lnSpc>
                <a:spcPct val="90000"/>
              </a:lnSpc>
              <a:spcBef>
                <a:spcPts val="375"/>
              </a:spcBef>
              <a:spcAft>
                <a:spcPct val="0"/>
              </a:spcAft>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lnSpc>
                <a:spcPct val="115000"/>
              </a:lnSpc>
            </a:pPr>
            <a:endParaRPr lang="en-US" altLang="en-US" sz="4800" dirty="0">
              <a:solidFill>
                <a:srgbClr val="002060"/>
              </a:solidFill>
              <a:cs typeface="Arial" panose="020B0604020202020204" pitchFamily="34" charset="0"/>
            </a:endParaRPr>
          </a:p>
          <a:p>
            <a:pPr algn="l">
              <a:lnSpc>
                <a:spcPct val="115000"/>
              </a:lnSpc>
            </a:pPr>
            <a:r>
              <a:rPr lang="en-US" altLang="en-US" sz="4800" dirty="0">
                <a:solidFill>
                  <a:srgbClr val="002060"/>
                </a:solidFill>
                <a:cs typeface="Arial" panose="020B0604020202020204" pitchFamily="34" charset="0"/>
              </a:rPr>
              <a:t>				      		          						  </a:t>
            </a:r>
            <a:r>
              <a:rPr lang="en-US" altLang="en-US" sz="3600" dirty="0">
                <a:solidFill>
                  <a:srgbClr val="002060"/>
                </a:solidFill>
                <a:cs typeface="Arial" panose="020B0604020202020204" pitchFamily="34" charset="0"/>
              </a:rPr>
              <a:t>c</a:t>
            </a:r>
            <a:r>
              <a:rPr lang="en-US" altLang="en-US" sz="3600" baseline="-25000" dirty="0">
                <a:solidFill>
                  <a:srgbClr val="002060"/>
                </a:solidFill>
                <a:cs typeface="Arial" panose="020B0604020202020204" pitchFamily="34" charset="0"/>
              </a:rPr>
              <a:t>1</a:t>
            </a:r>
            <a:r>
              <a:rPr lang="en-US" altLang="en-US" sz="3600" dirty="0">
                <a:solidFill>
                  <a:srgbClr val="002060"/>
                </a:solidFill>
                <a:cs typeface="Arial" panose="020B0604020202020204" pitchFamily="34" charset="0"/>
              </a:rPr>
              <a:t> = 600/10 </a:t>
            </a:r>
            <a:r>
              <a:rPr lang="en-US" altLang="en-US" sz="3600" dirty="0" err="1">
                <a:solidFill>
                  <a:srgbClr val="002060"/>
                </a:solidFill>
                <a:cs typeface="Arial" panose="020B0604020202020204" pitchFamily="34" charset="0"/>
              </a:rPr>
              <a:t>năm</a:t>
            </a:r>
            <a:endParaRPr lang="en-US" altLang="en-US" sz="4800" dirty="0">
              <a:solidFill>
                <a:srgbClr val="002060"/>
              </a:solidFill>
              <a:cs typeface="Arial" panose="020B0604020202020204" pitchFamily="34" charset="0"/>
            </a:endParaRPr>
          </a:p>
          <a:p>
            <a:pPr algn="l">
              <a:lnSpc>
                <a:spcPct val="115000"/>
              </a:lnSpc>
            </a:pPr>
            <a:endParaRPr lang="en-US" altLang="en-US" sz="4800" dirty="0">
              <a:solidFill>
                <a:srgbClr val="002060"/>
              </a:solidFill>
              <a:cs typeface="Arial" panose="020B0604020202020204" pitchFamily="34" charset="0"/>
            </a:endParaRPr>
          </a:p>
          <a:p>
            <a:pPr algn="l">
              <a:lnSpc>
                <a:spcPct val="115000"/>
              </a:lnSpc>
            </a:pPr>
            <a:r>
              <a:rPr lang="en-US" altLang="en-US" sz="4800" dirty="0">
                <a:solidFill>
                  <a:srgbClr val="002060"/>
                </a:solidFill>
                <a:cs typeface="Arial" panose="020B0604020202020204" pitchFamily="34" charset="0"/>
              </a:rPr>
              <a:t>				       					c = 800     		      </a:t>
            </a:r>
          </a:p>
          <a:p>
            <a:pPr algn="l">
              <a:lnSpc>
                <a:spcPct val="115000"/>
              </a:lnSpc>
            </a:pPr>
            <a:r>
              <a:rPr lang="en-US" altLang="en-US" sz="4800" dirty="0">
                <a:solidFill>
                  <a:srgbClr val="002060"/>
                </a:solidFill>
                <a:cs typeface="Arial" panose="020B0604020202020204" pitchFamily="34" charset="0"/>
              </a:rPr>
              <a:t>TBƯT(K) = 1000		       	      						</a:t>
            </a:r>
            <a:r>
              <a:rPr lang="en-US" altLang="en-US" sz="3600" dirty="0">
                <a:solidFill>
                  <a:srgbClr val="002060"/>
                </a:solidFill>
                <a:cs typeface="Arial" panose="020B0604020202020204" pitchFamily="34" charset="0"/>
              </a:rPr>
              <a:t>c</a:t>
            </a:r>
            <a:r>
              <a:rPr lang="en-US" altLang="en-US" sz="3600" baseline="-25000" dirty="0">
                <a:solidFill>
                  <a:srgbClr val="002060"/>
                </a:solidFill>
                <a:cs typeface="Arial" panose="020B0604020202020204" pitchFamily="34" charset="0"/>
              </a:rPr>
              <a:t>2</a:t>
            </a:r>
            <a:r>
              <a:rPr lang="en-US" altLang="en-US" sz="3600" dirty="0">
                <a:solidFill>
                  <a:srgbClr val="002060"/>
                </a:solidFill>
                <a:cs typeface="Arial" panose="020B0604020202020204" pitchFamily="34" charset="0"/>
              </a:rPr>
              <a:t> = 200 </a:t>
            </a:r>
            <a:endParaRPr lang="en-US" altLang="en-US" sz="4800" dirty="0">
              <a:solidFill>
                <a:srgbClr val="002060"/>
              </a:solidFill>
              <a:cs typeface="Arial" panose="020B0604020202020204" pitchFamily="34" charset="0"/>
            </a:endParaRPr>
          </a:p>
          <a:p>
            <a:pPr algn="l">
              <a:lnSpc>
                <a:spcPct val="115000"/>
              </a:lnSpc>
            </a:pPr>
            <a:r>
              <a:rPr lang="en-US" altLang="en-US" sz="4800" dirty="0">
                <a:solidFill>
                  <a:srgbClr val="002060"/>
                </a:solidFill>
                <a:cs typeface="Arial" panose="020B0604020202020204" pitchFamily="34" charset="0"/>
              </a:rPr>
              <a:t>				       				</a:t>
            </a:r>
          </a:p>
          <a:p>
            <a:pPr algn="l">
              <a:lnSpc>
                <a:spcPct val="115000"/>
              </a:lnSpc>
            </a:pPr>
            <a:r>
              <a:rPr lang="en-US" altLang="en-US" sz="4800" dirty="0">
                <a:solidFill>
                  <a:srgbClr val="002060"/>
                </a:solidFill>
                <a:cs typeface="Arial" panose="020B0604020202020204" pitchFamily="34" charset="0"/>
              </a:rPr>
              <a:t>										v = 200 </a:t>
            </a:r>
          </a:p>
          <a:p>
            <a:pPr algn="l">
              <a:lnSpc>
                <a:spcPct val="115000"/>
              </a:lnSpc>
            </a:pPr>
            <a:endParaRPr lang="en-US" altLang="en-US" sz="3600" dirty="0">
              <a:solidFill>
                <a:srgbClr val="002060"/>
              </a:solidFill>
              <a:cs typeface="Arial" panose="020B0604020202020204" pitchFamily="34" charset="0"/>
            </a:endParaRPr>
          </a:p>
          <a:p>
            <a:pPr>
              <a:lnSpc>
                <a:spcPct val="115000"/>
              </a:lnSpc>
            </a:pPr>
            <a:r>
              <a:rPr lang="en-US" altLang="en-US" sz="4800" b="1" dirty="0">
                <a:solidFill>
                  <a:srgbClr val="002060"/>
                </a:solidFill>
                <a:cs typeface="Arial" panose="020B0604020202020204" pitchFamily="34" charset="0"/>
              </a:rPr>
              <a:t>Chi </a:t>
            </a:r>
            <a:r>
              <a:rPr lang="en-US" altLang="en-US" sz="4800" b="1" dirty="0" err="1">
                <a:solidFill>
                  <a:srgbClr val="002060"/>
                </a:solidFill>
                <a:cs typeface="Arial" panose="020B0604020202020204" pitchFamily="34" charset="0"/>
              </a:rPr>
              <a:t>phí</a:t>
            </a:r>
            <a:r>
              <a:rPr lang="en-US" altLang="en-US" sz="4800" b="1" dirty="0">
                <a:solidFill>
                  <a:srgbClr val="002060"/>
                </a:solidFill>
                <a:cs typeface="Arial" panose="020B0604020202020204" pitchFamily="34" charset="0"/>
              </a:rPr>
              <a:t> SXTBCN (k) =  60 KH c</a:t>
            </a:r>
            <a:r>
              <a:rPr lang="en-US" altLang="en-US" sz="4800" b="1" baseline="-25000" dirty="0">
                <a:solidFill>
                  <a:srgbClr val="002060"/>
                </a:solidFill>
                <a:cs typeface="Arial" panose="020B0604020202020204" pitchFamily="34" charset="0"/>
              </a:rPr>
              <a:t>1</a:t>
            </a:r>
            <a:r>
              <a:rPr lang="en-US" altLang="en-US" sz="4800" b="1" dirty="0">
                <a:solidFill>
                  <a:srgbClr val="002060"/>
                </a:solidFill>
                <a:cs typeface="Arial" panose="020B0604020202020204" pitchFamily="34" charset="0"/>
              </a:rPr>
              <a:t>+ 200 c</a:t>
            </a:r>
            <a:r>
              <a:rPr lang="en-US" altLang="en-US" sz="4800" b="1" baseline="-25000" dirty="0">
                <a:solidFill>
                  <a:srgbClr val="002060"/>
                </a:solidFill>
                <a:cs typeface="Arial" panose="020B0604020202020204" pitchFamily="34" charset="0"/>
              </a:rPr>
              <a:t>2</a:t>
            </a:r>
            <a:r>
              <a:rPr lang="en-US" altLang="en-US" sz="4800" b="1" dirty="0">
                <a:solidFill>
                  <a:srgbClr val="002060"/>
                </a:solidFill>
                <a:cs typeface="Arial" panose="020B0604020202020204" pitchFamily="34" charset="0"/>
              </a:rPr>
              <a:t> + 200 v = 460</a:t>
            </a:r>
          </a:p>
          <a:p>
            <a:pPr>
              <a:lnSpc>
                <a:spcPct val="115000"/>
              </a:lnSpc>
            </a:pPr>
            <a:r>
              <a:rPr lang="en-US" altLang="en-US" sz="6600" b="1" dirty="0">
                <a:solidFill>
                  <a:srgbClr val="002060"/>
                </a:solidFill>
                <a:cs typeface="Arial" panose="020B0604020202020204" pitchFamily="34" charset="0"/>
                <a:sym typeface="Wingdings" panose="05000000000000000000" pitchFamily="2" charset="2"/>
              </a:rPr>
              <a:t></a:t>
            </a:r>
            <a:r>
              <a:rPr lang="en-US" altLang="en-US" sz="6600" b="1" dirty="0">
                <a:solidFill>
                  <a:srgbClr val="002060"/>
                </a:solidFill>
                <a:cs typeface="Arial" panose="020B0604020202020204" pitchFamily="34" charset="0"/>
              </a:rPr>
              <a:t> </a:t>
            </a:r>
            <a:r>
              <a:rPr lang="en-US" altLang="en-US" sz="5400" b="1" dirty="0">
                <a:solidFill>
                  <a:srgbClr val="002060"/>
                </a:solidFill>
                <a:cs typeface="Arial" panose="020B0604020202020204" pitchFamily="34" charset="0"/>
              </a:rPr>
              <a:t>Chi </a:t>
            </a:r>
            <a:r>
              <a:rPr lang="en-US" altLang="en-US" sz="5400" b="1" dirty="0" err="1">
                <a:solidFill>
                  <a:srgbClr val="002060"/>
                </a:solidFill>
                <a:cs typeface="Arial" panose="020B0604020202020204" pitchFamily="34" charset="0"/>
              </a:rPr>
              <a:t>phí</a:t>
            </a:r>
            <a:r>
              <a:rPr lang="en-US" altLang="en-US" sz="5400" b="1" dirty="0">
                <a:solidFill>
                  <a:srgbClr val="002060"/>
                </a:solidFill>
                <a:cs typeface="Arial" panose="020B0604020202020204" pitchFamily="34" charset="0"/>
              </a:rPr>
              <a:t> SXTBCN (k) &lt; Tư </a:t>
            </a:r>
            <a:r>
              <a:rPr lang="en-US" altLang="en-US" sz="5400" b="1" dirty="0" err="1">
                <a:solidFill>
                  <a:srgbClr val="002060"/>
                </a:solidFill>
                <a:cs typeface="Arial" panose="020B0604020202020204" pitchFamily="34" charset="0"/>
              </a:rPr>
              <a:t>bản</a:t>
            </a:r>
            <a:r>
              <a:rPr lang="en-US" altLang="en-US" sz="5400" b="1" dirty="0">
                <a:solidFill>
                  <a:srgbClr val="002060"/>
                </a:solidFill>
                <a:cs typeface="Arial" panose="020B0604020202020204" pitchFamily="34" charset="0"/>
              </a:rPr>
              <a:t> </a:t>
            </a:r>
            <a:r>
              <a:rPr lang="en-US" altLang="en-US" sz="5400" b="1" dirty="0" err="1">
                <a:solidFill>
                  <a:srgbClr val="002060"/>
                </a:solidFill>
                <a:cs typeface="Arial" panose="020B0604020202020204" pitchFamily="34" charset="0"/>
              </a:rPr>
              <a:t>ứng</a:t>
            </a:r>
            <a:r>
              <a:rPr lang="en-US" altLang="en-US" sz="5400" b="1" dirty="0">
                <a:solidFill>
                  <a:srgbClr val="002060"/>
                </a:solidFill>
                <a:cs typeface="Arial" panose="020B0604020202020204" pitchFamily="34" charset="0"/>
              </a:rPr>
              <a:t> </a:t>
            </a:r>
            <a:r>
              <a:rPr lang="en-US" altLang="en-US" sz="5400" b="1" dirty="0" err="1">
                <a:solidFill>
                  <a:srgbClr val="002060"/>
                </a:solidFill>
                <a:cs typeface="Arial" panose="020B0604020202020204" pitchFamily="34" charset="0"/>
              </a:rPr>
              <a:t>trước</a:t>
            </a:r>
            <a:r>
              <a:rPr lang="en-US" altLang="en-US" sz="5400" b="1" dirty="0">
                <a:solidFill>
                  <a:srgbClr val="002060"/>
                </a:solidFill>
                <a:cs typeface="Arial" panose="020B0604020202020204" pitchFamily="34" charset="0"/>
              </a:rPr>
              <a:t> (K)</a:t>
            </a:r>
            <a:endParaRPr lang="en-US" altLang="en-US" sz="6600" b="1" dirty="0">
              <a:solidFill>
                <a:srgbClr val="002060"/>
              </a:solidFill>
              <a:cs typeface="Arial" panose="020B0604020202020204" pitchFamily="34" charset="0"/>
            </a:endParaRPr>
          </a:p>
          <a:p>
            <a:pPr algn="l">
              <a:lnSpc>
                <a:spcPct val="80000"/>
              </a:lnSpc>
            </a:pPr>
            <a:r>
              <a:rPr lang="en-US" altLang="en-US" sz="4800" dirty="0">
                <a:solidFill>
                  <a:srgbClr val="002060"/>
                </a:solidFill>
                <a:cs typeface="Arial" panose="020B0604020202020204" pitchFamily="34" charset="0"/>
              </a:rPr>
              <a:t>					</a:t>
            </a:r>
          </a:p>
        </p:txBody>
      </p:sp>
      <p:sp>
        <p:nvSpPr>
          <p:cNvPr id="6" name="Line 9">
            <a:extLst>
              <a:ext uri="{FF2B5EF4-FFF2-40B4-BE49-F238E27FC236}">
                <a16:creationId xmlns:a16="http://schemas.microsoft.com/office/drawing/2014/main" id="{70F73A7E-6BE8-E5CC-5828-170426460609}"/>
              </a:ext>
            </a:extLst>
          </p:cNvPr>
          <p:cNvSpPr>
            <a:spLocks noChangeShapeType="1"/>
          </p:cNvSpPr>
          <p:nvPr/>
        </p:nvSpPr>
        <p:spPr bwMode="auto">
          <a:xfrm flipV="1">
            <a:off x="5951468" y="6376164"/>
            <a:ext cx="2562522" cy="839244"/>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defTabSz="1828800" eaLnBrk="0" hangingPunct="0">
              <a:defRPr/>
            </a:pPr>
            <a:endParaRPr lang="en-US" sz="3600" kern="0">
              <a:solidFill>
                <a:srgbClr val="002060"/>
              </a:solidFill>
              <a:ea typeface="MS PGothic" panose="020B0600070205080204" pitchFamily="34" charset="-128"/>
            </a:endParaRPr>
          </a:p>
        </p:txBody>
      </p:sp>
      <p:sp>
        <p:nvSpPr>
          <p:cNvPr id="7" name="Line 10">
            <a:extLst>
              <a:ext uri="{FF2B5EF4-FFF2-40B4-BE49-F238E27FC236}">
                <a16:creationId xmlns:a16="http://schemas.microsoft.com/office/drawing/2014/main" id="{D9978251-F298-2718-2BC4-81001BCAF793}"/>
              </a:ext>
            </a:extLst>
          </p:cNvPr>
          <p:cNvSpPr>
            <a:spLocks noChangeShapeType="1"/>
          </p:cNvSpPr>
          <p:nvPr/>
        </p:nvSpPr>
        <p:spPr bwMode="auto">
          <a:xfrm>
            <a:off x="5867400" y="7543800"/>
            <a:ext cx="2729235" cy="1470138"/>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defTabSz="1828800" eaLnBrk="0" hangingPunct="0">
              <a:defRPr/>
            </a:pPr>
            <a:endParaRPr lang="en-US" sz="3600" kern="0">
              <a:solidFill>
                <a:srgbClr val="002060"/>
              </a:solidFill>
              <a:ea typeface="MS PGothic" panose="020B0600070205080204" pitchFamily="34" charset="-128"/>
            </a:endParaRPr>
          </a:p>
        </p:txBody>
      </p:sp>
      <p:sp>
        <p:nvSpPr>
          <p:cNvPr id="8" name="Line 11">
            <a:extLst>
              <a:ext uri="{FF2B5EF4-FFF2-40B4-BE49-F238E27FC236}">
                <a16:creationId xmlns:a16="http://schemas.microsoft.com/office/drawing/2014/main" id="{22206B46-74FC-2A4C-89D7-6843321094F2}"/>
              </a:ext>
            </a:extLst>
          </p:cNvPr>
          <p:cNvSpPr>
            <a:spLocks noChangeShapeType="1"/>
          </p:cNvSpPr>
          <p:nvPr/>
        </p:nvSpPr>
        <p:spPr bwMode="auto">
          <a:xfrm flipV="1">
            <a:off x="10933554" y="4886502"/>
            <a:ext cx="1295400" cy="1678488"/>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defTabSz="1828800" eaLnBrk="0" hangingPunct="0">
              <a:defRPr/>
            </a:pPr>
            <a:endParaRPr lang="en-US" sz="3600" kern="0">
              <a:solidFill>
                <a:srgbClr val="002060"/>
              </a:solidFill>
              <a:ea typeface="MS PGothic" panose="020B0600070205080204" pitchFamily="34" charset="-128"/>
            </a:endParaRPr>
          </a:p>
        </p:txBody>
      </p:sp>
      <p:sp>
        <p:nvSpPr>
          <p:cNvPr id="9" name="Line 12">
            <a:extLst>
              <a:ext uri="{FF2B5EF4-FFF2-40B4-BE49-F238E27FC236}">
                <a16:creationId xmlns:a16="http://schemas.microsoft.com/office/drawing/2014/main" id="{A8D8F652-03EC-2F45-6832-49583E265E93}"/>
              </a:ext>
            </a:extLst>
          </p:cNvPr>
          <p:cNvSpPr>
            <a:spLocks noChangeShapeType="1"/>
          </p:cNvSpPr>
          <p:nvPr/>
        </p:nvSpPr>
        <p:spPr bwMode="auto">
          <a:xfrm>
            <a:off x="10933554" y="6725849"/>
            <a:ext cx="1639446" cy="665551"/>
          </a:xfrm>
          <a:prstGeom prst="line">
            <a:avLst/>
          </a:prstGeom>
          <a:noFill/>
          <a:ln w="9525">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defTabSz="1828800" eaLnBrk="0" hangingPunct="0">
              <a:defRPr/>
            </a:pPr>
            <a:endParaRPr lang="en-US" sz="3600" kern="0">
              <a:solidFill>
                <a:srgbClr val="002060"/>
              </a:solidFill>
              <a:ea typeface="MS PGothic" panose="020B0600070205080204" pitchFamily="34" charset="-128"/>
            </a:endParaRPr>
          </a:p>
        </p:txBody>
      </p:sp>
    </p:spTree>
    <p:extLst>
      <p:ext uri="{BB962C8B-B14F-4D97-AF65-F5344CB8AC3E}">
        <p14:creationId xmlns:p14="http://schemas.microsoft.com/office/powerpoint/2010/main" val="27353917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F7C95-8839-9FAF-97B9-72BDDA3EC8BF}"/>
              </a:ext>
            </a:extLst>
          </p:cNvPr>
          <p:cNvSpPr txBox="1">
            <a:spLocks/>
          </p:cNvSpPr>
          <p:nvPr/>
        </p:nvSpPr>
        <p:spPr>
          <a:xfrm>
            <a:off x="3103536" y="1412240"/>
            <a:ext cx="12349824" cy="1127124"/>
          </a:xfrm>
          <a:prstGeom prst="rect">
            <a:avLst/>
          </a:prstGeom>
        </p:spPr>
        <p:txBody>
          <a:bodyPr vert="horz" lIns="182880" tIns="91440" rIns="182880" bIns="9144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2844800">
              <a:spcAft>
                <a:spcPct val="35000"/>
              </a:spcAft>
              <a:defRPr/>
            </a:pPr>
            <a:r>
              <a:rPr lang="en-US" sz="7200" b="1">
                <a:solidFill>
                  <a:srgbClr val="002060"/>
                </a:solidFill>
                <a:latin typeface="Aachen" panose="02020500000000000000" pitchFamily="18" charset="0"/>
                <a:ea typeface="Aachen" panose="02020500000000000000" pitchFamily="18" charset="0"/>
                <a:cs typeface="Aachen" panose="02020500000000000000" pitchFamily="18" charset="0"/>
              </a:rPr>
              <a:t>Lợi nhuận – biến tướng của m</a:t>
            </a:r>
          </a:p>
        </p:txBody>
      </p:sp>
      <p:sp>
        <p:nvSpPr>
          <p:cNvPr id="3" name="Rectangle 3">
            <a:extLst>
              <a:ext uri="{FF2B5EF4-FFF2-40B4-BE49-F238E27FC236}">
                <a16:creationId xmlns:a16="http://schemas.microsoft.com/office/drawing/2014/main" id="{2D3E3250-FDAF-B4A8-4B27-6EC1B819CC39}"/>
              </a:ext>
            </a:extLst>
          </p:cNvPr>
          <p:cNvSpPr txBox="1">
            <a:spLocks noChangeArrowheads="1"/>
          </p:cNvSpPr>
          <p:nvPr/>
        </p:nvSpPr>
        <p:spPr bwMode="auto">
          <a:xfrm>
            <a:off x="1920240" y="4003040"/>
            <a:ext cx="14935200" cy="883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en-US" altLang="en-US" sz="5600">
                <a:solidFill>
                  <a:srgbClr val="002060"/>
                </a:solidFill>
              </a:rPr>
              <a:t>Một khi c và v mang tên gọi là k thì:</a:t>
            </a:r>
          </a:p>
          <a:p>
            <a:pPr algn="just">
              <a:defRPr/>
            </a:pPr>
            <a:endParaRPr lang="en-US" altLang="en-US" sz="5600">
              <a:solidFill>
                <a:srgbClr val="002060"/>
              </a:solidFill>
            </a:endParaRPr>
          </a:p>
          <a:p>
            <a:pPr algn="just">
              <a:defRPr/>
            </a:pPr>
            <a:endParaRPr lang="en-US" altLang="en-US" sz="7200">
              <a:solidFill>
                <a:srgbClr val="002060"/>
              </a:solidFill>
            </a:endParaRPr>
          </a:p>
          <a:p>
            <a:pPr algn="just">
              <a:defRPr/>
            </a:pPr>
            <a:endParaRPr lang="en-US" altLang="en-US" sz="7200">
              <a:solidFill>
                <a:srgbClr val="002060"/>
              </a:solidFill>
            </a:endParaRPr>
          </a:p>
          <a:p>
            <a:pPr algn="just">
              <a:defRPr/>
            </a:pPr>
            <a:endParaRPr lang="en-US" altLang="en-US" sz="7200">
              <a:solidFill>
                <a:srgbClr val="002060"/>
              </a:solidFill>
            </a:endParaRPr>
          </a:p>
          <a:p>
            <a:pPr marL="0" indent="0" algn="just">
              <a:buNone/>
              <a:defRPr/>
            </a:pPr>
            <a:endParaRPr lang="en-US" altLang="en-US" sz="7200">
              <a:solidFill>
                <a:srgbClr val="002060"/>
              </a:solidFill>
            </a:endParaRPr>
          </a:p>
          <a:p>
            <a:pPr algn="just">
              <a:buFontTx/>
              <a:buNone/>
              <a:defRPr/>
            </a:pPr>
            <a:endParaRPr lang="en-US" altLang="en-US" sz="7200">
              <a:solidFill>
                <a:srgbClr val="002060"/>
              </a:solidFill>
            </a:endParaRPr>
          </a:p>
        </p:txBody>
      </p:sp>
      <p:sp>
        <p:nvSpPr>
          <p:cNvPr id="10" name="Rectangle 4">
            <a:extLst>
              <a:ext uri="{FF2B5EF4-FFF2-40B4-BE49-F238E27FC236}">
                <a16:creationId xmlns:a16="http://schemas.microsoft.com/office/drawing/2014/main" id="{5BA9139A-730D-19A2-C604-3852C27EC670}"/>
              </a:ext>
            </a:extLst>
          </p:cNvPr>
          <p:cNvSpPr>
            <a:spLocks noChangeArrowheads="1"/>
          </p:cNvSpPr>
          <p:nvPr/>
        </p:nvSpPr>
        <p:spPr bwMode="auto">
          <a:xfrm>
            <a:off x="1920240" y="5984240"/>
            <a:ext cx="4876800" cy="13716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6400" b="1">
                <a:solidFill>
                  <a:srgbClr val="002060"/>
                </a:solidFill>
                <a:cs typeface="Arial" panose="020B0604020202020204" pitchFamily="34" charset="0"/>
              </a:rPr>
              <a:t>m biểu hiện là</a:t>
            </a:r>
          </a:p>
        </p:txBody>
      </p:sp>
      <p:sp>
        <p:nvSpPr>
          <p:cNvPr id="11" name="Rectangle 5">
            <a:extLst>
              <a:ext uri="{FF2B5EF4-FFF2-40B4-BE49-F238E27FC236}">
                <a16:creationId xmlns:a16="http://schemas.microsoft.com/office/drawing/2014/main" id="{157FDB13-5EB3-49E9-CE9A-C3C8E23B22C9}"/>
              </a:ext>
            </a:extLst>
          </p:cNvPr>
          <p:cNvSpPr>
            <a:spLocks noChangeArrowheads="1"/>
          </p:cNvSpPr>
          <p:nvPr/>
        </p:nvSpPr>
        <p:spPr bwMode="auto">
          <a:xfrm>
            <a:off x="7662536" y="5806820"/>
            <a:ext cx="83820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4800" b="1">
                <a:solidFill>
                  <a:srgbClr val="002060"/>
                </a:solidFill>
                <a:cs typeface="Arial" panose="020B0604020202020204" pitchFamily="34" charset="0"/>
              </a:rPr>
              <a:t>số tiền lời dôi ra ngoài k</a:t>
            </a:r>
          </a:p>
        </p:txBody>
      </p:sp>
      <p:sp>
        <p:nvSpPr>
          <p:cNvPr id="12" name="Rectangle 6">
            <a:extLst>
              <a:ext uri="{FF2B5EF4-FFF2-40B4-BE49-F238E27FC236}">
                <a16:creationId xmlns:a16="http://schemas.microsoft.com/office/drawing/2014/main" id="{20BC03EE-9761-45B3-3F50-E11F9F3CE302}"/>
              </a:ext>
            </a:extLst>
          </p:cNvPr>
          <p:cNvSpPr>
            <a:spLocks noChangeArrowheads="1"/>
          </p:cNvSpPr>
          <p:nvPr/>
        </p:nvSpPr>
        <p:spPr bwMode="auto">
          <a:xfrm>
            <a:off x="8168640" y="7203440"/>
            <a:ext cx="4978400" cy="12192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b="1">
                <a:solidFill>
                  <a:srgbClr val="002060"/>
                </a:solidFill>
                <a:cs typeface="Arial" panose="020B0604020202020204" pitchFamily="34" charset="0"/>
              </a:rPr>
              <a:t>con đẻ của k</a:t>
            </a:r>
          </a:p>
        </p:txBody>
      </p:sp>
      <p:sp>
        <p:nvSpPr>
          <p:cNvPr id="13" name="Line 7">
            <a:extLst>
              <a:ext uri="{FF2B5EF4-FFF2-40B4-BE49-F238E27FC236}">
                <a16:creationId xmlns:a16="http://schemas.microsoft.com/office/drawing/2014/main" id="{0F9FF235-32C3-6444-01B7-F8AC5F7D96A2}"/>
              </a:ext>
            </a:extLst>
          </p:cNvPr>
          <p:cNvSpPr>
            <a:spLocks noChangeShapeType="1"/>
          </p:cNvSpPr>
          <p:nvPr/>
        </p:nvSpPr>
        <p:spPr bwMode="auto">
          <a:xfrm flipV="1">
            <a:off x="6949440" y="6289040"/>
            <a:ext cx="13716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
        <p:nvSpPr>
          <p:cNvPr id="14" name="Line 8">
            <a:extLst>
              <a:ext uri="{FF2B5EF4-FFF2-40B4-BE49-F238E27FC236}">
                <a16:creationId xmlns:a16="http://schemas.microsoft.com/office/drawing/2014/main" id="{3A5E7E61-B527-7BA8-559F-06946A86F0E6}"/>
              </a:ext>
            </a:extLst>
          </p:cNvPr>
          <p:cNvSpPr>
            <a:spLocks noChangeShapeType="1"/>
          </p:cNvSpPr>
          <p:nvPr/>
        </p:nvSpPr>
        <p:spPr bwMode="auto">
          <a:xfrm>
            <a:off x="6949440" y="6746240"/>
            <a:ext cx="137160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b="1">
              <a:solidFill>
                <a:srgbClr val="002060"/>
              </a:solidFill>
            </a:endParaRPr>
          </a:p>
        </p:txBody>
      </p:sp>
      <p:sp>
        <p:nvSpPr>
          <p:cNvPr id="15" name="Rectangle 9">
            <a:extLst>
              <a:ext uri="{FF2B5EF4-FFF2-40B4-BE49-F238E27FC236}">
                <a16:creationId xmlns:a16="http://schemas.microsoft.com/office/drawing/2014/main" id="{F3F4912E-494F-1646-EA4A-5CAF0C98D45A}"/>
              </a:ext>
            </a:extLst>
          </p:cNvPr>
          <p:cNvSpPr>
            <a:spLocks noChangeArrowheads="1"/>
          </p:cNvSpPr>
          <p:nvPr/>
        </p:nvSpPr>
        <p:spPr bwMode="auto">
          <a:xfrm>
            <a:off x="1310640" y="9184640"/>
            <a:ext cx="15697200" cy="12192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b="1">
                <a:solidFill>
                  <a:srgbClr val="002060"/>
                </a:solidFill>
                <a:cs typeface="Arial" panose="020B0604020202020204" pitchFamily="34" charset="0"/>
              </a:rPr>
              <a:t>→ m mang hình thái chuyển hoá là lợi nhuận </a:t>
            </a:r>
          </a:p>
        </p:txBody>
      </p:sp>
      <p:sp>
        <p:nvSpPr>
          <p:cNvPr id="16" name="Rectangle 10">
            <a:extLst>
              <a:ext uri="{FF2B5EF4-FFF2-40B4-BE49-F238E27FC236}">
                <a16:creationId xmlns:a16="http://schemas.microsoft.com/office/drawing/2014/main" id="{0DD9038D-B395-5809-7C8E-85F398719E15}"/>
              </a:ext>
            </a:extLst>
          </p:cNvPr>
          <p:cNvSpPr>
            <a:spLocks noChangeArrowheads="1"/>
          </p:cNvSpPr>
          <p:nvPr/>
        </p:nvSpPr>
        <p:spPr bwMode="auto">
          <a:xfrm>
            <a:off x="1615440" y="11318240"/>
            <a:ext cx="3962400" cy="10668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6400" b="1">
                <a:solidFill>
                  <a:srgbClr val="002060"/>
                </a:solidFill>
                <a:cs typeface="Arial" panose="020B0604020202020204" pitchFamily="34" charset="0"/>
              </a:rPr>
              <a:t>ký hiệu: p</a:t>
            </a:r>
          </a:p>
        </p:txBody>
      </p:sp>
      <p:sp>
        <p:nvSpPr>
          <p:cNvPr id="17" name="Rectangle 11">
            <a:extLst>
              <a:ext uri="{FF2B5EF4-FFF2-40B4-BE49-F238E27FC236}">
                <a16:creationId xmlns:a16="http://schemas.microsoft.com/office/drawing/2014/main" id="{58FA9416-0F29-63B0-4AEB-D438469929B3}"/>
              </a:ext>
            </a:extLst>
          </p:cNvPr>
          <p:cNvSpPr>
            <a:spLocks noChangeArrowheads="1"/>
          </p:cNvSpPr>
          <p:nvPr/>
        </p:nvSpPr>
        <p:spPr bwMode="auto">
          <a:xfrm>
            <a:off x="5730240" y="11318240"/>
            <a:ext cx="5791200" cy="10668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6400" b="1">
                <a:solidFill>
                  <a:srgbClr val="002060"/>
                </a:solidFill>
                <a:cs typeface="Arial" panose="020B0604020202020204" pitchFamily="34" charset="0"/>
              </a:rPr>
              <a:t>Gt H² = k + p</a:t>
            </a:r>
          </a:p>
        </p:txBody>
      </p:sp>
      <p:sp>
        <p:nvSpPr>
          <p:cNvPr id="4" name="Hộp Văn bản 3">
            <a:extLst>
              <a:ext uri="{FF2B5EF4-FFF2-40B4-BE49-F238E27FC236}">
                <a16:creationId xmlns:a16="http://schemas.microsoft.com/office/drawing/2014/main" id="{82B7BF0D-9647-03A3-8711-69BFB4DED86F}"/>
              </a:ext>
            </a:extLst>
          </p:cNvPr>
          <p:cNvSpPr txBox="1"/>
          <p:nvPr/>
        </p:nvSpPr>
        <p:spPr>
          <a:xfrm>
            <a:off x="2355575" y="10170904"/>
            <a:ext cx="1495922" cy="830997"/>
          </a:xfrm>
          <a:prstGeom prst="rect">
            <a:avLst/>
          </a:prstGeom>
          <a:noFill/>
        </p:spPr>
        <p:txBody>
          <a:bodyPr wrap="none" rtlCol="0">
            <a:spAutoFit/>
          </a:bodyPr>
          <a:lstStyle/>
          <a:p>
            <a:r>
              <a:rPr lang="en-US">
                <a:solidFill>
                  <a:srgbClr val="C00000"/>
                </a:solidFill>
              </a:rPr>
              <a:t>p-&gt;m</a:t>
            </a:r>
          </a:p>
        </p:txBody>
      </p:sp>
    </p:spTree>
    <p:extLst>
      <p:ext uri="{BB962C8B-B14F-4D97-AF65-F5344CB8AC3E}">
        <p14:creationId xmlns:p14="http://schemas.microsoft.com/office/powerpoint/2010/main" val="2671720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childTnLst>
                                </p:cTn>
                              </p:par>
                              <p:par>
                                <p:cTn id="18" presetID="13" presetClass="entr" presetSubtype="16"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plus(in)">
                                      <p:cBhvr>
                                        <p:cTn id="20" dur="10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000"/>
                                        <p:tgtEl>
                                          <p:spTgt spid="14"/>
                                        </p:tgtEl>
                                      </p:cBhvr>
                                    </p:animEffect>
                                  </p:childTnLst>
                                </p:cTn>
                              </p:par>
                              <p:par>
                                <p:cTn id="26" presetID="13" presetClass="entr" presetSubtype="16"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plus(in)">
                                      <p:cBhvr>
                                        <p:cTn id="28" dur="10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iterate type="lt">
                                    <p:tmPct val="5000"/>
                                  </p:iterate>
                                  <p:childTnLst>
                                    <p:set>
                                      <p:cBhvr>
                                        <p:cTn id="32" dur="1" fill="hold">
                                          <p:stCondLst>
                                            <p:cond delay="0"/>
                                          </p:stCondLst>
                                        </p:cTn>
                                        <p:tgtEl>
                                          <p:spTgt spid="15"/>
                                        </p:tgtEl>
                                        <p:attrNameLst>
                                          <p:attrName>style.visibility</p:attrName>
                                        </p:attrNameLst>
                                      </p:cBhvr>
                                      <p:to>
                                        <p:strVal val="visible"/>
                                      </p:to>
                                    </p:set>
                                    <p:anim calcmode="lin" valueType="num">
                                      <p:cBhvr>
                                        <p:cTn id="33" dur="1000" fill="hold"/>
                                        <p:tgtEl>
                                          <p:spTgt spid="15"/>
                                        </p:tgtEl>
                                        <p:attrNameLst>
                                          <p:attrName>ppt_w</p:attrName>
                                        </p:attrNameLst>
                                      </p:cBhvr>
                                      <p:tavLst>
                                        <p:tav tm="0">
                                          <p:val>
                                            <p:fltVal val="0"/>
                                          </p:val>
                                        </p:tav>
                                        <p:tav tm="100000">
                                          <p:val>
                                            <p:strVal val="#ppt_w"/>
                                          </p:val>
                                        </p:tav>
                                      </p:tavLst>
                                    </p:anim>
                                    <p:anim calcmode="lin" valueType="num">
                                      <p:cBhvr>
                                        <p:cTn id="34" dur="1000" fill="hold"/>
                                        <p:tgtEl>
                                          <p:spTgt spid="15"/>
                                        </p:tgtEl>
                                        <p:attrNameLst>
                                          <p:attrName>ppt_h</p:attrName>
                                        </p:attrNameLst>
                                      </p:cBhvr>
                                      <p:tavLst>
                                        <p:tav tm="0">
                                          <p:val>
                                            <p:fltVal val="0"/>
                                          </p:val>
                                        </p:tav>
                                        <p:tav tm="100000">
                                          <p:val>
                                            <p:strVal val="#ppt_h"/>
                                          </p:val>
                                        </p:tav>
                                      </p:tavLst>
                                    </p:anim>
                                    <p:anim calcmode="lin" valueType="num">
                                      <p:cBhvr>
                                        <p:cTn id="35" dur="1000" fill="hold"/>
                                        <p:tgtEl>
                                          <p:spTgt spid="15"/>
                                        </p:tgtEl>
                                        <p:attrNameLst>
                                          <p:attrName>style.rotation</p:attrName>
                                        </p:attrNameLst>
                                      </p:cBhvr>
                                      <p:tavLst>
                                        <p:tav tm="0">
                                          <p:val>
                                            <p:fltVal val="90"/>
                                          </p:val>
                                        </p:tav>
                                        <p:tav tm="100000">
                                          <p:val>
                                            <p:fltVal val="0"/>
                                          </p:val>
                                        </p:tav>
                                      </p:tavLst>
                                    </p:anim>
                                    <p:animEffect transition="in" filter="fade">
                                      <p:cBhvr>
                                        <p:cTn id="36" dur="10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10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EBD3-65A5-4318-06D7-239E6026D1B7}"/>
              </a:ext>
            </a:extLst>
          </p:cNvPr>
          <p:cNvSpPr txBox="1">
            <a:spLocks/>
          </p:cNvSpPr>
          <p:nvPr/>
        </p:nvSpPr>
        <p:spPr>
          <a:xfrm>
            <a:off x="2633808" y="1305878"/>
            <a:ext cx="126546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2844800">
              <a:spcAft>
                <a:spcPct val="35000"/>
              </a:spcAft>
              <a:defRPr/>
            </a:pPr>
            <a:r>
              <a:rPr lang="en-US" sz="5600" b="1">
                <a:solidFill>
                  <a:srgbClr val="002060"/>
                </a:solidFill>
                <a:latin typeface="Aachen" panose="02020500000000000000" pitchFamily="18" charset="0"/>
                <a:ea typeface="Aachen" panose="02020500000000000000" pitchFamily="18" charset="0"/>
                <a:cs typeface="Aachen" panose="02020500000000000000" pitchFamily="18" charset="0"/>
              </a:rPr>
              <a:t>Lợi nhuận – biến tướng của m</a:t>
            </a:r>
          </a:p>
        </p:txBody>
      </p:sp>
      <p:sp>
        <p:nvSpPr>
          <p:cNvPr id="3" name="Rectangle 2">
            <a:extLst>
              <a:ext uri="{FF2B5EF4-FFF2-40B4-BE49-F238E27FC236}">
                <a16:creationId xmlns:a16="http://schemas.microsoft.com/office/drawing/2014/main" id="{C8BA2FE2-1789-C273-414A-5D4A1A22D2F6}"/>
              </a:ext>
            </a:extLst>
          </p:cNvPr>
          <p:cNvSpPr txBox="1">
            <a:spLocks noChangeArrowheads="1"/>
          </p:cNvSpPr>
          <p:nvPr/>
        </p:nvSpPr>
        <p:spPr bwMode="auto">
          <a:xfrm>
            <a:off x="993312" y="2936240"/>
            <a:ext cx="15392400" cy="1051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defRPr/>
            </a:pPr>
            <a:r>
              <a:rPr lang="en-US" altLang="en-US" sz="4800" dirty="0" err="1">
                <a:solidFill>
                  <a:srgbClr val="002060"/>
                </a:solidFill>
              </a:rPr>
              <a:t>Lợi</a:t>
            </a:r>
            <a:r>
              <a:rPr lang="en-US" altLang="en-US" sz="4800" dirty="0">
                <a:solidFill>
                  <a:srgbClr val="002060"/>
                </a:solidFill>
              </a:rPr>
              <a:t> </a:t>
            </a:r>
            <a:r>
              <a:rPr lang="en-US" altLang="en-US" sz="4800" dirty="0" err="1">
                <a:solidFill>
                  <a:srgbClr val="002060"/>
                </a:solidFill>
              </a:rPr>
              <a:t>nhuận</a:t>
            </a:r>
            <a:r>
              <a:rPr lang="en-US" altLang="en-US" sz="4800" dirty="0">
                <a:solidFill>
                  <a:srgbClr val="002060"/>
                </a:solidFill>
              </a:rPr>
              <a:t> </a:t>
            </a:r>
            <a:r>
              <a:rPr lang="en-US" altLang="en-US" sz="4800" dirty="0" err="1">
                <a:solidFill>
                  <a:srgbClr val="002060"/>
                </a:solidFill>
              </a:rPr>
              <a:t>che</a:t>
            </a:r>
            <a:r>
              <a:rPr lang="en-US" altLang="en-US" sz="4800" dirty="0">
                <a:solidFill>
                  <a:srgbClr val="002060"/>
                </a:solidFill>
              </a:rPr>
              <a:t> </a:t>
            </a:r>
            <a:r>
              <a:rPr lang="en-US" altLang="en-US" sz="4800" dirty="0" err="1">
                <a:solidFill>
                  <a:srgbClr val="002060"/>
                </a:solidFill>
              </a:rPr>
              <a:t>dấu</a:t>
            </a:r>
            <a:r>
              <a:rPr lang="en-US" altLang="en-US" sz="4800" dirty="0">
                <a:solidFill>
                  <a:srgbClr val="002060"/>
                </a:solidFill>
              </a:rPr>
              <a:t> </a:t>
            </a:r>
            <a:r>
              <a:rPr lang="en-US" altLang="en-US" sz="4800" dirty="0" err="1">
                <a:solidFill>
                  <a:srgbClr val="002060"/>
                </a:solidFill>
              </a:rPr>
              <a:t>quan</a:t>
            </a:r>
            <a:r>
              <a:rPr lang="en-US" altLang="en-US" sz="4800" dirty="0">
                <a:solidFill>
                  <a:srgbClr val="002060"/>
                </a:solidFill>
              </a:rPr>
              <a:t> </a:t>
            </a:r>
            <a:r>
              <a:rPr lang="en-US" altLang="en-US" sz="4800" dirty="0" err="1">
                <a:solidFill>
                  <a:srgbClr val="002060"/>
                </a:solidFill>
              </a:rPr>
              <a:t>hệ</a:t>
            </a:r>
            <a:r>
              <a:rPr lang="en-US" altLang="en-US" sz="4800" dirty="0">
                <a:solidFill>
                  <a:srgbClr val="002060"/>
                </a:solidFill>
              </a:rPr>
              <a:t> </a:t>
            </a:r>
            <a:r>
              <a:rPr lang="en-US" altLang="en-US" sz="4800" dirty="0" err="1">
                <a:solidFill>
                  <a:srgbClr val="002060"/>
                </a:solidFill>
              </a:rPr>
              <a:t>bóc</a:t>
            </a:r>
            <a:r>
              <a:rPr lang="en-US" altLang="en-US" sz="4800" dirty="0">
                <a:solidFill>
                  <a:srgbClr val="002060"/>
                </a:solidFill>
              </a:rPr>
              <a:t> </a:t>
            </a:r>
            <a:r>
              <a:rPr lang="en-US" altLang="en-US" sz="4800" dirty="0" err="1">
                <a:solidFill>
                  <a:srgbClr val="002060"/>
                </a:solidFill>
              </a:rPr>
              <a:t>lột</a:t>
            </a:r>
            <a:r>
              <a:rPr lang="en-US" altLang="en-US" sz="4800" dirty="0">
                <a:solidFill>
                  <a:srgbClr val="002060"/>
                </a:solidFill>
              </a:rPr>
              <a:t> TBCN:</a:t>
            </a:r>
          </a:p>
          <a:p>
            <a:pPr algn="just">
              <a:buFont typeface="Arial" panose="020B0604020202020204" pitchFamily="34" charset="0"/>
              <a:buChar char="•"/>
              <a:defRPr/>
            </a:pPr>
            <a:r>
              <a:rPr lang="en-US" altLang="en-US" sz="5600" b="0" dirty="0" err="1">
                <a:solidFill>
                  <a:srgbClr val="002060"/>
                </a:solidFill>
              </a:rPr>
              <a:t>Nó</a:t>
            </a:r>
            <a:r>
              <a:rPr lang="en-US" altLang="en-US" sz="5600" b="0" dirty="0">
                <a:solidFill>
                  <a:srgbClr val="002060"/>
                </a:solidFill>
              </a:rPr>
              <a:t> </a:t>
            </a:r>
            <a:r>
              <a:rPr lang="en-US" altLang="en-US" sz="5600" b="0" dirty="0" err="1">
                <a:solidFill>
                  <a:srgbClr val="002060"/>
                </a:solidFill>
              </a:rPr>
              <a:t>xóa</a:t>
            </a:r>
            <a:r>
              <a:rPr lang="en-US" altLang="en-US" sz="5600" b="0" dirty="0">
                <a:solidFill>
                  <a:srgbClr val="002060"/>
                </a:solidFill>
              </a:rPr>
              <a:t> </a:t>
            </a:r>
            <a:r>
              <a:rPr lang="en-US" altLang="en-US" sz="5600" b="0" dirty="0" err="1">
                <a:solidFill>
                  <a:srgbClr val="002060"/>
                </a:solidFill>
              </a:rPr>
              <a:t>nhoà</a:t>
            </a:r>
            <a:r>
              <a:rPr lang="en-US" altLang="en-US" sz="5600" b="0" dirty="0">
                <a:solidFill>
                  <a:srgbClr val="002060"/>
                </a:solidFill>
              </a:rPr>
              <a:t> </a:t>
            </a:r>
            <a:r>
              <a:rPr lang="en-US" altLang="en-US" sz="5600" b="0" dirty="0" err="1">
                <a:solidFill>
                  <a:srgbClr val="002060"/>
                </a:solidFill>
              </a:rPr>
              <a:t>sự</a:t>
            </a:r>
            <a:r>
              <a:rPr lang="en-US" altLang="en-US" sz="5600" b="0" dirty="0">
                <a:solidFill>
                  <a:srgbClr val="002060"/>
                </a:solidFill>
              </a:rPr>
              <a:t> </a:t>
            </a:r>
            <a:r>
              <a:rPr lang="en-US" altLang="en-US" sz="5600" b="0" dirty="0" err="1">
                <a:solidFill>
                  <a:srgbClr val="002060"/>
                </a:solidFill>
              </a:rPr>
              <a:t>khác</a:t>
            </a:r>
            <a:r>
              <a:rPr lang="en-US" altLang="en-US" sz="5600" b="0" dirty="0">
                <a:solidFill>
                  <a:srgbClr val="002060"/>
                </a:solidFill>
              </a:rPr>
              <a:t> </a:t>
            </a:r>
            <a:r>
              <a:rPr lang="en-US" altLang="en-US" sz="5600" b="0" dirty="0" err="1">
                <a:solidFill>
                  <a:srgbClr val="002060"/>
                </a:solidFill>
              </a:rPr>
              <a:t>nhau</a:t>
            </a:r>
            <a:r>
              <a:rPr lang="en-US" altLang="en-US" sz="5600" b="0" dirty="0">
                <a:solidFill>
                  <a:srgbClr val="002060"/>
                </a:solidFill>
              </a:rPr>
              <a:t> </a:t>
            </a:r>
            <a:r>
              <a:rPr lang="en-US" altLang="en-US" sz="5600" b="0" dirty="0" err="1">
                <a:solidFill>
                  <a:srgbClr val="002060"/>
                </a:solidFill>
              </a:rPr>
              <a:t>giữa</a:t>
            </a:r>
            <a:r>
              <a:rPr lang="en-US" altLang="en-US" sz="5600" b="0" dirty="0">
                <a:solidFill>
                  <a:srgbClr val="002060"/>
                </a:solidFill>
              </a:rPr>
              <a:t> c </a:t>
            </a:r>
            <a:r>
              <a:rPr lang="en-US" altLang="en-US" sz="5600" b="0" dirty="0" err="1">
                <a:solidFill>
                  <a:srgbClr val="002060"/>
                </a:solidFill>
              </a:rPr>
              <a:t>và</a:t>
            </a:r>
            <a:r>
              <a:rPr lang="en-US" altLang="en-US" sz="5600" b="0" dirty="0">
                <a:solidFill>
                  <a:srgbClr val="002060"/>
                </a:solidFill>
              </a:rPr>
              <a:t> v, </a:t>
            </a:r>
            <a:r>
              <a:rPr lang="en-US" altLang="en-US" sz="5600" b="0" dirty="0" err="1">
                <a:solidFill>
                  <a:srgbClr val="002060"/>
                </a:solidFill>
              </a:rPr>
              <a:t>một</a:t>
            </a:r>
            <a:r>
              <a:rPr lang="en-US" altLang="en-US" sz="5600" b="0" dirty="0">
                <a:solidFill>
                  <a:srgbClr val="002060"/>
                </a:solidFill>
              </a:rPr>
              <a:t> </a:t>
            </a:r>
            <a:r>
              <a:rPr lang="en-US" altLang="en-US" sz="5600" b="0" dirty="0" err="1">
                <a:solidFill>
                  <a:srgbClr val="002060"/>
                </a:solidFill>
              </a:rPr>
              <a:t>lần</a:t>
            </a:r>
            <a:r>
              <a:rPr lang="en-US" altLang="en-US" sz="5600" b="0" dirty="0">
                <a:solidFill>
                  <a:srgbClr val="002060"/>
                </a:solidFill>
              </a:rPr>
              <a:t> </a:t>
            </a:r>
            <a:r>
              <a:rPr lang="en-US" altLang="en-US" sz="5600" b="0" dirty="0" err="1">
                <a:solidFill>
                  <a:srgbClr val="002060"/>
                </a:solidFill>
              </a:rPr>
              <a:t>nữa</a:t>
            </a:r>
            <a:r>
              <a:rPr lang="en-US" altLang="en-US" sz="5600" b="0" dirty="0">
                <a:solidFill>
                  <a:srgbClr val="002060"/>
                </a:solidFill>
              </a:rPr>
              <a:t> </a:t>
            </a:r>
            <a:r>
              <a:rPr lang="en-US" altLang="en-US" sz="5600" b="0" dirty="0" err="1">
                <a:solidFill>
                  <a:srgbClr val="002060"/>
                </a:solidFill>
              </a:rPr>
              <a:t>che</a:t>
            </a:r>
            <a:r>
              <a:rPr lang="en-US" altLang="en-US" sz="5600" b="0" dirty="0">
                <a:solidFill>
                  <a:srgbClr val="002060"/>
                </a:solidFill>
              </a:rPr>
              <a:t> </a:t>
            </a:r>
            <a:r>
              <a:rPr lang="en-US" altLang="en-US" sz="5600" b="0" dirty="0" err="1">
                <a:solidFill>
                  <a:srgbClr val="002060"/>
                </a:solidFill>
              </a:rPr>
              <a:t>lấp</a:t>
            </a:r>
            <a:r>
              <a:rPr lang="en-US" altLang="en-US" sz="5600" b="0" dirty="0">
                <a:solidFill>
                  <a:srgbClr val="002060"/>
                </a:solidFill>
              </a:rPr>
              <a:t> </a:t>
            </a:r>
            <a:r>
              <a:rPr lang="en-US" altLang="en-US" sz="5600" b="0" dirty="0" err="1">
                <a:solidFill>
                  <a:srgbClr val="002060"/>
                </a:solidFill>
              </a:rPr>
              <a:t>nguồn</a:t>
            </a:r>
            <a:r>
              <a:rPr lang="en-US" altLang="en-US" sz="5600" b="0" dirty="0">
                <a:solidFill>
                  <a:srgbClr val="002060"/>
                </a:solidFill>
              </a:rPr>
              <a:t> </a:t>
            </a:r>
            <a:r>
              <a:rPr lang="en-US" altLang="en-US" sz="5600" b="0" dirty="0" err="1">
                <a:solidFill>
                  <a:srgbClr val="002060"/>
                </a:solidFill>
              </a:rPr>
              <a:t>gốc</a:t>
            </a:r>
            <a:r>
              <a:rPr lang="en-US" altLang="en-US" sz="5600" b="0" dirty="0">
                <a:solidFill>
                  <a:srgbClr val="002060"/>
                </a:solidFill>
              </a:rPr>
              <a:t> </a:t>
            </a:r>
            <a:r>
              <a:rPr lang="en-US" altLang="en-US" sz="5600" b="0" dirty="0" err="1">
                <a:solidFill>
                  <a:srgbClr val="002060"/>
                </a:solidFill>
              </a:rPr>
              <a:t>tạo</a:t>
            </a:r>
            <a:r>
              <a:rPr lang="en-US" altLang="en-US" sz="5600" b="0" dirty="0">
                <a:solidFill>
                  <a:srgbClr val="002060"/>
                </a:solidFill>
              </a:rPr>
              <a:t> ra m. </a:t>
            </a:r>
            <a:r>
              <a:rPr lang="en-US" altLang="en-US" sz="5600" b="0" dirty="0" err="1">
                <a:solidFill>
                  <a:srgbClr val="002060"/>
                </a:solidFill>
              </a:rPr>
              <a:t>Vì</a:t>
            </a:r>
            <a:r>
              <a:rPr lang="en-US" altLang="en-US" sz="5600" b="0" dirty="0">
                <a:solidFill>
                  <a:srgbClr val="002060"/>
                </a:solidFill>
              </a:rPr>
              <a:t> </a:t>
            </a:r>
            <a:r>
              <a:rPr lang="en-US" altLang="en-US" sz="5600" b="0" dirty="0" err="1">
                <a:solidFill>
                  <a:srgbClr val="002060"/>
                </a:solidFill>
              </a:rPr>
              <a:t>vậy</a:t>
            </a:r>
            <a:r>
              <a:rPr lang="en-US" altLang="en-US" sz="5600" b="0" dirty="0">
                <a:solidFill>
                  <a:srgbClr val="002060"/>
                </a:solidFill>
              </a:rPr>
              <a:t>, p </a:t>
            </a:r>
            <a:r>
              <a:rPr lang="en-US" altLang="en-US" sz="5600" b="0" dirty="0" err="1">
                <a:solidFill>
                  <a:srgbClr val="002060"/>
                </a:solidFill>
              </a:rPr>
              <a:t>là</a:t>
            </a:r>
            <a:r>
              <a:rPr lang="en-US" altLang="en-US" sz="5600" b="0" dirty="0">
                <a:solidFill>
                  <a:srgbClr val="002060"/>
                </a:solidFill>
              </a:rPr>
              <a:t> </a:t>
            </a:r>
            <a:r>
              <a:rPr lang="en-US" altLang="en-US" sz="5600" b="0" dirty="0" err="1">
                <a:solidFill>
                  <a:srgbClr val="002060"/>
                </a:solidFill>
              </a:rPr>
              <a:t>hình</a:t>
            </a:r>
            <a:r>
              <a:rPr lang="en-US" altLang="en-US" sz="5600" b="0" dirty="0">
                <a:solidFill>
                  <a:srgbClr val="002060"/>
                </a:solidFill>
              </a:rPr>
              <a:t> </a:t>
            </a:r>
            <a:r>
              <a:rPr lang="en-US" altLang="en-US" sz="5600" b="0" dirty="0" err="1">
                <a:solidFill>
                  <a:srgbClr val="002060"/>
                </a:solidFill>
              </a:rPr>
              <a:t>thái</a:t>
            </a:r>
            <a:r>
              <a:rPr lang="en-US" altLang="en-US" sz="5600" b="0" dirty="0">
                <a:solidFill>
                  <a:srgbClr val="002060"/>
                </a:solidFill>
              </a:rPr>
              <a:t> </a:t>
            </a:r>
            <a:r>
              <a:rPr lang="en-US" altLang="en-US" sz="5600" b="0" dirty="0" err="1">
                <a:solidFill>
                  <a:srgbClr val="002060"/>
                </a:solidFill>
              </a:rPr>
              <a:t>biến</a:t>
            </a:r>
            <a:r>
              <a:rPr lang="en-US" altLang="en-US" sz="5600" b="0" dirty="0">
                <a:solidFill>
                  <a:srgbClr val="002060"/>
                </a:solidFill>
              </a:rPr>
              <a:t> </a:t>
            </a:r>
            <a:r>
              <a:rPr lang="en-US" altLang="en-US" sz="5600" b="0" dirty="0" err="1">
                <a:solidFill>
                  <a:srgbClr val="002060"/>
                </a:solidFill>
              </a:rPr>
              <a:t>tướng</a:t>
            </a:r>
            <a:r>
              <a:rPr lang="en-US" altLang="en-US" sz="5600" b="0" dirty="0">
                <a:solidFill>
                  <a:srgbClr val="002060"/>
                </a:solidFill>
              </a:rPr>
              <a:t> </a:t>
            </a:r>
            <a:r>
              <a:rPr lang="en-US" altLang="en-US" sz="5600" b="0" dirty="0" err="1">
                <a:solidFill>
                  <a:srgbClr val="002060"/>
                </a:solidFill>
              </a:rPr>
              <a:t>bên</a:t>
            </a:r>
            <a:r>
              <a:rPr lang="en-US" altLang="en-US" sz="5600" b="0" dirty="0">
                <a:solidFill>
                  <a:srgbClr val="002060"/>
                </a:solidFill>
              </a:rPr>
              <a:t> </a:t>
            </a:r>
            <a:r>
              <a:rPr lang="en-US" altLang="en-US" sz="5600" b="0" dirty="0" err="1">
                <a:solidFill>
                  <a:srgbClr val="002060"/>
                </a:solidFill>
              </a:rPr>
              <a:t>ngoài</a:t>
            </a:r>
            <a:r>
              <a:rPr lang="en-US" altLang="en-US" sz="5600" b="0" dirty="0">
                <a:solidFill>
                  <a:srgbClr val="002060"/>
                </a:solidFill>
              </a:rPr>
              <a:t> </a:t>
            </a:r>
            <a:r>
              <a:rPr lang="en-US" altLang="en-US" sz="5600" b="0" dirty="0" err="1">
                <a:solidFill>
                  <a:srgbClr val="002060"/>
                </a:solidFill>
              </a:rPr>
              <a:t>của</a:t>
            </a:r>
            <a:r>
              <a:rPr lang="en-US" altLang="en-US" sz="5600" b="0" dirty="0">
                <a:solidFill>
                  <a:srgbClr val="002060"/>
                </a:solidFill>
              </a:rPr>
              <a:t> m</a:t>
            </a:r>
          </a:p>
          <a:p>
            <a:pPr algn="just">
              <a:buFont typeface="Arial" panose="020B0604020202020204" pitchFamily="34" charset="0"/>
              <a:buChar char="•"/>
              <a:defRPr/>
            </a:pPr>
            <a:r>
              <a:rPr lang="en-US" altLang="en-US" sz="5600" b="0" dirty="0" err="1">
                <a:solidFill>
                  <a:srgbClr val="002060"/>
                </a:solidFill>
              </a:rPr>
              <a:t>Dựa</a:t>
            </a:r>
            <a:r>
              <a:rPr lang="en-US" altLang="en-US" sz="5600" b="0" dirty="0">
                <a:solidFill>
                  <a:srgbClr val="002060"/>
                </a:solidFill>
              </a:rPr>
              <a:t> </a:t>
            </a:r>
            <a:r>
              <a:rPr lang="en-US" altLang="en-US" sz="5600" b="0" dirty="0" err="1">
                <a:solidFill>
                  <a:srgbClr val="002060"/>
                </a:solidFill>
              </a:rPr>
              <a:t>vào</a:t>
            </a:r>
            <a:r>
              <a:rPr lang="en-US" altLang="en-US" sz="5600" b="0" dirty="0">
                <a:solidFill>
                  <a:srgbClr val="002060"/>
                </a:solidFill>
              </a:rPr>
              <a:t> </a:t>
            </a:r>
            <a:r>
              <a:rPr lang="en-US" altLang="en-US" sz="5600" b="0" dirty="0" err="1">
                <a:solidFill>
                  <a:srgbClr val="002060"/>
                </a:solidFill>
              </a:rPr>
              <a:t>giá</a:t>
            </a:r>
            <a:r>
              <a:rPr lang="en-US" altLang="en-US" sz="5600" b="0" dirty="0">
                <a:solidFill>
                  <a:srgbClr val="002060"/>
                </a:solidFill>
              </a:rPr>
              <a:t> </a:t>
            </a:r>
            <a:r>
              <a:rPr lang="en-US" altLang="en-US" sz="5600" b="0" dirty="0" err="1">
                <a:solidFill>
                  <a:srgbClr val="002060"/>
                </a:solidFill>
              </a:rPr>
              <a:t>trị</a:t>
            </a:r>
            <a:r>
              <a:rPr lang="en-US" altLang="en-US" sz="5600" b="0" dirty="0">
                <a:solidFill>
                  <a:srgbClr val="002060"/>
                </a:solidFill>
              </a:rPr>
              <a:t> </a:t>
            </a:r>
            <a:r>
              <a:rPr lang="en-US" altLang="en-US" sz="5600" b="0" dirty="0" err="1">
                <a:solidFill>
                  <a:srgbClr val="002060"/>
                </a:solidFill>
              </a:rPr>
              <a:t>và</a:t>
            </a:r>
            <a:r>
              <a:rPr lang="en-US" altLang="en-US" sz="5600" b="0" dirty="0">
                <a:solidFill>
                  <a:srgbClr val="002060"/>
                </a:solidFill>
              </a:rPr>
              <a:t> </a:t>
            </a:r>
            <a:r>
              <a:rPr lang="en-US" altLang="en-US" sz="5600" b="0" dirty="0" err="1">
                <a:solidFill>
                  <a:srgbClr val="002060"/>
                </a:solidFill>
              </a:rPr>
              <a:t>giá</a:t>
            </a:r>
            <a:r>
              <a:rPr lang="en-US" altLang="en-US" sz="5600" b="0" dirty="0">
                <a:solidFill>
                  <a:srgbClr val="002060"/>
                </a:solidFill>
              </a:rPr>
              <a:t> </a:t>
            </a:r>
            <a:r>
              <a:rPr lang="en-US" altLang="en-US" sz="5600" b="0" dirty="0" err="1">
                <a:solidFill>
                  <a:srgbClr val="002060"/>
                </a:solidFill>
              </a:rPr>
              <a:t>cả</a:t>
            </a:r>
            <a:r>
              <a:rPr lang="en-US" altLang="en-US" sz="5600" b="0" dirty="0">
                <a:solidFill>
                  <a:srgbClr val="002060"/>
                </a:solidFill>
              </a:rPr>
              <a:t> </a:t>
            </a:r>
            <a:r>
              <a:rPr lang="en-US" altLang="en-US" sz="5600" b="0" dirty="0" err="1">
                <a:solidFill>
                  <a:srgbClr val="002060"/>
                </a:solidFill>
              </a:rPr>
              <a:t>để</a:t>
            </a:r>
            <a:r>
              <a:rPr lang="en-US" altLang="en-US" sz="5600" b="0" dirty="0">
                <a:solidFill>
                  <a:srgbClr val="002060"/>
                </a:solidFill>
              </a:rPr>
              <a:t> </a:t>
            </a:r>
            <a:r>
              <a:rPr lang="en-US" altLang="en-US" sz="5600" b="0" dirty="0" err="1">
                <a:solidFill>
                  <a:srgbClr val="002060"/>
                </a:solidFill>
              </a:rPr>
              <a:t>phân</a:t>
            </a:r>
            <a:r>
              <a:rPr lang="en-US" altLang="en-US" sz="5600" b="0" dirty="0">
                <a:solidFill>
                  <a:srgbClr val="002060"/>
                </a:solidFill>
              </a:rPr>
              <a:t> </a:t>
            </a:r>
            <a:r>
              <a:rPr lang="en-US" altLang="en-US" sz="5600" b="0" dirty="0" err="1">
                <a:solidFill>
                  <a:srgbClr val="002060"/>
                </a:solidFill>
              </a:rPr>
              <a:t>biệt</a:t>
            </a:r>
            <a:r>
              <a:rPr lang="en-US" altLang="en-US" sz="5600" b="0" dirty="0">
                <a:solidFill>
                  <a:srgbClr val="002060"/>
                </a:solidFill>
              </a:rPr>
              <a:t> m </a:t>
            </a:r>
            <a:r>
              <a:rPr lang="en-US" altLang="en-US" sz="5600" b="0" dirty="0" err="1">
                <a:solidFill>
                  <a:srgbClr val="002060"/>
                </a:solidFill>
              </a:rPr>
              <a:t>và</a:t>
            </a:r>
            <a:r>
              <a:rPr lang="en-US" altLang="en-US" sz="5600" b="0" dirty="0">
                <a:solidFill>
                  <a:srgbClr val="002060"/>
                </a:solidFill>
              </a:rPr>
              <a:t> p:</a:t>
            </a:r>
          </a:p>
        </p:txBody>
      </p:sp>
      <p:sp>
        <p:nvSpPr>
          <p:cNvPr id="6" name="Rectangle 3">
            <a:extLst>
              <a:ext uri="{FF2B5EF4-FFF2-40B4-BE49-F238E27FC236}">
                <a16:creationId xmlns:a16="http://schemas.microsoft.com/office/drawing/2014/main" id="{9FCFBA31-EC99-A1EF-34C7-477CA073A2CD}"/>
              </a:ext>
            </a:extLst>
          </p:cNvPr>
          <p:cNvSpPr>
            <a:spLocks noChangeArrowheads="1"/>
          </p:cNvSpPr>
          <p:nvPr/>
        </p:nvSpPr>
        <p:spPr bwMode="auto">
          <a:xfrm>
            <a:off x="2212512" y="9946640"/>
            <a:ext cx="3200400" cy="1066800"/>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6400">
                <a:solidFill>
                  <a:srgbClr val="002060"/>
                </a:solidFill>
                <a:cs typeface="Arial" panose="020B0604020202020204" pitchFamily="34" charset="0"/>
              </a:rPr>
              <a:t>p &gt; m</a:t>
            </a:r>
          </a:p>
        </p:txBody>
      </p:sp>
      <p:sp>
        <p:nvSpPr>
          <p:cNvPr id="7" name="Rectangle 4">
            <a:extLst>
              <a:ext uri="{FF2B5EF4-FFF2-40B4-BE49-F238E27FC236}">
                <a16:creationId xmlns:a16="http://schemas.microsoft.com/office/drawing/2014/main" id="{11D330FA-36F8-5F06-58E6-D8DD3D84F819}"/>
              </a:ext>
            </a:extLst>
          </p:cNvPr>
          <p:cNvSpPr>
            <a:spLocks noChangeArrowheads="1"/>
          </p:cNvSpPr>
          <p:nvPr/>
        </p:nvSpPr>
        <p:spPr bwMode="auto">
          <a:xfrm>
            <a:off x="6022512" y="8422640"/>
            <a:ext cx="16764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6400">
                <a:solidFill>
                  <a:srgbClr val="002060"/>
                </a:solidFill>
                <a:cs typeface="Arial" panose="020B0604020202020204" pitchFamily="34" charset="0"/>
              </a:rPr>
              <a:t>↔</a:t>
            </a:r>
          </a:p>
        </p:txBody>
      </p:sp>
      <p:sp>
        <p:nvSpPr>
          <p:cNvPr id="8" name="Rectangle 5">
            <a:extLst>
              <a:ext uri="{FF2B5EF4-FFF2-40B4-BE49-F238E27FC236}">
                <a16:creationId xmlns:a16="http://schemas.microsoft.com/office/drawing/2014/main" id="{C2E7F073-D7B5-3609-46FD-C143CAC1DDDE}"/>
              </a:ext>
            </a:extLst>
          </p:cNvPr>
          <p:cNvSpPr>
            <a:spLocks noChangeArrowheads="1"/>
          </p:cNvSpPr>
          <p:nvPr/>
        </p:nvSpPr>
        <p:spPr bwMode="auto">
          <a:xfrm>
            <a:off x="8613312" y="9794240"/>
            <a:ext cx="5943600" cy="12192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6400">
                <a:solidFill>
                  <a:srgbClr val="002060"/>
                </a:solidFill>
                <a:cs typeface="Arial" panose="020B0604020202020204" pitchFamily="34" charset="0"/>
              </a:rPr>
              <a:t>giá cả &gt; giá trị</a:t>
            </a:r>
          </a:p>
        </p:txBody>
      </p:sp>
      <p:sp>
        <p:nvSpPr>
          <p:cNvPr id="9" name="Rectangle 6">
            <a:extLst>
              <a:ext uri="{FF2B5EF4-FFF2-40B4-BE49-F238E27FC236}">
                <a16:creationId xmlns:a16="http://schemas.microsoft.com/office/drawing/2014/main" id="{DB210119-F79E-01CA-57CE-56E6EFA71E7F}"/>
              </a:ext>
            </a:extLst>
          </p:cNvPr>
          <p:cNvSpPr>
            <a:spLocks noChangeArrowheads="1"/>
          </p:cNvSpPr>
          <p:nvPr/>
        </p:nvSpPr>
        <p:spPr bwMode="auto">
          <a:xfrm>
            <a:off x="2212512" y="11623040"/>
            <a:ext cx="3200400" cy="914400"/>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6400">
                <a:solidFill>
                  <a:srgbClr val="002060"/>
                </a:solidFill>
                <a:cs typeface="Arial" panose="020B0604020202020204" pitchFamily="34" charset="0"/>
              </a:rPr>
              <a:t>p &lt; m</a:t>
            </a:r>
          </a:p>
        </p:txBody>
      </p:sp>
      <p:sp>
        <p:nvSpPr>
          <p:cNvPr id="10" name="Rectangle 7">
            <a:extLst>
              <a:ext uri="{FF2B5EF4-FFF2-40B4-BE49-F238E27FC236}">
                <a16:creationId xmlns:a16="http://schemas.microsoft.com/office/drawing/2014/main" id="{FBD9D5B7-C8DB-7FD9-FDC6-F05D1481BEA3}"/>
              </a:ext>
            </a:extLst>
          </p:cNvPr>
          <p:cNvSpPr>
            <a:spLocks noChangeArrowheads="1"/>
          </p:cNvSpPr>
          <p:nvPr/>
        </p:nvSpPr>
        <p:spPr bwMode="auto">
          <a:xfrm>
            <a:off x="6022512" y="9946640"/>
            <a:ext cx="16764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6400">
                <a:solidFill>
                  <a:srgbClr val="002060"/>
                </a:solidFill>
                <a:cs typeface="Arial" panose="020B0604020202020204" pitchFamily="34" charset="0"/>
              </a:rPr>
              <a:t>↔</a:t>
            </a:r>
          </a:p>
        </p:txBody>
      </p:sp>
      <p:sp>
        <p:nvSpPr>
          <p:cNvPr id="11" name="Rectangle 8">
            <a:extLst>
              <a:ext uri="{FF2B5EF4-FFF2-40B4-BE49-F238E27FC236}">
                <a16:creationId xmlns:a16="http://schemas.microsoft.com/office/drawing/2014/main" id="{6B9503B1-1A15-99D1-C085-8585D2108F63}"/>
              </a:ext>
            </a:extLst>
          </p:cNvPr>
          <p:cNvSpPr>
            <a:spLocks noChangeArrowheads="1"/>
          </p:cNvSpPr>
          <p:nvPr/>
        </p:nvSpPr>
        <p:spPr bwMode="auto">
          <a:xfrm>
            <a:off x="8613312" y="8270240"/>
            <a:ext cx="5943600" cy="12192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6400">
                <a:solidFill>
                  <a:srgbClr val="002060"/>
                </a:solidFill>
                <a:cs typeface="Arial" panose="020B0604020202020204" pitchFamily="34" charset="0"/>
              </a:rPr>
              <a:t>giá cả = giá trị</a:t>
            </a:r>
          </a:p>
        </p:txBody>
      </p:sp>
      <p:sp>
        <p:nvSpPr>
          <p:cNvPr id="12" name="Rectangle 9">
            <a:extLst>
              <a:ext uri="{FF2B5EF4-FFF2-40B4-BE49-F238E27FC236}">
                <a16:creationId xmlns:a16="http://schemas.microsoft.com/office/drawing/2014/main" id="{25B4ADDA-F3AC-8CAC-7BFC-905283CDFF5B}"/>
              </a:ext>
            </a:extLst>
          </p:cNvPr>
          <p:cNvSpPr>
            <a:spLocks noChangeArrowheads="1"/>
          </p:cNvSpPr>
          <p:nvPr/>
        </p:nvSpPr>
        <p:spPr bwMode="auto">
          <a:xfrm>
            <a:off x="8765712" y="11623040"/>
            <a:ext cx="7010400" cy="10668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6400">
                <a:solidFill>
                  <a:srgbClr val="002060"/>
                </a:solidFill>
                <a:cs typeface="Arial" panose="020B0604020202020204" pitchFamily="34" charset="0"/>
              </a:rPr>
              <a:t>k &lt; giá cả &lt; giá trị</a:t>
            </a:r>
          </a:p>
        </p:txBody>
      </p:sp>
      <p:sp>
        <p:nvSpPr>
          <p:cNvPr id="13" name="Rectangle 10">
            <a:extLst>
              <a:ext uri="{FF2B5EF4-FFF2-40B4-BE49-F238E27FC236}">
                <a16:creationId xmlns:a16="http://schemas.microsoft.com/office/drawing/2014/main" id="{019E8C4A-8C78-6B64-0E2C-5B9B4DD8B53E}"/>
              </a:ext>
            </a:extLst>
          </p:cNvPr>
          <p:cNvSpPr>
            <a:spLocks noChangeArrowheads="1"/>
          </p:cNvSpPr>
          <p:nvPr/>
        </p:nvSpPr>
        <p:spPr bwMode="auto">
          <a:xfrm>
            <a:off x="6022512" y="11623040"/>
            <a:ext cx="16764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6400">
                <a:solidFill>
                  <a:srgbClr val="002060"/>
                </a:solidFill>
                <a:cs typeface="Arial" panose="020B0604020202020204" pitchFamily="34" charset="0"/>
              </a:rPr>
              <a:t>↔</a:t>
            </a:r>
          </a:p>
        </p:txBody>
      </p:sp>
      <p:sp>
        <p:nvSpPr>
          <p:cNvPr id="14" name="Rectangle 11">
            <a:extLst>
              <a:ext uri="{FF2B5EF4-FFF2-40B4-BE49-F238E27FC236}">
                <a16:creationId xmlns:a16="http://schemas.microsoft.com/office/drawing/2014/main" id="{A96D1406-11E5-FE7D-4500-D2A7D01DAC27}"/>
              </a:ext>
            </a:extLst>
          </p:cNvPr>
          <p:cNvSpPr>
            <a:spLocks noChangeArrowheads="1"/>
          </p:cNvSpPr>
          <p:nvPr/>
        </p:nvSpPr>
        <p:spPr bwMode="auto">
          <a:xfrm>
            <a:off x="1907712" y="8422640"/>
            <a:ext cx="3810000" cy="1066800"/>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sz="6400">
                <a:solidFill>
                  <a:srgbClr val="002060"/>
                </a:solidFill>
                <a:cs typeface="Arial" panose="020B0604020202020204" pitchFamily="34" charset="0"/>
              </a:rPr>
              <a:t>p = m</a:t>
            </a:r>
          </a:p>
        </p:txBody>
      </p:sp>
    </p:spTree>
    <p:extLst>
      <p:ext uri="{BB962C8B-B14F-4D97-AF65-F5344CB8AC3E}">
        <p14:creationId xmlns:p14="http://schemas.microsoft.com/office/powerpoint/2010/main" val="200888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plus(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plus(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plus(in)">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2000"/>
                                        <p:tgtEl>
                                          <p:spTgt spid="7"/>
                                        </p:tgtEl>
                                      </p:cBhvr>
                                    </p:animEffect>
                                  </p:childTnLst>
                                </p:cTn>
                              </p:par>
                              <p:par>
                                <p:cTn id="26" presetID="13" presetClass="entr" presetSubtype="16"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plus(in)">
                                      <p:cBhvr>
                                        <p:cTn id="28" dur="2000"/>
                                        <p:tgtEl>
                                          <p:spTgt spid="14"/>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linds(horizontal)">
                                      <p:cBhvr>
                                        <p:cTn id="31" dur="500"/>
                                        <p:tgtEl>
                                          <p:spTgt spid="8"/>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linds(horizontal)">
                                      <p:cBhvr>
                                        <p:cTn id="34" dur="500"/>
                                        <p:tgtEl>
                                          <p:spTgt spid="10"/>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blinds(horizontal)">
                                      <p:cBhvr>
                                        <p:cTn id="40" dur="500"/>
                                        <p:tgtEl>
                                          <p:spTgt spid="12"/>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blinds(horizontal)">
                                      <p:cBhvr>
                                        <p:cTn id="43" dur="500"/>
                                        <p:tgtEl>
                                          <p:spTgt spid="13"/>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blinds(horizontal)">
                                      <p:cBhvr>
                                        <p:cTn id="4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81052E8-5A5C-61F9-7D12-18840BB98AB7}"/>
              </a:ext>
            </a:extLst>
          </p:cNvPr>
          <p:cNvSpPr txBox="1">
            <a:spLocks noChangeArrowheads="1"/>
          </p:cNvSpPr>
          <p:nvPr/>
        </p:nvSpPr>
        <p:spPr bwMode="auto">
          <a:xfrm>
            <a:off x="979715" y="3079024"/>
            <a:ext cx="16377558"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ct val="40000"/>
              </a:spcBef>
              <a:buNone/>
            </a:pPr>
            <a:r>
              <a:rPr lang="en-US" altLang="en-US" sz="4800" b="0" dirty="0">
                <a:solidFill>
                  <a:srgbClr val="002060"/>
                </a:solidFill>
              </a:rPr>
              <a:t>Cho GT = 5c + 3v + 2m = 10</a:t>
            </a:r>
          </a:p>
          <a:p>
            <a:pPr algn="just">
              <a:spcBef>
                <a:spcPct val="40000"/>
              </a:spcBef>
              <a:buFontTx/>
              <a:buChar char="-"/>
            </a:pPr>
            <a:r>
              <a:rPr lang="en-US" altLang="en-US" sz="4800" b="0" dirty="0" err="1">
                <a:solidFill>
                  <a:srgbClr val="002060"/>
                </a:solidFill>
              </a:rPr>
              <a:t>Nếu</a:t>
            </a:r>
            <a:r>
              <a:rPr lang="en-US" altLang="en-US" sz="4800" b="0" dirty="0">
                <a:solidFill>
                  <a:srgbClr val="002060"/>
                </a:solidFill>
              </a:rPr>
              <a:t> GC = GT = 10: </a:t>
            </a:r>
          </a:p>
          <a:p>
            <a:pPr marL="0" indent="0" algn="just">
              <a:spcBef>
                <a:spcPct val="40000"/>
              </a:spcBef>
              <a:buNone/>
            </a:pPr>
            <a:r>
              <a:rPr lang="en-US" altLang="en-US" sz="4800" b="0" dirty="0">
                <a:solidFill>
                  <a:srgbClr val="002060"/>
                </a:solidFill>
                <a:sym typeface="Wingdings" panose="05000000000000000000" pitchFamily="2" charset="2"/>
              </a:rPr>
              <a:t> </a:t>
            </a:r>
            <a:r>
              <a:rPr lang="en-US" altLang="en-US" sz="4800" b="0" dirty="0">
                <a:solidFill>
                  <a:srgbClr val="002060"/>
                </a:solidFill>
              </a:rPr>
              <a:t>p = m = 2</a:t>
            </a:r>
          </a:p>
          <a:p>
            <a:pPr algn="just">
              <a:spcBef>
                <a:spcPct val="40000"/>
              </a:spcBef>
              <a:buFontTx/>
              <a:buChar char="-"/>
            </a:pPr>
            <a:r>
              <a:rPr lang="en-US" altLang="en-US" sz="4800" b="0" dirty="0" err="1">
                <a:solidFill>
                  <a:srgbClr val="002060"/>
                </a:solidFill>
              </a:rPr>
              <a:t>Nếu</a:t>
            </a:r>
            <a:r>
              <a:rPr lang="en-US" altLang="en-US" sz="4800" b="0" dirty="0">
                <a:solidFill>
                  <a:srgbClr val="002060"/>
                </a:solidFill>
              </a:rPr>
              <a:t> GC &gt; GT (GC = 15): </a:t>
            </a:r>
          </a:p>
          <a:p>
            <a:pPr marL="0" indent="0" algn="just">
              <a:spcBef>
                <a:spcPct val="40000"/>
              </a:spcBef>
              <a:buNone/>
            </a:pPr>
            <a:r>
              <a:rPr lang="en-US" altLang="en-US" sz="4800" b="0" dirty="0">
                <a:solidFill>
                  <a:srgbClr val="002060"/>
                </a:solidFill>
                <a:sym typeface="Wingdings" panose="05000000000000000000" pitchFamily="2" charset="2"/>
              </a:rPr>
              <a:t> </a:t>
            </a:r>
            <a:r>
              <a:rPr lang="en-US" altLang="en-US" sz="4800" b="0" dirty="0">
                <a:solidFill>
                  <a:srgbClr val="002060"/>
                </a:solidFill>
              </a:rPr>
              <a:t>m = 2, p = 7 </a:t>
            </a:r>
            <a:r>
              <a:rPr lang="en-US" altLang="en-US" sz="4800" b="0" dirty="0">
                <a:solidFill>
                  <a:srgbClr val="002060"/>
                </a:solidFill>
                <a:sym typeface="Wingdings" panose="05000000000000000000" pitchFamily="2" charset="2"/>
              </a:rPr>
              <a:t> p &gt; m</a:t>
            </a:r>
          </a:p>
          <a:p>
            <a:pPr algn="just">
              <a:spcBef>
                <a:spcPct val="40000"/>
              </a:spcBef>
              <a:buFontTx/>
              <a:buChar char="-"/>
            </a:pPr>
            <a:r>
              <a:rPr lang="en-US" altLang="en-US" sz="4800" b="0" dirty="0" err="1">
                <a:solidFill>
                  <a:srgbClr val="002060"/>
                </a:solidFill>
                <a:sym typeface="Wingdings" panose="05000000000000000000" pitchFamily="2" charset="2"/>
              </a:rPr>
              <a:t>Nếu</a:t>
            </a:r>
            <a:r>
              <a:rPr lang="en-US" altLang="en-US" sz="4800" b="0" dirty="0">
                <a:solidFill>
                  <a:srgbClr val="002060"/>
                </a:solidFill>
                <a:sym typeface="Wingdings" panose="05000000000000000000" pitchFamily="2" charset="2"/>
              </a:rPr>
              <a:t> GC &lt; GT (GC = 9): </a:t>
            </a:r>
          </a:p>
          <a:p>
            <a:pPr marL="0" indent="0" algn="just">
              <a:spcBef>
                <a:spcPct val="40000"/>
              </a:spcBef>
              <a:buNone/>
            </a:pPr>
            <a:r>
              <a:rPr lang="en-US" altLang="en-US" sz="4800" b="0" dirty="0">
                <a:solidFill>
                  <a:srgbClr val="002060"/>
                </a:solidFill>
                <a:sym typeface="Wingdings" panose="05000000000000000000" pitchFamily="2" charset="2"/>
              </a:rPr>
              <a:t> m = 2, p = 1  p &lt; m</a:t>
            </a:r>
          </a:p>
          <a:p>
            <a:pPr marL="0" indent="0" algn="just">
              <a:spcBef>
                <a:spcPct val="40000"/>
              </a:spcBef>
              <a:buNone/>
            </a:pPr>
            <a:r>
              <a:rPr lang="en-US" altLang="en-US" sz="4800" b="0" dirty="0" err="1">
                <a:solidFill>
                  <a:srgbClr val="002060"/>
                </a:solidFill>
                <a:sym typeface="Wingdings" panose="05000000000000000000" pitchFamily="2" charset="2"/>
              </a:rPr>
              <a:t>Tóm</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lại</a:t>
            </a:r>
            <a:r>
              <a:rPr lang="en-US" altLang="en-US" sz="4800" b="0" dirty="0">
                <a:solidFill>
                  <a:srgbClr val="002060"/>
                </a:solidFill>
                <a:sym typeface="Wingdings" panose="05000000000000000000" pitchFamily="2" charset="2"/>
              </a:rPr>
              <a:t>: m = 2  p = 2; p = 7; p = 1</a:t>
            </a:r>
          </a:p>
          <a:p>
            <a:pPr marL="0" indent="0" algn="just">
              <a:spcBef>
                <a:spcPct val="40000"/>
              </a:spcBef>
              <a:buNone/>
            </a:pP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Sự</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thay</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đổi</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của</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giá</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cả</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xoay</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quanh</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giá</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trị</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làm</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cho</a:t>
            </a:r>
            <a:r>
              <a:rPr lang="en-US" altLang="en-US" sz="4800" b="0" dirty="0">
                <a:solidFill>
                  <a:srgbClr val="002060"/>
                </a:solidFill>
                <a:sym typeface="Wingdings" panose="05000000000000000000" pitchFamily="2" charset="2"/>
              </a:rPr>
              <a:t> p </a:t>
            </a:r>
            <a:r>
              <a:rPr lang="en-US" altLang="en-US" sz="4800" b="0" dirty="0" err="1">
                <a:solidFill>
                  <a:srgbClr val="002060"/>
                </a:solidFill>
                <a:sym typeface="Wingdings" panose="05000000000000000000" pitchFamily="2" charset="2"/>
              </a:rPr>
              <a:t>biến</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thiên</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xoay</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quanh</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giá</a:t>
            </a:r>
            <a:r>
              <a:rPr lang="en-US" altLang="en-US" sz="4800" b="0" dirty="0">
                <a:solidFill>
                  <a:srgbClr val="002060"/>
                </a:solidFill>
                <a:sym typeface="Wingdings" panose="05000000000000000000" pitchFamily="2" charset="2"/>
              </a:rPr>
              <a:t> </a:t>
            </a:r>
            <a:r>
              <a:rPr lang="en-US" altLang="en-US" sz="4800" b="0" dirty="0" err="1">
                <a:solidFill>
                  <a:srgbClr val="002060"/>
                </a:solidFill>
                <a:sym typeface="Wingdings" panose="05000000000000000000" pitchFamily="2" charset="2"/>
              </a:rPr>
              <a:t>trị</a:t>
            </a:r>
            <a:r>
              <a:rPr lang="en-US" altLang="en-US" sz="4800" b="0" dirty="0">
                <a:solidFill>
                  <a:srgbClr val="002060"/>
                </a:solidFill>
              </a:rPr>
              <a:t> </a:t>
            </a:r>
            <a:r>
              <a:rPr lang="en-US" altLang="en-US" sz="4800" b="0" dirty="0" err="1">
                <a:solidFill>
                  <a:srgbClr val="002060"/>
                </a:solidFill>
              </a:rPr>
              <a:t>thặng</a:t>
            </a:r>
            <a:r>
              <a:rPr lang="en-US" altLang="en-US" sz="4800" b="0" dirty="0">
                <a:solidFill>
                  <a:srgbClr val="002060"/>
                </a:solidFill>
              </a:rPr>
              <a:t> </a:t>
            </a:r>
            <a:r>
              <a:rPr lang="en-US" altLang="en-US" sz="4800" b="0" dirty="0" err="1">
                <a:solidFill>
                  <a:srgbClr val="002060"/>
                </a:solidFill>
              </a:rPr>
              <a:t>dư</a:t>
            </a:r>
            <a:endParaRPr lang="en-US" altLang="en-US" sz="4800" b="0" dirty="0">
              <a:solidFill>
                <a:srgbClr val="FF0000"/>
              </a:solidFill>
            </a:endParaRPr>
          </a:p>
        </p:txBody>
      </p:sp>
      <p:sp>
        <p:nvSpPr>
          <p:cNvPr id="3" name="Rectangle 2">
            <a:extLst>
              <a:ext uri="{FF2B5EF4-FFF2-40B4-BE49-F238E27FC236}">
                <a16:creationId xmlns:a16="http://schemas.microsoft.com/office/drawing/2014/main" id="{D5433E3D-8839-B302-540B-C27CB4488A90}"/>
              </a:ext>
            </a:extLst>
          </p:cNvPr>
          <p:cNvSpPr txBox="1">
            <a:spLocks noChangeArrowheads="1"/>
          </p:cNvSpPr>
          <p:nvPr/>
        </p:nvSpPr>
        <p:spPr>
          <a:xfrm>
            <a:off x="3197688" y="1473200"/>
            <a:ext cx="118926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5600" b="1" dirty="0">
                <a:solidFill>
                  <a:srgbClr val="002060"/>
                </a:solidFill>
                <a:latin typeface="Times New Roman" panose="02020603050405020304" pitchFamily="18" charset="0"/>
                <a:cs typeface="Times New Roman" panose="02020603050405020304" pitchFamily="18" charset="0"/>
              </a:rPr>
              <a:t>VÍ DỤ VỀ PHÂN BIỆT p </a:t>
            </a:r>
            <a:r>
              <a:rPr lang="en-US" altLang="en-US" sz="5600" b="1" dirty="0" err="1">
                <a:solidFill>
                  <a:srgbClr val="002060"/>
                </a:solidFill>
                <a:latin typeface="Times New Roman" panose="02020603050405020304" pitchFamily="18" charset="0"/>
                <a:cs typeface="Times New Roman" panose="02020603050405020304" pitchFamily="18" charset="0"/>
              </a:rPr>
              <a:t>và</a:t>
            </a:r>
            <a:r>
              <a:rPr lang="en-US" altLang="en-US" sz="5600" b="1" dirty="0">
                <a:solidFill>
                  <a:srgbClr val="002060"/>
                </a:solidFill>
                <a:latin typeface="Times New Roman" panose="02020603050405020304" pitchFamily="18" charset="0"/>
                <a:cs typeface="Times New Roman" panose="02020603050405020304" pitchFamily="18" charset="0"/>
              </a:rPr>
              <a:t> m</a:t>
            </a:r>
          </a:p>
        </p:txBody>
      </p:sp>
    </p:spTree>
    <p:extLst>
      <p:ext uri="{BB962C8B-B14F-4D97-AF65-F5344CB8AC3E}">
        <p14:creationId xmlns:p14="http://schemas.microsoft.com/office/powerpoint/2010/main" val="404424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iterate type="lt">
                                    <p:tmPct val="5000"/>
                                  </p:iterate>
                                  <p:childTnLst>
                                    <p:set>
                                      <p:cBhvr>
                                        <p:cTn id="14" dur="1" fill="hold">
                                          <p:stCondLst>
                                            <p:cond delay="0"/>
                                          </p:stCondLst>
                                        </p:cTn>
                                        <p:tgtEl>
                                          <p:spTgt spid="2">
                                            <p:txEl>
                                              <p:pRg st="1" end="1"/>
                                            </p:txEl>
                                          </p:spTgt>
                                        </p:tgtEl>
                                        <p:attrNameLst>
                                          <p:attrName>style.visibility</p:attrName>
                                        </p:attrNameLst>
                                      </p:cBhvr>
                                      <p:to>
                                        <p:strVal val="visible"/>
                                      </p:to>
                                    </p:set>
                                    <p:anim calcmode="lin" valueType="num">
                                      <p:cBhvr>
                                        <p:cTn id="15" dur="10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2">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2">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iterate type="lt">
                                    <p:tmPct val="5000"/>
                                  </p:iterate>
                                  <p:childTnLst>
                                    <p:set>
                                      <p:cBhvr>
                                        <p:cTn id="22" dur="1" fill="hold">
                                          <p:stCondLst>
                                            <p:cond delay="0"/>
                                          </p:stCondLst>
                                        </p:cTn>
                                        <p:tgtEl>
                                          <p:spTgt spid="2">
                                            <p:txEl>
                                              <p:pRg st="2" end="2"/>
                                            </p:txEl>
                                          </p:spTgt>
                                        </p:tgtEl>
                                        <p:attrNameLst>
                                          <p:attrName>style.visibility</p:attrName>
                                        </p:attrNameLst>
                                      </p:cBhvr>
                                      <p:to>
                                        <p:strVal val="visible"/>
                                      </p:to>
                                    </p:set>
                                    <p:anim calcmode="lin" valueType="num">
                                      <p:cBhvr>
                                        <p:cTn id="23" dur="10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2">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2">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2">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iterate type="lt">
                                    <p:tmPct val="5000"/>
                                  </p:iterate>
                                  <p:childTnLst>
                                    <p:set>
                                      <p:cBhvr>
                                        <p:cTn id="30" dur="1" fill="hold">
                                          <p:stCondLst>
                                            <p:cond delay="0"/>
                                          </p:stCondLst>
                                        </p:cTn>
                                        <p:tgtEl>
                                          <p:spTgt spid="2">
                                            <p:txEl>
                                              <p:pRg st="3" end="3"/>
                                            </p:txEl>
                                          </p:spTgt>
                                        </p:tgtEl>
                                        <p:attrNameLst>
                                          <p:attrName>style.visibility</p:attrName>
                                        </p:attrNameLst>
                                      </p:cBhvr>
                                      <p:to>
                                        <p:strVal val="visible"/>
                                      </p:to>
                                    </p:set>
                                    <p:anim calcmode="lin" valueType="num">
                                      <p:cBhvr>
                                        <p:cTn id="31" dur="1000" fill="hold"/>
                                        <p:tgtEl>
                                          <p:spTgt spid="2">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2">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2">
                                            <p:txEl>
                                              <p:pRg st="3" end="3"/>
                                            </p:txEl>
                                          </p:spTgt>
                                        </p:tgtEl>
                                        <p:attrNameLst>
                                          <p:attrName>style.rotation</p:attrName>
                                        </p:attrNameLst>
                                      </p:cBhvr>
                                      <p:tavLst>
                                        <p:tav tm="0">
                                          <p:val>
                                            <p:fltVal val="90"/>
                                          </p:val>
                                        </p:tav>
                                        <p:tav tm="100000">
                                          <p:val>
                                            <p:fltVal val="0"/>
                                          </p:val>
                                        </p:tav>
                                      </p:tavLst>
                                    </p:anim>
                                    <p:animEffect transition="in" filter="fade">
                                      <p:cBhvr>
                                        <p:cTn id="34" dur="1000"/>
                                        <p:tgtEl>
                                          <p:spTgt spid="2">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iterate type="lt">
                                    <p:tmPct val="5000"/>
                                  </p:iterate>
                                  <p:childTnLst>
                                    <p:set>
                                      <p:cBhvr>
                                        <p:cTn id="38" dur="1" fill="hold">
                                          <p:stCondLst>
                                            <p:cond delay="0"/>
                                          </p:stCondLst>
                                        </p:cTn>
                                        <p:tgtEl>
                                          <p:spTgt spid="2">
                                            <p:txEl>
                                              <p:pRg st="4" end="4"/>
                                            </p:txEl>
                                          </p:spTgt>
                                        </p:tgtEl>
                                        <p:attrNameLst>
                                          <p:attrName>style.visibility</p:attrName>
                                        </p:attrNameLst>
                                      </p:cBhvr>
                                      <p:to>
                                        <p:strVal val="visible"/>
                                      </p:to>
                                    </p:set>
                                    <p:anim calcmode="lin" valueType="num">
                                      <p:cBhvr>
                                        <p:cTn id="39" dur="1000" fill="hold"/>
                                        <p:tgtEl>
                                          <p:spTgt spid="2">
                                            <p:txEl>
                                              <p:pRg st="4" end="4"/>
                                            </p:txEl>
                                          </p:spTgt>
                                        </p:tgtEl>
                                        <p:attrNameLst>
                                          <p:attrName>ppt_w</p:attrName>
                                        </p:attrNameLst>
                                      </p:cBhvr>
                                      <p:tavLst>
                                        <p:tav tm="0">
                                          <p:val>
                                            <p:fltVal val="0"/>
                                          </p:val>
                                        </p:tav>
                                        <p:tav tm="100000">
                                          <p:val>
                                            <p:strVal val="#ppt_w"/>
                                          </p:val>
                                        </p:tav>
                                      </p:tavLst>
                                    </p:anim>
                                    <p:anim calcmode="lin" valueType="num">
                                      <p:cBhvr>
                                        <p:cTn id="40" dur="1000" fill="hold"/>
                                        <p:tgtEl>
                                          <p:spTgt spid="2">
                                            <p:txEl>
                                              <p:pRg st="4" end="4"/>
                                            </p:txEl>
                                          </p:spTgt>
                                        </p:tgtEl>
                                        <p:attrNameLst>
                                          <p:attrName>ppt_h</p:attrName>
                                        </p:attrNameLst>
                                      </p:cBhvr>
                                      <p:tavLst>
                                        <p:tav tm="0">
                                          <p:val>
                                            <p:fltVal val="0"/>
                                          </p:val>
                                        </p:tav>
                                        <p:tav tm="100000">
                                          <p:val>
                                            <p:strVal val="#ppt_h"/>
                                          </p:val>
                                        </p:tav>
                                      </p:tavLst>
                                    </p:anim>
                                    <p:anim calcmode="lin" valueType="num">
                                      <p:cBhvr>
                                        <p:cTn id="41" dur="1000" fill="hold"/>
                                        <p:tgtEl>
                                          <p:spTgt spid="2">
                                            <p:txEl>
                                              <p:pRg st="4" end="4"/>
                                            </p:txEl>
                                          </p:spTgt>
                                        </p:tgtEl>
                                        <p:attrNameLst>
                                          <p:attrName>style.rotation</p:attrName>
                                        </p:attrNameLst>
                                      </p:cBhvr>
                                      <p:tavLst>
                                        <p:tav tm="0">
                                          <p:val>
                                            <p:fltVal val="90"/>
                                          </p:val>
                                        </p:tav>
                                        <p:tav tm="100000">
                                          <p:val>
                                            <p:fltVal val="0"/>
                                          </p:val>
                                        </p:tav>
                                      </p:tavLst>
                                    </p:anim>
                                    <p:animEffect transition="in" filter="fade">
                                      <p:cBhvr>
                                        <p:cTn id="42" dur="1000"/>
                                        <p:tgtEl>
                                          <p:spTgt spid="2">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iterate type="lt">
                                    <p:tmPct val="5000"/>
                                  </p:iterate>
                                  <p:childTnLst>
                                    <p:set>
                                      <p:cBhvr>
                                        <p:cTn id="46" dur="1" fill="hold">
                                          <p:stCondLst>
                                            <p:cond delay="0"/>
                                          </p:stCondLst>
                                        </p:cTn>
                                        <p:tgtEl>
                                          <p:spTgt spid="2">
                                            <p:txEl>
                                              <p:pRg st="5" end="5"/>
                                            </p:txEl>
                                          </p:spTgt>
                                        </p:tgtEl>
                                        <p:attrNameLst>
                                          <p:attrName>style.visibility</p:attrName>
                                        </p:attrNameLst>
                                      </p:cBhvr>
                                      <p:to>
                                        <p:strVal val="visible"/>
                                      </p:to>
                                    </p:set>
                                    <p:anim calcmode="lin" valueType="num">
                                      <p:cBhvr>
                                        <p:cTn id="47" dur="1000" fill="hold"/>
                                        <p:tgtEl>
                                          <p:spTgt spid="2">
                                            <p:txEl>
                                              <p:pRg st="5" end="5"/>
                                            </p:txEl>
                                          </p:spTgt>
                                        </p:tgtEl>
                                        <p:attrNameLst>
                                          <p:attrName>ppt_w</p:attrName>
                                        </p:attrNameLst>
                                      </p:cBhvr>
                                      <p:tavLst>
                                        <p:tav tm="0">
                                          <p:val>
                                            <p:fltVal val="0"/>
                                          </p:val>
                                        </p:tav>
                                        <p:tav tm="100000">
                                          <p:val>
                                            <p:strVal val="#ppt_w"/>
                                          </p:val>
                                        </p:tav>
                                      </p:tavLst>
                                    </p:anim>
                                    <p:anim calcmode="lin" valueType="num">
                                      <p:cBhvr>
                                        <p:cTn id="48" dur="1000" fill="hold"/>
                                        <p:tgtEl>
                                          <p:spTgt spid="2">
                                            <p:txEl>
                                              <p:pRg st="5" end="5"/>
                                            </p:txEl>
                                          </p:spTgt>
                                        </p:tgtEl>
                                        <p:attrNameLst>
                                          <p:attrName>ppt_h</p:attrName>
                                        </p:attrNameLst>
                                      </p:cBhvr>
                                      <p:tavLst>
                                        <p:tav tm="0">
                                          <p:val>
                                            <p:fltVal val="0"/>
                                          </p:val>
                                        </p:tav>
                                        <p:tav tm="100000">
                                          <p:val>
                                            <p:strVal val="#ppt_h"/>
                                          </p:val>
                                        </p:tav>
                                      </p:tavLst>
                                    </p:anim>
                                    <p:anim calcmode="lin" valueType="num">
                                      <p:cBhvr>
                                        <p:cTn id="49" dur="1000" fill="hold"/>
                                        <p:tgtEl>
                                          <p:spTgt spid="2">
                                            <p:txEl>
                                              <p:pRg st="5" end="5"/>
                                            </p:txEl>
                                          </p:spTgt>
                                        </p:tgtEl>
                                        <p:attrNameLst>
                                          <p:attrName>style.rotation</p:attrName>
                                        </p:attrNameLst>
                                      </p:cBhvr>
                                      <p:tavLst>
                                        <p:tav tm="0">
                                          <p:val>
                                            <p:fltVal val="90"/>
                                          </p:val>
                                        </p:tav>
                                        <p:tav tm="100000">
                                          <p:val>
                                            <p:fltVal val="0"/>
                                          </p:val>
                                        </p:tav>
                                      </p:tavLst>
                                    </p:anim>
                                    <p:animEffect transition="in" filter="fade">
                                      <p:cBhvr>
                                        <p:cTn id="50" dur="1000"/>
                                        <p:tgtEl>
                                          <p:spTgt spid="2">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nodeType="clickEffect">
                                  <p:stCondLst>
                                    <p:cond delay="0"/>
                                  </p:stCondLst>
                                  <p:iterate type="lt">
                                    <p:tmPct val="5000"/>
                                  </p:iterate>
                                  <p:childTnLst>
                                    <p:set>
                                      <p:cBhvr>
                                        <p:cTn id="54" dur="1" fill="hold">
                                          <p:stCondLst>
                                            <p:cond delay="0"/>
                                          </p:stCondLst>
                                        </p:cTn>
                                        <p:tgtEl>
                                          <p:spTgt spid="2">
                                            <p:txEl>
                                              <p:pRg st="6" end="6"/>
                                            </p:txEl>
                                          </p:spTgt>
                                        </p:tgtEl>
                                        <p:attrNameLst>
                                          <p:attrName>style.visibility</p:attrName>
                                        </p:attrNameLst>
                                      </p:cBhvr>
                                      <p:to>
                                        <p:strVal val="visible"/>
                                      </p:to>
                                    </p:set>
                                    <p:anim calcmode="lin" valueType="num">
                                      <p:cBhvr>
                                        <p:cTn id="55" dur="1000" fill="hold"/>
                                        <p:tgtEl>
                                          <p:spTgt spid="2">
                                            <p:txEl>
                                              <p:pRg st="6" end="6"/>
                                            </p:txEl>
                                          </p:spTgt>
                                        </p:tgtEl>
                                        <p:attrNameLst>
                                          <p:attrName>ppt_w</p:attrName>
                                        </p:attrNameLst>
                                      </p:cBhvr>
                                      <p:tavLst>
                                        <p:tav tm="0">
                                          <p:val>
                                            <p:fltVal val="0"/>
                                          </p:val>
                                        </p:tav>
                                        <p:tav tm="100000">
                                          <p:val>
                                            <p:strVal val="#ppt_w"/>
                                          </p:val>
                                        </p:tav>
                                      </p:tavLst>
                                    </p:anim>
                                    <p:anim calcmode="lin" valueType="num">
                                      <p:cBhvr>
                                        <p:cTn id="56" dur="1000" fill="hold"/>
                                        <p:tgtEl>
                                          <p:spTgt spid="2">
                                            <p:txEl>
                                              <p:pRg st="6" end="6"/>
                                            </p:txEl>
                                          </p:spTgt>
                                        </p:tgtEl>
                                        <p:attrNameLst>
                                          <p:attrName>ppt_h</p:attrName>
                                        </p:attrNameLst>
                                      </p:cBhvr>
                                      <p:tavLst>
                                        <p:tav tm="0">
                                          <p:val>
                                            <p:fltVal val="0"/>
                                          </p:val>
                                        </p:tav>
                                        <p:tav tm="100000">
                                          <p:val>
                                            <p:strVal val="#ppt_h"/>
                                          </p:val>
                                        </p:tav>
                                      </p:tavLst>
                                    </p:anim>
                                    <p:anim calcmode="lin" valueType="num">
                                      <p:cBhvr>
                                        <p:cTn id="57" dur="1000" fill="hold"/>
                                        <p:tgtEl>
                                          <p:spTgt spid="2">
                                            <p:txEl>
                                              <p:pRg st="6" end="6"/>
                                            </p:txEl>
                                          </p:spTgt>
                                        </p:tgtEl>
                                        <p:attrNameLst>
                                          <p:attrName>style.rotation</p:attrName>
                                        </p:attrNameLst>
                                      </p:cBhvr>
                                      <p:tavLst>
                                        <p:tav tm="0">
                                          <p:val>
                                            <p:fltVal val="90"/>
                                          </p:val>
                                        </p:tav>
                                        <p:tav tm="100000">
                                          <p:val>
                                            <p:fltVal val="0"/>
                                          </p:val>
                                        </p:tav>
                                      </p:tavLst>
                                    </p:anim>
                                    <p:animEffect transition="in" filter="fade">
                                      <p:cBhvr>
                                        <p:cTn id="58" dur="1000"/>
                                        <p:tgtEl>
                                          <p:spTgt spid="2">
                                            <p:txEl>
                                              <p:pRg st="6" end="6"/>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nodeType="clickEffect">
                                  <p:stCondLst>
                                    <p:cond delay="0"/>
                                  </p:stCondLst>
                                  <p:iterate type="lt">
                                    <p:tmPct val="5000"/>
                                  </p:iterate>
                                  <p:childTnLst>
                                    <p:set>
                                      <p:cBhvr>
                                        <p:cTn id="62" dur="1" fill="hold">
                                          <p:stCondLst>
                                            <p:cond delay="0"/>
                                          </p:stCondLst>
                                        </p:cTn>
                                        <p:tgtEl>
                                          <p:spTgt spid="2">
                                            <p:txEl>
                                              <p:pRg st="7" end="7"/>
                                            </p:txEl>
                                          </p:spTgt>
                                        </p:tgtEl>
                                        <p:attrNameLst>
                                          <p:attrName>style.visibility</p:attrName>
                                        </p:attrNameLst>
                                      </p:cBhvr>
                                      <p:to>
                                        <p:strVal val="visible"/>
                                      </p:to>
                                    </p:set>
                                    <p:anim calcmode="lin" valueType="num">
                                      <p:cBhvr>
                                        <p:cTn id="63" dur="1000" fill="hold"/>
                                        <p:tgtEl>
                                          <p:spTgt spid="2">
                                            <p:txEl>
                                              <p:pRg st="7" end="7"/>
                                            </p:txEl>
                                          </p:spTgt>
                                        </p:tgtEl>
                                        <p:attrNameLst>
                                          <p:attrName>ppt_w</p:attrName>
                                        </p:attrNameLst>
                                      </p:cBhvr>
                                      <p:tavLst>
                                        <p:tav tm="0">
                                          <p:val>
                                            <p:fltVal val="0"/>
                                          </p:val>
                                        </p:tav>
                                        <p:tav tm="100000">
                                          <p:val>
                                            <p:strVal val="#ppt_w"/>
                                          </p:val>
                                        </p:tav>
                                      </p:tavLst>
                                    </p:anim>
                                    <p:anim calcmode="lin" valueType="num">
                                      <p:cBhvr>
                                        <p:cTn id="64" dur="1000" fill="hold"/>
                                        <p:tgtEl>
                                          <p:spTgt spid="2">
                                            <p:txEl>
                                              <p:pRg st="7" end="7"/>
                                            </p:txEl>
                                          </p:spTgt>
                                        </p:tgtEl>
                                        <p:attrNameLst>
                                          <p:attrName>ppt_h</p:attrName>
                                        </p:attrNameLst>
                                      </p:cBhvr>
                                      <p:tavLst>
                                        <p:tav tm="0">
                                          <p:val>
                                            <p:fltVal val="0"/>
                                          </p:val>
                                        </p:tav>
                                        <p:tav tm="100000">
                                          <p:val>
                                            <p:strVal val="#ppt_h"/>
                                          </p:val>
                                        </p:tav>
                                      </p:tavLst>
                                    </p:anim>
                                    <p:anim calcmode="lin" valueType="num">
                                      <p:cBhvr>
                                        <p:cTn id="65" dur="1000" fill="hold"/>
                                        <p:tgtEl>
                                          <p:spTgt spid="2">
                                            <p:txEl>
                                              <p:pRg st="7" end="7"/>
                                            </p:txEl>
                                          </p:spTgt>
                                        </p:tgtEl>
                                        <p:attrNameLst>
                                          <p:attrName>style.rotation</p:attrName>
                                        </p:attrNameLst>
                                      </p:cBhvr>
                                      <p:tavLst>
                                        <p:tav tm="0">
                                          <p:val>
                                            <p:fltVal val="90"/>
                                          </p:val>
                                        </p:tav>
                                        <p:tav tm="100000">
                                          <p:val>
                                            <p:fltVal val="0"/>
                                          </p:val>
                                        </p:tav>
                                      </p:tavLst>
                                    </p:anim>
                                    <p:animEffect transition="in" filter="fade">
                                      <p:cBhvr>
                                        <p:cTn id="66" dur="1000"/>
                                        <p:tgtEl>
                                          <p:spTgt spid="2">
                                            <p:txEl>
                                              <p:pRg st="7" end="7"/>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nodeType="clickEffect">
                                  <p:stCondLst>
                                    <p:cond delay="0"/>
                                  </p:stCondLst>
                                  <p:iterate type="lt">
                                    <p:tmPct val="5000"/>
                                  </p:iterate>
                                  <p:childTnLst>
                                    <p:set>
                                      <p:cBhvr>
                                        <p:cTn id="70" dur="1" fill="hold">
                                          <p:stCondLst>
                                            <p:cond delay="0"/>
                                          </p:stCondLst>
                                        </p:cTn>
                                        <p:tgtEl>
                                          <p:spTgt spid="2">
                                            <p:txEl>
                                              <p:pRg st="8" end="8"/>
                                            </p:txEl>
                                          </p:spTgt>
                                        </p:tgtEl>
                                        <p:attrNameLst>
                                          <p:attrName>style.visibility</p:attrName>
                                        </p:attrNameLst>
                                      </p:cBhvr>
                                      <p:to>
                                        <p:strVal val="visible"/>
                                      </p:to>
                                    </p:set>
                                    <p:anim calcmode="lin" valueType="num">
                                      <p:cBhvr>
                                        <p:cTn id="71" dur="1000" fill="hold"/>
                                        <p:tgtEl>
                                          <p:spTgt spid="2">
                                            <p:txEl>
                                              <p:pRg st="8" end="8"/>
                                            </p:txEl>
                                          </p:spTgt>
                                        </p:tgtEl>
                                        <p:attrNameLst>
                                          <p:attrName>ppt_w</p:attrName>
                                        </p:attrNameLst>
                                      </p:cBhvr>
                                      <p:tavLst>
                                        <p:tav tm="0">
                                          <p:val>
                                            <p:fltVal val="0"/>
                                          </p:val>
                                        </p:tav>
                                        <p:tav tm="100000">
                                          <p:val>
                                            <p:strVal val="#ppt_w"/>
                                          </p:val>
                                        </p:tav>
                                      </p:tavLst>
                                    </p:anim>
                                    <p:anim calcmode="lin" valueType="num">
                                      <p:cBhvr>
                                        <p:cTn id="72" dur="1000" fill="hold"/>
                                        <p:tgtEl>
                                          <p:spTgt spid="2">
                                            <p:txEl>
                                              <p:pRg st="8" end="8"/>
                                            </p:txEl>
                                          </p:spTgt>
                                        </p:tgtEl>
                                        <p:attrNameLst>
                                          <p:attrName>ppt_h</p:attrName>
                                        </p:attrNameLst>
                                      </p:cBhvr>
                                      <p:tavLst>
                                        <p:tav tm="0">
                                          <p:val>
                                            <p:fltVal val="0"/>
                                          </p:val>
                                        </p:tav>
                                        <p:tav tm="100000">
                                          <p:val>
                                            <p:strVal val="#ppt_h"/>
                                          </p:val>
                                        </p:tav>
                                      </p:tavLst>
                                    </p:anim>
                                    <p:anim calcmode="lin" valueType="num">
                                      <p:cBhvr>
                                        <p:cTn id="73" dur="1000" fill="hold"/>
                                        <p:tgtEl>
                                          <p:spTgt spid="2">
                                            <p:txEl>
                                              <p:pRg st="8" end="8"/>
                                            </p:txEl>
                                          </p:spTgt>
                                        </p:tgtEl>
                                        <p:attrNameLst>
                                          <p:attrName>style.rotation</p:attrName>
                                        </p:attrNameLst>
                                      </p:cBhvr>
                                      <p:tavLst>
                                        <p:tav tm="0">
                                          <p:val>
                                            <p:fltVal val="90"/>
                                          </p:val>
                                        </p:tav>
                                        <p:tav tm="100000">
                                          <p:val>
                                            <p:fltVal val="0"/>
                                          </p:val>
                                        </p:tav>
                                      </p:tavLst>
                                    </p:anim>
                                    <p:animEffect transition="in" filter="fade">
                                      <p:cBhvr>
                                        <p:cTn id="74" dur="10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F6C2B5-45B3-23D7-99C1-8460E4CC561B}"/>
              </a:ext>
            </a:extLst>
          </p:cNvPr>
          <p:cNvSpPr txBox="1">
            <a:spLocks/>
          </p:cNvSpPr>
          <p:nvPr/>
        </p:nvSpPr>
        <p:spPr>
          <a:xfrm>
            <a:off x="2920656" y="1493520"/>
            <a:ext cx="126546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2844800">
              <a:spcAft>
                <a:spcPct val="35000"/>
              </a:spcAft>
              <a:defRPr/>
            </a:pPr>
            <a:r>
              <a:rPr lang="en-US" sz="5600" b="1">
                <a:solidFill>
                  <a:srgbClr val="002060"/>
                </a:solidFill>
                <a:latin typeface="Aachen" panose="02020500000000000000" pitchFamily="18" charset="0"/>
                <a:ea typeface="Aachen" panose="02020500000000000000" pitchFamily="18" charset="0"/>
                <a:cs typeface="Aachen" panose="02020500000000000000" pitchFamily="18" charset="0"/>
              </a:rPr>
              <a:t>Tỷ suất lợi nhuận</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90B41BE-594E-98A9-553A-40E34284D276}"/>
                  </a:ext>
                </a:extLst>
              </p:cNvPr>
              <p:cNvSpPr/>
              <p:nvPr/>
            </p:nvSpPr>
            <p:spPr>
              <a:xfrm>
                <a:off x="1828800" y="3474721"/>
                <a:ext cx="14478000" cy="7338676"/>
              </a:xfrm>
              <a:prstGeom prst="rect">
                <a:avLst/>
              </a:prstGeom>
            </p:spPr>
            <p:txBody>
              <a:bodyPr wrap="square">
                <a:spAutoFit/>
              </a:bodyPr>
              <a:lstStyle/>
              <a:p>
                <a:pPr algn="just">
                  <a:lnSpc>
                    <a:spcPct val="150000"/>
                  </a:lnSpc>
                </a:pPr>
                <a:r>
                  <a:rPr lang="en-US" altLang="en-US" sz="5600" b="1" dirty="0" err="1">
                    <a:solidFill>
                      <a:srgbClr val="002060"/>
                    </a:solidFill>
                    <a:sym typeface="Wingdings" panose="05000000000000000000" pitchFamily="2" charset="2"/>
                  </a:rPr>
                  <a:t>Tỷ</a:t>
                </a:r>
                <a:r>
                  <a:rPr lang="en-US" altLang="en-US" sz="5600" b="1" dirty="0">
                    <a:solidFill>
                      <a:srgbClr val="002060"/>
                    </a:solidFill>
                    <a:sym typeface="Wingdings" panose="05000000000000000000" pitchFamily="2" charset="2"/>
                  </a:rPr>
                  <a:t> </a:t>
                </a:r>
                <a:r>
                  <a:rPr lang="en-US" altLang="en-US" sz="5600" b="1" dirty="0" err="1">
                    <a:solidFill>
                      <a:srgbClr val="002060"/>
                    </a:solidFill>
                    <a:sym typeface="Wingdings" panose="05000000000000000000" pitchFamily="2" charset="2"/>
                  </a:rPr>
                  <a:t>suất</a:t>
                </a:r>
                <a:r>
                  <a:rPr lang="en-US" altLang="en-US" sz="5600" b="1" dirty="0">
                    <a:solidFill>
                      <a:srgbClr val="002060"/>
                    </a:solidFill>
                    <a:sym typeface="Wingdings" panose="05000000000000000000" pitchFamily="2" charset="2"/>
                  </a:rPr>
                  <a:t> </a:t>
                </a:r>
                <a:r>
                  <a:rPr lang="en-US" altLang="en-US" sz="5600" b="1" dirty="0" err="1">
                    <a:solidFill>
                      <a:srgbClr val="002060"/>
                    </a:solidFill>
                    <a:sym typeface="Wingdings" panose="05000000000000000000" pitchFamily="2" charset="2"/>
                  </a:rPr>
                  <a:t>lợi</a:t>
                </a:r>
                <a:r>
                  <a:rPr lang="en-US" altLang="en-US" sz="5600" b="1" dirty="0">
                    <a:solidFill>
                      <a:srgbClr val="002060"/>
                    </a:solidFill>
                    <a:sym typeface="Wingdings" panose="05000000000000000000" pitchFamily="2" charset="2"/>
                  </a:rPr>
                  <a:t> </a:t>
                </a:r>
                <a:r>
                  <a:rPr lang="en-US" altLang="en-US" sz="5600" b="1" dirty="0" err="1">
                    <a:solidFill>
                      <a:srgbClr val="002060"/>
                    </a:solidFill>
                    <a:sym typeface="Wingdings" panose="05000000000000000000" pitchFamily="2" charset="2"/>
                  </a:rPr>
                  <a:t>nhuận</a:t>
                </a:r>
                <a:r>
                  <a:rPr lang="en-US" altLang="en-US" sz="5600" b="1" dirty="0">
                    <a:solidFill>
                      <a:srgbClr val="002060"/>
                    </a:solidFill>
                    <a:sym typeface="Wingdings" panose="05000000000000000000" pitchFamily="2" charset="2"/>
                  </a:rPr>
                  <a:t> (p)</a:t>
                </a:r>
                <a:r>
                  <a:rPr lang="vi-VN" altLang="en-US" sz="5600" b="1" dirty="0">
                    <a:solidFill>
                      <a:srgbClr val="002060"/>
                    </a:solidFill>
                    <a:sym typeface="Wingdings" panose="05000000000000000000" pitchFamily="2" charset="2"/>
                  </a:rPr>
                  <a:t>:</a:t>
                </a:r>
                <a:endParaRPr lang="en-US" altLang="en-US" sz="5600" b="1" dirty="0">
                  <a:solidFill>
                    <a:srgbClr val="002060"/>
                  </a:solidFill>
                  <a:sym typeface="Wingdings" panose="05000000000000000000" pitchFamily="2" charset="2"/>
                </a:endParaRPr>
              </a:p>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en-US" sz="5600" i="1">
                              <a:solidFill>
                                <a:srgbClr val="002060"/>
                              </a:solidFill>
                              <a:latin typeface="Cambria Math" panose="02040503050406030204" pitchFamily="18" charset="0"/>
                              <a:sym typeface="Wingdings" panose="05000000000000000000" pitchFamily="2" charset="2"/>
                            </a:rPr>
                          </m:ctrlPr>
                        </m:sSupPr>
                        <m:e>
                          <m:r>
                            <a:rPr lang="en-US" altLang="en-US" sz="5600" i="1">
                              <a:solidFill>
                                <a:srgbClr val="002060"/>
                              </a:solidFill>
                              <a:latin typeface="Cambria Math" panose="02040503050406030204" pitchFamily="18" charset="0"/>
                              <a:sym typeface="Wingdings" panose="05000000000000000000" pitchFamily="2" charset="2"/>
                            </a:rPr>
                            <m:t>𝑝</m:t>
                          </m:r>
                        </m:e>
                        <m:sup>
                          <m:r>
                            <a:rPr lang="en-US" altLang="en-US" sz="5600" i="1">
                              <a:solidFill>
                                <a:srgbClr val="002060"/>
                              </a:solidFill>
                              <a:latin typeface="Cambria Math" panose="02040503050406030204" pitchFamily="18" charset="0"/>
                              <a:sym typeface="Wingdings" panose="05000000000000000000" pitchFamily="2" charset="2"/>
                            </a:rPr>
                            <m:t>′</m:t>
                          </m:r>
                        </m:sup>
                      </m:sSup>
                      <m:r>
                        <a:rPr lang="en-US" altLang="en-US" sz="5600" i="1">
                          <a:solidFill>
                            <a:srgbClr val="002060"/>
                          </a:solidFill>
                          <a:latin typeface="Cambria Math" panose="02040503050406030204" pitchFamily="18" charset="0"/>
                          <a:sym typeface="Wingdings" panose="05000000000000000000" pitchFamily="2" charset="2"/>
                        </a:rPr>
                        <m:t>=</m:t>
                      </m:r>
                      <m:f>
                        <m:fPr>
                          <m:ctrlPr>
                            <a:rPr lang="en-US" altLang="en-US" sz="5600" i="1">
                              <a:solidFill>
                                <a:srgbClr val="002060"/>
                              </a:solidFill>
                              <a:latin typeface="Cambria Math" panose="02040503050406030204" pitchFamily="18" charset="0"/>
                              <a:sym typeface="Wingdings" panose="05000000000000000000" pitchFamily="2" charset="2"/>
                            </a:rPr>
                          </m:ctrlPr>
                        </m:fPr>
                        <m:num>
                          <m:r>
                            <a:rPr lang="en-US" altLang="en-US" sz="5600" i="1">
                              <a:solidFill>
                                <a:srgbClr val="002060"/>
                              </a:solidFill>
                              <a:latin typeface="Cambria Math" panose="02040503050406030204" pitchFamily="18" charset="0"/>
                              <a:sym typeface="Wingdings" panose="05000000000000000000" pitchFamily="2" charset="2"/>
                            </a:rPr>
                            <m:t>𝑚</m:t>
                          </m:r>
                        </m:num>
                        <m:den>
                          <m:r>
                            <a:rPr lang="en-US" altLang="en-US" sz="5600" i="1">
                              <a:solidFill>
                                <a:srgbClr val="002060"/>
                              </a:solidFill>
                              <a:latin typeface="Cambria Math" panose="02040503050406030204" pitchFamily="18" charset="0"/>
                              <a:sym typeface="Wingdings" panose="05000000000000000000" pitchFamily="2" charset="2"/>
                            </a:rPr>
                            <m:t>𝑐</m:t>
                          </m:r>
                          <m:r>
                            <a:rPr lang="en-US" altLang="en-US" sz="5600" i="1">
                              <a:solidFill>
                                <a:srgbClr val="002060"/>
                              </a:solidFill>
                              <a:latin typeface="Cambria Math" panose="02040503050406030204" pitchFamily="18" charset="0"/>
                              <a:sym typeface="Wingdings" panose="05000000000000000000" pitchFamily="2" charset="2"/>
                            </a:rPr>
                            <m:t>+</m:t>
                          </m:r>
                          <m:r>
                            <a:rPr lang="en-US" altLang="en-US" sz="5600" i="1">
                              <a:solidFill>
                                <a:srgbClr val="002060"/>
                              </a:solidFill>
                              <a:latin typeface="Cambria Math" panose="02040503050406030204" pitchFamily="18" charset="0"/>
                              <a:sym typeface="Wingdings" panose="05000000000000000000" pitchFamily="2" charset="2"/>
                            </a:rPr>
                            <m:t>𝑣</m:t>
                          </m:r>
                        </m:den>
                      </m:f>
                      <m:r>
                        <a:rPr lang="en-US" altLang="en-US" sz="5600" i="1">
                          <a:solidFill>
                            <a:srgbClr val="002060"/>
                          </a:solidFill>
                          <a:latin typeface="Cambria Math" panose="02040503050406030204" pitchFamily="18" charset="0"/>
                          <a:ea typeface="Cambria Math" panose="02040503050406030204" pitchFamily="18" charset="0"/>
                          <a:sym typeface="Wingdings" panose="05000000000000000000" pitchFamily="2" charset="2"/>
                        </a:rPr>
                        <m:t>×100%</m:t>
                      </m:r>
                    </m:oMath>
                  </m:oMathPara>
                </a14:m>
                <a:endParaRPr lang="en-US" altLang="en-US" sz="5600" dirty="0">
                  <a:solidFill>
                    <a:srgbClr val="002060"/>
                  </a:solidFill>
                  <a:ea typeface="Cambria Math" panose="02040503050406030204" pitchFamily="18" charset="0"/>
                  <a:sym typeface="Wingdings" panose="05000000000000000000" pitchFamily="2" charset="2"/>
                </a:endParaRPr>
              </a:p>
              <a:p>
                <a:pPr algn="just">
                  <a:lnSpc>
                    <a:spcPct val="150000"/>
                  </a:lnSpc>
                </a:pPr>
                <a:r>
                  <a:rPr lang="vi-VN" altLang="en-US" sz="5600" dirty="0">
                    <a:solidFill>
                      <a:srgbClr val="002060"/>
                    </a:solidFill>
                    <a:sym typeface="Wingdings" panose="05000000000000000000" pitchFamily="2" charset="2"/>
                  </a:rPr>
                  <a:t>Phân biệt p’ </a:t>
                </a:r>
                <a:r>
                  <a:rPr lang="en-US" altLang="en-US" sz="5600" dirty="0" err="1">
                    <a:solidFill>
                      <a:srgbClr val="002060"/>
                    </a:solidFill>
                    <a:sym typeface="Wingdings" panose="05000000000000000000" pitchFamily="2" charset="2"/>
                  </a:rPr>
                  <a:t>và</a:t>
                </a:r>
                <a:r>
                  <a:rPr lang="en-US" altLang="en-US" sz="5600" dirty="0">
                    <a:solidFill>
                      <a:srgbClr val="002060"/>
                    </a:solidFill>
                    <a:sym typeface="Wingdings" panose="05000000000000000000" pitchFamily="2" charset="2"/>
                  </a:rPr>
                  <a:t> </a:t>
                </a:r>
                <a:r>
                  <a:rPr lang="vi-VN" altLang="en-US" sz="5600" dirty="0">
                    <a:solidFill>
                      <a:srgbClr val="002060"/>
                    </a:solidFill>
                    <a:sym typeface="Wingdings" panose="05000000000000000000" pitchFamily="2" charset="2"/>
                  </a:rPr>
                  <a:t>m’:</a:t>
                </a:r>
              </a:p>
              <a:p>
                <a:pPr algn="just">
                  <a:lnSpc>
                    <a:spcPct val="150000"/>
                  </a:lnSpc>
                </a:pPr>
                <a:r>
                  <a:rPr lang="vi-VN" altLang="en-US" sz="5600" dirty="0">
                    <a:solidFill>
                      <a:srgbClr val="002060"/>
                    </a:solidFill>
                    <a:sym typeface="Wingdings" panose="05000000000000000000" pitchFamily="2" charset="2"/>
                  </a:rPr>
                  <a:t>+ về mặt chất</a:t>
                </a:r>
                <a:r>
                  <a:rPr lang="en-US" altLang="en-US" sz="5600" dirty="0">
                    <a:solidFill>
                      <a:srgbClr val="002060"/>
                    </a:solidFill>
                    <a:sym typeface="Wingdings" panose="05000000000000000000" pitchFamily="2" charset="2"/>
                  </a:rPr>
                  <a:t>: </a:t>
                </a:r>
                <a:r>
                  <a:rPr lang="en-US" altLang="en-US" sz="5600" dirty="0" err="1">
                    <a:solidFill>
                      <a:srgbClr val="002060"/>
                    </a:solidFill>
                    <a:sym typeface="Wingdings" panose="05000000000000000000" pitchFamily="2" charset="2"/>
                  </a:rPr>
                  <a:t>hiệu</a:t>
                </a:r>
                <a:r>
                  <a:rPr lang="en-US" altLang="en-US" sz="5600" dirty="0">
                    <a:solidFill>
                      <a:srgbClr val="002060"/>
                    </a:solidFill>
                    <a:sym typeface="Wingdings" panose="05000000000000000000" pitchFamily="2" charset="2"/>
                  </a:rPr>
                  <a:t> </a:t>
                </a:r>
                <a:r>
                  <a:rPr lang="en-US" altLang="en-US" sz="5600" dirty="0" err="1">
                    <a:solidFill>
                      <a:srgbClr val="002060"/>
                    </a:solidFill>
                    <a:sym typeface="Wingdings" panose="05000000000000000000" pitchFamily="2" charset="2"/>
                  </a:rPr>
                  <a:t>suất</a:t>
                </a:r>
                <a:r>
                  <a:rPr lang="en-US" altLang="en-US" sz="5600" dirty="0">
                    <a:solidFill>
                      <a:srgbClr val="002060"/>
                    </a:solidFill>
                    <a:sym typeface="Wingdings" panose="05000000000000000000" pitchFamily="2" charset="2"/>
                  </a:rPr>
                  <a:t> </a:t>
                </a:r>
                <a:r>
                  <a:rPr lang="en-US" altLang="en-US" sz="5600" dirty="0" err="1">
                    <a:solidFill>
                      <a:srgbClr val="002060"/>
                    </a:solidFill>
                    <a:sym typeface="Wingdings" panose="05000000000000000000" pitchFamily="2" charset="2"/>
                  </a:rPr>
                  <a:t>sinh</a:t>
                </a:r>
                <a:r>
                  <a:rPr lang="en-US" altLang="en-US" sz="5600" dirty="0">
                    <a:solidFill>
                      <a:srgbClr val="002060"/>
                    </a:solidFill>
                    <a:sym typeface="Wingdings" panose="05000000000000000000" pitchFamily="2" charset="2"/>
                  </a:rPr>
                  <a:t> </a:t>
                </a:r>
                <a:r>
                  <a:rPr lang="en-US" altLang="en-US" sz="5600" dirty="0" err="1">
                    <a:solidFill>
                      <a:srgbClr val="002060"/>
                    </a:solidFill>
                    <a:sym typeface="Wingdings" panose="05000000000000000000" pitchFamily="2" charset="2"/>
                  </a:rPr>
                  <a:t>lời</a:t>
                </a:r>
                <a:r>
                  <a:rPr lang="en-US" altLang="en-US" sz="5600" dirty="0">
                    <a:solidFill>
                      <a:srgbClr val="002060"/>
                    </a:solidFill>
                    <a:sym typeface="Wingdings" panose="05000000000000000000" pitchFamily="2" charset="2"/>
                  </a:rPr>
                  <a:t> </a:t>
                </a:r>
                <a:r>
                  <a:rPr lang="en-US" altLang="en-US" sz="5600" dirty="0" err="1">
                    <a:solidFill>
                      <a:srgbClr val="002060"/>
                    </a:solidFill>
                    <a:sym typeface="Wingdings" panose="05000000000000000000" pitchFamily="2" charset="2"/>
                  </a:rPr>
                  <a:t>của</a:t>
                </a:r>
                <a:r>
                  <a:rPr lang="en-US" altLang="en-US" sz="5600" dirty="0">
                    <a:solidFill>
                      <a:srgbClr val="002060"/>
                    </a:solidFill>
                    <a:sym typeface="Wingdings" panose="05000000000000000000" pitchFamily="2" charset="2"/>
                  </a:rPr>
                  <a:t> </a:t>
                </a:r>
                <a:r>
                  <a:rPr lang="en-US" altLang="en-US" sz="5600" dirty="0" err="1">
                    <a:solidFill>
                      <a:srgbClr val="002060"/>
                    </a:solidFill>
                    <a:sym typeface="Wingdings" panose="05000000000000000000" pitchFamily="2" charset="2"/>
                  </a:rPr>
                  <a:t>vốn</a:t>
                </a:r>
                <a:endParaRPr lang="vi-VN" altLang="en-US" sz="5600" dirty="0">
                  <a:solidFill>
                    <a:srgbClr val="002060"/>
                  </a:solidFill>
                  <a:sym typeface="Wingdings" panose="05000000000000000000" pitchFamily="2" charset="2"/>
                </a:endParaRPr>
              </a:p>
              <a:p>
                <a:pPr algn="just">
                  <a:lnSpc>
                    <a:spcPct val="150000"/>
                  </a:lnSpc>
                </a:pPr>
                <a:r>
                  <a:rPr lang="vi-VN" altLang="en-US" sz="5600" dirty="0">
                    <a:solidFill>
                      <a:srgbClr val="002060"/>
                    </a:solidFill>
                    <a:sym typeface="Wingdings" panose="05000000000000000000" pitchFamily="2" charset="2"/>
                  </a:rPr>
                  <a:t>+ về mặt lượng: p’ &lt; m’</a:t>
                </a:r>
              </a:p>
            </p:txBody>
          </p:sp>
        </mc:Choice>
        <mc:Fallback xmlns="">
          <p:sp>
            <p:nvSpPr>
              <p:cNvPr id="5" name="Rectangle 4">
                <a:extLst>
                  <a:ext uri="{FF2B5EF4-FFF2-40B4-BE49-F238E27FC236}">
                    <a16:creationId xmlns:a16="http://schemas.microsoft.com/office/drawing/2014/main" id="{890B41BE-594E-98A9-553A-40E34284D276}"/>
                  </a:ext>
                </a:extLst>
              </p:cNvPr>
              <p:cNvSpPr>
                <a:spLocks noRot="1" noChangeAspect="1" noMove="1" noResize="1" noEditPoints="1" noAdjustHandles="1" noChangeArrowheads="1" noChangeShapeType="1" noTextEdit="1"/>
              </p:cNvSpPr>
              <p:nvPr/>
            </p:nvSpPr>
            <p:spPr>
              <a:xfrm>
                <a:off x="1828800" y="3474721"/>
                <a:ext cx="14478000" cy="7338676"/>
              </a:xfrm>
              <a:prstGeom prst="rect">
                <a:avLst/>
              </a:prstGeom>
              <a:blipFill>
                <a:blip r:embed="rId2"/>
                <a:stretch>
                  <a:fillRect l="-2316" b="-4319"/>
                </a:stretch>
              </a:blipFill>
            </p:spPr>
            <p:txBody>
              <a:bodyPr/>
              <a:lstStyle/>
              <a:p>
                <a:r>
                  <a:rPr lang="en-US">
                    <a:noFill/>
                  </a:rPr>
                  <a:t> </a:t>
                </a:r>
              </a:p>
            </p:txBody>
          </p:sp>
        </mc:Fallback>
      </mc:AlternateContent>
    </p:spTree>
    <p:extLst>
      <p:ext uri="{BB962C8B-B14F-4D97-AF65-F5344CB8AC3E}">
        <p14:creationId xmlns:p14="http://schemas.microsoft.com/office/powerpoint/2010/main" val="93535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down)">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B6E4B-1D2D-BEFD-ADD4-55027CE5D9EC}"/>
              </a:ext>
            </a:extLst>
          </p:cNvPr>
          <p:cNvSpPr txBox="1">
            <a:spLocks/>
          </p:cNvSpPr>
          <p:nvPr/>
        </p:nvSpPr>
        <p:spPr>
          <a:xfrm>
            <a:off x="2717456" y="1351280"/>
            <a:ext cx="12654624" cy="1127124"/>
          </a:xfrm>
          <a:prstGeom prst="rect">
            <a:avLst/>
          </a:prstGeom>
        </p:spPr>
        <p:txBody>
          <a:bodyPr vert="horz" lIns="182880" tIns="91440" rIns="182880" bIns="9144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2844800">
              <a:spcAft>
                <a:spcPct val="35000"/>
              </a:spcAft>
              <a:defRPr/>
            </a:pPr>
            <a:r>
              <a:rPr lang="en-US" sz="7200" b="1">
                <a:solidFill>
                  <a:srgbClr val="002060"/>
                </a:solidFill>
                <a:latin typeface="Aachen" panose="02020500000000000000" pitchFamily="18" charset="0"/>
                <a:ea typeface="Aachen" panose="02020500000000000000" pitchFamily="18" charset="0"/>
                <a:cs typeface="Aachen" panose="02020500000000000000" pitchFamily="18" charset="0"/>
              </a:rPr>
              <a:t>Nhân tố ảnh hướng đến tỷ suất lợi nhuận</a:t>
            </a:r>
          </a:p>
        </p:txBody>
      </p:sp>
      <p:sp>
        <p:nvSpPr>
          <p:cNvPr id="3" name="TextBox 2">
            <a:extLst>
              <a:ext uri="{FF2B5EF4-FFF2-40B4-BE49-F238E27FC236}">
                <a16:creationId xmlns:a16="http://schemas.microsoft.com/office/drawing/2014/main" id="{C8E1CD26-9949-88F8-C48D-331CE6FD51C1}"/>
              </a:ext>
            </a:extLst>
          </p:cNvPr>
          <p:cNvSpPr txBox="1">
            <a:spLocks noRot="1" noChangeAspect="1" noMove="1" noResize="1" noEditPoints="1" noAdjustHandles="1" noChangeArrowheads="1" noChangeShapeType="1" noTextEdit="1"/>
          </p:cNvSpPr>
          <p:nvPr/>
        </p:nvSpPr>
        <p:spPr>
          <a:xfrm>
            <a:off x="1676400" y="3200400"/>
            <a:ext cx="14782800" cy="1637500"/>
          </a:xfrm>
          <a:prstGeom prst="rect">
            <a:avLst/>
          </a:prstGeom>
          <a:blipFill rotWithShape="0">
            <a:blip r:embed="rId2"/>
            <a:srcRect/>
            <a:stretch>
              <a:fillRect l="-2" r="-3091"/>
            </a:stretch>
          </a:blipFill>
        </p:spPr>
        <p:txBody>
          <a:bodyPr/>
          <a:lstStyle/>
          <a:p>
            <a:r>
              <a:rPr lang="en-US" sz="9600">
                <a:noFill/>
              </a:rPr>
              <a:t> </a:t>
            </a:r>
          </a:p>
        </p:txBody>
      </p:sp>
      <p:sp>
        <p:nvSpPr>
          <p:cNvPr id="6" name="TextBox 5">
            <a:extLst>
              <a:ext uri="{FF2B5EF4-FFF2-40B4-BE49-F238E27FC236}">
                <a16:creationId xmlns:a16="http://schemas.microsoft.com/office/drawing/2014/main" id="{268D8C8E-9725-8620-487D-05E3BFFBEA69}"/>
              </a:ext>
            </a:extLst>
          </p:cNvPr>
          <p:cNvSpPr txBox="1">
            <a:spLocks noRot="1" noChangeAspect="1" noMove="1" noResize="1" noEditPoints="1" noAdjustHandles="1" noChangeArrowheads="1" noChangeShapeType="1" noTextEdit="1"/>
          </p:cNvSpPr>
          <p:nvPr/>
        </p:nvSpPr>
        <p:spPr>
          <a:xfrm>
            <a:off x="1524000" y="6096000"/>
            <a:ext cx="15087600" cy="6422144"/>
          </a:xfrm>
          <a:prstGeom prst="rect">
            <a:avLst/>
          </a:prstGeom>
          <a:blipFill rotWithShape="0">
            <a:blip r:embed="rId3"/>
            <a:srcRect/>
            <a:stretch>
              <a:fillRect l="-1454" t="-1708" r="-3030"/>
            </a:stretch>
          </a:blipFill>
        </p:spPr>
        <p:txBody>
          <a:bodyPr/>
          <a:lstStyle/>
          <a:p>
            <a:r>
              <a:rPr lang="en-US" sz="9600">
                <a:noFill/>
              </a:rPr>
              <a:t> </a:t>
            </a:r>
          </a:p>
        </p:txBody>
      </p:sp>
    </p:spTree>
    <p:extLst>
      <p:ext uri="{BB962C8B-B14F-4D97-AF65-F5344CB8AC3E}">
        <p14:creationId xmlns:p14="http://schemas.microsoft.com/office/powerpoint/2010/main" val="13809887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A65595F-1E67-9A08-D08A-4AE4B34C331F}"/>
              </a:ext>
            </a:extLst>
          </p:cNvPr>
          <p:cNvSpPr txBox="1">
            <a:spLocks/>
          </p:cNvSpPr>
          <p:nvPr/>
        </p:nvSpPr>
        <p:spPr>
          <a:xfrm>
            <a:off x="3692816" y="1452880"/>
            <a:ext cx="10521024" cy="1127124"/>
          </a:xfrm>
          <a:prstGeom prst="rect">
            <a:avLst/>
          </a:prstGeom>
        </p:spPr>
        <p:txBody>
          <a:bodyPr vert="horz" lIns="182880" tIns="91440" rIns="182880" bIns="9144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2000" b="1">
                <a:solidFill>
                  <a:srgbClr val="002060"/>
                </a:solidFill>
                <a:latin typeface="Aachen" panose="02020500000000000000" pitchFamily="18" charset="0"/>
                <a:ea typeface="Aachen" panose="02020500000000000000" pitchFamily="18" charset="0"/>
                <a:cs typeface="Aachen" panose="02020500000000000000" pitchFamily="18" charset="0"/>
              </a:rPr>
              <a:t>Hai loại cạnh tranh</a:t>
            </a:r>
          </a:p>
        </p:txBody>
      </p:sp>
      <p:graphicFrame>
        <p:nvGraphicFramePr>
          <p:cNvPr id="5" name="Table 4">
            <a:extLst>
              <a:ext uri="{FF2B5EF4-FFF2-40B4-BE49-F238E27FC236}">
                <a16:creationId xmlns:a16="http://schemas.microsoft.com/office/drawing/2014/main" id="{C8017FA2-D741-1F08-E025-4BD34142DBE2}"/>
              </a:ext>
            </a:extLst>
          </p:cNvPr>
          <p:cNvGraphicFramePr>
            <a:graphicFrameLocks noGrp="1"/>
          </p:cNvGraphicFramePr>
          <p:nvPr>
            <p:extLst>
              <p:ext uri="{D42A27DB-BD31-4B8C-83A1-F6EECF244321}">
                <p14:modId xmlns:p14="http://schemas.microsoft.com/office/powerpoint/2010/main" val="3540816029"/>
              </p:ext>
            </p:extLst>
          </p:nvPr>
        </p:nvGraphicFramePr>
        <p:xfrm>
          <a:off x="1352636" y="3149601"/>
          <a:ext cx="15665364" cy="9307169"/>
        </p:xfrm>
        <a:graphic>
          <a:graphicData uri="http://schemas.openxmlformats.org/drawingml/2006/table">
            <a:tbl>
              <a:tblPr firstRow="1" bandRow="1">
                <a:tableStyleId>{5C22544A-7EE6-4342-B048-85BDC9FD1C3A}</a:tableStyleId>
              </a:tblPr>
              <a:tblGrid>
                <a:gridCol w="5221788">
                  <a:extLst>
                    <a:ext uri="{9D8B030D-6E8A-4147-A177-3AD203B41FA5}">
                      <a16:colId xmlns:a16="http://schemas.microsoft.com/office/drawing/2014/main" val="20000"/>
                    </a:ext>
                  </a:extLst>
                </a:gridCol>
                <a:gridCol w="5221788">
                  <a:extLst>
                    <a:ext uri="{9D8B030D-6E8A-4147-A177-3AD203B41FA5}">
                      <a16:colId xmlns:a16="http://schemas.microsoft.com/office/drawing/2014/main" val="20001"/>
                    </a:ext>
                  </a:extLst>
                </a:gridCol>
                <a:gridCol w="5221788">
                  <a:extLst>
                    <a:ext uri="{9D8B030D-6E8A-4147-A177-3AD203B41FA5}">
                      <a16:colId xmlns:a16="http://schemas.microsoft.com/office/drawing/2014/main" val="20002"/>
                    </a:ext>
                  </a:extLst>
                </a:gridCol>
              </a:tblGrid>
              <a:tr h="1887928">
                <a:tc>
                  <a:txBody>
                    <a:bodyPr/>
                    <a:lstStyle/>
                    <a:p>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800" b="1" dirty="0" err="1">
                          <a:solidFill>
                            <a:srgbClr val="002060"/>
                          </a:solidFill>
                        </a:rPr>
                        <a:t>Cạnh</a:t>
                      </a:r>
                      <a:r>
                        <a:rPr lang="en-US" sz="3800" b="1" dirty="0">
                          <a:solidFill>
                            <a:srgbClr val="002060"/>
                          </a:solidFill>
                        </a:rPr>
                        <a:t> </a:t>
                      </a:r>
                      <a:r>
                        <a:rPr lang="en-US" sz="3800" b="1" dirty="0" err="1">
                          <a:solidFill>
                            <a:srgbClr val="002060"/>
                          </a:solidFill>
                        </a:rPr>
                        <a:t>tranh</a:t>
                      </a:r>
                      <a:r>
                        <a:rPr lang="en-US" sz="3800" b="1" dirty="0">
                          <a:solidFill>
                            <a:srgbClr val="002060"/>
                          </a:solidFill>
                        </a:rPr>
                        <a:t> </a:t>
                      </a:r>
                      <a:r>
                        <a:rPr lang="en-US" sz="3800" b="1" dirty="0" err="1">
                          <a:solidFill>
                            <a:srgbClr val="002060"/>
                          </a:solidFill>
                        </a:rPr>
                        <a:t>cùng</a:t>
                      </a:r>
                      <a:r>
                        <a:rPr lang="en-US" sz="3800" b="1" baseline="0" dirty="0">
                          <a:solidFill>
                            <a:srgbClr val="002060"/>
                          </a:solidFill>
                        </a:rPr>
                        <a:t> </a:t>
                      </a:r>
                      <a:r>
                        <a:rPr lang="en-US" sz="3800" b="1" baseline="0" dirty="0" err="1">
                          <a:solidFill>
                            <a:srgbClr val="002060"/>
                          </a:solidFill>
                        </a:rPr>
                        <a:t>ngành</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3800" b="1">
                          <a:solidFill>
                            <a:srgbClr val="002060"/>
                          </a:solidFill>
                        </a:rPr>
                        <a:t>Cạnh tranh khác</a:t>
                      </a:r>
                      <a:r>
                        <a:rPr lang="en-US" sz="3800" b="1" baseline="0">
                          <a:solidFill>
                            <a:srgbClr val="002060"/>
                          </a:solidFill>
                        </a:rPr>
                        <a:t> ngành</a:t>
                      </a:r>
                      <a:endParaRPr lang="vi-VN" sz="3800" b="1">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887928">
                <a:tc>
                  <a:txBody>
                    <a:bodyPr/>
                    <a:lstStyle/>
                    <a:p>
                      <a:r>
                        <a:rPr lang="en-US" sz="3800" b="1">
                          <a:solidFill>
                            <a:srgbClr val="002060"/>
                          </a:solidFill>
                        </a:rPr>
                        <a:t>Mục</a:t>
                      </a:r>
                      <a:r>
                        <a:rPr lang="en-US" sz="3800" b="1" baseline="0">
                          <a:solidFill>
                            <a:srgbClr val="002060"/>
                          </a:solidFill>
                        </a:rPr>
                        <a:t> đích</a:t>
                      </a:r>
                      <a:endParaRPr lang="vi-VN" sz="3800" b="1">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800" b="1" dirty="0">
                          <a:solidFill>
                            <a:srgbClr val="002060"/>
                          </a:solidFill>
                        </a:rPr>
                        <a:t>Thu </a:t>
                      </a:r>
                      <a:r>
                        <a:rPr lang="en-US" sz="3800" b="1" dirty="0" err="1">
                          <a:solidFill>
                            <a:srgbClr val="002060"/>
                          </a:solidFill>
                        </a:rPr>
                        <a:t>lợi</a:t>
                      </a:r>
                      <a:r>
                        <a:rPr lang="en-US" sz="3800" b="1" baseline="0" dirty="0">
                          <a:solidFill>
                            <a:srgbClr val="002060"/>
                          </a:solidFill>
                        </a:rPr>
                        <a:t> </a:t>
                      </a:r>
                      <a:r>
                        <a:rPr lang="en-US" sz="3800" b="1" baseline="0" dirty="0" err="1">
                          <a:solidFill>
                            <a:srgbClr val="002060"/>
                          </a:solidFill>
                        </a:rPr>
                        <a:t>nhuận</a:t>
                      </a:r>
                      <a:r>
                        <a:rPr lang="en-US" sz="3800" b="1" baseline="0" dirty="0">
                          <a:solidFill>
                            <a:srgbClr val="002060"/>
                          </a:solidFill>
                        </a:rPr>
                        <a:t> </a:t>
                      </a:r>
                      <a:r>
                        <a:rPr lang="en-US" sz="3800" b="1" baseline="0" dirty="0" err="1">
                          <a:solidFill>
                            <a:srgbClr val="002060"/>
                          </a:solidFill>
                        </a:rPr>
                        <a:t>siêu</a:t>
                      </a:r>
                      <a:r>
                        <a:rPr lang="en-US" sz="3800" b="1" baseline="0" dirty="0">
                          <a:solidFill>
                            <a:srgbClr val="002060"/>
                          </a:solidFill>
                        </a:rPr>
                        <a:t> </a:t>
                      </a:r>
                      <a:r>
                        <a:rPr lang="en-US" sz="3800" b="1" baseline="0" dirty="0" err="1">
                          <a:solidFill>
                            <a:srgbClr val="002060"/>
                          </a:solidFill>
                        </a:rPr>
                        <a:t>ngạch</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3800" b="1" dirty="0" err="1">
                          <a:solidFill>
                            <a:srgbClr val="002060"/>
                          </a:solidFill>
                        </a:rPr>
                        <a:t>Dành</a:t>
                      </a:r>
                      <a:r>
                        <a:rPr lang="en-US" sz="3800" b="1" baseline="0" dirty="0">
                          <a:solidFill>
                            <a:srgbClr val="002060"/>
                          </a:solidFill>
                        </a:rPr>
                        <a:t> </a:t>
                      </a:r>
                      <a:r>
                        <a:rPr lang="en-US" sz="3800" b="1" baseline="0" dirty="0" err="1">
                          <a:solidFill>
                            <a:srgbClr val="002060"/>
                          </a:solidFill>
                        </a:rPr>
                        <a:t>nơi</a:t>
                      </a:r>
                      <a:r>
                        <a:rPr lang="en-US" sz="3800" b="1" baseline="0" dirty="0">
                          <a:solidFill>
                            <a:srgbClr val="002060"/>
                          </a:solidFill>
                        </a:rPr>
                        <a:t> </a:t>
                      </a:r>
                      <a:r>
                        <a:rPr lang="en-US" sz="3800" b="1" baseline="0" dirty="0" err="1">
                          <a:solidFill>
                            <a:srgbClr val="002060"/>
                          </a:solidFill>
                        </a:rPr>
                        <a:t>đầu</a:t>
                      </a:r>
                      <a:r>
                        <a:rPr lang="en-US" sz="3800" b="1" baseline="0" dirty="0">
                          <a:solidFill>
                            <a:srgbClr val="002060"/>
                          </a:solidFill>
                        </a:rPr>
                        <a:t> </a:t>
                      </a:r>
                      <a:r>
                        <a:rPr lang="en-US" sz="3800" b="1" baseline="0" dirty="0" err="1">
                          <a:solidFill>
                            <a:srgbClr val="002060"/>
                          </a:solidFill>
                        </a:rPr>
                        <a:t>tư</a:t>
                      </a:r>
                      <a:r>
                        <a:rPr lang="en-US" sz="3800" b="1" baseline="0" dirty="0">
                          <a:solidFill>
                            <a:srgbClr val="002060"/>
                          </a:solidFill>
                        </a:rPr>
                        <a:t> </a:t>
                      </a:r>
                      <a:r>
                        <a:rPr lang="en-US" sz="3800" b="1" baseline="0" dirty="0" err="1">
                          <a:solidFill>
                            <a:srgbClr val="002060"/>
                          </a:solidFill>
                        </a:rPr>
                        <a:t>có</a:t>
                      </a:r>
                      <a:r>
                        <a:rPr lang="en-US" sz="3800" b="1" baseline="0" dirty="0">
                          <a:solidFill>
                            <a:srgbClr val="002060"/>
                          </a:solidFill>
                        </a:rPr>
                        <a:t> p’ </a:t>
                      </a:r>
                      <a:r>
                        <a:rPr lang="en-US" sz="3800" b="1" baseline="0" dirty="0" err="1">
                          <a:solidFill>
                            <a:srgbClr val="002060"/>
                          </a:solidFill>
                        </a:rPr>
                        <a:t>cao</a:t>
                      </a:r>
                      <a:r>
                        <a:rPr lang="en-US" sz="3800" b="1" baseline="0" dirty="0">
                          <a:solidFill>
                            <a:srgbClr val="002060"/>
                          </a:solidFill>
                        </a:rPr>
                        <a:t> </a:t>
                      </a:r>
                      <a:r>
                        <a:rPr lang="en-US" sz="3800" b="1" baseline="0" dirty="0" err="1">
                          <a:solidFill>
                            <a:srgbClr val="002060"/>
                          </a:solidFill>
                        </a:rPr>
                        <a:t>hơn</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828143">
                <a:tc>
                  <a:txBody>
                    <a:bodyPr/>
                    <a:lstStyle/>
                    <a:p>
                      <a:r>
                        <a:rPr lang="en-US" sz="3800" b="1">
                          <a:solidFill>
                            <a:srgbClr val="002060"/>
                          </a:solidFill>
                        </a:rPr>
                        <a:t>Biện pháp</a:t>
                      </a:r>
                      <a:endParaRPr lang="vi-VN" sz="3800" b="1">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800" b="1" dirty="0" err="1">
                          <a:solidFill>
                            <a:srgbClr val="002060"/>
                          </a:solidFill>
                        </a:rPr>
                        <a:t>Nâng</a:t>
                      </a:r>
                      <a:r>
                        <a:rPr lang="en-US" sz="3800" b="1" baseline="0" dirty="0">
                          <a:solidFill>
                            <a:srgbClr val="002060"/>
                          </a:solidFill>
                        </a:rPr>
                        <a:t> </a:t>
                      </a:r>
                      <a:r>
                        <a:rPr lang="en-US" sz="3800" b="1" baseline="0" dirty="0" err="1">
                          <a:solidFill>
                            <a:srgbClr val="002060"/>
                          </a:solidFill>
                        </a:rPr>
                        <a:t>cao</a:t>
                      </a:r>
                      <a:r>
                        <a:rPr lang="en-US" sz="3800" b="1" baseline="0" dirty="0">
                          <a:solidFill>
                            <a:srgbClr val="002060"/>
                          </a:solidFill>
                        </a:rPr>
                        <a:t> NSLĐ </a:t>
                      </a:r>
                      <a:r>
                        <a:rPr lang="en-US" sz="3800" b="1" baseline="0" dirty="0" err="1">
                          <a:solidFill>
                            <a:srgbClr val="002060"/>
                          </a:solidFill>
                        </a:rPr>
                        <a:t>cá</a:t>
                      </a:r>
                      <a:r>
                        <a:rPr lang="en-US" sz="3800" b="1" baseline="0" dirty="0">
                          <a:solidFill>
                            <a:srgbClr val="002060"/>
                          </a:solidFill>
                        </a:rPr>
                        <a:t> </a:t>
                      </a:r>
                      <a:r>
                        <a:rPr lang="en-US" sz="3800" b="1" baseline="0" dirty="0" err="1">
                          <a:solidFill>
                            <a:srgbClr val="002060"/>
                          </a:solidFill>
                        </a:rPr>
                        <a:t>biệt</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3800" b="1" dirty="0">
                          <a:solidFill>
                            <a:srgbClr val="002060"/>
                          </a:solidFill>
                        </a:rPr>
                        <a:t>Di </a:t>
                      </a:r>
                      <a:r>
                        <a:rPr lang="en-US" sz="3800" b="1" dirty="0" err="1">
                          <a:solidFill>
                            <a:srgbClr val="002060"/>
                          </a:solidFill>
                        </a:rPr>
                        <a:t>chuyển</a:t>
                      </a:r>
                      <a:r>
                        <a:rPr lang="en-US" sz="3800" b="1" baseline="0" dirty="0">
                          <a:solidFill>
                            <a:srgbClr val="002060"/>
                          </a:solidFill>
                        </a:rPr>
                        <a:t> </a:t>
                      </a:r>
                      <a:r>
                        <a:rPr lang="en-US" sz="3800" b="1" baseline="0" dirty="0" err="1">
                          <a:solidFill>
                            <a:srgbClr val="002060"/>
                          </a:solidFill>
                        </a:rPr>
                        <a:t>tư</a:t>
                      </a:r>
                      <a:r>
                        <a:rPr lang="en-US" sz="3800" b="1" baseline="0" dirty="0">
                          <a:solidFill>
                            <a:srgbClr val="002060"/>
                          </a:solidFill>
                        </a:rPr>
                        <a:t> </a:t>
                      </a:r>
                      <a:r>
                        <a:rPr lang="en-US" sz="3800" b="1" baseline="0" dirty="0" err="1">
                          <a:solidFill>
                            <a:srgbClr val="002060"/>
                          </a:solidFill>
                        </a:rPr>
                        <a:t>bản</a:t>
                      </a:r>
                      <a:r>
                        <a:rPr lang="en-US" sz="3800" b="1" baseline="0" dirty="0">
                          <a:solidFill>
                            <a:srgbClr val="002060"/>
                          </a:solidFill>
                        </a:rPr>
                        <a:t> </a:t>
                      </a:r>
                      <a:r>
                        <a:rPr lang="en-US" sz="3800" b="1" baseline="0" dirty="0" err="1">
                          <a:solidFill>
                            <a:srgbClr val="002060"/>
                          </a:solidFill>
                        </a:rPr>
                        <a:t>từ</a:t>
                      </a:r>
                      <a:r>
                        <a:rPr lang="en-US" sz="3800" b="1" baseline="0" dirty="0">
                          <a:solidFill>
                            <a:srgbClr val="002060"/>
                          </a:solidFill>
                        </a:rPr>
                        <a:t> </a:t>
                      </a:r>
                      <a:r>
                        <a:rPr lang="en-US" sz="3800" b="1" baseline="0" dirty="0" err="1">
                          <a:solidFill>
                            <a:srgbClr val="002060"/>
                          </a:solidFill>
                        </a:rPr>
                        <a:t>ngành</a:t>
                      </a:r>
                      <a:r>
                        <a:rPr lang="en-US" sz="3800" b="1" baseline="0" dirty="0">
                          <a:solidFill>
                            <a:srgbClr val="002060"/>
                          </a:solidFill>
                        </a:rPr>
                        <a:t> </a:t>
                      </a:r>
                      <a:r>
                        <a:rPr lang="en-US" sz="3800" b="1" baseline="0" dirty="0" err="1">
                          <a:solidFill>
                            <a:srgbClr val="002060"/>
                          </a:solidFill>
                        </a:rPr>
                        <a:t>có</a:t>
                      </a:r>
                      <a:r>
                        <a:rPr lang="en-US" sz="3800" b="1" baseline="0" dirty="0">
                          <a:solidFill>
                            <a:srgbClr val="002060"/>
                          </a:solidFill>
                        </a:rPr>
                        <a:t> p’ </a:t>
                      </a:r>
                      <a:r>
                        <a:rPr lang="en-US" sz="3800" b="1" baseline="0" dirty="0" err="1">
                          <a:solidFill>
                            <a:srgbClr val="002060"/>
                          </a:solidFill>
                        </a:rPr>
                        <a:t>thấp</a:t>
                      </a:r>
                      <a:r>
                        <a:rPr lang="en-US" sz="3800" b="1" baseline="0" dirty="0">
                          <a:solidFill>
                            <a:srgbClr val="002060"/>
                          </a:solidFill>
                        </a:rPr>
                        <a:t> sang </a:t>
                      </a:r>
                      <a:r>
                        <a:rPr lang="en-US" sz="3800" b="1" baseline="0" dirty="0" err="1">
                          <a:solidFill>
                            <a:srgbClr val="002060"/>
                          </a:solidFill>
                        </a:rPr>
                        <a:t>ngành</a:t>
                      </a:r>
                      <a:r>
                        <a:rPr lang="en-US" sz="3800" b="1" baseline="0" dirty="0">
                          <a:solidFill>
                            <a:srgbClr val="002060"/>
                          </a:solidFill>
                        </a:rPr>
                        <a:t> </a:t>
                      </a:r>
                      <a:r>
                        <a:rPr lang="en-US" sz="3800" b="1" baseline="0" dirty="0" err="1">
                          <a:solidFill>
                            <a:srgbClr val="002060"/>
                          </a:solidFill>
                        </a:rPr>
                        <a:t>có</a:t>
                      </a:r>
                      <a:r>
                        <a:rPr lang="en-US" sz="3800" b="1" baseline="0" dirty="0">
                          <a:solidFill>
                            <a:srgbClr val="002060"/>
                          </a:solidFill>
                        </a:rPr>
                        <a:t> p’ </a:t>
                      </a:r>
                      <a:r>
                        <a:rPr lang="en-US" sz="3800" b="1" baseline="0" dirty="0" err="1">
                          <a:solidFill>
                            <a:srgbClr val="002060"/>
                          </a:solidFill>
                        </a:rPr>
                        <a:t>cao</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03170">
                <a:tc>
                  <a:txBody>
                    <a:bodyPr/>
                    <a:lstStyle/>
                    <a:p>
                      <a:r>
                        <a:rPr lang="en-US" sz="3800" b="1">
                          <a:solidFill>
                            <a:srgbClr val="002060"/>
                          </a:solidFill>
                        </a:rPr>
                        <a:t>Kết quả</a:t>
                      </a:r>
                      <a:endParaRPr lang="vi-VN" sz="3800" b="1">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800" b="1" dirty="0" err="1">
                          <a:solidFill>
                            <a:srgbClr val="002060"/>
                          </a:solidFill>
                        </a:rPr>
                        <a:t>Hình</a:t>
                      </a:r>
                      <a:r>
                        <a:rPr lang="en-US" sz="3800" b="1" baseline="0" dirty="0">
                          <a:solidFill>
                            <a:srgbClr val="002060"/>
                          </a:solidFill>
                        </a:rPr>
                        <a:t> </a:t>
                      </a:r>
                      <a:r>
                        <a:rPr lang="en-US" sz="3800" b="1" baseline="0" dirty="0" err="1">
                          <a:solidFill>
                            <a:srgbClr val="002060"/>
                          </a:solidFill>
                        </a:rPr>
                        <a:t>thành</a:t>
                      </a:r>
                      <a:r>
                        <a:rPr lang="en-US" sz="3800" b="1" baseline="0" dirty="0">
                          <a:solidFill>
                            <a:srgbClr val="002060"/>
                          </a:solidFill>
                        </a:rPr>
                        <a:t> </a:t>
                      </a:r>
                      <a:r>
                        <a:rPr lang="en-US" sz="3800" b="1" baseline="0" dirty="0" err="1">
                          <a:solidFill>
                            <a:srgbClr val="002060"/>
                          </a:solidFill>
                        </a:rPr>
                        <a:t>giá</a:t>
                      </a:r>
                      <a:r>
                        <a:rPr lang="en-US" sz="3800" b="1" baseline="0" dirty="0">
                          <a:solidFill>
                            <a:srgbClr val="002060"/>
                          </a:solidFill>
                        </a:rPr>
                        <a:t> </a:t>
                      </a:r>
                      <a:r>
                        <a:rPr lang="en-US" sz="3800" b="1" baseline="0" dirty="0" err="1">
                          <a:solidFill>
                            <a:srgbClr val="002060"/>
                          </a:solidFill>
                        </a:rPr>
                        <a:t>trị</a:t>
                      </a:r>
                      <a:r>
                        <a:rPr lang="en-US" sz="3800" b="1" baseline="0" dirty="0">
                          <a:solidFill>
                            <a:srgbClr val="002060"/>
                          </a:solidFill>
                        </a:rPr>
                        <a:t> </a:t>
                      </a:r>
                      <a:r>
                        <a:rPr lang="en-US" sz="3800" b="1" baseline="0" dirty="0" err="1">
                          <a:solidFill>
                            <a:srgbClr val="002060"/>
                          </a:solidFill>
                        </a:rPr>
                        <a:t>thị</a:t>
                      </a:r>
                      <a:r>
                        <a:rPr lang="en-US" sz="3800" b="1" baseline="0" dirty="0">
                          <a:solidFill>
                            <a:srgbClr val="002060"/>
                          </a:solidFill>
                        </a:rPr>
                        <a:t> </a:t>
                      </a:r>
                      <a:r>
                        <a:rPr lang="en-US" sz="3800" b="1" baseline="0" dirty="0" err="1">
                          <a:solidFill>
                            <a:srgbClr val="002060"/>
                          </a:solidFill>
                        </a:rPr>
                        <a:t>trường</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r>
                        <a:rPr lang="en-US" sz="3800" b="1" dirty="0" err="1">
                          <a:solidFill>
                            <a:srgbClr val="002060"/>
                          </a:solidFill>
                        </a:rPr>
                        <a:t>Hình</a:t>
                      </a:r>
                      <a:r>
                        <a:rPr lang="en-US" sz="3800" b="1" baseline="0" dirty="0">
                          <a:solidFill>
                            <a:srgbClr val="002060"/>
                          </a:solidFill>
                        </a:rPr>
                        <a:t> </a:t>
                      </a:r>
                      <a:r>
                        <a:rPr lang="en-US" sz="3800" b="1" baseline="0" dirty="0" err="1">
                          <a:solidFill>
                            <a:srgbClr val="002060"/>
                          </a:solidFill>
                        </a:rPr>
                        <a:t>thành</a:t>
                      </a:r>
                      <a:r>
                        <a:rPr lang="en-US" sz="3800" b="1" baseline="0" dirty="0">
                          <a:solidFill>
                            <a:srgbClr val="002060"/>
                          </a:solidFill>
                        </a:rPr>
                        <a:t> </a:t>
                      </a:r>
                      <a:r>
                        <a:rPr lang="en-US" sz="3800" b="1" baseline="0" dirty="0" err="1">
                          <a:solidFill>
                            <a:srgbClr val="002060"/>
                          </a:solidFill>
                        </a:rPr>
                        <a:t>tỷ</a:t>
                      </a:r>
                      <a:r>
                        <a:rPr lang="en-US" sz="3800" b="1" baseline="0" dirty="0">
                          <a:solidFill>
                            <a:srgbClr val="002060"/>
                          </a:solidFill>
                        </a:rPr>
                        <a:t> </a:t>
                      </a:r>
                      <a:r>
                        <a:rPr lang="en-US" sz="3800" b="1" baseline="0" dirty="0" err="1">
                          <a:solidFill>
                            <a:srgbClr val="002060"/>
                          </a:solidFill>
                        </a:rPr>
                        <a:t>suất</a:t>
                      </a:r>
                      <a:r>
                        <a:rPr lang="en-US" sz="3800" b="1" baseline="0" dirty="0">
                          <a:solidFill>
                            <a:srgbClr val="002060"/>
                          </a:solidFill>
                        </a:rPr>
                        <a:t> </a:t>
                      </a:r>
                      <a:r>
                        <a:rPr lang="en-US" sz="3800" b="1" baseline="0" dirty="0" err="1">
                          <a:solidFill>
                            <a:srgbClr val="002060"/>
                          </a:solidFill>
                        </a:rPr>
                        <a:t>lợi</a:t>
                      </a:r>
                      <a:r>
                        <a:rPr lang="en-US" sz="3800" b="1" baseline="0" dirty="0">
                          <a:solidFill>
                            <a:srgbClr val="002060"/>
                          </a:solidFill>
                        </a:rPr>
                        <a:t> </a:t>
                      </a:r>
                      <a:r>
                        <a:rPr lang="en-US" sz="3800" b="1" baseline="0" dirty="0" err="1">
                          <a:solidFill>
                            <a:srgbClr val="002060"/>
                          </a:solidFill>
                        </a:rPr>
                        <a:t>nhuận</a:t>
                      </a:r>
                      <a:r>
                        <a:rPr lang="en-US" sz="3800" b="1" baseline="0" dirty="0">
                          <a:solidFill>
                            <a:srgbClr val="002060"/>
                          </a:solidFill>
                        </a:rPr>
                        <a:t> </a:t>
                      </a:r>
                      <a:r>
                        <a:rPr lang="en-US" sz="3800" b="1" baseline="0" dirty="0" err="1">
                          <a:solidFill>
                            <a:srgbClr val="002060"/>
                          </a:solidFill>
                        </a:rPr>
                        <a:t>bình</a:t>
                      </a:r>
                      <a:r>
                        <a:rPr lang="en-US" sz="3800" b="1" baseline="0" dirty="0">
                          <a:solidFill>
                            <a:srgbClr val="002060"/>
                          </a:solidFill>
                        </a:rPr>
                        <a:t> </a:t>
                      </a:r>
                      <a:r>
                        <a:rPr lang="en-US" sz="3800" b="1" baseline="0" dirty="0" err="1">
                          <a:solidFill>
                            <a:srgbClr val="002060"/>
                          </a:solidFill>
                        </a:rPr>
                        <a:t>quân</a:t>
                      </a:r>
                      <a:r>
                        <a:rPr lang="en-US" sz="3800" b="1" baseline="0" dirty="0">
                          <a:solidFill>
                            <a:srgbClr val="002060"/>
                          </a:solidFill>
                        </a:rPr>
                        <a:t> </a:t>
                      </a:r>
                      <a:r>
                        <a:rPr lang="en-US" sz="3800" b="1" baseline="0" dirty="0" err="1">
                          <a:solidFill>
                            <a:srgbClr val="002060"/>
                          </a:solidFill>
                        </a:rPr>
                        <a:t>và</a:t>
                      </a:r>
                      <a:r>
                        <a:rPr lang="en-US" sz="3800" b="1" baseline="0" dirty="0">
                          <a:solidFill>
                            <a:srgbClr val="002060"/>
                          </a:solidFill>
                        </a:rPr>
                        <a:t> </a:t>
                      </a:r>
                      <a:r>
                        <a:rPr lang="en-US" sz="3800" b="1" baseline="0" dirty="0" err="1">
                          <a:solidFill>
                            <a:srgbClr val="002060"/>
                          </a:solidFill>
                        </a:rPr>
                        <a:t>giá</a:t>
                      </a:r>
                      <a:r>
                        <a:rPr lang="en-US" sz="3800" b="1" baseline="0" dirty="0">
                          <a:solidFill>
                            <a:srgbClr val="002060"/>
                          </a:solidFill>
                        </a:rPr>
                        <a:t> </a:t>
                      </a:r>
                      <a:r>
                        <a:rPr lang="en-US" sz="3800" b="1" baseline="0" dirty="0" err="1">
                          <a:solidFill>
                            <a:srgbClr val="002060"/>
                          </a:solidFill>
                        </a:rPr>
                        <a:t>cả</a:t>
                      </a:r>
                      <a:r>
                        <a:rPr lang="en-US" sz="3800" b="1" baseline="0" dirty="0">
                          <a:solidFill>
                            <a:srgbClr val="002060"/>
                          </a:solidFill>
                        </a:rPr>
                        <a:t> </a:t>
                      </a:r>
                      <a:r>
                        <a:rPr lang="en-US" sz="3800" b="1" baseline="0" dirty="0" err="1">
                          <a:solidFill>
                            <a:srgbClr val="002060"/>
                          </a:solidFill>
                        </a:rPr>
                        <a:t>sản</a:t>
                      </a:r>
                      <a:r>
                        <a:rPr lang="en-US" sz="3800" b="1" baseline="0" dirty="0">
                          <a:solidFill>
                            <a:srgbClr val="002060"/>
                          </a:solidFill>
                        </a:rPr>
                        <a:t> </a:t>
                      </a:r>
                      <a:r>
                        <a:rPr lang="en-US" sz="3800" b="1" baseline="0" dirty="0" err="1">
                          <a:solidFill>
                            <a:srgbClr val="002060"/>
                          </a:solidFill>
                        </a:rPr>
                        <a:t>xuất</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3340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6B6C-CF9E-0A4A-FB14-9FF34F3714B0}"/>
              </a:ext>
            </a:extLst>
          </p:cNvPr>
          <p:cNvSpPr txBox="1">
            <a:spLocks/>
          </p:cNvSpPr>
          <p:nvPr/>
        </p:nvSpPr>
        <p:spPr>
          <a:xfrm>
            <a:off x="2672080" y="1595120"/>
            <a:ext cx="12649200"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600" b="1">
                <a:solidFill>
                  <a:srgbClr val="002060"/>
                </a:solidFill>
                <a:latin typeface="Aachen" panose="02020500000000000000" pitchFamily="18" charset="0"/>
                <a:ea typeface="Aachen" panose="02020500000000000000" pitchFamily="18" charset="0"/>
                <a:cs typeface="Aachen" panose="02020500000000000000" pitchFamily="18" charset="0"/>
              </a:rPr>
              <a:t>Cạnh tranh nội ngành </a:t>
            </a:r>
            <a:r>
              <a:rPr lang="en-US" sz="5600" b="1">
                <a:solidFill>
                  <a:srgbClr val="002060"/>
                </a:solidFill>
                <a:latin typeface="Aachen" panose="02020500000000000000" pitchFamily="18" charset="0"/>
                <a:ea typeface="Aachen" panose="02020500000000000000" pitchFamily="18" charset="0"/>
                <a:cs typeface="Aachen" panose="02020500000000000000" pitchFamily="18" charset="0"/>
                <a:sym typeface="Wingdings" panose="05000000000000000000" pitchFamily="2" charset="2"/>
              </a:rPr>
              <a:t> GTTT</a:t>
            </a:r>
            <a:endParaRPr lang="en-US" sz="5600" b="1">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sp>
        <p:nvSpPr>
          <p:cNvPr id="3" name="Content Placeholder 2">
            <a:extLst>
              <a:ext uri="{FF2B5EF4-FFF2-40B4-BE49-F238E27FC236}">
                <a16:creationId xmlns:a16="http://schemas.microsoft.com/office/drawing/2014/main" id="{5049FAAB-F5C9-BB3F-785B-3803F61F2EBE}"/>
              </a:ext>
            </a:extLst>
          </p:cNvPr>
          <p:cNvSpPr txBox="1">
            <a:spLocks/>
          </p:cNvSpPr>
          <p:nvPr/>
        </p:nvSpPr>
        <p:spPr>
          <a:xfrm>
            <a:off x="1158240" y="3423920"/>
            <a:ext cx="15626080" cy="8991600"/>
          </a:xfrm>
          <a:prstGeom prst="rect">
            <a:avLst/>
          </a:prstGeom>
        </p:spPr>
        <p:txBody>
          <a:bodyPr vert="horz" lIns="182880" tIns="91440" rIns="182880" bIns="9144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914400" indent="-914400" algn="just">
              <a:lnSpc>
                <a:spcPct val="120000"/>
              </a:lnSpc>
              <a:buFont typeface="Wingdings" panose="05000000000000000000" pitchFamily="2" charset="2"/>
              <a:buChar char="§"/>
            </a:pPr>
            <a:r>
              <a:rPr lang="en-US" altLang="en-US" sz="5600" dirty="0" err="1">
                <a:solidFill>
                  <a:srgbClr val="002060"/>
                </a:solidFill>
                <a:cs typeface="Arial" panose="020B0604020202020204" pitchFamily="34" charset="0"/>
              </a:rPr>
              <a:t>Một</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mặt</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phải</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coi</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giá</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trị</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thị</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trường</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là</a:t>
            </a:r>
            <a:r>
              <a:rPr lang="en-US" altLang="en-US" sz="5600" dirty="0">
                <a:solidFill>
                  <a:srgbClr val="002060"/>
                </a:solidFill>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giá</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trị</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trung</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bình</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cs typeface="Arial" panose="020B0604020202020204" pitchFamily="34" charset="0"/>
              </a:rPr>
              <a:t>của</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những</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hàng</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hoá</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được</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sản</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xuất</a:t>
            </a:r>
            <a:r>
              <a:rPr lang="en-US" altLang="en-US" sz="5600" dirty="0">
                <a:solidFill>
                  <a:srgbClr val="002060"/>
                </a:solidFill>
                <a:cs typeface="Arial" panose="020B0604020202020204" pitchFamily="34" charset="0"/>
              </a:rPr>
              <a:t> ra </a:t>
            </a:r>
            <a:r>
              <a:rPr lang="en-US" altLang="en-US" sz="5600" dirty="0" err="1">
                <a:solidFill>
                  <a:srgbClr val="002060"/>
                </a:solidFill>
                <a:cs typeface="Arial" panose="020B0604020202020204" pitchFamily="34" charset="0"/>
              </a:rPr>
              <a:t>trong</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một</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khu</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vực</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sản</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xuất</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nào</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đó</a:t>
            </a:r>
            <a:r>
              <a:rPr lang="en-US" altLang="en-US" sz="5600" dirty="0">
                <a:solidFill>
                  <a:srgbClr val="002060"/>
                </a:solidFill>
                <a:cs typeface="Arial" panose="020B0604020202020204" pitchFamily="34" charset="0"/>
              </a:rPr>
              <a:t>.</a:t>
            </a:r>
          </a:p>
          <a:p>
            <a:pPr marL="914400" indent="-914400" algn="just">
              <a:lnSpc>
                <a:spcPct val="120000"/>
              </a:lnSpc>
              <a:buFont typeface="Wingdings" panose="05000000000000000000" pitchFamily="2" charset="2"/>
              <a:buChar char="§"/>
            </a:pPr>
            <a:r>
              <a:rPr lang="en-US" altLang="en-US" sz="5600" dirty="0" err="1">
                <a:solidFill>
                  <a:srgbClr val="002060"/>
                </a:solidFill>
                <a:cs typeface="Arial" panose="020B0604020202020204" pitchFamily="34" charset="0"/>
              </a:rPr>
              <a:t>Mặt</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khác</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lại</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phải</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coi</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giá</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trị</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thị</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trường</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là</a:t>
            </a:r>
            <a:r>
              <a:rPr lang="en-US" altLang="en-US" sz="5600" dirty="0">
                <a:solidFill>
                  <a:srgbClr val="002060"/>
                </a:solidFill>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giá</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trị</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cá</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biệt</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của</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những</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hàng</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hoá</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được</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sản</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xuất</a:t>
            </a:r>
            <a:r>
              <a:rPr lang="en-US" altLang="en-US" sz="5600" dirty="0">
                <a:solidFill>
                  <a:srgbClr val="002060"/>
                </a:solidFill>
                <a:highlight>
                  <a:srgbClr val="FFFF00"/>
                </a:highlight>
                <a:cs typeface="Arial" panose="020B0604020202020204" pitchFamily="34" charset="0"/>
              </a:rPr>
              <a:t> ra </a:t>
            </a:r>
            <a:r>
              <a:rPr lang="en-US" altLang="en-US" sz="5600" dirty="0" err="1">
                <a:solidFill>
                  <a:srgbClr val="002060"/>
                </a:solidFill>
                <a:highlight>
                  <a:srgbClr val="FFFF00"/>
                </a:highlight>
                <a:cs typeface="Arial" panose="020B0604020202020204" pitchFamily="34" charset="0"/>
              </a:rPr>
              <a:t>trong</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những</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điều</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kiện</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trung</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bình</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của</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khu</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vực</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đó</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và</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chiếm</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một</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khối</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lượng</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highlight>
                  <a:srgbClr val="FFFF00"/>
                </a:highlight>
                <a:cs typeface="Arial" panose="020B0604020202020204" pitchFamily="34" charset="0"/>
              </a:rPr>
              <a:t>lớn</a:t>
            </a:r>
            <a:r>
              <a:rPr lang="en-US" altLang="en-US" sz="5600" dirty="0">
                <a:solidFill>
                  <a:srgbClr val="002060"/>
                </a:solidFill>
                <a:highlight>
                  <a:srgbClr val="FFFF00"/>
                </a:highlight>
                <a:cs typeface="Arial" panose="020B0604020202020204" pitchFamily="34" charset="0"/>
              </a:rPr>
              <a:t> </a:t>
            </a:r>
            <a:r>
              <a:rPr lang="en-US" altLang="en-US" sz="5600" dirty="0" err="1">
                <a:solidFill>
                  <a:srgbClr val="002060"/>
                </a:solidFill>
                <a:cs typeface="Arial" panose="020B0604020202020204" pitchFamily="34" charset="0"/>
              </a:rPr>
              <a:t>trong</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tổng</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số</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những</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sản</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phẩm</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của</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khu</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vực</a:t>
            </a:r>
            <a:r>
              <a:rPr lang="en-US" altLang="en-US" sz="5600" dirty="0">
                <a:solidFill>
                  <a:srgbClr val="002060"/>
                </a:solidFill>
                <a:cs typeface="Arial" panose="020B0604020202020204" pitchFamily="34" charset="0"/>
              </a:rPr>
              <a:t> </a:t>
            </a:r>
            <a:r>
              <a:rPr lang="en-US" altLang="en-US" sz="5600" dirty="0" err="1">
                <a:solidFill>
                  <a:srgbClr val="002060"/>
                </a:solidFill>
                <a:cs typeface="Arial" panose="020B0604020202020204" pitchFamily="34" charset="0"/>
              </a:rPr>
              <a:t>này</a:t>
            </a:r>
            <a:r>
              <a:rPr lang="en-US" altLang="en-US" sz="5600" dirty="0">
                <a:solidFill>
                  <a:srgbClr val="002060"/>
                </a:solidFill>
                <a:cs typeface="Arial" panose="020B0604020202020204" pitchFamily="34" charset="0"/>
              </a:rPr>
              <a:t>.</a:t>
            </a:r>
          </a:p>
        </p:txBody>
      </p:sp>
    </p:spTree>
    <p:extLst>
      <p:ext uri="{BB962C8B-B14F-4D97-AF65-F5344CB8AC3E}">
        <p14:creationId xmlns:p14="http://schemas.microsoft.com/office/powerpoint/2010/main" val="12587869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11176FB6-84DB-551A-B052-56FD410F5015}"/>
              </a:ext>
            </a:extLst>
          </p:cNvPr>
          <p:cNvSpPr txBox="1">
            <a:spLocks noChangeArrowheads="1"/>
          </p:cNvSpPr>
          <p:nvPr/>
        </p:nvSpPr>
        <p:spPr bwMode="auto">
          <a:xfrm>
            <a:off x="4093211" y="2673986"/>
            <a:ext cx="18473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endParaRPr lang="en-US" altLang="en-US" sz="9600">
              <a:solidFill>
                <a:srgbClr val="002060"/>
              </a:solidFill>
            </a:endParaRPr>
          </a:p>
        </p:txBody>
      </p:sp>
      <p:graphicFrame>
        <p:nvGraphicFramePr>
          <p:cNvPr id="5" name="Table 4">
            <a:extLst>
              <a:ext uri="{FF2B5EF4-FFF2-40B4-BE49-F238E27FC236}">
                <a16:creationId xmlns:a16="http://schemas.microsoft.com/office/drawing/2014/main" id="{A2A7B7B3-B351-4A0F-5D20-EDE1CEB933D3}"/>
              </a:ext>
            </a:extLst>
          </p:cNvPr>
          <p:cNvGraphicFramePr>
            <a:graphicFrameLocks noGrp="1"/>
          </p:cNvGraphicFramePr>
          <p:nvPr/>
        </p:nvGraphicFramePr>
        <p:xfrm>
          <a:off x="1229360" y="3210560"/>
          <a:ext cx="15671796" cy="9601200"/>
        </p:xfrm>
        <a:graphic>
          <a:graphicData uri="http://schemas.openxmlformats.org/drawingml/2006/table">
            <a:tbl>
              <a:tblPr firstRow="1" bandRow="1">
                <a:tableStyleId>{5C22544A-7EE6-4342-B048-85BDC9FD1C3A}</a:tableStyleId>
              </a:tblPr>
              <a:tblGrid>
                <a:gridCol w="2611966">
                  <a:extLst>
                    <a:ext uri="{9D8B030D-6E8A-4147-A177-3AD203B41FA5}">
                      <a16:colId xmlns:a16="http://schemas.microsoft.com/office/drawing/2014/main" val="20000"/>
                    </a:ext>
                  </a:extLst>
                </a:gridCol>
                <a:gridCol w="2611966">
                  <a:extLst>
                    <a:ext uri="{9D8B030D-6E8A-4147-A177-3AD203B41FA5}">
                      <a16:colId xmlns:a16="http://schemas.microsoft.com/office/drawing/2014/main" val="20001"/>
                    </a:ext>
                  </a:extLst>
                </a:gridCol>
                <a:gridCol w="2611966">
                  <a:extLst>
                    <a:ext uri="{9D8B030D-6E8A-4147-A177-3AD203B41FA5}">
                      <a16:colId xmlns:a16="http://schemas.microsoft.com/office/drawing/2014/main" val="20002"/>
                    </a:ext>
                  </a:extLst>
                </a:gridCol>
                <a:gridCol w="2611966">
                  <a:extLst>
                    <a:ext uri="{9D8B030D-6E8A-4147-A177-3AD203B41FA5}">
                      <a16:colId xmlns:a16="http://schemas.microsoft.com/office/drawing/2014/main" val="20003"/>
                    </a:ext>
                  </a:extLst>
                </a:gridCol>
                <a:gridCol w="2611966">
                  <a:extLst>
                    <a:ext uri="{9D8B030D-6E8A-4147-A177-3AD203B41FA5}">
                      <a16:colId xmlns:a16="http://schemas.microsoft.com/office/drawing/2014/main" val="20004"/>
                    </a:ext>
                  </a:extLst>
                </a:gridCol>
                <a:gridCol w="2611966">
                  <a:extLst>
                    <a:ext uri="{9D8B030D-6E8A-4147-A177-3AD203B41FA5}">
                      <a16:colId xmlns:a16="http://schemas.microsoft.com/office/drawing/2014/main" val="20005"/>
                    </a:ext>
                  </a:extLst>
                </a:gridCol>
              </a:tblGrid>
              <a:tr h="1794584">
                <a:tc gridSpan="6">
                  <a:txBody>
                    <a:bodyPr/>
                    <a:lstStyle/>
                    <a:p>
                      <a:pPr algn="ctr"/>
                      <a:r>
                        <a:rPr lang="en-US" sz="4800">
                          <a:solidFill>
                            <a:schemeClr val="bg1"/>
                          </a:solidFill>
                        </a:rPr>
                        <a:t>Trường hợp</a:t>
                      </a:r>
                      <a:r>
                        <a:rPr lang="en-US" sz="4800" baseline="0">
                          <a:solidFill>
                            <a:schemeClr val="bg1"/>
                          </a:solidFill>
                        </a:rPr>
                        <a:t> 1: đại bộ phận hàng hóa được sản xuất ra trong điều kiện trung bình</a:t>
                      </a:r>
                      <a:endParaRPr lang="vi-VN" sz="4800">
                        <a:solidFill>
                          <a:schemeClr val="bg1"/>
                        </a:solidFill>
                      </a:endParaRPr>
                    </a:p>
                  </a:txBody>
                  <a:tcPr marL="182910" marR="182910" marT="91446" marB="91446"/>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3641414">
                <a:tc>
                  <a:txBody>
                    <a:bodyPr/>
                    <a:lstStyle/>
                    <a:p>
                      <a:pPr algn="ctr"/>
                      <a:r>
                        <a:rPr lang="en-US" sz="3600" b="1">
                          <a:solidFill>
                            <a:srgbClr val="002060"/>
                          </a:solidFill>
                        </a:rPr>
                        <a:t>Loại</a:t>
                      </a:r>
                      <a:r>
                        <a:rPr lang="en-US" sz="3600" b="1" baseline="0">
                          <a:solidFill>
                            <a:srgbClr val="002060"/>
                          </a:solidFill>
                        </a:rPr>
                        <a:t> xí nghiệp</a:t>
                      </a:r>
                      <a:endParaRPr lang="vi-VN" sz="3600" b="1">
                        <a:solidFill>
                          <a:srgbClr val="002060"/>
                        </a:solidFill>
                      </a:endParaRPr>
                    </a:p>
                  </a:txBody>
                  <a:tcPr marL="182910" marR="182910" marT="91446" marB="91446" anchor="ctr"/>
                </a:tc>
                <a:tc>
                  <a:txBody>
                    <a:bodyPr/>
                    <a:lstStyle/>
                    <a:p>
                      <a:pPr algn="ctr"/>
                      <a:r>
                        <a:rPr lang="en-US" sz="3600" b="1">
                          <a:solidFill>
                            <a:srgbClr val="002060"/>
                          </a:solidFill>
                        </a:rPr>
                        <a:t>Số lượng</a:t>
                      </a:r>
                      <a:r>
                        <a:rPr lang="en-US" sz="3600" b="1" baseline="0">
                          <a:solidFill>
                            <a:srgbClr val="002060"/>
                          </a:solidFill>
                        </a:rPr>
                        <a:t> SP</a:t>
                      </a:r>
                    </a:p>
                    <a:p>
                      <a:pPr algn="ctr"/>
                      <a:r>
                        <a:rPr lang="en-US" sz="3600" b="1" baseline="0">
                          <a:solidFill>
                            <a:srgbClr val="FF0000"/>
                          </a:solidFill>
                        </a:rPr>
                        <a:t>(1)</a:t>
                      </a:r>
                      <a:endParaRPr lang="vi-VN" sz="3600" b="1">
                        <a:solidFill>
                          <a:srgbClr val="FF0000"/>
                        </a:solidFill>
                      </a:endParaRPr>
                    </a:p>
                  </a:txBody>
                  <a:tcPr marL="182910" marR="182910" marT="91446" marB="91446" anchor="ctr"/>
                </a:tc>
                <a:tc>
                  <a:txBody>
                    <a:bodyPr/>
                    <a:lstStyle/>
                    <a:p>
                      <a:pPr algn="ctr"/>
                      <a:r>
                        <a:rPr lang="en-US" sz="3600" b="1">
                          <a:solidFill>
                            <a:srgbClr val="002060"/>
                          </a:solidFill>
                        </a:rPr>
                        <a:t>Giá</a:t>
                      </a:r>
                      <a:r>
                        <a:rPr lang="en-US" sz="3600" b="1" baseline="0">
                          <a:solidFill>
                            <a:srgbClr val="002060"/>
                          </a:solidFill>
                        </a:rPr>
                        <a:t> trị cá biệt</a:t>
                      </a:r>
                    </a:p>
                    <a:p>
                      <a:pPr algn="ctr"/>
                      <a:r>
                        <a:rPr lang="en-US" sz="3600" b="1" baseline="0">
                          <a:solidFill>
                            <a:srgbClr val="FF0000"/>
                          </a:solidFill>
                        </a:rPr>
                        <a:t>(2)</a:t>
                      </a:r>
                      <a:endParaRPr lang="vi-VN" sz="3600" b="1">
                        <a:solidFill>
                          <a:srgbClr val="FF0000"/>
                        </a:solidFill>
                      </a:endParaRPr>
                    </a:p>
                  </a:txBody>
                  <a:tcPr marL="182910" marR="182910" marT="91446" marB="91446" anchor="ctr"/>
                </a:tc>
                <a:tc>
                  <a:txBody>
                    <a:bodyPr/>
                    <a:lstStyle/>
                    <a:p>
                      <a:pPr algn="ctr"/>
                      <a:r>
                        <a:rPr lang="en-US" sz="3600" b="1">
                          <a:solidFill>
                            <a:srgbClr val="002060"/>
                          </a:solidFill>
                        </a:rPr>
                        <a:t>Tổng số</a:t>
                      </a:r>
                      <a:r>
                        <a:rPr lang="en-US" sz="3600" b="1" baseline="0">
                          <a:solidFill>
                            <a:srgbClr val="002060"/>
                          </a:solidFill>
                        </a:rPr>
                        <a:t> giá trị cá biệt</a:t>
                      </a:r>
                    </a:p>
                    <a:p>
                      <a:pPr algn="ctr"/>
                      <a:r>
                        <a:rPr lang="en-US" sz="3600" b="1" baseline="0">
                          <a:solidFill>
                            <a:srgbClr val="FF0000"/>
                          </a:solidFill>
                        </a:rPr>
                        <a:t>(3)=(1)*(2)</a:t>
                      </a:r>
                      <a:endParaRPr lang="vi-VN" sz="3600" b="1">
                        <a:solidFill>
                          <a:srgbClr val="FF0000"/>
                        </a:solidFill>
                      </a:endParaRPr>
                    </a:p>
                  </a:txBody>
                  <a:tcPr marL="182910" marR="182910" marT="91446" marB="91446" anchor="ctr"/>
                </a:tc>
                <a:tc>
                  <a:txBody>
                    <a:bodyPr/>
                    <a:lstStyle/>
                    <a:p>
                      <a:pPr algn="ctr"/>
                      <a:r>
                        <a:rPr lang="en-US" sz="3600" b="1">
                          <a:solidFill>
                            <a:srgbClr val="002060"/>
                          </a:solidFill>
                        </a:rPr>
                        <a:t>Giá</a:t>
                      </a:r>
                      <a:r>
                        <a:rPr lang="en-US" sz="3600" b="1" baseline="0">
                          <a:solidFill>
                            <a:srgbClr val="002060"/>
                          </a:solidFill>
                        </a:rPr>
                        <a:t> trị thị trường</a:t>
                      </a:r>
                    </a:p>
                    <a:p>
                      <a:pPr algn="ctr"/>
                      <a:r>
                        <a:rPr lang="en-US" sz="3600" b="1" baseline="0">
                          <a:solidFill>
                            <a:srgbClr val="FF0000"/>
                          </a:solidFill>
                        </a:rPr>
                        <a:t>(GTCB trung bình)</a:t>
                      </a:r>
                    </a:p>
                    <a:p>
                      <a:pPr algn="ctr"/>
                      <a:r>
                        <a:rPr lang="en-US" sz="3600" b="1" baseline="0">
                          <a:solidFill>
                            <a:srgbClr val="FF0000"/>
                          </a:solidFill>
                        </a:rPr>
                        <a:t>(4)</a:t>
                      </a:r>
                      <a:endParaRPr lang="vi-VN" sz="3600" b="1">
                        <a:solidFill>
                          <a:srgbClr val="FF0000"/>
                        </a:solidFill>
                      </a:endParaRPr>
                    </a:p>
                  </a:txBody>
                  <a:tcPr marL="182910" marR="182910" marT="91446" marB="91446" anchor="ctr"/>
                </a:tc>
                <a:tc>
                  <a:txBody>
                    <a:bodyPr/>
                    <a:lstStyle/>
                    <a:p>
                      <a:pPr algn="ctr"/>
                      <a:r>
                        <a:rPr lang="en-US" sz="3600" b="1">
                          <a:solidFill>
                            <a:srgbClr val="002060"/>
                          </a:solidFill>
                        </a:rPr>
                        <a:t>Tổng số</a:t>
                      </a:r>
                      <a:r>
                        <a:rPr lang="en-US" sz="3600" b="1" baseline="0">
                          <a:solidFill>
                            <a:srgbClr val="002060"/>
                          </a:solidFill>
                        </a:rPr>
                        <a:t> giá trị thị trường</a:t>
                      </a:r>
                    </a:p>
                    <a:p>
                      <a:pPr algn="ctr"/>
                      <a:r>
                        <a:rPr lang="en-US" sz="3600" b="1" baseline="0">
                          <a:solidFill>
                            <a:srgbClr val="FF0000"/>
                          </a:solidFill>
                        </a:rPr>
                        <a:t>(5)=(1)*(4)</a:t>
                      </a:r>
                      <a:endParaRPr lang="vi-VN" sz="3600" b="1">
                        <a:solidFill>
                          <a:srgbClr val="FF0000"/>
                        </a:solidFill>
                      </a:endParaRPr>
                    </a:p>
                  </a:txBody>
                  <a:tcPr marL="182910" marR="182910" marT="91446" marB="91446" anchor="ctr"/>
                </a:tc>
                <a:extLst>
                  <a:ext uri="{0D108BD9-81ED-4DB2-BD59-A6C34878D82A}">
                    <a16:rowId xmlns:a16="http://schemas.microsoft.com/office/drawing/2014/main" val="10001"/>
                  </a:ext>
                </a:extLst>
              </a:tr>
              <a:tr h="1384708">
                <a:tc>
                  <a:txBody>
                    <a:bodyPr/>
                    <a:lstStyle/>
                    <a:p>
                      <a:pPr algn="ctr"/>
                      <a:r>
                        <a:rPr lang="en-US" sz="3600" b="1">
                          <a:solidFill>
                            <a:srgbClr val="FF0000"/>
                          </a:solidFill>
                        </a:rPr>
                        <a:t>Tốt</a:t>
                      </a:r>
                      <a:endParaRPr lang="vi-VN" sz="3600" b="1">
                        <a:solidFill>
                          <a:srgbClr val="FF0000"/>
                        </a:solidFill>
                      </a:endParaRPr>
                    </a:p>
                  </a:txBody>
                  <a:tcPr marL="182910" marR="182910" marT="91446" marB="91446" anchor="ctr"/>
                </a:tc>
                <a:tc>
                  <a:txBody>
                    <a:bodyPr/>
                    <a:lstStyle/>
                    <a:p>
                      <a:pPr algn="ctr"/>
                      <a:r>
                        <a:rPr lang="en-US" sz="3600">
                          <a:solidFill>
                            <a:srgbClr val="FF0000"/>
                          </a:solidFill>
                        </a:rPr>
                        <a:t>15</a:t>
                      </a:r>
                      <a:endParaRPr lang="vi-VN" sz="3600">
                        <a:solidFill>
                          <a:srgbClr val="FF0000"/>
                        </a:solidFill>
                      </a:endParaRPr>
                    </a:p>
                  </a:txBody>
                  <a:tcPr marL="182910" marR="182910" marT="91446" marB="91446" anchor="ctr"/>
                </a:tc>
                <a:tc>
                  <a:txBody>
                    <a:bodyPr/>
                    <a:lstStyle/>
                    <a:p>
                      <a:pPr algn="ctr"/>
                      <a:r>
                        <a:rPr lang="en-US" sz="3600">
                          <a:solidFill>
                            <a:srgbClr val="FF0000"/>
                          </a:solidFill>
                        </a:rPr>
                        <a:t>2</a:t>
                      </a:r>
                      <a:endParaRPr lang="vi-VN" sz="3600">
                        <a:solidFill>
                          <a:srgbClr val="FF0000"/>
                        </a:solidFill>
                      </a:endParaRPr>
                    </a:p>
                  </a:txBody>
                  <a:tcPr marL="182910" marR="182910" marT="91446" marB="91446" anchor="ctr"/>
                </a:tc>
                <a:tc>
                  <a:txBody>
                    <a:bodyPr/>
                    <a:lstStyle/>
                    <a:p>
                      <a:pPr algn="ctr"/>
                      <a:r>
                        <a:rPr lang="en-US" sz="3600">
                          <a:solidFill>
                            <a:srgbClr val="FF0000"/>
                          </a:solidFill>
                        </a:rPr>
                        <a:t>30</a:t>
                      </a:r>
                      <a:endParaRPr lang="vi-VN" sz="3600">
                        <a:solidFill>
                          <a:srgbClr val="FF0000"/>
                        </a:solidFill>
                      </a:endParaRPr>
                    </a:p>
                  </a:txBody>
                  <a:tcPr marL="182910" marR="182910" marT="91446" marB="91446" anchor="ctr"/>
                </a:tc>
                <a:tc>
                  <a:txBody>
                    <a:bodyPr/>
                    <a:lstStyle/>
                    <a:p>
                      <a:pPr algn="ctr"/>
                      <a:r>
                        <a:rPr lang="en-US" sz="3600">
                          <a:solidFill>
                            <a:srgbClr val="FF0000"/>
                          </a:solidFill>
                        </a:rPr>
                        <a:t>3</a:t>
                      </a:r>
                      <a:endParaRPr lang="vi-VN" sz="3600">
                        <a:solidFill>
                          <a:srgbClr val="FF0000"/>
                        </a:solidFill>
                      </a:endParaRPr>
                    </a:p>
                  </a:txBody>
                  <a:tcPr marL="182910" marR="182910" marT="91446" marB="91446" anchor="ctr"/>
                </a:tc>
                <a:tc>
                  <a:txBody>
                    <a:bodyPr/>
                    <a:lstStyle/>
                    <a:p>
                      <a:pPr algn="ctr"/>
                      <a:r>
                        <a:rPr lang="en-US" sz="3600">
                          <a:solidFill>
                            <a:srgbClr val="FF0000"/>
                          </a:solidFill>
                        </a:rPr>
                        <a:t>45</a:t>
                      </a:r>
                    </a:p>
                    <a:p>
                      <a:pPr algn="ctr"/>
                      <a:r>
                        <a:rPr lang="en-US" sz="3600">
                          <a:solidFill>
                            <a:srgbClr val="FF0000"/>
                          </a:solidFill>
                        </a:rPr>
                        <a:t>psn=15</a:t>
                      </a:r>
                      <a:endParaRPr lang="vi-VN" sz="3600">
                        <a:solidFill>
                          <a:srgbClr val="FF0000"/>
                        </a:solidFill>
                      </a:endParaRPr>
                    </a:p>
                  </a:txBody>
                  <a:tcPr marL="182910" marR="182910" marT="91446" marB="91446" anchor="ctr"/>
                </a:tc>
                <a:extLst>
                  <a:ext uri="{0D108BD9-81ED-4DB2-BD59-A6C34878D82A}">
                    <a16:rowId xmlns:a16="http://schemas.microsoft.com/office/drawing/2014/main" val="10002"/>
                  </a:ext>
                </a:extLst>
              </a:tr>
              <a:tr h="1395786">
                <a:tc>
                  <a:txBody>
                    <a:bodyPr/>
                    <a:lstStyle/>
                    <a:p>
                      <a:pPr algn="ctr"/>
                      <a:r>
                        <a:rPr lang="en-US" sz="3600" b="1">
                          <a:solidFill>
                            <a:srgbClr val="002060"/>
                          </a:solidFill>
                        </a:rPr>
                        <a:t>Trung bình</a:t>
                      </a:r>
                      <a:endParaRPr lang="vi-VN" sz="3600" b="1">
                        <a:solidFill>
                          <a:srgbClr val="002060"/>
                        </a:solidFill>
                      </a:endParaRPr>
                    </a:p>
                  </a:txBody>
                  <a:tcPr marL="182910" marR="182910" marT="91446" marB="91446" anchor="ctr"/>
                </a:tc>
                <a:tc>
                  <a:txBody>
                    <a:bodyPr/>
                    <a:lstStyle/>
                    <a:p>
                      <a:pPr algn="ctr"/>
                      <a:r>
                        <a:rPr lang="en-US" sz="3600">
                          <a:solidFill>
                            <a:srgbClr val="002060"/>
                          </a:solidFill>
                        </a:rPr>
                        <a:t>70</a:t>
                      </a:r>
                      <a:endParaRPr lang="vi-VN" sz="3600">
                        <a:solidFill>
                          <a:srgbClr val="002060"/>
                        </a:solidFill>
                      </a:endParaRPr>
                    </a:p>
                  </a:txBody>
                  <a:tcPr marL="182910" marR="182910" marT="91446" marB="91446" anchor="ctr"/>
                </a:tc>
                <a:tc>
                  <a:txBody>
                    <a:bodyPr/>
                    <a:lstStyle/>
                    <a:p>
                      <a:pPr algn="ctr"/>
                      <a:r>
                        <a:rPr lang="en-US" sz="3600">
                          <a:solidFill>
                            <a:srgbClr val="002060"/>
                          </a:solidFill>
                        </a:rPr>
                        <a:t>3</a:t>
                      </a:r>
                      <a:endParaRPr lang="vi-VN" sz="3600">
                        <a:solidFill>
                          <a:srgbClr val="002060"/>
                        </a:solidFill>
                      </a:endParaRPr>
                    </a:p>
                  </a:txBody>
                  <a:tcPr marL="182910" marR="182910" marT="91446" marB="91446" anchor="ctr"/>
                </a:tc>
                <a:tc>
                  <a:txBody>
                    <a:bodyPr/>
                    <a:lstStyle/>
                    <a:p>
                      <a:pPr algn="ctr"/>
                      <a:r>
                        <a:rPr lang="en-US" sz="3600">
                          <a:solidFill>
                            <a:srgbClr val="002060"/>
                          </a:solidFill>
                        </a:rPr>
                        <a:t>210</a:t>
                      </a:r>
                      <a:endParaRPr lang="vi-VN" sz="3600">
                        <a:solidFill>
                          <a:srgbClr val="002060"/>
                        </a:solidFill>
                      </a:endParaRPr>
                    </a:p>
                  </a:txBody>
                  <a:tcPr marL="182910" marR="182910" marT="91446" marB="91446" anchor="ctr"/>
                </a:tc>
                <a:tc>
                  <a:txBody>
                    <a:bodyPr/>
                    <a:lstStyle/>
                    <a:p>
                      <a:pPr algn="ctr"/>
                      <a:r>
                        <a:rPr lang="en-US" sz="3600">
                          <a:solidFill>
                            <a:srgbClr val="002060"/>
                          </a:solidFill>
                        </a:rPr>
                        <a:t>3</a:t>
                      </a:r>
                      <a:endParaRPr lang="vi-VN" sz="3600">
                        <a:solidFill>
                          <a:srgbClr val="002060"/>
                        </a:solidFill>
                      </a:endParaRPr>
                    </a:p>
                  </a:txBody>
                  <a:tcPr marL="182910" marR="182910" marT="91446" marB="91446" anchor="ctr"/>
                </a:tc>
                <a:tc>
                  <a:txBody>
                    <a:bodyPr/>
                    <a:lstStyle/>
                    <a:p>
                      <a:pPr algn="ctr"/>
                      <a:r>
                        <a:rPr lang="en-US" sz="3600">
                          <a:solidFill>
                            <a:srgbClr val="002060"/>
                          </a:solidFill>
                        </a:rPr>
                        <a:t>210</a:t>
                      </a:r>
                      <a:endParaRPr lang="vi-VN" sz="3600">
                        <a:solidFill>
                          <a:srgbClr val="002060"/>
                        </a:solidFill>
                      </a:endParaRPr>
                    </a:p>
                  </a:txBody>
                  <a:tcPr marL="182910" marR="182910" marT="91446" marB="91446" anchor="ctr"/>
                </a:tc>
                <a:extLst>
                  <a:ext uri="{0D108BD9-81ED-4DB2-BD59-A6C34878D82A}">
                    <a16:rowId xmlns:a16="http://schemas.microsoft.com/office/drawing/2014/main" val="10003"/>
                  </a:ext>
                </a:extLst>
              </a:tr>
              <a:tr h="1384708">
                <a:tc>
                  <a:txBody>
                    <a:bodyPr/>
                    <a:lstStyle/>
                    <a:p>
                      <a:pPr algn="ctr"/>
                      <a:r>
                        <a:rPr lang="en-US" sz="3600" b="1">
                          <a:solidFill>
                            <a:srgbClr val="002060"/>
                          </a:solidFill>
                        </a:rPr>
                        <a:t>Kém</a:t>
                      </a:r>
                      <a:r>
                        <a:rPr lang="en-US" sz="3600" b="1" baseline="0">
                          <a:solidFill>
                            <a:srgbClr val="002060"/>
                          </a:solidFill>
                        </a:rPr>
                        <a:t> </a:t>
                      </a:r>
                      <a:endParaRPr lang="vi-VN" sz="3600" b="1">
                        <a:solidFill>
                          <a:srgbClr val="002060"/>
                        </a:solidFill>
                      </a:endParaRPr>
                    </a:p>
                  </a:txBody>
                  <a:tcPr marL="182910" marR="182910" marT="91446" marB="91446" anchor="ctr"/>
                </a:tc>
                <a:tc>
                  <a:txBody>
                    <a:bodyPr/>
                    <a:lstStyle/>
                    <a:p>
                      <a:pPr algn="ctr"/>
                      <a:r>
                        <a:rPr lang="en-US" sz="3600">
                          <a:solidFill>
                            <a:srgbClr val="002060"/>
                          </a:solidFill>
                        </a:rPr>
                        <a:t>15</a:t>
                      </a:r>
                      <a:endParaRPr lang="vi-VN" sz="3600">
                        <a:solidFill>
                          <a:srgbClr val="002060"/>
                        </a:solidFill>
                      </a:endParaRPr>
                    </a:p>
                  </a:txBody>
                  <a:tcPr marL="182910" marR="182910" marT="91446" marB="91446" anchor="ctr"/>
                </a:tc>
                <a:tc>
                  <a:txBody>
                    <a:bodyPr/>
                    <a:lstStyle/>
                    <a:p>
                      <a:pPr algn="ctr"/>
                      <a:r>
                        <a:rPr lang="en-US" sz="3600">
                          <a:solidFill>
                            <a:srgbClr val="002060"/>
                          </a:solidFill>
                        </a:rPr>
                        <a:t>4</a:t>
                      </a:r>
                      <a:endParaRPr lang="vi-VN" sz="3600">
                        <a:solidFill>
                          <a:srgbClr val="002060"/>
                        </a:solidFill>
                      </a:endParaRPr>
                    </a:p>
                  </a:txBody>
                  <a:tcPr marL="182910" marR="182910" marT="91446" marB="91446" anchor="ctr"/>
                </a:tc>
                <a:tc>
                  <a:txBody>
                    <a:bodyPr/>
                    <a:lstStyle/>
                    <a:p>
                      <a:pPr algn="ctr"/>
                      <a:r>
                        <a:rPr lang="en-US" sz="3600">
                          <a:solidFill>
                            <a:srgbClr val="002060"/>
                          </a:solidFill>
                        </a:rPr>
                        <a:t>60</a:t>
                      </a:r>
                      <a:endParaRPr lang="vi-VN" sz="3600">
                        <a:solidFill>
                          <a:srgbClr val="002060"/>
                        </a:solidFill>
                      </a:endParaRPr>
                    </a:p>
                  </a:txBody>
                  <a:tcPr marL="182910" marR="182910" marT="91446" marB="91446" anchor="ctr"/>
                </a:tc>
                <a:tc>
                  <a:txBody>
                    <a:bodyPr/>
                    <a:lstStyle/>
                    <a:p>
                      <a:pPr algn="ctr"/>
                      <a:r>
                        <a:rPr lang="en-US" sz="3600">
                          <a:solidFill>
                            <a:srgbClr val="002060"/>
                          </a:solidFill>
                        </a:rPr>
                        <a:t>3</a:t>
                      </a:r>
                      <a:endParaRPr lang="vi-VN" sz="3600">
                        <a:solidFill>
                          <a:srgbClr val="002060"/>
                        </a:solidFill>
                      </a:endParaRPr>
                    </a:p>
                  </a:txBody>
                  <a:tcPr marL="182910" marR="182910" marT="91446" marB="91446" anchor="ctr"/>
                </a:tc>
                <a:tc>
                  <a:txBody>
                    <a:bodyPr/>
                    <a:lstStyle/>
                    <a:p>
                      <a:pPr algn="ctr"/>
                      <a:r>
                        <a:rPr lang="en-US" sz="3600">
                          <a:solidFill>
                            <a:srgbClr val="002060"/>
                          </a:solidFill>
                        </a:rPr>
                        <a:t>45</a:t>
                      </a:r>
                      <a:endParaRPr lang="vi-VN" sz="3600">
                        <a:solidFill>
                          <a:srgbClr val="002060"/>
                        </a:solidFill>
                      </a:endParaRPr>
                    </a:p>
                  </a:txBody>
                  <a:tcPr marL="182910" marR="182910" marT="91446" marB="91446" anchor="ctr"/>
                </a:tc>
                <a:extLst>
                  <a:ext uri="{0D108BD9-81ED-4DB2-BD59-A6C34878D82A}">
                    <a16:rowId xmlns:a16="http://schemas.microsoft.com/office/drawing/2014/main" val="10004"/>
                  </a:ext>
                </a:extLst>
              </a:tr>
            </a:tbl>
          </a:graphicData>
        </a:graphic>
      </p:graphicFrame>
      <p:sp>
        <p:nvSpPr>
          <p:cNvPr id="6" name="Title 3">
            <a:extLst>
              <a:ext uri="{FF2B5EF4-FFF2-40B4-BE49-F238E27FC236}">
                <a16:creationId xmlns:a16="http://schemas.microsoft.com/office/drawing/2014/main" id="{EC44D2DE-5DFB-8867-98D5-889F81EE48D8}"/>
              </a:ext>
            </a:extLst>
          </p:cNvPr>
          <p:cNvSpPr txBox="1">
            <a:spLocks/>
          </p:cNvSpPr>
          <p:nvPr/>
        </p:nvSpPr>
        <p:spPr>
          <a:xfrm>
            <a:off x="3205136" y="912136"/>
            <a:ext cx="12197424" cy="1768476"/>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800" b="1">
                <a:solidFill>
                  <a:srgbClr val="002060"/>
                </a:solidFill>
                <a:latin typeface="Verdana" panose="020B0604030504040204" pitchFamily="34" charset="0"/>
              </a:rPr>
              <a:t>Hình thành GIÁ TRỊ THỊ TR</a:t>
            </a:r>
            <a:r>
              <a:rPr lang="vi-VN" altLang="en-US" sz="4800" b="1">
                <a:solidFill>
                  <a:srgbClr val="002060"/>
                </a:solidFill>
                <a:latin typeface="Verdana" panose="020B0604030504040204" pitchFamily="34" charset="0"/>
              </a:rPr>
              <a:t>Ư</a:t>
            </a:r>
            <a:r>
              <a:rPr lang="en-US" altLang="en-US" sz="4800" b="1">
                <a:solidFill>
                  <a:srgbClr val="002060"/>
                </a:solidFill>
                <a:latin typeface="Verdana" panose="020B0604030504040204" pitchFamily="34" charset="0"/>
              </a:rPr>
              <a:t>ỜNG</a:t>
            </a:r>
          </a:p>
        </p:txBody>
      </p:sp>
    </p:spTree>
    <p:extLst>
      <p:ext uri="{BB962C8B-B14F-4D97-AF65-F5344CB8AC3E}">
        <p14:creationId xmlns:p14="http://schemas.microsoft.com/office/powerpoint/2010/main" val="4153835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0B93644-A5EC-0721-DF33-90A291372FE3}"/>
              </a:ext>
            </a:extLst>
          </p:cNvPr>
          <p:cNvGraphicFramePr>
            <a:graphicFrameLocks noGrp="1"/>
          </p:cNvGraphicFramePr>
          <p:nvPr/>
        </p:nvGraphicFramePr>
        <p:xfrm>
          <a:off x="1127760" y="3118609"/>
          <a:ext cx="15671796" cy="9581390"/>
        </p:xfrm>
        <a:graphic>
          <a:graphicData uri="http://schemas.openxmlformats.org/drawingml/2006/table">
            <a:tbl>
              <a:tblPr firstRow="1" bandRow="1">
                <a:tableStyleId>{5C22544A-7EE6-4342-B048-85BDC9FD1C3A}</a:tableStyleId>
              </a:tblPr>
              <a:tblGrid>
                <a:gridCol w="2611966">
                  <a:extLst>
                    <a:ext uri="{9D8B030D-6E8A-4147-A177-3AD203B41FA5}">
                      <a16:colId xmlns:a16="http://schemas.microsoft.com/office/drawing/2014/main" val="20000"/>
                    </a:ext>
                  </a:extLst>
                </a:gridCol>
                <a:gridCol w="2611966">
                  <a:extLst>
                    <a:ext uri="{9D8B030D-6E8A-4147-A177-3AD203B41FA5}">
                      <a16:colId xmlns:a16="http://schemas.microsoft.com/office/drawing/2014/main" val="20001"/>
                    </a:ext>
                  </a:extLst>
                </a:gridCol>
                <a:gridCol w="2611966">
                  <a:extLst>
                    <a:ext uri="{9D8B030D-6E8A-4147-A177-3AD203B41FA5}">
                      <a16:colId xmlns:a16="http://schemas.microsoft.com/office/drawing/2014/main" val="20002"/>
                    </a:ext>
                  </a:extLst>
                </a:gridCol>
                <a:gridCol w="2611966">
                  <a:extLst>
                    <a:ext uri="{9D8B030D-6E8A-4147-A177-3AD203B41FA5}">
                      <a16:colId xmlns:a16="http://schemas.microsoft.com/office/drawing/2014/main" val="20003"/>
                    </a:ext>
                  </a:extLst>
                </a:gridCol>
                <a:gridCol w="2611966">
                  <a:extLst>
                    <a:ext uri="{9D8B030D-6E8A-4147-A177-3AD203B41FA5}">
                      <a16:colId xmlns:a16="http://schemas.microsoft.com/office/drawing/2014/main" val="20004"/>
                    </a:ext>
                  </a:extLst>
                </a:gridCol>
                <a:gridCol w="2611966">
                  <a:extLst>
                    <a:ext uri="{9D8B030D-6E8A-4147-A177-3AD203B41FA5}">
                      <a16:colId xmlns:a16="http://schemas.microsoft.com/office/drawing/2014/main" val="20005"/>
                    </a:ext>
                  </a:extLst>
                </a:gridCol>
              </a:tblGrid>
              <a:tr h="2010644">
                <a:tc gridSpan="6">
                  <a:txBody>
                    <a:bodyPr/>
                    <a:lstStyle/>
                    <a:p>
                      <a:pPr algn="ctr"/>
                      <a:r>
                        <a:rPr lang="en-US" sz="4800">
                          <a:solidFill>
                            <a:schemeClr val="bg1"/>
                          </a:solidFill>
                        </a:rPr>
                        <a:t>Trường hợp</a:t>
                      </a:r>
                      <a:r>
                        <a:rPr lang="en-US" sz="4800" baseline="0">
                          <a:solidFill>
                            <a:schemeClr val="bg1"/>
                          </a:solidFill>
                        </a:rPr>
                        <a:t> 2: đại bộ phận hàng hóa được sản xuất ra trong điều kiện kém</a:t>
                      </a:r>
                      <a:endParaRPr lang="vi-VN" sz="4800">
                        <a:solidFill>
                          <a:schemeClr val="bg1"/>
                        </a:solidFill>
                      </a:endParaRPr>
                    </a:p>
                  </a:txBody>
                  <a:tcPr marL="182910" marR="182910" marT="91446" marB="91446"/>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2904064">
                <a:tc>
                  <a:txBody>
                    <a:bodyPr/>
                    <a:lstStyle/>
                    <a:p>
                      <a:pPr algn="ctr"/>
                      <a:r>
                        <a:rPr lang="en-US" sz="3600" b="1">
                          <a:solidFill>
                            <a:srgbClr val="002060"/>
                          </a:solidFill>
                        </a:rPr>
                        <a:t>Loại</a:t>
                      </a:r>
                      <a:r>
                        <a:rPr lang="en-US" sz="3600" b="1" baseline="0">
                          <a:solidFill>
                            <a:srgbClr val="002060"/>
                          </a:solidFill>
                        </a:rPr>
                        <a:t> xí nghiệp</a:t>
                      </a:r>
                      <a:endParaRPr lang="vi-VN" sz="3600" b="1">
                        <a:solidFill>
                          <a:srgbClr val="002060"/>
                        </a:solidFill>
                      </a:endParaRPr>
                    </a:p>
                  </a:txBody>
                  <a:tcPr marL="182910" marR="182910" marT="91446" marB="91446" anchor="ctr"/>
                </a:tc>
                <a:tc>
                  <a:txBody>
                    <a:bodyPr/>
                    <a:lstStyle/>
                    <a:p>
                      <a:pPr algn="ctr"/>
                      <a:r>
                        <a:rPr lang="en-US" sz="3600" b="1">
                          <a:solidFill>
                            <a:srgbClr val="002060"/>
                          </a:solidFill>
                        </a:rPr>
                        <a:t>Số lượng</a:t>
                      </a:r>
                      <a:r>
                        <a:rPr lang="en-US" sz="3600" b="1" baseline="0">
                          <a:solidFill>
                            <a:srgbClr val="002060"/>
                          </a:solidFill>
                        </a:rPr>
                        <a:t> SP</a:t>
                      </a:r>
                    </a:p>
                    <a:p>
                      <a:pPr algn="ctr"/>
                      <a:r>
                        <a:rPr lang="en-US" sz="3600" b="1" baseline="0">
                          <a:solidFill>
                            <a:srgbClr val="FF0000"/>
                          </a:solidFill>
                        </a:rPr>
                        <a:t>(1)</a:t>
                      </a:r>
                      <a:endParaRPr lang="vi-VN" sz="3600" b="1">
                        <a:solidFill>
                          <a:srgbClr val="FF0000"/>
                        </a:solidFill>
                      </a:endParaRPr>
                    </a:p>
                  </a:txBody>
                  <a:tcPr marL="182910" marR="182910" marT="91446" marB="91446" anchor="ctr"/>
                </a:tc>
                <a:tc>
                  <a:txBody>
                    <a:bodyPr/>
                    <a:lstStyle/>
                    <a:p>
                      <a:pPr algn="ctr"/>
                      <a:r>
                        <a:rPr lang="en-US" sz="3600" b="1">
                          <a:solidFill>
                            <a:srgbClr val="002060"/>
                          </a:solidFill>
                        </a:rPr>
                        <a:t>Giá</a:t>
                      </a:r>
                      <a:r>
                        <a:rPr lang="en-US" sz="3600" b="1" baseline="0">
                          <a:solidFill>
                            <a:srgbClr val="002060"/>
                          </a:solidFill>
                        </a:rPr>
                        <a:t> trị cá biệt</a:t>
                      </a:r>
                    </a:p>
                    <a:p>
                      <a:pPr algn="ctr"/>
                      <a:r>
                        <a:rPr lang="en-US" sz="3600" b="1" baseline="0">
                          <a:solidFill>
                            <a:srgbClr val="FF0000"/>
                          </a:solidFill>
                        </a:rPr>
                        <a:t>(2)</a:t>
                      </a:r>
                      <a:endParaRPr lang="vi-VN" sz="3600" b="1">
                        <a:solidFill>
                          <a:srgbClr val="FF0000"/>
                        </a:solidFill>
                      </a:endParaRPr>
                    </a:p>
                  </a:txBody>
                  <a:tcPr marL="182910" marR="182910" marT="91446" marB="91446" anchor="ctr"/>
                </a:tc>
                <a:tc>
                  <a:txBody>
                    <a:bodyPr/>
                    <a:lstStyle/>
                    <a:p>
                      <a:pPr algn="ctr"/>
                      <a:r>
                        <a:rPr lang="en-US" sz="3600" b="1">
                          <a:solidFill>
                            <a:srgbClr val="002060"/>
                          </a:solidFill>
                        </a:rPr>
                        <a:t>Tổng số</a:t>
                      </a:r>
                      <a:r>
                        <a:rPr lang="en-US" sz="3600" b="1" baseline="0">
                          <a:solidFill>
                            <a:srgbClr val="002060"/>
                          </a:solidFill>
                        </a:rPr>
                        <a:t> giá trị cá biệt</a:t>
                      </a:r>
                    </a:p>
                    <a:p>
                      <a:pPr algn="ctr"/>
                      <a:r>
                        <a:rPr lang="en-US" sz="3600" b="1" baseline="0">
                          <a:solidFill>
                            <a:srgbClr val="FF0000"/>
                          </a:solidFill>
                        </a:rPr>
                        <a:t>(3)=(1)*(2)</a:t>
                      </a:r>
                      <a:endParaRPr lang="vi-VN" sz="3600" b="1">
                        <a:solidFill>
                          <a:srgbClr val="FF0000"/>
                        </a:solidFill>
                      </a:endParaRPr>
                    </a:p>
                  </a:txBody>
                  <a:tcPr marL="182910" marR="182910" marT="91446" marB="91446" anchor="ctr"/>
                </a:tc>
                <a:tc>
                  <a:txBody>
                    <a:bodyPr/>
                    <a:lstStyle/>
                    <a:p>
                      <a:pPr algn="ctr"/>
                      <a:r>
                        <a:rPr lang="en-US" sz="3600" b="1">
                          <a:solidFill>
                            <a:srgbClr val="002060"/>
                          </a:solidFill>
                        </a:rPr>
                        <a:t>Giá</a:t>
                      </a:r>
                      <a:r>
                        <a:rPr lang="en-US" sz="3600" b="1" baseline="0">
                          <a:solidFill>
                            <a:srgbClr val="002060"/>
                          </a:solidFill>
                        </a:rPr>
                        <a:t> trị thị trường</a:t>
                      </a:r>
                    </a:p>
                    <a:p>
                      <a:pPr algn="ctr"/>
                      <a:r>
                        <a:rPr lang="en-US" sz="3600" b="1" baseline="0">
                          <a:solidFill>
                            <a:srgbClr val="FF0000"/>
                          </a:solidFill>
                        </a:rPr>
                        <a:t>(4)=GTCB kém</a:t>
                      </a:r>
                      <a:endParaRPr lang="vi-VN" sz="3600" b="1">
                        <a:solidFill>
                          <a:srgbClr val="FF0000"/>
                        </a:solidFill>
                      </a:endParaRPr>
                    </a:p>
                  </a:txBody>
                  <a:tcPr marL="182910" marR="182910" marT="91446" marB="91446" anchor="ctr"/>
                </a:tc>
                <a:tc>
                  <a:txBody>
                    <a:bodyPr/>
                    <a:lstStyle/>
                    <a:p>
                      <a:pPr algn="ctr"/>
                      <a:r>
                        <a:rPr lang="en-US" sz="3600" b="1">
                          <a:solidFill>
                            <a:srgbClr val="002060"/>
                          </a:solidFill>
                        </a:rPr>
                        <a:t>Tổng số</a:t>
                      </a:r>
                      <a:r>
                        <a:rPr lang="en-US" sz="3600" b="1" baseline="0">
                          <a:solidFill>
                            <a:srgbClr val="002060"/>
                          </a:solidFill>
                        </a:rPr>
                        <a:t> giá trị thị trường</a:t>
                      </a:r>
                    </a:p>
                    <a:p>
                      <a:pPr algn="ctr"/>
                      <a:r>
                        <a:rPr lang="en-US" sz="3600" b="1" baseline="0">
                          <a:solidFill>
                            <a:srgbClr val="FF0000"/>
                          </a:solidFill>
                        </a:rPr>
                        <a:t>(5)=(1)*(4)</a:t>
                      </a:r>
                      <a:endParaRPr lang="vi-VN" sz="3600" b="1">
                        <a:solidFill>
                          <a:srgbClr val="FF0000"/>
                        </a:solidFill>
                      </a:endParaRPr>
                    </a:p>
                  </a:txBody>
                  <a:tcPr marL="182910" marR="182910" marT="91446" marB="91446" anchor="ctr"/>
                </a:tc>
                <a:extLst>
                  <a:ext uri="{0D108BD9-81ED-4DB2-BD59-A6C34878D82A}">
                    <a16:rowId xmlns:a16="http://schemas.microsoft.com/office/drawing/2014/main" val="10001"/>
                  </a:ext>
                </a:extLst>
              </a:tr>
              <a:tr h="1551424">
                <a:tc>
                  <a:txBody>
                    <a:bodyPr/>
                    <a:lstStyle/>
                    <a:p>
                      <a:pPr algn="ctr"/>
                      <a:r>
                        <a:rPr lang="en-US" sz="3600" b="1">
                          <a:solidFill>
                            <a:srgbClr val="FF0000"/>
                          </a:solidFill>
                        </a:rPr>
                        <a:t>Tốt</a:t>
                      </a:r>
                      <a:endParaRPr lang="vi-VN" sz="3600" b="1">
                        <a:solidFill>
                          <a:srgbClr val="FF0000"/>
                        </a:solidFill>
                      </a:endParaRPr>
                    </a:p>
                  </a:txBody>
                  <a:tcPr marL="182910" marR="182910" marT="91446" marB="91446" anchor="ctr"/>
                </a:tc>
                <a:tc>
                  <a:txBody>
                    <a:bodyPr/>
                    <a:lstStyle/>
                    <a:p>
                      <a:pPr algn="ctr"/>
                      <a:r>
                        <a:rPr lang="en-US" sz="3600">
                          <a:solidFill>
                            <a:srgbClr val="FF0000"/>
                          </a:solidFill>
                        </a:rPr>
                        <a:t>15</a:t>
                      </a:r>
                      <a:endParaRPr lang="vi-VN" sz="3600">
                        <a:solidFill>
                          <a:srgbClr val="FF0000"/>
                        </a:solidFill>
                      </a:endParaRPr>
                    </a:p>
                  </a:txBody>
                  <a:tcPr marL="182910" marR="182910" marT="91446" marB="91446" anchor="ctr"/>
                </a:tc>
                <a:tc>
                  <a:txBody>
                    <a:bodyPr/>
                    <a:lstStyle/>
                    <a:p>
                      <a:pPr algn="ctr"/>
                      <a:r>
                        <a:rPr lang="en-US" sz="3600">
                          <a:solidFill>
                            <a:srgbClr val="FF0000"/>
                          </a:solidFill>
                        </a:rPr>
                        <a:t>2</a:t>
                      </a:r>
                      <a:endParaRPr lang="vi-VN" sz="3600">
                        <a:solidFill>
                          <a:srgbClr val="FF0000"/>
                        </a:solidFill>
                      </a:endParaRPr>
                    </a:p>
                  </a:txBody>
                  <a:tcPr marL="182910" marR="182910" marT="91446" marB="91446" anchor="ctr"/>
                </a:tc>
                <a:tc>
                  <a:txBody>
                    <a:bodyPr/>
                    <a:lstStyle/>
                    <a:p>
                      <a:pPr algn="ctr"/>
                      <a:r>
                        <a:rPr lang="en-US" sz="3600">
                          <a:solidFill>
                            <a:srgbClr val="FF0000"/>
                          </a:solidFill>
                        </a:rPr>
                        <a:t>30</a:t>
                      </a:r>
                      <a:endParaRPr lang="vi-VN" sz="3600">
                        <a:solidFill>
                          <a:srgbClr val="FF0000"/>
                        </a:solidFill>
                      </a:endParaRPr>
                    </a:p>
                  </a:txBody>
                  <a:tcPr marL="182910" marR="182910" marT="91446" marB="91446" anchor="ctr"/>
                </a:tc>
                <a:tc>
                  <a:txBody>
                    <a:bodyPr/>
                    <a:lstStyle/>
                    <a:p>
                      <a:pPr algn="ctr"/>
                      <a:r>
                        <a:rPr lang="en-US" sz="3600">
                          <a:solidFill>
                            <a:srgbClr val="FF0000"/>
                          </a:solidFill>
                        </a:rPr>
                        <a:t>4</a:t>
                      </a:r>
                      <a:endParaRPr lang="vi-VN" sz="3600">
                        <a:solidFill>
                          <a:srgbClr val="FF0000"/>
                        </a:solidFill>
                      </a:endParaRPr>
                    </a:p>
                  </a:txBody>
                  <a:tcPr marL="182910" marR="182910" marT="91446" marB="91446" anchor="ctr"/>
                </a:tc>
                <a:tc>
                  <a:txBody>
                    <a:bodyPr/>
                    <a:lstStyle/>
                    <a:p>
                      <a:pPr algn="ctr"/>
                      <a:r>
                        <a:rPr lang="en-US" sz="3600">
                          <a:solidFill>
                            <a:srgbClr val="FF0000"/>
                          </a:solidFill>
                        </a:rPr>
                        <a:t>60</a:t>
                      </a:r>
                      <a:endParaRPr lang="vi-VN" sz="3600">
                        <a:solidFill>
                          <a:srgbClr val="FF0000"/>
                        </a:solidFill>
                      </a:endParaRPr>
                    </a:p>
                  </a:txBody>
                  <a:tcPr marL="182910" marR="182910" marT="91446" marB="91446" anchor="ctr"/>
                </a:tc>
                <a:extLst>
                  <a:ext uri="{0D108BD9-81ED-4DB2-BD59-A6C34878D82A}">
                    <a16:rowId xmlns:a16="http://schemas.microsoft.com/office/drawing/2014/main" val="10002"/>
                  </a:ext>
                </a:extLst>
              </a:tr>
              <a:tr h="1563834">
                <a:tc>
                  <a:txBody>
                    <a:bodyPr/>
                    <a:lstStyle/>
                    <a:p>
                      <a:pPr algn="ctr"/>
                      <a:r>
                        <a:rPr lang="en-US" sz="3600" b="1">
                          <a:solidFill>
                            <a:srgbClr val="FF0000"/>
                          </a:solidFill>
                        </a:rPr>
                        <a:t>Trung bình</a:t>
                      </a:r>
                      <a:endParaRPr lang="vi-VN" sz="3600" b="1">
                        <a:solidFill>
                          <a:srgbClr val="FF0000"/>
                        </a:solidFill>
                      </a:endParaRPr>
                    </a:p>
                  </a:txBody>
                  <a:tcPr marL="182910" marR="182910" marT="91446" marB="91446" anchor="ctr"/>
                </a:tc>
                <a:tc>
                  <a:txBody>
                    <a:bodyPr/>
                    <a:lstStyle/>
                    <a:p>
                      <a:pPr algn="ctr"/>
                      <a:r>
                        <a:rPr lang="en-US" sz="3600">
                          <a:solidFill>
                            <a:srgbClr val="FF0000"/>
                          </a:solidFill>
                        </a:rPr>
                        <a:t>15</a:t>
                      </a:r>
                      <a:endParaRPr lang="vi-VN" sz="3600">
                        <a:solidFill>
                          <a:srgbClr val="FF0000"/>
                        </a:solidFill>
                      </a:endParaRPr>
                    </a:p>
                  </a:txBody>
                  <a:tcPr marL="182910" marR="182910" marT="91446" marB="91446" anchor="ctr"/>
                </a:tc>
                <a:tc>
                  <a:txBody>
                    <a:bodyPr/>
                    <a:lstStyle/>
                    <a:p>
                      <a:pPr algn="ctr"/>
                      <a:r>
                        <a:rPr lang="en-US" sz="3600">
                          <a:solidFill>
                            <a:srgbClr val="FF0000"/>
                          </a:solidFill>
                        </a:rPr>
                        <a:t>3</a:t>
                      </a:r>
                      <a:endParaRPr lang="vi-VN" sz="3600">
                        <a:solidFill>
                          <a:srgbClr val="FF0000"/>
                        </a:solidFill>
                      </a:endParaRPr>
                    </a:p>
                  </a:txBody>
                  <a:tcPr marL="182910" marR="182910" marT="91446" marB="91446" anchor="ctr"/>
                </a:tc>
                <a:tc>
                  <a:txBody>
                    <a:bodyPr/>
                    <a:lstStyle/>
                    <a:p>
                      <a:pPr algn="ctr"/>
                      <a:r>
                        <a:rPr lang="en-US" sz="3600">
                          <a:solidFill>
                            <a:srgbClr val="FF0000"/>
                          </a:solidFill>
                        </a:rPr>
                        <a:t>45</a:t>
                      </a:r>
                      <a:endParaRPr lang="vi-VN" sz="3600">
                        <a:solidFill>
                          <a:srgbClr val="FF0000"/>
                        </a:solidFill>
                      </a:endParaRPr>
                    </a:p>
                  </a:txBody>
                  <a:tcPr marL="182910" marR="182910" marT="91446" marB="91446" anchor="ctr"/>
                </a:tc>
                <a:tc>
                  <a:txBody>
                    <a:bodyPr/>
                    <a:lstStyle/>
                    <a:p>
                      <a:pPr algn="ctr"/>
                      <a:r>
                        <a:rPr lang="en-US" sz="3600">
                          <a:solidFill>
                            <a:srgbClr val="FF0000"/>
                          </a:solidFill>
                        </a:rPr>
                        <a:t>4</a:t>
                      </a:r>
                      <a:endParaRPr lang="vi-VN" sz="3600">
                        <a:solidFill>
                          <a:srgbClr val="FF0000"/>
                        </a:solidFill>
                      </a:endParaRPr>
                    </a:p>
                  </a:txBody>
                  <a:tcPr marL="182910" marR="182910" marT="91446" marB="91446" anchor="ctr"/>
                </a:tc>
                <a:tc>
                  <a:txBody>
                    <a:bodyPr/>
                    <a:lstStyle/>
                    <a:p>
                      <a:pPr algn="ctr"/>
                      <a:r>
                        <a:rPr lang="en-US" sz="3600">
                          <a:solidFill>
                            <a:srgbClr val="FF0000"/>
                          </a:solidFill>
                        </a:rPr>
                        <a:t>60</a:t>
                      </a:r>
                      <a:endParaRPr lang="vi-VN" sz="3600">
                        <a:solidFill>
                          <a:srgbClr val="FF0000"/>
                        </a:solidFill>
                      </a:endParaRPr>
                    </a:p>
                  </a:txBody>
                  <a:tcPr marL="182910" marR="182910" marT="91446" marB="91446" anchor="ctr"/>
                </a:tc>
                <a:extLst>
                  <a:ext uri="{0D108BD9-81ED-4DB2-BD59-A6C34878D82A}">
                    <a16:rowId xmlns:a16="http://schemas.microsoft.com/office/drawing/2014/main" val="10003"/>
                  </a:ext>
                </a:extLst>
              </a:tr>
              <a:tr h="1551424">
                <a:tc>
                  <a:txBody>
                    <a:bodyPr/>
                    <a:lstStyle/>
                    <a:p>
                      <a:pPr algn="ctr"/>
                      <a:r>
                        <a:rPr lang="en-US" sz="3600" b="1">
                          <a:solidFill>
                            <a:srgbClr val="002060"/>
                          </a:solidFill>
                        </a:rPr>
                        <a:t>Kém</a:t>
                      </a:r>
                      <a:r>
                        <a:rPr lang="en-US" sz="3600" b="1" baseline="0">
                          <a:solidFill>
                            <a:srgbClr val="002060"/>
                          </a:solidFill>
                        </a:rPr>
                        <a:t> </a:t>
                      </a:r>
                      <a:endParaRPr lang="vi-VN" sz="3600" b="1">
                        <a:solidFill>
                          <a:srgbClr val="002060"/>
                        </a:solidFill>
                      </a:endParaRPr>
                    </a:p>
                  </a:txBody>
                  <a:tcPr marL="182910" marR="182910" marT="91446" marB="91446" anchor="ctr"/>
                </a:tc>
                <a:tc>
                  <a:txBody>
                    <a:bodyPr/>
                    <a:lstStyle/>
                    <a:p>
                      <a:pPr algn="ctr"/>
                      <a:r>
                        <a:rPr lang="en-US" sz="3600">
                          <a:solidFill>
                            <a:srgbClr val="002060"/>
                          </a:solidFill>
                        </a:rPr>
                        <a:t>70</a:t>
                      </a:r>
                      <a:endParaRPr lang="vi-VN" sz="3600">
                        <a:solidFill>
                          <a:srgbClr val="002060"/>
                        </a:solidFill>
                      </a:endParaRPr>
                    </a:p>
                  </a:txBody>
                  <a:tcPr marL="182910" marR="182910" marT="91446" marB="91446" anchor="ctr"/>
                </a:tc>
                <a:tc>
                  <a:txBody>
                    <a:bodyPr/>
                    <a:lstStyle/>
                    <a:p>
                      <a:pPr algn="ctr"/>
                      <a:r>
                        <a:rPr lang="en-US" sz="3600">
                          <a:solidFill>
                            <a:srgbClr val="002060"/>
                          </a:solidFill>
                        </a:rPr>
                        <a:t>4</a:t>
                      </a:r>
                      <a:endParaRPr lang="vi-VN" sz="3600">
                        <a:solidFill>
                          <a:srgbClr val="002060"/>
                        </a:solidFill>
                      </a:endParaRPr>
                    </a:p>
                  </a:txBody>
                  <a:tcPr marL="182910" marR="182910" marT="91446" marB="91446" anchor="ctr"/>
                </a:tc>
                <a:tc>
                  <a:txBody>
                    <a:bodyPr/>
                    <a:lstStyle/>
                    <a:p>
                      <a:pPr algn="ctr"/>
                      <a:r>
                        <a:rPr lang="en-US" sz="3600">
                          <a:solidFill>
                            <a:srgbClr val="002060"/>
                          </a:solidFill>
                        </a:rPr>
                        <a:t>280</a:t>
                      </a:r>
                      <a:endParaRPr lang="vi-VN" sz="3600">
                        <a:solidFill>
                          <a:srgbClr val="002060"/>
                        </a:solidFill>
                      </a:endParaRPr>
                    </a:p>
                  </a:txBody>
                  <a:tcPr marL="182910" marR="182910" marT="91446" marB="91446" anchor="ctr"/>
                </a:tc>
                <a:tc>
                  <a:txBody>
                    <a:bodyPr/>
                    <a:lstStyle/>
                    <a:p>
                      <a:pPr algn="ctr"/>
                      <a:r>
                        <a:rPr lang="en-US" sz="3600">
                          <a:solidFill>
                            <a:srgbClr val="002060"/>
                          </a:solidFill>
                        </a:rPr>
                        <a:t>4</a:t>
                      </a:r>
                      <a:endParaRPr lang="vi-VN" sz="3600">
                        <a:solidFill>
                          <a:srgbClr val="002060"/>
                        </a:solidFill>
                      </a:endParaRPr>
                    </a:p>
                  </a:txBody>
                  <a:tcPr marL="182910" marR="182910" marT="91446" marB="91446" anchor="ctr"/>
                </a:tc>
                <a:tc>
                  <a:txBody>
                    <a:bodyPr/>
                    <a:lstStyle/>
                    <a:p>
                      <a:pPr algn="ctr"/>
                      <a:r>
                        <a:rPr lang="en-US" sz="3600">
                          <a:solidFill>
                            <a:srgbClr val="002060"/>
                          </a:solidFill>
                        </a:rPr>
                        <a:t>280</a:t>
                      </a:r>
                      <a:endParaRPr lang="vi-VN" sz="3600">
                        <a:solidFill>
                          <a:srgbClr val="002060"/>
                        </a:solidFill>
                      </a:endParaRPr>
                    </a:p>
                  </a:txBody>
                  <a:tcPr marL="182910" marR="182910" marT="91446" marB="91446" anchor="ctr"/>
                </a:tc>
                <a:extLst>
                  <a:ext uri="{0D108BD9-81ED-4DB2-BD59-A6C34878D82A}">
                    <a16:rowId xmlns:a16="http://schemas.microsoft.com/office/drawing/2014/main" val="10004"/>
                  </a:ext>
                </a:extLst>
              </a:tr>
            </a:tbl>
          </a:graphicData>
        </a:graphic>
      </p:graphicFrame>
      <p:sp>
        <p:nvSpPr>
          <p:cNvPr id="7" name="Title 3">
            <a:extLst>
              <a:ext uri="{FF2B5EF4-FFF2-40B4-BE49-F238E27FC236}">
                <a16:creationId xmlns:a16="http://schemas.microsoft.com/office/drawing/2014/main" id="{0BCF1AE5-9FF0-BB49-AAC4-17251D0B7078}"/>
              </a:ext>
            </a:extLst>
          </p:cNvPr>
          <p:cNvSpPr txBox="1">
            <a:spLocks/>
          </p:cNvSpPr>
          <p:nvPr/>
        </p:nvSpPr>
        <p:spPr>
          <a:xfrm>
            <a:off x="1640496" y="763270"/>
            <a:ext cx="14308380" cy="1768476"/>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800" b="1">
                <a:solidFill>
                  <a:srgbClr val="002060"/>
                </a:solidFill>
                <a:latin typeface="Verdana" panose="020B0604030504040204" pitchFamily="34" charset="0"/>
              </a:rPr>
              <a:t>Hình thành GIÁ TRỊ THỊ TR</a:t>
            </a:r>
            <a:r>
              <a:rPr lang="vi-VN" altLang="en-US" sz="4800" b="1">
                <a:solidFill>
                  <a:srgbClr val="002060"/>
                </a:solidFill>
                <a:latin typeface="Verdana" panose="020B0604030504040204" pitchFamily="34" charset="0"/>
              </a:rPr>
              <a:t>Ư</a:t>
            </a:r>
            <a:r>
              <a:rPr lang="en-US" altLang="en-US" sz="4800" b="1">
                <a:solidFill>
                  <a:srgbClr val="002060"/>
                </a:solidFill>
                <a:latin typeface="Verdana" panose="020B0604030504040204" pitchFamily="34" charset="0"/>
              </a:rPr>
              <a:t>ỜNG</a:t>
            </a:r>
          </a:p>
        </p:txBody>
      </p:sp>
    </p:spTree>
    <p:extLst>
      <p:ext uri="{BB962C8B-B14F-4D97-AF65-F5344CB8AC3E}">
        <p14:creationId xmlns:p14="http://schemas.microsoft.com/office/powerpoint/2010/main" val="1978853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DA2A31C-5BAD-796E-1B04-9A261701948C}"/>
              </a:ext>
            </a:extLst>
          </p:cNvPr>
          <p:cNvGraphicFramePr>
            <a:graphicFrameLocks noGrp="1"/>
          </p:cNvGraphicFramePr>
          <p:nvPr/>
        </p:nvGraphicFramePr>
        <p:xfrm>
          <a:off x="1226822" y="3423921"/>
          <a:ext cx="15671796" cy="9601202"/>
        </p:xfrm>
        <a:graphic>
          <a:graphicData uri="http://schemas.openxmlformats.org/drawingml/2006/table">
            <a:tbl>
              <a:tblPr firstRow="1" bandRow="1">
                <a:tableStyleId>{5C22544A-7EE6-4342-B048-85BDC9FD1C3A}</a:tableStyleId>
              </a:tblPr>
              <a:tblGrid>
                <a:gridCol w="2611966">
                  <a:extLst>
                    <a:ext uri="{9D8B030D-6E8A-4147-A177-3AD203B41FA5}">
                      <a16:colId xmlns:a16="http://schemas.microsoft.com/office/drawing/2014/main" val="20000"/>
                    </a:ext>
                  </a:extLst>
                </a:gridCol>
                <a:gridCol w="2611966">
                  <a:extLst>
                    <a:ext uri="{9D8B030D-6E8A-4147-A177-3AD203B41FA5}">
                      <a16:colId xmlns:a16="http://schemas.microsoft.com/office/drawing/2014/main" val="20001"/>
                    </a:ext>
                  </a:extLst>
                </a:gridCol>
                <a:gridCol w="2611966">
                  <a:extLst>
                    <a:ext uri="{9D8B030D-6E8A-4147-A177-3AD203B41FA5}">
                      <a16:colId xmlns:a16="http://schemas.microsoft.com/office/drawing/2014/main" val="20002"/>
                    </a:ext>
                  </a:extLst>
                </a:gridCol>
                <a:gridCol w="2611966">
                  <a:extLst>
                    <a:ext uri="{9D8B030D-6E8A-4147-A177-3AD203B41FA5}">
                      <a16:colId xmlns:a16="http://schemas.microsoft.com/office/drawing/2014/main" val="20003"/>
                    </a:ext>
                  </a:extLst>
                </a:gridCol>
                <a:gridCol w="2611966">
                  <a:extLst>
                    <a:ext uri="{9D8B030D-6E8A-4147-A177-3AD203B41FA5}">
                      <a16:colId xmlns:a16="http://schemas.microsoft.com/office/drawing/2014/main" val="20004"/>
                    </a:ext>
                  </a:extLst>
                </a:gridCol>
                <a:gridCol w="2611966">
                  <a:extLst>
                    <a:ext uri="{9D8B030D-6E8A-4147-A177-3AD203B41FA5}">
                      <a16:colId xmlns:a16="http://schemas.microsoft.com/office/drawing/2014/main" val="20005"/>
                    </a:ext>
                  </a:extLst>
                </a:gridCol>
              </a:tblGrid>
              <a:tr h="2014802">
                <a:tc gridSpan="6">
                  <a:txBody>
                    <a:bodyPr/>
                    <a:lstStyle/>
                    <a:p>
                      <a:pPr algn="ctr"/>
                      <a:r>
                        <a:rPr lang="en-US" sz="4800">
                          <a:solidFill>
                            <a:schemeClr val="bg1"/>
                          </a:solidFill>
                        </a:rPr>
                        <a:t>Trường hợp</a:t>
                      </a:r>
                      <a:r>
                        <a:rPr lang="en-US" sz="4800" baseline="0">
                          <a:solidFill>
                            <a:schemeClr val="bg1"/>
                          </a:solidFill>
                        </a:rPr>
                        <a:t> 3: đại bộ phận hàng hóa được sản xuất ra trong điều kiện tốt</a:t>
                      </a:r>
                      <a:endParaRPr lang="vi-VN" sz="4800">
                        <a:solidFill>
                          <a:schemeClr val="bg1"/>
                        </a:solidFill>
                      </a:endParaRPr>
                    </a:p>
                  </a:txBody>
                  <a:tcPr marL="182910" marR="182910" marT="91446" marB="91446"/>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tc hMerge="1">
                  <a:txBody>
                    <a:bodyPr/>
                    <a:lstStyle/>
                    <a:p>
                      <a:endParaRPr lang="vi-VN"/>
                    </a:p>
                  </a:txBody>
                  <a:tcPr/>
                </a:tc>
                <a:extLst>
                  <a:ext uri="{0D108BD9-81ED-4DB2-BD59-A6C34878D82A}">
                    <a16:rowId xmlns:a16="http://schemas.microsoft.com/office/drawing/2014/main" val="10000"/>
                  </a:ext>
                </a:extLst>
              </a:tr>
              <a:tr h="2910068">
                <a:tc>
                  <a:txBody>
                    <a:bodyPr/>
                    <a:lstStyle/>
                    <a:p>
                      <a:pPr algn="ctr"/>
                      <a:r>
                        <a:rPr lang="en-US" sz="3600" b="1">
                          <a:solidFill>
                            <a:srgbClr val="002060"/>
                          </a:solidFill>
                        </a:rPr>
                        <a:t>Loại</a:t>
                      </a:r>
                      <a:r>
                        <a:rPr lang="en-US" sz="3600" b="1" baseline="0">
                          <a:solidFill>
                            <a:srgbClr val="002060"/>
                          </a:solidFill>
                        </a:rPr>
                        <a:t> xí nghiệp</a:t>
                      </a:r>
                      <a:endParaRPr lang="vi-VN" sz="3600" b="1">
                        <a:solidFill>
                          <a:srgbClr val="002060"/>
                        </a:solidFill>
                      </a:endParaRPr>
                    </a:p>
                  </a:txBody>
                  <a:tcPr marL="182910" marR="182910" marT="91446" marB="91446" anchor="ctr"/>
                </a:tc>
                <a:tc>
                  <a:txBody>
                    <a:bodyPr/>
                    <a:lstStyle/>
                    <a:p>
                      <a:pPr algn="ctr"/>
                      <a:r>
                        <a:rPr lang="en-US" sz="3600" b="1">
                          <a:solidFill>
                            <a:srgbClr val="002060"/>
                          </a:solidFill>
                        </a:rPr>
                        <a:t>Số lượng</a:t>
                      </a:r>
                      <a:r>
                        <a:rPr lang="en-US" sz="3600" b="1" baseline="0">
                          <a:solidFill>
                            <a:srgbClr val="002060"/>
                          </a:solidFill>
                        </a:rPr>
                        <a:t> SP</a:t>
                      </a:r>
                    </a:p>
                    <a:p>
                      <a:pPr algn="ctr"/>
                      <a:r>
                        <a:rPr lang="en-US" sz="3600" b="1" baseline="0">
                          <a:solidFill>
                            <a:srgbClr val="FF0000"/>
                          </a:solidFill>
                        </a:rPr>
                        <a:t>(1)</a:t>
                      </a:r>
                      <a:endParaRPr lang="vi-VN" sz="3600" b="1">
                        <a:solidFill>
                          <a:srgbClr val="FF0000"/>
                        </a:solidFill>
                      </a:endParaRPr>
                    </a:p>
                  </a:txBody>
                  <a:tcPr marL="182910" marR="182910" marT="91446" marB="91446" anchor="ctr"/>
                </a:tc>
                <a:tc>
                  <a:txBody>
                    <a:bodyPr/>
                    <a:lstStyle/>
                    <a:p>
                      <a:pPr algn="ctr"/>
                      <a:r>
                        <a:rPr lang="en-US" sz="3600" b="1">
                          <a:solidFill>
                            <a:srgbClr val="002060"/>
                          </a:solidFill>
                        </a:rPr>
                        <a:t>Giá</a:t>
                      </a:r>
                      <a:r>
                        <a:rPr lang="en-US" sz="3600" b="1" baseline="0">
                          <a:solidFill>
                            <a:srgbClr val="002060"/>
                          </a:solidFill>
                        </a:rPr>
                        <a:t> trị cá biệt</a:t>
                      </a:r>
                    </a:p>
                    <a:p>
                      <a:pPr algn="ctr"/>
                      <a:r>
                        <a:rPr lang="en-US" sz="3600" b="1" baseline="0">
                          <a:solidFill>
                            <a:srgbClr val="FF0000"/>
                          </a:solidFill>
                        </a:rPr>
                        <a:t>(2)</a:t>
                      </a:r>
                    </a:p>
                    <a:p>
                      <a:pPr algn="ctr"/>
                      <a:endParaRPr lang="vi-VN" sz="3600" b="1">
                        <a:solidFill>
                          <a:srgbClr val="002060"/>
                        </a:solidFill>
                      </a:endParaRPr>
                    </a:p>
                  </a:txBody>
                  <a:tcPr marL="182910" marR="182910" marT="91446" marB="91446" anchor="ctr"/>
                </a:tc>
                <a:tc>
                  <a:txBody>
                    <a:bodyPr/>
                    <a:lstStyle/>
                    <a:p>
                      <a:pPr algn="ctr"/>
                      <a:r>
                        <a:rPr lang="en-US" sz="3600" b="1">
                          <a:solidFill>
                            <a:srgbClr val="002060"/>
                          </a:solidFill>
                        </a:rPr>
                        <a:t>Tổng số</a:t>
                      </a:r>
                      <a:r>
                        <a:rPr lang="en-US" sz="3600" b="1" baseline="0">
                          <a:solidFill>
                            <a:srgbClr val="002060"/>
                          </a:solidFill>
                        </a:rPr>
                        <a:t> giá trị cá biệt</a:t>
                      </a:r>
                    </a:p>
                    <a:p>
                      <a:pPr algn="ctr"/>
                      <a:r>
                        <a:rPr lang="en-US" sz="3600" b="1" baseline="0">
                          <a:solidFill>
                            <a:srgbClr val="FF0000"/>
                          </a:solidFill>
                        </a:rPr>
                        <a:t>(3)=(1)*(2)</a:t>
                      </a:r>
                      <a:endParaRPr lang="vi-VN" sz="3600" b="1">
                        <a:solidFill>
                          <a:srgbClr val="FF0000"/>
                        </a:solidFill>
                      </a:endParaRPr>
                    </a:p>
                  </a:txBody>
                  <a:tcPr marL="182910" marR="182910" marT="91446" marB="91446" anchor="ctr"/>
                </a:tc>
                <a:tc>
                  <a:txBody>
                    <a:bodyPr/>
                    <a:lstStyle/>
                    <a:p>
                      <a:pPr algn="ctr"/>
                      <a:r>
                        <a:rPr lang="en-US" sz="3600" b="1">
                          <a:solidFill>
                            <a:srgbClr val="002060"/>
                          </a:solidFill>
                        </a:rPr>
                        <a:t>Giá</a:t>
                      </a:r>
                      <a:r>
                        <a:rPr lang="en-US" sz="3600" b="1" baseline="0">
                          <a:solidFill>
                            <a:srgbClr val="002060"/>
                          </a:solidFill>
                        </a:rPr>
                        <a:t> trị thị trường</a:t>
                      </a:r>
                    </a:p>
                    <a:p>
                      <a:pPr algn="ctr"/>
                      <a:r>
                        <a:rPr lang="en-US" sz="3600" b="1" baseline="0">
                          <a:solidFill>
                            <a:srgbClr val="FF0000"/>
                          </a:solidFill>
                        </a:rPr>
                        <a:t>(4)=GTCB tốt</a:t>
                      </a:r>
                      <a:endParaRPr lang="vi-VN" sz="3600" b="1">
                        <a:solidFill>
                          <a:srgbClr val="FF0000"/>
                        </a:solidFill>
                      </a:endParaRPr>
                    </a:p>
                  </a:txBody>
                  <a:tcPr marL="182910" marR="182910" marT="91446" marB="91446" anchor="ctr"/>
                </a:tc>
                <a:tc>
                  <a:txBody>
                    <a:bodyPr/>
                    <a:lstStyle/>
                    <a:p>
                      <a:pPr algn="ctr"/>
                      <a:r>
                        <a:rPr lang="en-US" sz="3600" b="1">
                          <a:solidFill>
                            <a:srgbClr val="002060"/>
                          </a:solidFill>
                        </a:rPr>
                        <a:t>Tổng số</a:t>
                      </a:r>
                      <a:r>
                        <a:rPr lang="en-US" sz="3600" b="1" baseline="0">
                          <a:solidFill>
                            <a:srgbClr val="002060"/>
                          </a:solidFill>
                        </a:rPr>
                        <a:t> giá trị thị trường</a:t>
                      </a:r>
                    </a:p>
                    <a:p>
                      <a:pPr algn="ctr"/>
                      <a:r>
                        <a:rPr lang="en-US" sz="3600" b="1" baseline="0">
                          <a:solidFill>
                            <a:srgbClr val="FF0000"/>
                          </a:solidFill>
                        </a:rPr>
                        <a:t>(5)=(1)*(4)</a:t>
                      </a:r>
                      <a:endParaRPr lang="vi-VN" sz="3600" b="1">
                        <a:solidFill>
                          <a:srgbClr val="FF0000"/>
                        </a:solidFill>
                      </a:endParaRPr>
                    </a:p>
                  </a:txBody>
                  <a:tcPr marL="182910" marR="182910" marT="91446" marB="91446" anchor="ctr"/>
                </a:tc>
                <a:extLst>
                  <a:ext uri="{0D108BD9-81ED-4DB2-BD59-A6C34878D82A}">
                    <a16:rowId xmlns:a16="http://schemas.microsoft.com/office/drawing/2014/main" val="10001"/>
                  </a:ext>
                </a:extLst>
              </a:tr>
              <a:tr h="1554632">
                <a:tc>
                  <a:txBody>
                    <a:bodyPr/>
                    <a:lstStyle/>
                    <a:p>
                      <a:pPr algn="ctr"/>
                      <a:r>
                        <a:rPr lang="en-US" sz="3600" b="1">
                          <a:solidFill>
                            <a:srgbClr val="FF0000"/>
                          </a:solidFill>
                        </a:rPr>
                        <a:t>Tốt</a:t>
                      </a:r>
                      <a:endParaRPr lang="vi-VN" sz="3600" b="1">
                        <a:solidFill>
                          <a:srgbClr val="FF0000"/>
                        </a:solidFill>
                      </a:endParaRPr>
                    </a:p>
                  </a:txBody>
                  <a:tcPr marL="182910" marR="182910" marT="91446" marB="91446" anchor="ctr"/>
                </a:tc>
                <a:tc>
                  <a:txBody>
                    <a:bodyPr/>
                    <a:lstStyle/>
                    <a:p>
                      <a:pPr algn="ctr"/>
                      <a:r>
                        <a:rPr lang="en-US" sz="3600">
                          <a:solidFill>
                            <a:srgbClr val="FF0000"/>
                          </a:solidFill>
                        </a:rPr>
                        <a:t>70</a:t>
                      </a:r>
                      <a:endParaRPr lang="vi-VN" sz="3600">
                        <a:solidFill>
                          <a:srgbClr val="FF0000"/>
                        </a:solidFill>
                      </a:endParaRPr>
                    </a:p>
                  </a:txBody>
                  <a:tcPr marL="182910" marR="182910" marT="91446" marB="91446" anchor="ctr"/>
                </a:tc>
                <a:tc>
                  <a:txBody>
                    <a:bodyPr/>
                    <a:lstStyle/>
                    <a:p>
                      <a:pPr algn="ctr"/>
                      <a:r>
                        <a:rPr lang="en-US" sz="3600">
                          <a:solidFill>
                            <a:srgbClr val="FF0000"/>
                          </a:solidFill>
                        </a:rPr>
                        <a:t>2</a:t>
                      </a:r>
                      <a:endParaRPr lang="vi-VN" sz="3600">
                        <a:solidFill>
                          <a:srgbClr val="FF0000"/>
                        </a:solidFill>
                      </a:endParaRPr>
                    </a:p>
                  </a:txBody>
                  <a:tcPr marL="182910" marR="182910" marT="91446" marB="91446" anchor="ctr"/>
                </a:tc>
                <a:tc>
                  <a:txBody>
                    <a:bodyPr/>
                    <a:lstStyle/>
                    <a:p>
                      <a:pPr algn="ctr"/>
                      <a:r>
                        <a:rPr lang="en-US" sz="3600">
                          <a:solidFill>
                            <a:srgbClr val="FF0000"/>
                          </a:solidFill>
                        </a:rPr>
                        <a:t>140</a:t>
                      </a:r>
                      <a:endParaRPr lang="vi-VN" sz="3600">
                        <a:solidFill>
                          <a:srgbClr val="FF0000"/>
                        </a:solidFill>
                      </a:endParaRPr>
                    </a:p>
                  </a:txBody>
                  <a:tcPr marL="182910" marR="182910" marT="91446" marB="91446" anchor="ctr"/>
                </a:tc>
                <a:tc>
                  <a:txBody>
                    <a:bodyPr/>
                    <a:lstStyle/>
                    <a:p>
                      <a:pPr algn="ctr"/>
                      <a:r>
                        <a:rPr lang="en-US" sz="3600">
                          <a:solidFill>
                            <a:srgbClr val="FF0000"/>
                          </a:solidFill>
                        </a:rPr>
                        <a:t>2</a:t>
                      </a:r>
                      <a:endParaRPr lang="vi-VN" sz="3600">
                        <a:solidFill>
                          <a:srgbClr val="FF0000"/>
                        </a:solidFill>
                      </a:endParaRPr>
                    </a:p>
                  </a:txBody>
                  <a:tcPr marL="182910" marR="182910" marT="91446" marB="91446" anchor="ctr"/>
                </a:tc>
                <a:tc>
                  <a:txBody>
                    <a:bodyPr/>
                    <a:lstStyle/>
                    <a:p>
                      <a:pPr algn="ctr"/>
                      <a:r>
                        <a:rPr lang="en-US" sz="3600">
                          <a:solidFill>
                            <a:srgbClr val="FF0000"/>
                          </a:solidFill>
                        </a:rPr>
                        <a:t>140</a:t>
                      </a:r>
                      <a:endParaRPr lang="vi-VN" sz="3600">
                        <a:solidFill>
                          <a:srgbClr val="FF0000"/>
                        </a:solidFill>
                      </a:endParaRPr>
                    </a:p>
                  </a:txBody>
                  <a:tcPr marL="182910" marR="182910" marT="91446" marB="91446" anchor="ctr"/>
                </a:tc>
                <a:extLst>
                  <a:ext uri="{0D108BD9-81ED-4DB2-BD59-A6C34878D82A}">
                    <a16:rowId xmlns:a16="http://schemas.microsoft.com/office/drawing/2014/main" val="10002"/>
                  </a:ext>
                </a:extLst>
              </a:tr>
              <a:tr h="1567068">
                <a:tc>
                  <a:txBody>
                    <a:bodyPr/>
                    <a:lstStyle/>
                    <a:p>
                      <a:pPr algn="ctr"/>
                      <a:r>
                        <a:rPr lang="en-US" sz="3600" b="1">
                          <a:solidFill>
                            <a:srgbClr val="002060"/>
                          </a:solidFill>
                        </a:rPr>
                        <a:t>Trung bình</a:t>
                      </a:r>
                      <a:endParaRPr lang="vi-VN" sz="3600" b="1">
                        <a:solidFill>
                          <a:srgbClr val="002060"/>
                        </a:solidFill>
                      </a:endParaRPr>
                    </a:p>
                  </a:txBody>
                  <a:tcPr marL="182910" marR="182910" marT="91446" marB="91446" anchor="ctr"/>
                </a:tc>
                <a:tc>
                  <a:txBody>
                    <a:bodyPr/>
                    <a:lstStyle/>
                    <a:p>
                      <a:pPr algn="ctr"/>
                      <a:r>
                        <a:rPr lang="en-US" sz="3600">
                          <a:solidFill>
                            <a:srgbClr val="002060"/>
                          </a:solidFill>
                        </a:rPr>
                        <a:t>15</a:t>
                      </a:r>
                      <a:endParaRPr lang="vi-VN" sz="3600">
                        <a:solidFill>
                          <a:srgbClr val="002060"/>
                        </a:solidFill>
                      </a:endParaRPr>
                    </a:p>
                  </a:txBody>
                  <a:tcPr marL="182910" marR="182910" marT="91446" marB="91446" anchor="ctr"/>
                </a:tc>
                <a:tc>
                  <a:txBody>
                    <a:bodyPr/>
                    <a:lstStyle/>
                    <a:p>
                      <a:pPr algn="ctr"/>
                      <a:r>
                        <a:rPr lang="en-US" sz="3600">
                          <a:solidFill>
                            <a:srgbClr val="002060"/>
                          </a:solidFill>
                        </a:rPr>
                        <a:t>3</a:t>
                      </a:r>
                      <a:endParaRPr lang="vi-VN" sz="3600">
                        <a:solidFill>
                          <a:srgbClr val="002060"/>
                        </a:solidFill>
                      </a:endParaRPr>
                    </a:p>
                  </a:txBody>
                  <a:tcPr marL="182910" marR="182910" marT="91446" marB="91446" anchor="ctr"/>
                </a:tc>
                <a:tc>
                  <a:txBody>
                    <a:bodyPr/>
                    <a:lstStyle/>
                    <a:p>
                      <a:pPr algn="ctr"/>
                      <a:r>
                        <a:rPr lang="en-US" sz="3600">
                          <a:solidFill>
                            <a:srgbClr val="002060"/>
                          </a:solidFill>
                        </a:rPr>
                        <a:t>45</a:t>
                      </a:r>
                      <a:endParaRPr lang="vi-VN" sz="3600">
                        <a:solidFill>
                          <a:srgbClr val="002060"/>
                        </a:solidFill>
                      </a:endParaRPr>
                    </a:p>
                  </a:txBody>
                  <a:tcPr marL="182910" marR="182910" marT="91446" marB="91446" anchor="ctr"/>
                </a:tc>
                <a:tc>
                  <a:txBody>
                    <a:bodyPr/>
                    <a:lstStyle/>
                    <a:p>
                      <a:pPr algn="ctr"/>
                      <a:r>
                        <a:rPr lang="en-US" sz="3600">
                          <a:solidFill>
                            <a:srgbClr val="002060"/>
                          </a:solidFill>
                        </a:rPr>
                        <a:t>2</a:t>
                      </a:r>
                      <a:endParaRPr lang="vi-VN" sz="3600">
                        <a:solidFill>
                          <a:srgbClr val="002060"/>
                        </a:solidFill>
                      </a:endParaRPr>
                    </a:p>
                  </a:txBody>
                  <a:tcPr marL="182910" marR="182910" marT="91446" marB="91446" anchor="ctr"/>
                </a:tc>
                <a:tc>
                  <a:txBody>
                    <a:bodyPr/>
                    <a:lstStyle/>
                    <a:p>
                      <a:pPr algn="ctr"/>
                      <a:r>
                        <a:rPr lang="en-US" sz="3600">
                          <a:solidFill>
                            <a:srgbClr val="002060"/>
                          </a:solidFill>
                        </a:rPr>
                        <a:t>30</a:t>
                      </a:r>
                      <a:endParaRPr lang="vi-VN" sz="3600">
                        <a:solidFill>
                          <a:srgbClr val="002060"/>
                        </a:solidFill>
                      </a:endParaRPr>
                    </a:p>
                  </a:txBody>
                  <a:tcPr marL="182910" marR="182910" marT="91446" marB="91446" anchor="ctr"/>
                </a:tc>
                <a:extLst>
                  <a:ext uri="{0D108BD9-81ED-4DB2-BD59-A6C34878D82A}">
                    <a16:rowId xmlns:a16="http://schemas.microsoft.com/office/drawing/2014/main" val="10003"/>
                  </a:ext>
                </a:extLst>
              </a:tr>
              <a:tr h="1554632">
                <a:tc>
                  <a:txBody>
                    <a:bodyPr/>
                    <a:lstStyle/>
                    <a:p>
                      <a:pPr algn="ctr"/>
                      <a:r>
                        <a:rPr lang="en-US" sz="3600" b="1">
                          <a:solidFill>
                            <a:srgbClr val="002060"/>
                          </a:solidFill>
                        </a:rPr>
                        <a:t>Kém</a:t>
                      </a:r>
                      <a:r>
                        <a:rPr lang="en-US" sz="3600" b="1" baseline="0">
                          <a:solidFill>
                            <a:srgbClr val="002060"/>
                          </a:solidFill>
                        </a:rPr>
                        <a:t> </a:t>
                      </a:r>
                      <a:endParaRPr lang="vi-VN" sz="3600" b="1">
                        <a:solidFill>
                          <a:srgbClr val="002060"/>
                        </a:solidFill>
                      </a:endParaRPr>
                    </a:p>
                  </a:txBody>
                  <a:tcPr marL="182910" marR="182910" marT="91446" marB="91446" anchor="ctr"/>
                </a:tc>
                <a:tc>
                  <a:txBody>
                    <a:bodyPr/>
                    <a:lstStyle/>
                    <a:p>
                      <a:pPr algn="ctr"/>
                      <a:r>
                        <a:rPr lang="en-US" sz="3600">
                          <a:solidFill>
                            <a:srgbClr val="002060"/>
                          </a:solidFill>
                        </a:rPr>
                        <a:t>15</a:t>
                      </a:r>
                      <a:endParaRPr lang="vi-VN" sz="3600">
                        <a:solidFill>
                          <a:srgbClr val="002060"/>
                        </a:solidFill>
                      </a:endParaRPr>
                    </a:p>
                  </a:txBody>
                  <a:tcPr marL="182910" marR="182910" marT="91446" marB="91446" anchor="ctr"/>
                </a:tc>
                <a:tc>
                  <a:txBody>
                    <a:bodyPr/>
                    <a:lstStyle/>
                    <a:p>
                      <a:pPr algn="ctr"/>
                      <a:r>
                        <a:rPr lang="en-US" sz="3600">
                          <a:solidFill>
                            <a:srgbClr val="002060"/>
                          </a:solidFill>
                        </a:rPr>
                        <a:t>4</a:t>
                      </a:r>
                      <a:endParaRPr lang="vi-VN" sz="3600">
                        <a:solidFill>
                          <a:srgbClr val="002060"/>
                        </a:solidFill>
                      </a:endParaRPr>
                    </a:p>
                  </a:txBody>
                  <a:tcPr marL="182910" marR="182910" marT="91446" marB="91446" anchor="ctr"/>
                </a:tc>
                <a:tc>
                  <a:txBody>
                    <a:bodyPr/>
                    <a:lstStyle/>
                    <a:p>
                      <a:pPr algn="ctr"/>
                      <a:r>
                        <a:rPr lang="en-US" sz="3600">
                          <a:solidFill>
                            <a:srgbClr val="002060"/>
                          </a:solidFill>
                        </a:rPr>
                        <a:t>60</a:t>
                      </a:r>
                      <a:endParaRPr lang="vi-VN" sz="3600">
                        <a:solidFill>
                          <a:srgbClr val="002060"/>
                        </a:solidFill>
                      </a:endParaRPr>
                    </a:p>
                  </a:txBody>
                  <a:tcPr marL="182910" marR="182910" marT="91446" marB="91446" anchor="ctr"/>
                </a:tc>
                <a:tc>
                  <a:txBody>
                    <a:bodyPr/>
                    <a:lstStyle/>
                    <a:p>
                      <a:pPr algn="ctr"/>
                      <a:r>
                        <a:rPr lang="en-US" sz="3600">
                          <a:solidFill>
                            <a:srgbClr val="002060"/>
                          </a:solidFill>
                        </a:rPr>
                        <a:t>2</a:t>
                      </a:r>
                      <a:endParaRPr lang="vi-VN" sz="3600">
                        <a:solidFill>
                          <a:srgbClr val="002060"/>
                        </a:solidFill>
                      </a:endParaRPr>
                    </a:p>
                  </a:txBody>
                  <a:tcPr marL="182910" marR="182910" marT="91446" marB="91446" anchor="ctr"/>
                </a:tc>
                <a:tc>
                  <a:txBody>
                    <a:bodyPr/>
                    <a:lstStyle/>
                    <a:p>
                      <a:pPr algn="ctr"/>
                      <a:r>
                        <a:rPr lang="en-US" sz="3600">
                          <a:solidFill>
                            <a:srgbClr val="002060"/>
                          </a:solidFill>
                        </a:rPr>
                        <a:t>30</a:t>
                      </a:r>
                      <a:endParaRPr lang="vi-VN" sz="3600">
                        <a:solidFill>
                          <a:srgbClr val="002060"/>
                        </a:solidFill>
                      </a:endParaRPr>
                    </a:p>
                  </a:txBody>
                  <a:tcPr marL="182910" marR="182910" marT="91446" marB="91446" anchor="ctr"/>
                </a:tc>
                <a:extLst>
                  <a:ext uri="{0D108BD9-81ED-4DB2-BD59-A6C34878D82A}">
                    <a16:rowId xmlns:a16="http://schemas.microsoft.com/office/drawing/2014/main" val="10004"/>
                  </a:ext>
                </a:extLst>
              </a:tr>
            </a:tbl>
          </a:graphicData>
        </a:graphic>
      </p:graphicFrame>
      <p:sp>
        <p:nvSpPr>
          <p:cNvPr id="5" name="Title 3">
            <a:extLst>
              <a:ext uri="{FF2B5EF4-FFF2-40B4-BE49-F238E27FC236}">
                <a16:creationId xmlns:a16="http://schemas.microsoft.com/office/drawing/2014/main" id="{3F963C31-578D-9FCE-5D2A-85EF0A663804}"/>
              </a:ext>
            </a:extLst>
          </p:cNvPr>
          <p:cNvSpPr txBox="1">
            <a:spLocks/>
          </p:cNvSpPr>
          <p:nvPr/>
        </p:nvSpPr>
        <p:spPr>
          <a:xfrm>
            <a:off x="1660816" y="914800"/>
            <a:ext cx="14026224" cy="1768476"/>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4800" b="1">
                <a:solidFill>
                  <a:srgbClr val="002060"/>
                </a:solidFill>
                <a:latin typeface="Verdana" panose="020B0604030504040204" pitchFamily="34" charset="0"/>
              </a:rPr>
              <a:t>Hình thành GIÁ TRỊ THỊ TR</a:t>
            </a:r>
            <a:r>
              <a:rPr lang="vi-VN" altLang="en-US" sz="4800" b="1">
                <a:solidFill>
                  <a:srgbClr val="002060"/>
                </a:solidFill>
                <a:latin typeface="Verdana" panose="020B0604030504040204" pitchFamily="34" charset="0"/>
              </a:rPr>
              <a:t>Ư</a:t>
            </a:r>
            <a:r>
              <a:rPr lang="en-US" altLang="en-US" sz="4800" b="1">
                <a:solidFill>
                  <a:srgbClr val="002060"/>
                </a:solidFill>
                <a:latin typeface="Verdana" panose="020B0604030504040204" pitchFamily="34" charset="0"/>
              </a:rPr>
              <a:t>ỜNG</a:t>
            </a:r>
          </a:p>
        </p:txBody>
      </p:sp>
    </p:spTree>
    <p:extLst>
      <p:ext uri="{BB962C8B-B14F-4D97-AF65-F5344CB8AC3E}">
        <p14:creationId xmlns:p14="http://schemas.microsoft.com/office/powerpoint/2010/main" val="74939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F5A7B-B7D2-E4E8-258A-7B843DDC51DE}"/>
              </a:ext>
            </a:extLst>
          </p:cNvPr>
          <p:cNvSpPr txBox="1">
            <a:spLocks/>
          </p:cNvSpPr>
          <p:nvPr/>
        </p:nvSpPr>
        <p:spPr>
          <a:xfrm>
            <a:off x="3883488" y="1452880"/>
            <a:ext cx="10521024" cy="1127124"/>
          </a:xfrm>
          <a:prstGeom prst="rect">
            <a:avLst/>
          </a:prstGeom>
        </p:spPr>
        <p:txBody>
          <a:bodyPr vert="horz" lIns="182880" tIns="91440" rIns="182880" bIns="9144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2000" b="1">
                <a:solidFill>
                  <a:srgbClr val="002060"/>
                </a:solidFill>
                <a:latin typeface="Aachen" panose="02020500000000000000" pitchFamily="18" charset="0"/>
                <a:ea typeface="Aachen" panose="02020500000000000000" pitchFamily="18" charset="0"/>
                <a:cs typeface="Aachen" panose="02020500000000000000" pitchFamily="18" charset="0"/>
              </a:rPr>
              <a:t>Hai loại cạnh tranh</a:t>
            </a:r>
          </a:p>
        </p:txBody>
      </p:sp>
      <p:graphicFrame>
        <p:nvGraphicFramePr>
          <p:cNvPr id="3" name="Table 2">
            <a:extLst>
              <a:ext uri="{FF2B5EF4-FFF2-40B4-BE49-F238E27FC236}">
                <a16:creationId xmlns:a16="http://schemas.microsoft.com/office/drawing/2014/main" id="{993A1DDA-D029-3D2D-AE28-D7A334C53197}"/>
              </a:ext>
            </a:extLst>
          </p:cNvPr>
          <p:cNvGraphicFramePr>
            <a:graphicFrameLocks noGrp="1"/>
          </p:cNvGraphicFramePr>
          <p:nvPr>
            <p:extLst>
              <p:ext uri="{D42A27DB-BD31-4B8C-83A1-F6EECF244321}">
                <p14:modId xmlns:p14="http://schemas.microsoft.com/office/powerpoint/2010/main" val="4230286845"/>
              </p:ext>
            </p:extLst>
          </p:nvPr>
        </p:nvGraphicFramePr>
        <p:xfrm>
          <a:off x="1352636" y="3149601"/>
          <a:ext cx="15665364" cy="9078569"/>
        </p:xfrm>
        <a:graphic>
          <a:graphicData uri="http://schemas.openxmlformats.org/drawingml/2006/table">
            <a:tbl>
              <a:tblPr firstRow="1" bandRow="1">
                <a:tableStyleId>{5C22544A-7EE6-4342-B048-85BDC9FD1C3A}</a:tableStyleId>
              </a:tblPr>
              <a:tblGrid>
                <a:gridCol w="5221788">
                  <a:extLst>
                    <a:ext uri="{9D8B030D-6E8A-4147-A177-3AD203B41FA5}">
                      <a16:colId xmlns:a16="http://schemas.microsoft.com/office/drawing/2014/main" val="20000"/>
                    </a:ext>
                  </a:extLst>
                </a:gridCol>
                <a:gridCol w="5221788">
                  <a:extLst>
                    <a:ext uri="{9D8B030D-6E8A-4147-A177-3AD203B41FA5}">
                      <a16:colId xmlns:a16="http://schemas.microsoft.com/office/drawing/2014/main" val="20001"/>
                    </a:ext>
                  </a:extLst>
                </a:gridCol>
                <a:gridCol w="5221788">
                  <a:extLst>
                    <a:ext uri="{9D8B030D-6E8A-4147-A177-3AD203B41FA5}">
                      <a16:colId xmlns:a16="http://schemas.microsoft.com/office/drawing/2014/main" val="20002"/>
                    </a:ext>
                  </a:extLst>
                </a:gridCol>
              </a:tblGrid>
              <a:tr h="1887928">
                <a:tc>
                  <a:txBody>
                    <a:bodyPr/>
                    <a:lstStyle/>
                    <a:p>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800" b="1" dirty="0" err="1">
                          <a:solidFill>
                            <a:srgbClr val="002060"/>
                          </a:solidFill>
                        </a:rPr>
                        <a:t>Cạnh</a:t>
                      </a:r>
                      <a:r>
                        <a:rPr lang="en-US" sz="3800" b="1" dirty="0">
                          <a:solidFill>
                            <a:srgbClr val="002060"/>
                          </a:solidFill>
                        </a:rPr>
                        <a:t> </a:t>
                      </a:r>
                      <a:r>
                        <a:rPr lang="en-US" sz="3800" b="1" dirty="0" err="1">
                          <a:solidFill>
                            <a:srgbClr val="002060"/>
                          </a:solidFill>
                        </a:rPr>
                        <a:t>tranh</a:t>
                      </a:r>
                      <a:r>
                        <a:rPr lang="en-US" sz="3800" b="1" dirty="0">
                          <a:solidFill>
                            <a:srgbClr val="002060"/>
                          </a:solidFill>
                        </a:rPr>
                        <a:t> </a:t>
                      </a:r>
                      <a:r>
                        <a:rPr lang="en-US" sz="3800" b="1" dirty="0" err="1">
                          <a:solidFill>
                            <a:srgbClr val="002060"/>
                          </a:solidFill>
                        </a:rPr>
                        <a:t>cùng</a:t>
                      </a:r>
                      <a:r>
                        <a:rPr lang="en-US" sz="3800" b="1" baseline="0" dirty="0">
                          <a:solidFill>
                            <a:srgbClr val="002060"/>
                          </a:solidFill>
                        </a:rPr>
                        <a:t> </a:t>
                      </a:r>
                      <a:r>
                        <a:rPr lang="en-US" sz="3800" b="1" baseline="0" dirty="0" err="1">
                          <a:solidFill>
                            <a:srgbClr val="002060"/>
                          </a:solidFill>
                        </a:rPr>
                        <a:t>ngành</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800" b="1" dirty="0" err="1">
                          <a:solidFill>
                            <a:srgbClr val="002060"/>
                          </a:solidFill>
                        </a:rPr>
                        <a:t>Cạnh</a:t>
                      </a:r>
                      <a:r>
                        <a:rPr lang="en-US" sz="3800" b="1" dirty="0">
                          <a:solidFill>
                            <a:srgbClr val="002060"/>
                          </a:solidFill>
                        </a:rPr>
                        <a:t> </a:t>
                      </a:r>
                      <a:r>
                        <a:rPr lang="en-US" sz="3800" b="1" dirty="0" err="1">
                          <a:solidFill>
                            <a:srgbClr val="002060"/>
                          </a:solidFill>
                        </a:rPr>
                        <a:t>tranh</a:t>
                      </a:r>
                      <a:r>
                        <a:rPr lang="en-US" sz="3800" b="1" dirty="0">
                          <a:solidFill>
                            <a:srgbClr val="002060"/>
                          </a:solidFill>
                        </a:rPr>
                        <a:t> </a:t>
                      </a:r>
                      <a:r>
                        <a:rPr lang="en-US" sz="3800" b="1" dirty="0" err="1">
                          <a:solidFill>
                            <a:srgbClr val="002060"/>
                          </a:solidFill>
                        </a:rPr>
                        <a:t>khác</a:t>
                      </a:r>
                      <a:r>
                        <a:rPr lang="en-US" sz="3800" b="1" baseline="0" dirty="0">
                          <a:solidFill>
                            <a:srgbClr val="002060"/>
                          </a:solidFill>
                        </a:rPr>
                        <a:t> </a:t>
                      </a:r>
                      <a:r>
                        <a:rPr lang="en-US" sz="3800" b="1" baseline="0" dirty="0" err="1">
                          <a:solidFill>
                            <a:srgbClr val="002060"/>
                          </a:solidFill>
                        </a:rPr>
                        <a:t>ngành</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1887928">
                <a:tc>
                  <a:txBody>
                    <a:bodyPr/>
                    <a:lstStyle/>
                    <a:p>
                      <a:r>
                        <a:rPr lang="en-US" sz="3800" b="1">
                          <a:solidFill>
                            <a:srgbClr val="002060"/>
                          </a:solidFill>
                        </a:rPr>
                        <a:t>Mục</a:t>
                      </a:r>
                      <a:r>
                        <a:rPr lang="en-US" sz="3800" b="1" baseline="0">
                          <a:solidFill>
                            <a:srgbClr val="002060"/>
                          </a:solidFill>
                        </a:rPr>
                        <a:t> đích</a:t>
                      </a:r>
                      <a:endParaRPr lang="vi-VN" sz="3800" b="1">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800" b="1">
                          <a:solidFill>
                            <a:srgbClr val="002060"/>
                          </a:solidFill>
                        </a:rPr>
                        <a:t>Thu lợi</a:t>
                      </a:r>
                      <a:r>
                        <a:rPr lang="en-US" sz="3800" b="1" baseline="0">
                          <a:solidFill>
                            <a:srgbClr val="002060"/>
                          </a:solidFill>
                        </a:rPr>
                        <a:t> nhuận siêu ngạch</a:t>
                      </a:r>
                      <a:endParaRPr lang="vi-VN" sz="3800" b="1">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800" b="1" dirty="0" err="1">
                          <a:solidFill>
                            <a:srgbClr val="002060"/>
                          </a:solidFill>
                        </a:rPr>
                        <a:t>Dành</a:t>
                      </a:r>
                      <a:r>
                        <a:rPr lang="en-US" sz="3800" b="1" baseline="0" dirty="0">
                          <a:solidFill>
                            <a:srgbClr val="002060"/>
                          </a:solidFill>
                        </a:rPr>
                        <a:t> </a:t>
                      </a:r>
                      <a:r>
                        <a:rPr lang="en-US" sz="3800" b="1" baseline="0" dirty="0" err="1">
                          <a:solidFill>
                            <a:srgbClr val="002060"/>
                          </a:solidFill>
                        </a:rPr>
                        <a:t>nơi</a:t>
                      </a:r>
                      <a:r>
                        <a:rPr lang="en-US" sz="3800" b="1" baseline="0" dirty="0">
                          <a:solidFill>
                            <a:srgbClr val="002060"/>
                          </a:solidFill>
                        </a:rPr>
                        <a:t> </a:t>
                      </a:r>
                      <a:r>
                        <a:rPr lang="en-US" sz="3800" b="1" baseline="0" dirty="0" err="1">
                          <a:solidFill>
                            <a:srgbClr val="002060"/>
                          </a:solidFill>
                        </a:rPr>
                        <a:t>đầu</a:t>
                      </a:r>
                      <a:r>
                        <a:rPr lang="en-US" sz="3800" b="1" baseline="0" dirty="0">
                          <a:solidFill>
                            <a:srgbClr val="002060"/>
                          </a:solidFill>
                        </a:rPr>
                        <a:t> </a:t>
                      </a:r>
                      <a:r>
                        <a:rPr lang="en-US" sz="3800" b="1" baseline="0" dirty="0" err="1">
                          <a:solidFill>
                            <a:srgbClr val="002060"/>
                          </a:solidFill>
                        </a:rPr>
                        <a:t>tư</a:t>
                      </a:r>
                      <a:r>
                        <a:rPr lang="en-US" sz="3800" b="1" baseline="0" dirty="0">
                          <a:solidFill>
                            <a:srgbClr val="002060"/>
                          </a:solidFill>
                        </a:rPr>
                        <a:t> </a:t>
                      </a:r>
                      <a:r>
                        <a:rPr lang="en-US" sz="3800" b="1" baseline="0" dirty="0" err="1">
                          <a:solidFill>
                            <a:srgbClr val="002060"/>
                          </a:solidFill>
                        </a:rPr>
                        <a:t>có</a:t>
                      </a:r>
                      <a:r>
                        <a:rPr lang="en-US" sz="3800" b="1" baseline="0" dirty="0">
                          <a:solidFill>
                            <a:srgbClr val="002060"/>
                          </a:solidFill>
                        </a:rPr>
                        <a:t> p’ </a:t>
                      </a:r>
                      <a:r>
                        <a:rPr lang="en-US" sz="3800" b="1" baseline="0" dirty="0" err="1">
                          <a:solidFill>
                            <a:srgbClr val="002060"/>
                          </a:solidFill>
                        </a:rPr>
                        <a:t>cao</a:t>
                      </a:r>
                      <a:r>
                        <a:rPr lang="en-US" sz="3800" b="1" baseline="0" dirty="0">
                          <a:solidFill>
                            <a:srgbClr val="002060"/>
                          </a:solidFill>
                        </a:rPr>
                        <a:t> </a:t>
                      </a:r>
                      <a:r>
                        <a:rPr lang="en-US" sz="3800" b="1" baseline="0" dirty="0" err="1">
                          <a:solidFill>
                            <a:srgbClr val="002060"/>
                          </a:solidFill>
                        </a:rPr>
                        <a:t>hơn</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r h="2599543">
                <a:tc>
                  <a:txBody>
                    <a:bodyPr/>
                    <a:lstStyle/>
                    <a:p>
                      <a:r>
                        <a:rPr lang="en-US" sz="3800" b="1">
                          <a:solidFill>
                            <a:srgbClr val="002060"/>
                          </a:solidFill>
                        </a:rPr>
                        <a:t>Biện pháp</a:t>
                      </a:r>
                      <a:endParaRPr lang="vi-VN" sz="3800" b="1">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800" b="1" dirty="0" err="1">
                          <a:solidFill>
                            <a:srgbClr val="002060"/>
                          </a:solidFill>
                        </a:rPr>
                        <a:t>Nâng</a:t>
                      </a:r>
                      <a:r>
                        <a:rPr lang="en-US" sz="3800" b="1" baseline="0" dirty="0">
                          <a:solidFill>
                            <a:srgbClr val="002060"/>
                          </a:solidFill>
                        </a:rPr>
                        <a:t> </a:t>
                      </a:r>
                      <a:r>
                        <a:rPr lang="en-US" sz="3800" b="1" baseline="0" dirty="0" err="1">
                          <a:solidFill>
                            <a:srgbClr val="002060"/>
                          </a:solidFill>
                        </a:rPr>
                        <a:t>cao</a:t>
                      </a:r>
                      <a:r>
                        <a:rPr lang="en-US" sz="3800" b="1" baseline="0" dirty="0">
                          <a:solidFill>
                            <a:srgbClr val="002060"/>
                          </a:solidFill>
                        </a:rPr>
                        <a:t> NSLĐ </a:t>
                      </a:r>
                      <a:r>
                        <a:rPr lang="en-US" sz="3800" b="1" baseline="0" dirty="0" err="1">
                          <a:solidFill>
                            <a:srgbClr val="002060"/>
                          </a:solidFill>
                        </a:rPr>
                        <a:t>cá</a:t>
                      </a:r>
                      <a:r>
                        <a:rPr lang="en-US" sz="3800" b="1" baseline="0" dirty="0">
                          <a:solidFill>
                            <a:srgbClr val="002060"/>
                          </a:solidFill>
                        </a:rPr>
                        <a:t> </a:t>
                      </a:r>
                      <a:r>
                        <a:rPr lang="en-US" sz="3800" b="1" baseline="0" dirty="0" err="1">
                          <a:solidFill>
                            <a:srgbClr val="002060"/>
                          </a:solidFill>
                        </a:rPr>
                        <a:t>biệt</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800" b="1" dirty="0">
                          <a:solidFill>
                            <a:srgbClr val="002060"/>
                          </a:solidFill>
                        </a:rPr>
                        <a:t>Di </a:t>
                      </a:r>
                      <a:r>
                        <a:rPr lang="en-US" sz="3800" b="1" dirty="0" err="1">
                          <a:solidFill>
                            <a:srgbClr val="002060"/>
                          </a:solidFill>
                        </a:rPr>
                        <a:t>chuyển</a:t>
                      </a:r>
                      <a:r>
                        <a:rPr lang="en-US" sz="3800" b="1" baseline="0" dirty="0">
                          <a:solidFill>
                            <a:srgbClr val="002060"/>
                          </a:solidFill>
                        </a:rPr>
                        <a:t> </a:t>
                      </a:r>
                      <a:r>
                        <a:rPr lang="en-US" sz="3800" b="1" baseline="0" dirty="0" err="1">
                          <a:solidFill>
                            <a:srgbClr val="002060"/>
                          </a:solidFill>
                        </a:rPr>
                        <a:t>tư</a:t>
                      </a:r>
                      <a:r>
                        <a:rPr lang="en-US" sz="3800" b="1" baseline="0" dirty="0">
                          <a:solidFill>
                            <a:srgbClr val="002060"/>
                          </a:solidFill>
                        </a:rPr>
                        <a:t> </a:t>
                      </a:r>
                      <a:r>
                        <a:rPr lang="en-US" sz="3800" b="1" baseline="0" dirty="0" err="1">
                          <a:solidFill>
                            <a:srgbClr val="002060"/>
                          </a:solidFill>
                        </a:rPr>
                        <a:t>bản</a:t>
                      </a:r>
                      <a:r>
                        <a:rPr lang="en-US" sz="3800" b="1" baseline="0" dirty="0">
                          <a:solidFill>
                            <a:srgbClr val="002060"/>
                          </a:solidFill>
                        </a:rPr>
                        <a:t> </a:t>
                      </a:r>
                      <a:r>
                        <a:rPr lang="en-US" sz="3800" b="1" baseline="0" dirty="0" err="1">
                          <a:solidFill>
                            <a:srgbClr val="002060"/>
                          </a:solidFill>
                        </a:rPr>
                        <a:t>từ</a:t>
                      </a:r>
                      <a:r>
                        <a:rPr lang="en-US" sz="3800" b="1" baseline="0" dirty="0">
                          <a:solidFill>
                            <a:srgbClr val="002060"/>
                          </a:solidFill>
                        </a:rPr>
                        <a:t> </a:t>
                      </a:r>
                      <a:r>
                        <a:rPr lang="en-US" sz="3800" b="1" baseline="0" dirty="0" err="1">
                          <a:solidFill>
                            <a:srgbClr val="002060"/>
                          </a:solidFill>
                        </a:rPr>
                        <a:t>ngành</a:t>
                      </a:r>
                      <a:r>
                        <a:rPr lang="en-US" sz="3800" b="1" baseline="0" dirty="0">
                          <a:solidFill>
                            <a:srgbClr val="002060"/>
                          </a:solidFill>
                        </a:rPr>
                        <a:t> </a:t>
                      </a:r>
                      <a:r>
                        <a:rPr lang="en-US" sz="3800" b="1" baseline="0" dirty="0" err="1">
                          <a:solidFill>
                            <a:srgbClr val="002060"/>
                          </a:solidFill>
                        </a:rPr>
                        <a:t>có</a:t>
                      </a:r>
                      <a:r>
                        <a:rPr lang="en-US" sz="3800" b="1" baseline="0" dirty="0">
                          <a:solidFill>
                            <a:srgbClr val="002060"/>
                          </a:solidFill>
                        </a:rPr>
                        <a:t> p’ </a:t>
                      </a:r>
                      <a:r>
                        <a:rPr lang="en-US" sz="3800" b="1" baseline="0" dirty="0" err="1">
                          <a:solidFill>
                            <a:srgbClr val="002060"/>
                          </a:solidFill>
                        </a:rPr>
                        <a:t>thấp</a:t>
                      </a:r>
                      <a:r>
                        <a:rPr lang="en-US" sz="3800" b="1" baseline="0" dirty="0">
                          <a:solidFill>
                            <a:srgbClr val="002060"/>
                          </a:solidFill>
                        </a:rPr>
                        <a:t> sang </a:t>
                      </a:r>
                      <a:r>
                        <a:rPr lang="en-US" sz="3800" b="1" baseline="0" dirty="0" err="1">
                          <a:solidFill>
                            <a:srgbClr val="002060"/>
                          </a:solidFill>
                        </a:rPr>
                        <a:t>ngành</a:t>
                      </a:r>
                      <a:r>
                        <a:rPr lang="en-US" sz="3800" b="1" baseline="0" dirty="0">
                          <a:solidFill>
                            <a:srgbClr val="002060"/>
                          </a:solidFill>
                        </a:rPr>
                        <a:t> </a:t>
                      </a:r>
                      <a:r>
                        <a:rPr lang="en-US" sz="3800" b="1" baseline="0" dirty="0" err="1">
                          <a:solidFill>
                            <a:srgbClr val="002060"/>
                          </a:solidFill>
                        </a:rPr>
                        <a:t>có</a:t>
                      </a:r>
                      <a:r>
                        <a:rPr lang="en-US" sz="3800" b="1" baseline="0" dirty="0">
                          <a:solidFill>
                            <a:srgbClr val="002060"/>
                          </a:solidFill>
                        </a:rPr>
                        <a:t> p’ </a:t>
                      </a:r>
                      <a:r>
                        <a:rPr lang="en-US" sz="3800" b="1" baseline="0" dirty="0" err="1">
                          <a:solidFill>
                            <a:srgbClr val="002060"/>
                          </a:solidFill>
                        </a:rPr>
                        <a:t>cao</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2"/>
                  </a:ext>
                </a:extLst>
              </a:tr>
              <a:tr h="2703170">
                <a:tc>
                  <a:txBody>
                    <a:bodyPr/>
                    <a:lstStyle/>
                    <a:p>
                      <a:r>
                        <a:rPr lang="en-US" sz="3800" b="1">
                          <a:solidFill>
                            <a:srgbClr val="002060"/>
                          </a:solidFill>
                        </a:rPr>
                        <a:t>Kết quả</a:t>
                      </a:r>
                      <a:endParaRPr lang="vi-VN" sz="3800" b="1">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800" b="1">
                          <a:solidFill>
                            <a:srgbClr val="002060"/>
                          </a:solidFill>
                        </a:rPr>
                        <a:t>Hình</a:t>
                      </a:r>
                      <a:r>
                        <a:rPr lang="en-US" sz="3800" b="1" baseline="0">
                          <a:solidFill>
                            <a:srgbClr val="002060"/>
                          </a:solidFill>
                        </a:rPr>
                        <a:t> thành giá trị thị trường</a:t>
                      </a:r>
                      <a:endParaRPr lang="vi-VN" sz="3800" b="1">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3800" b="1" dirty="0" err="1">
                          <a:solidFill>
                            <a:srgbClr val="002060"/>
                          </a:solidFill>
                        </a:rPr>
                        <a:t>Hình</a:t>
                      </a:r>
                      <a:r>
                        <a:rPr lang="en-US" sz="3800" b="1" baseline="0" dirty="0">
                          <a:solidFill>
                            <a:srgbClr val="002060"/>
                          </a:solidFill>
                        </a:rPr>
                        <a:t> </a:t>
                      </a:r>
                      <a:r>
                        <a:rPr lang="en-US" sz="3800" b="1" baseline="0" dirty="0" err="1">
                          <a:solidFill>
                            <a:srgbClr val="002060"/>
                          </a:solidFill>
                        </a:rPr>
                        <a:t>thành</a:t>
                      </a:r>
                      <a:r>
                        <a:rPr lang="en-US" sz="3800" b="1" baseline="0" dirty="0">
                          <a:solidFill>
                            <a:srgbClr val="002060"/>
                          </a:solidFill>
                        </a:rPr>
                        <a:t> </a:t>
                      </a:r>
                      <a:r>
                        <a:rPr lang="en-US" sz="3800" b="1" baseline="0" dirty="0" err="1">
                          <a:solidFill>
                            <a:srgbClr val="002060"/>
                          </a:solidFill>
                        </a:rPr>
                        <a:t>tỷ</a:t>
                      </a:r>
                      <a:r>
                        <a:rPr lang="en-US" sz="3800" b="1" baseline="0" dirty="0">
                          <a:solidFill>
                            <a:srgbClr val="002060"/>
                          </a:solidFill>
                        </a:rPr>
                        <a:t> </a:t>
                      </a:r>
                      <a:r>
                        <a:rPr lang="en-US" sz="3800" b="1" baseline="0" dirty="0" err="1">
                          <a:solidFill>
                            <a:srgbClr val="002060"/>
                          </a:solidFill>
                        </a:rPr>
                        <a:t>suất</a:t>
                      </a:r>
                      <a:r>
                        <a:rPr lang="en-US" sz="3800" b="1" baseline="0" dirty="0">
                          <a:solidFill>
                            <a:srgbClr val="002060"/>
                          </a:solidFill>
                        </a:rPr>
                        <a:t> </a:t>
                      </a:r>
                      <a:r>
                        <a:rPr lang="en-US" sz="3800" b="1" baseline="0" dirty="0" err="1">
                          <a:solidFill>
                            <a:srgbClr val="002060"/>
                          </a:solidFill>
                        </a:rPr>
                        <a:t>lợi</a:t>
                      </a:r>
                      <a:r>
                        <a:rPr lang="en-US" sz="3800" b="1" baseline="0" dirty="0">
                          <a:solidFill>
                            <a:srgbClr val="002060"/>
                          </a:solidFill>
                        </a:rPr>
                        <a:t> </a:t>
                      </a:r>
                      <a:r>
                        <a:rPr lang="en-US" sz="3800" b="1" baseline="0" dirty="0" err="1">
                          <a:solidFill>
                            <a:srgbClr val="002060"/>
                          </a:solidFill>
                        </a:rPr>
                        <a:t>nhuận</a:t>
                      </a:r>
                      <a:r>
                        <a:rPr lang="en-US" sz="3800" b="1" baseline="0" dirty="0">
                          <a:solidFill>
                            <a:srgbClr val="002060"/>
                          </a:solidFill>
                        </a:rPr>
                        <a:t> </a:t>
                      </a:r>
                      <a:r>
                        <a:rPr lang="en-US" sz="3800" b="1" baseline="0" dirty="0" err="1">
                          <a:solidFill>
                            <a:srgbClr val="002060"/>
                          </a:solidFill>
                        </a:rPr>
                        <a:t>bình</a:t>
                      </a:r>
                      <a:r>
                        <a:rPr lang="en-US" sz="3800" b="1" baseline="0" dirty="0">
                          <a:solidFill>
                            <a:srgbClr val="002060"/>
                          </a:solidFill>
                        </a:rPr>
                        <a:t> </a:t>
                      </a:r>
                      <a:r>
                        <a:rPr lang="en-US" sz="3800" b="1" baseline="0" dirty="0" err="1">
                          <a:solidFill>
                            <a:srgbClr val="002060"/>
                          </a:solidFill>
                        </a:rPr>
                        <a:t>quân</a:t>
                      </a:r>
                      <a:r>
                        <a:rPr lang="en-US" sz="3800" b="1" baseline="0" dirty="0">
                          <a:solidFill>
                            <a:srgbClr val="002060"/>
                          </a:solidFill>
                        </a:rPr>
                        <a:t> </a:t>
                      </a:r>
                      <a:r>
                        <a:rPr lang="en-US" sz="3800" b="1" baseline="0" dirty="0" err="1">
                          <a:solidFill>
                            <a:srgbClr val="002060"/>
                          </a:solidFill>
                        </a:rPr>
                        <a:t>và</a:t>
                      </a:r>
                      <a:r>
                        <a:rPr lang="en-US" sz="3800" b="1" baseline="0" dirty="0">
                          <a:solidFill>
                            <a:srgbClr val="002060"/>
                          </a:solidFill>
                        </a:rPr>
                        <a:t> </a:t>
                      </a:r>
                      <a:r>
                        <a:rPr lang="en-US" sz="3800" b="1" baseline="0" dirty="0" err="1">
                          <a:solidFill>
                            <a:srgbClr val="002060"/>
                          </a:solidFill>
                        </a:rPr>
                        <a:t>giá</a:t>
                      </a:r>
                      <a:r>
                        <a:rPr lang="en-US" sz="3800" b="1" baseline="0" dirty="0">
                          <a:solidFill>
                            <a:srgbClr val="002060"/>
                          </a:solidFill>
                        </a:rPr>
                        <a:t> </a:t>
                      </a:r>
                      <a:r>
                        <a:rPr lang="en-US" sz="3800" b="1" baseline="0" dirty="0" err="1">
                          <a:solidFill>
                            <a:srgbClr val="002060"/>
                          </a:solidFill>
                        </a:rPr>
                        <a:t>cả</a:t>
                      </a:r>
                      <a:r>
                        <a:rPr lang="en-US" sz="3800" b="1" baseline="0" dirty="0">
                          <a:solidFill>
                            <a:srgbClr val="002060"/>
                          </a:solidFill>
                        </a:rPr>
                        <a:t> </a:t>
                      </a:r>
                      <a:r>
                        <a:rPr lang="en-US" sz="3800" b="1" baseline="0" dirty="0" err="1">
                          <a:solidFill>
                            <a:srgbClr val="002060"/>
                          </a:solidFill>
                        </a:rPr>
                        <a:t>sản</a:t>
                      </a:r>
                      <a:r>
                        <a:rPr lang="en-US" sz="3800" b="1" baseline="0" dirty="0">
                          <a:solidFill>
                            <a:srgbClr val="002060"/>
                          </a:solidFill>
                        </a:rPr>
                        <a:t> </a:t>
                      </a:r>
                      <a:r>
                        <a:rPr lang="en-US" sz="3800" b="1" baseline="0" dirty="0" err="1">
                          <a:solidFill>
                            <a:srgbClr val="002060"/>
                          </a:solidFill>
                        </a:rPr>
                        <a:t>xuất</a:t>
                      </a:r>
                      <a:endParaRPr lang="vi-VN" sz="3800" b="1" dirty="0">
                        <a:solidFill>
                          <a:srgbClr val="002060"/>
                        </a:solidFill>
                      </a:endParaRPr>
                    </a:p>
                  </a:txBody>
                  <a:tcPr marL="182880" marR="182880"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04038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C99FAE-B34E-B0ED-8989-DC2F40EEB2A7}"/>
              </a:ext>
            </a:extLst>
          </p:cNvPr>
          <p:cNvSpPr txBox="1">
            <a:spLocks/>
          </p:cNvSpPr>
          <p:nvPr/>
        </p:nvSpPr>
        <p:spPr>
          <a:xfrm>
            <a:off x="2476328" y="1312532"/>
            <a:ext cx="12197424" cy="1127124"/>
          </a:xfrm>
          <a:prstGeom prst="rect">
            <a:avLst/>
          </a:prstGeom>
        </p:spPr>
        <p:txBody>
          <a:bodyPr vert="horz" lIns="182880" tIns="91440" rIns="182880" bIns="9144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2844800">
              <a:spcAft>
                <a:spcPct val="35000"/>
              </a:spcAft>
              <a:defRPr/>
            </a:pPr>
            <a:r>
              <a:rPr lang="en-US" sz="7200" b="1">
                <a:solidFill>
                  <a:srgbClr val="002060"/>
                </a:solidFill>
                <a:latin typeface="Aachen" panose="02020500000000000000" pitchFamily="18" charset="0"/>
                <a:ea typeface="Aachen" panose="02020500000000000000" pitchFamily="18" charset="0"/>
                <a:cs typeface="Aachen" panose="02020500000000000000" pitchFamily="18" charset="0"/>
              </a:rPr>
              <a:t>Cạnh tranh khác ngành </a:t>
            </a:r>
            <a:r>
              <a:rPr lang="en-US" sz="7200" b="1">
                <a:solidFill>
                  <a:srgbClr val="002060"/>
                </a:solidFill>
                <a:latin typeface="Aachen" panose="02020500000000000000" pitchFamily="18" charset="0"/>
                <a:ea typeface="Aachen" panose="02020500000000000000" pitchFamily="18" charset="0"/>
                <a:cs typeface="Aachen" panose="02020500000000000000" pitchFamily="18" charset="0"/>
                <a:sym typeface="Wingdings" panose="05000000000000000000" pitchFamily="2" charset="2"/>
              </a:rPr>
              <a:t> GCSX</a:t>
            </a:r>
            <a:endParaRPr lang="en-US" sz="7200" b="1">
              <a:solidFill>
                <a:srgbClr val="002060"/>
              </a:solidFill>
              <a:latin typeface="Aachen" panose="02020500000000000000" pitchFamily="18" charset="0"/>
              <a:ea typeface="Aachen" panose="02020500000000000000" pitchFamily="18" charset="0"/>
              <a:cs typeface="Aachen" panose="02020500000000000000" pitchFamily="18" charset="0"/>
            </a:endParaRPr>
          </a:p>
        </p:txBody>
      </p:sp>
      <p:graphicFrame>
        <p:nvGraphicFramePr>
          <p:cNvPr id="5" name="Table 4">
            <a:extLst>
              <a:ext uri="{FF2B5EF4-FFF2-40B4-BE49-F238E27FC236}">
                <a16:creationId xmlns:a16="http://schemas.microsoft.com/office/drawing/2014/main" id="{21F619C8-C42B-4AFF-254B-7DD031EE5CDB}"/>
              </a:ext>
            </a:extLst>
          </p:cNvPr>
          <p:cNvGraphicFramePr>
            <a:graphicFrameLocks noGrp="1"/>
          </p:cNvGraphicFramePr>
          <p:nvPr/>
        </p:nvGraphicFramePr>
        <p:xfrm>
          <a:off x="1593391" y="4911994"/>
          <a:ext cx="15173330" cy="4476752"/>
        </p:xfrm>
        <a:graphic>
          <a:graphicData uri="http://schemas.openxmlformats.org/drawingml/2006/table">
            <a:tbl>
              <a:tblPr firstRow="1" bandRow="1">
                <a:tableStyleId>{5C22544A-7EE6-4342-B048-85BDC9FD1C3A}</a:tableStyleId>
              </a:tblPr>
              <a:tblGrid>
                <a:gridCol w="1848610">
                  <a:extLst>
                    <a:ext uri="{9D8B030D-6E8A-4147-A177-3AD203B41FA5}">
                      <a16:colId xmlns:a16="http://schemas.microsoft.com/office/drawing/2014/main" val="20000"/>
                    </a:ext>
                  </a:extLst>
                </a:gridCol>
                <a:gridCol w="1523238">
                  <a:extLst>
                    <a:ext uri="{9D8B030D-6E8A-4147-A177-3AD203B41FA5}">
                      <a16:colId xmlns:a16="http://schemas.microsoft.com/office/drawing/2014/main" val="20001"/>
                    </a:ext>
                  </a:extLst>
                </a:gridCol>
                <a:gridCol w="1685926">
                  <a:extLst>
                    <a:ext uri="{9D8B030D-6E8A-4147-A177-3AD203B41FA5}">
                      <a16:colId xmlns:a16="http://schemas.microsoft.com/office/drawing/2014/main" val="20002"/>
                    </a:ext>
                  </a:extLst>
                </a:gridCol>
                <a:gridCol w="1685926">
                  <a:extLst>
                    <a:ext uri="{9D8B030D-6E8A-4147-A177-3AD203B41FA5}">
                      <a16:colId xmlns:a16="http://schemas.microsoft.com/office/drawing/2014/main" val="20003"/>
                    </a:ext>
                  </a:extLst>
                </a:gridCol>
                <a:gridCol w="1685926">
                  <a:extLst>
                    <a:ext uri="{9D8B030D-6E8A-4147-A177-3AD203B41FA5}">
                      <a16:colId xmlns:a16="http://schemas.microsoft.com/office/drawing/2014/main" val="20004"/>
                    </a:ext>
                  </a:extLst>
                </a:gridCol>
                <a:gridCol w="1685926">
                  <a:extLst>
                    <a:ext uri="{9D8B030D-6E8A-4147-A177-3AD203B41FA5}">
                      <a16:colId xmlns:a16="http://schemas.microsoft.com/office/drawing/2014/main" val="20005"/>
                    </a:ext>
                  </a:extLst>
                </a:gridCol>
                <a:gridCol w="1685926">
                  <a:extLst>
                    <a:ext uri="{9D8B030D-6E8A-4147-A177-3AD203B41FA5}">
                      <a16:colId xmlns:a16="http://schemas.microsoft.com/office/drawing/2014/main" val="20006"/>
                    </a:ext>
                  </a:extLst>
                </a:gridCol>
                <a:gridCol w="1685926">
                  <a:extLst>
                    <a:ext uri="{9D8B030D-6E8A-4147-A177-3AD203B41FA5}">
                      <a16:colId xmlns:a16="http://schemas.microsoft.com/office/drawing/2014/main" val="20007"/>
                    </a:ext>
                  </a:extLst>
                </a:gridCol>
                <a:gridCol w="1685926">
                  <a:extLst>
                    <a:ext uri="{9D8B030D-6E8A-4147-A177-3AD203B41FA5}">
                      <a16:colId xmlns:a16="http://schemas.microsoft.com/office/drawing/2014/main" val="20008"/>
                    </a:ext>
                  </a:extLst>
                </a:gridCol>
              </a:tblGrid>
              <a:tr h="1430702">
                <a:tc>
                  <a:txBody>
                    <a:bodyPr/>
                    <a:lstStyle/>
                    <a:p>
                      <a:pPr algn="ctr"/>
                      <a:r>
                        <a:rPr lang="en-US" sz="3200">
                          <a:solidFill>
                            <a:srgbClr val="002060"/>
                          </a:solidFill>
                        </a:rPr>
                        <a:t>Ngành</a:t>
                      </a:r>
                      <a:r>
                        <a:rPr lang="en-US" sz="3200" baseline="0">
                          <a:solidFill>
                            <a:srgbClr val="002060"/>
                          </a:solidFill>
                        </a:rPr>
                        <a:t> </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C</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V</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dirty="0">
                          <a:solidFill>
                            <a:srgbClr val="002060"/>
                          </a:solidFill>
                        </a:rPr>
                        <a:t>m (p)</a:t>
                      </a: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Gt</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p'</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p’ bq</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p bq</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Gc</a:t>
                      </a:r>
                      <a:r>
                        <a:rPr lang="en-US" sz="3200" baseline="0">
                          <a:solidFill>
                            <a:srgbClr val="002060"/>
                          </a:solidFill>
                        </a:rPr>
                        <a:t> sx</a:t>
                      </a:r>
                      <a:endParaRPr lang="vi-VN" sz="3200">
                        <a:solidFill>
                          <a:srgbClr val="002060"/>
                        </a:solidFill>
                      </a:endParaRPr>
                    </a:p>
                  </a:txBody>
                  <a:tcPr marL="182876" marR="182876" marT="91420" marB="91420" anchor="ctr">
                    <a:solidFill>
                      <a:schemeClr val="accent1">
                        <a:lumMod val="40000"/>
                        <a:lumOff val="60000"/>
                      </a:schemeClr>
                    </a:solidFill>
                  </a:tcPr>
                </a:tc>
                <a:extLst>
                  <a:ext uri="{0D108BD9-81ED-4DB2-BD59-A6C34878D82A}">
                    <a16:rowId xmlns:a16="http://schemas.microsoft.com/office/drawing/2014/main" val="10000"/>
                  </a:ext>
                </a:extLst>
              </a:tr>
              <a:tr h="1043726">
                <a:tc>
                  <a:txBody>
                    <a:bodyPr/>
                    <a:lstStyle/>
                    <a:p>
                      <a:pPr algn="ctr"/>
                      <a:r>
                        <a:rPr lang="en-US" sz="3200" b="1">
                          <a:solidFill>
                            <a:srgbClr val="002060"/>
                          </a:solidFill>
                        </a:rPr>
                        <a:t>Cơ</a:t>
                      </a:r>
                      <a:r>
                        <a:rPr lang="en-US" sz="3200" b="1" baseline="0">
                          <a:solidFill>
                            <a:srgbClr val="002060"/>
                          </a:solidFill>
                        </a:rPr>
                        <a:t> khí</a:t>
                      </a:r>
                      <a:endParaRPr lang="vi-VN" sz="3200" b="1">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90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10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10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110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10%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dirty="0">
                          <a:solidFill>
                            <a:srgbClr val="002060"/>
                          </a:solidFill>
                        </a:rPr>
                        <a:t>20%</a:t>
                      </a:r>
                      <a:endParaRPr lang="vi-VN" sz="3200" dirty="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dirty="0">
                          <a:solidFill>
                            <a:srgbClr val="002060"/>
                          </a:solidFill>
                        </a:rPr>
                        <a:t>20</a:t>
                      </a:r>
                      <a:endParaRPr lang="vi-VN" sz="3200" dirty="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120</a:t>
                      </a:r>
                      <a:endParaRPr lang="vi-VN" sz="3200">
                        <a:solidFill>
                          <a:srgbClr val="002060"/>
                        </a:solidFill>
                      </a:endParaRPr>
                    </a:p>
                  </a:txBody>
                  <a:tcPr marL="182876" marR="182876" marT="91420" marB="91420" anchor="ctr">
                    <a:solidFill>
                      <a:schemeClr val="accent1">
                        <a:lumMod val="40000"/>
                        <a:lumOff val="60000"/>
                      </a:schemeClr>
                    </a:solidFill>
                  </a:tcPr>
                </a:tc>
                <a:extLst>
                  <a:ext uri="{0D108BD9-81ED-4DB2-BD59-A6C34878D82A}">
                    <a16:rowId xmlns:a16="http://schemas.microsoft.com/office/drawing/2014/main" val="10001"/>
                  </a:ext>
                </a:extLst>
              </a:tr>
              <a:tr h="1001162">
                <a:tc>
                  <a:txBody>
                    <a:bodyPr/>
                    <a:lstStyle/>
                    <a:p>
                      <a:pPr algn="ctr"/>
                      <a:r>
                        <a:rPr lang="en-US" sz="3200" b="1">
                          <a:solidFill>
                            <a:srgbClr val="002060"/>
                          </a:solidFill>
                        </a:rPr>
                        <a:t>Dệt</a:t>
                      </a:r>
                      <a:endParaRPr lang="vi-VN" sz="3200" b="1">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80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20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20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120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20%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3200" dirty="0">
                          <a:solidFill>
                            <a:srgbClr val="002060"/>
                          </a:solidFill>
                        </a:rPr>
                        <a:t>20%</a:t>
                      </a:r>
                      <a:endParaRPr lang="vi-VN" sz="3200" dirty="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dirty="0">
                          <a:solidFill>
                            <a:srgbClr val="002060"/>
                          </a:solidFill>
                        </a:rPr>
                        <a:t>20</a:t>
                      </a:r>
                      <a:endParaRPr lang="vi-VN" sz="3200" dirty="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120</a:t>
                      </a:r>
                      <a:endParaRPr lang="vi-VN" sz="3200">
                        <a:solidFill>
                          <a:srgbClr val="002060"/>
                        </a:solidFill>
                      </a:endParaRPr>
                    </a:p>
                  </a:txBody>
                  <a:tcPr marL="182876" marR="182876" marT="91420" marB="91420" anchor="ctr">
                    <a:solidFill>
                      <a:schemeClr val="accent1">
                        <a:lumMod val="40000"/>
                        <a:lumOff val="60000"/>
                      </a:schemeClr>
                    </a:solidFill>
                  </a:tcPr>
                </a:tc>
                <a:extLst>
                  <a:ext uri="{0D108BD9-81ED-4DB2-BD59-A6C34878D82A}">
                    <a16:rowId xmlns:a16="http://schemas.microsoft.com/office/drawing/2014/main" val="10002"/>
                  </a:ext>
                </a:extLst>
              </a:tr>
              <a:tr h="1001162">
                <a:tc>
                  <a:txBody>
                    <a:bodyPr/>
                    <a:lstStyle/>
                    <a:p>
                      <a:pPr algn="ctr"/>
                      <a:r>
                        <a:rPr lang="en-US" sz="3200" b="1">
                          <a:solidFill>
                            <a:srgbClr val="002060"/>
                          </a:solidFill>
                        </a:rPr>
                        <a:t>Da</a:t>
                      </a:r>
                      <a:endParaRPr lang="vi-VN" sz="3200" b="1">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70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30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30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130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a:solidFill>
                            <a:srgbClr val="002060"/>
                          </a:solidFill>
                        </a:rPr>
                        <a:t>30%</a:t>
                      </a:r>
                      <a:endParaRPr lang="vi-VN" sz="3200">
                        <a:solidFill>
                          <a:srgbClr val="002060"/>
                        </a:solidFill>
                      </a:endParaRPr>
                    </a:p>
                  </a:txBody>
                  <a:tcPr marL="182876" marR="182876" marT="91420" marB="91420" anchor="ctr">
                    <a:solidFill>
                      <a:schemeClr val="accent1">
                        <a:lumMod val="40000"/>
                        <a:lumOff val="6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3200" dirty="0">
                          <a:solidFill>
                            <a:srgbClr val="002060"/>
                          </a:solidFill>
                        </a:rPr>
                        <a:t>20%</a:t>
                      </a:r>
                      <a:endParaRPr lang="vi-VN" sz="3200" dirty="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dirty="0">
                          <a:solidFill>
                            <a:srgbClr val="002060"/>
                          </a:solidFill>
                        </a:rPr>
                        <a:t>20</a:t>
                      </a:r>
                      <a:endParaRPr lang="vi-VN" sz="3200" dirty="0">
                        <a:solidFill>
                          <a:srgbClr val="002060"/>
                        </a:solidFill>
                      </a:endParaRPr>
                    </a:p>
                  </a:txBody>
                  <a:tcPr marL="182876" marR="182876" marT="91420" marB="91420" anchor="ctr">
                    <a:solidFill>
                      <a:schemeClr val="accent1">
                        <a:lumMod val="40000"/>
                        <a:lumOff val="60000"/>
                      </a:schemeClr>
                    </a:solidFill>
                  </a:tcPr>
                </a:tc>
                <a:tc>
                  <a:txBody>
                    <a:bodyPr/>
                    <a:lstStyle/>
                    <a:p>
                      <a:pPr algn="ctr"/>
                      <a:r>
                        <a:rPr lang="en-US" sz="3200" dirty="0">
                          <a:solidFill>
                            <a:srgbClr val="002060"/>
                          </a:solidFill>
                        </a:rPr>
                        <a:t>120</a:t>
                      </a:r>
                      <a:endParaRPr lang="vi-VN" sz="3200" dirty="0">
                        <a:solidFill>
                          <a:srgbClr val="002060"/>
                        </a:solidFill>
                      </a:endParaRPr>
                    </a:p>
                  </a:txBody>
                  <a:tcPr marL="182876" marR="182876" marT="91420" marB="91420" anchor="ctr">
                    <a:solidFill>
                      <a:schemeClr val="accent1">
                        <a:lumMod val="40000"/>
                        <a:lumOff val="60000"/>
                      </a:schemeClr>
                    </a:solidFill>
                  </a:tcPr>
                </a:tc>
                <a:extLst>
                  <a:ext uri="{0D108BD9-81ED-4DB2-BD59-A6C34878D82A}">
                    <a16:rowId xmlns:a16="http://schemas.microsoft.com/office/drawing/2014/main" val="10003"/>
                  </a:ext>
                </a:extLst>
              </a:tr>
            </a:tbl>
          </a:graphicData>
        </a:graphic>
      </p:graphicFrame>
      <p:pic>
        <p:nvPicPr>
          <p:cNvPr id="9" name="Picture 8">
            <a:extLst>
              <a:ext uri="{FF2B5EF4-FFF2-40B4-BE49-F238E27FC236}">
                <a16:creationId xmlns:a16="http://schemas.microsoft.com/office/drawing/2014/main" id="{EE19D088-9240-32A0-7009-DA9CB19FF0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8149" y="10082893"/>
            <a:ext cx="14403810" cy="2743202"/>
          </a:xfrm>
          <a:prstGeom prst="rect">
            <a:avLst/>
          </a:prstGeom>
        </p:spPr>
      </p:pic>
      <p:sp>
        <p:nvSpPr>
          <p:cNvPr id="2" name="Oval 1">
            <a:extLst>
              <a:ext uri="{FF2B5EF4-FFF2-40B4-BE49-F238E27FC236}">
                <a16:creationId xmlns:a16="http://schemas.microsoft.com/office/drawing/2014/main" id="{23F4A1F2-09E8-4E2A-A064-0CCCDEE473DF}"/>
              </a:ext>
            </a:extLst>
          </p:cNvPr>
          <p:cNvSpPr/>
          <p:nvPr/>
        </p:nvSpPr>
        <p:spPr>
          <a:xfrm>
            <a:off x="10401301" y="5331283"/>
            <a:ext cx="857250" cy="661306"/>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a:p>
        </p:txBody>
      </p:sp>
      <p:sp>
        <p:nvSpPr>
          <p:cNvPr id="3" name="Arrow: Curved Right 2">
            <a:extLst>
              <a:ext uri="{FF2B5EF4-FFF2-40B4-BE49-F238E27FC236}">
                <a16:creationId xmlns:a16="http://schemas.microsoft.com/office/drawing/2014/main" id="{83F5C343-5851-43D0-8314-A226F41E6C2F}"/>
              </a:ext>
            </a:extLst>
          </p:cNvPr>
          <p:cNvSpPr/>
          <p:nvPr/>
        </p:nvSpPr>
        <p:spPr>
          <a:xfrm rot="5400000">
            <a:off x="7737962" y="2271463"/>
            <a:ext cx="1399652" cy="3927022"/>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a:solidFill>
                <a:schemeClr val="tx1"/>
              </a:solidFill>
            </a:endParaRPr>
          </a:p>
        </p:txBody>
      </p:sp>
      <p:sp>
        <p:nvSpPr>
          <p:cNvPr id="10" name="Arrow: Curved Down 9">
            <a:extLst>
              <a:ext uri="{FF2B5EF4-FFF2-40B4-BE49-F238E27FC236}">
                <a16:creationId xmlns:a16="http://schemas.microsoft.com/office/drawing/2014/main" id="{AB2FA675-A34E-4CEB-B011-4E24BAB50982}"/>
              </a:ext>
            </a:extLst>
          </p:cNvPr>
          <p:cNvSpPr/>
          <p:nvPr/>
        </p:nvSpPr>
        <p:spPr>
          <a:xfrm>
            <a:off x="7968343" y="4069710"/>
            <a:ext cx="1175658" cy="80826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a:solidFill>
                <a:schemeClr val="tx1"/>
              </a:solidFill>
            </a:endParaRPr>
          </a:p>
        </p:txBody>
      </p:sp>
      <p:sp>
        <p:nvSpPr>
          <p:cNvPr id="11" name="Arrow: Curved Down 10">
            <a:extLst>
              <a:ext uri="{FF2B5EF4-FFF2-40B4-BE49-F238E27FC236}">
                <a16:creationId xmlns:a16="http://schemas.microsoft.com/office/drawing/2014/main" id="{B9934F0B-D3ED-4BBB-8AD9-45FF7D9D3074}"/>
              </a:ext>
            </a:extLst>
          </p:cNvPr>
          <p:cNvSpPr/>
          <p:nvPr/>
        </p:nvSpPr>
        <p:spPr>
          <a:xfrm>
            <a:off x="11334749" y="4103730"/>
            <a:ext cx="1409702" cy="808264"/>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a:solidFill>
                <a:schemeClr val="tx1"/>
              </a:solidFill>
            </a:endParaRPr>
          </a:p>
        </p:txBody>
      </p:sp>
      <p:sp>
        <p:nvSpPr>
          <p:cNvPr id="12" name="Arrow: Curved Down 11">
            <a:extLst>
              <a:ext uri="{FF2B5EF4-FFF2-40B4-BE49-F238E27FC236}">
                <a16:creationId xmlns:a16="http://schemas.microsoft.com/office/drawing/2014/main" id="{76F3DD0C-6B07-48F0-9695-7EA3AEDA0041}"/>
              </a:ext>
            </a:extLst>
          </p:cNvPr>
          <p:cNvSpPr/>
          <p:nvPr/>
        </p:nvSpPr>
        <p:spPr>
          <a:xfrm>
            <a:off x="7407547" y="3245230"/>
            <a:ext cx="6986090" cy="1632744"/>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a:solidFill>
                <a:schemeClr val="tx1"/>
              </a:solidFill>
            </a:endParaRPr>
          </a:p>
        </p:txBody>
      </p:sp>
      <p:sp>
        <p:nvSpPr>
          <p:cNvPr id="13" name="Arrow: Curved Down 12">
            <a:extLst>
              <a:ext uri="{FF2B5EF4-FFF2-40B4-BE49-F238E27FC236}">
                <a16:creationId xmlns:a16="http://schemas.microsoft.com/office/drawing/2014/main" id="{DD415357-388F-4027-9D8C-DF9308220C18}"/>
              </a:ext>
            </a:extLst>
          </p:cNvPr>
          <p:cNvSpPr/>
          <p:nvPr/>
        </p:nvSpPr>
        <p:spPr>
          <a:xfrm>
            <a:off x="9328877" y="3245230"/>
            <a:ext cx="6986090" cy="1632744"/>
          </a:xfrm>
          <a:prstGeom prst="curved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00">
              <a:solidFill>
                <a:schemeClr val="tx1"/>
              </a:solidFill>
            </a:endParaRPr>
          </a:p>
        </p:txBody>
      </p:sp>
    </p:spTree>
    <p:extLst>
      <p:ext uri="{BB962C8B-B14F-4D97-AF65-F5344CB8AC3E}">
        <p14:creationId xmlns:p14="http://schemas.microsoft.com/office/powerpoint/2010/main" val="73049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1000"/>
                                        <p:tgtEl>
                                          <p:spTgt spid="11"/>
                                        </p:tgtEl>
                                      </p:cBhvr>
                                    </p:animEffect>
                                    <p:anim calcmode="lin" valueType="num">
                                      <p:cBhvr>
                                        <p:cTn id="39" dur="1000" fill="hold"/>
                                        <p:tgtEl>
                                          <p:spTgt spid="11"/>
                                        </p:tgtEl>
                                        <p:attrNameLst>
                                          <p:attrName>ppt_x</p:attrName>
                                        </p:attrNameLst>
                                      </p:cBhvr>
                                      <p:tavLst>
                                        <p:tav tm="0">
                                          <p:val>
                                            <p:strVal val="#ppt_x"/>
                                          </p:val>
                                        </p:tav>
                                        <p:tav tm="100000">
                                          <p:val>
                                            <p:strVal val="#ppt_x"/>
                                          </p:val>
                                        </p:tav>
                                      </p:tavLst>
                                    </p:anim>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1000"/>
                                        <p:tgtEl>
                                          <p:spTgt spid="12"/>
                                        </p:tgtEl>
                                      </p:cBhvr>
                                    </p:animEffect>
                                    <p:anim calcmode="lin" valueType="num">
                                      <p:cBhvr>
                                        <p:cTn id="46" dur="1000" fill="hold"/>
                                        <p:tgtEl>
                                          <p:spTgt spid="12"/>
                                        </p:tgtEl>
                                        <p:attrNameLst>
                                          <p:attrName>ppt_x</p:attrName>
                                        </p:attrNameLst>
                                      </p:cBhvr>
                                      <p:tavLst>
                                        <p:tav tm="0">
                                          <p:val>
                                            <p:strVal val="#ppt_x"/>
                                          </p:val>
                                        </p:tav>
                                        <p:tav tm="100000">
                                          <p:val>
                                            <p:strVal val="#ppt_x"/>
                                          </p:val>
                                        </p:tav>
                                      </p:tavLst>
                                    </p:anim>
                                    <p:anim calcmode="lin" valueType="num">
                                      <p:cBhvr>
                                        <p:cTn id="4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1000"/>
                                        <p:tgtEl>
                                          <p:spTgt spid="13"/>
                                        </p:tgtEl>
                                      </p:cBhvr>
                                    </p:animEffect>
                                    <p:anim calcmode="lin" valueType="num">
                                      <p:cBhvr>
                                        <p:cTn id="53" dur="1000" fill="hold"/>
                                        <p:tgtEl>
                                          <p:spTgt spid="13"/>
                                        </p:tgtEl>
                                        <p:attrNameLst>
                                          <p:attrName>ppt_x</p:attrName>
                                        </p:attrNameLst>
                                      </p:cBhvr>
                                      <p:tavLst>
                                        <p:tav tm="0">
                                          <p:val>
                                            <p:strVal val="#ppt_x"/>
                                          </p:val>
                                        </p:tav>
                                        <p:tav tm="100000">
                                          <p:val>
                                            <p:strVal val="#ppt_x"/>
                                          </p:val>
                                        </p:tav>
                                      </p:tavLst>
                                    </p:anim>
                                    <p:anim calcmode="lin" valueType="num">
                                      <p:cBhvr>
                                        <p:cTn id="5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0" grpId="0" animBg="1"/>
      <p:bldP spid="11" grpId="0" animBg="1"/>
      <p:bldP spid="12" grpId="0" animBg="1"/>
      <p:bldP spid="1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1FC79-1DF2-D705-2598-F113904A02B6}"/>
              </a:ext>
            </a:extLst>
          </p:cNvPr>
          <p:cNvSpPr txBox="1">
            <a:spLocks/>
          </p:cNvSpPr>
          <p:nvPr/>
        </p:nvSpPr>
        <p:spPr>
          <a:xfrm>
            <a:off x="3045288" y="1392556"/>
            <a:ext cx="121974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2844800">
              <a:spcAft>
                <a:spcPct val="35000"/>
              </a:spcAft>
              <a:defRPr/>
            </a:pPr>
            <a:r>
              <a:rPr lang="en-US" sz="5600" b="1">
                <a:solidFill>
                  <a:srgbClr val="002060"/>
                </a:solidFill>
                <a:latin typeface="Aachen" panose="02020500000000000000" pitchFamily="18" charset="0"/>
                <a:ea typeface="Aachen" panose="02020500000000000000" pitchFamily="18" charset="0"/>
                <a:cs typeface="Aachen" panose="02020500000000000000" pitchFamily="18" charset="0"/>
              </a:rPr>
              <a:t>Sự chuyển hóa của các quy luật kinh tế</a:t>
            </a:r>
          </a:p>
        </p:txBody>
      </p:sp>
      <p:sp>
        <p:nvSpPr>
          <p:cNvPr id="3" name="Rectangle 2">
            <a:extLst>
              <a:ext uri="{FF2B5EF4-FFF2-40B4-BE49-F238E27FC236}">
                <a16:creationId xmlns:a16="http://schemas.microsoft.com/office/drawing/2014/main" id="{6A2D1D37-FE18-1401-A035-2A581563BB18}"/>
              </a:ext>
            </a:extLst>
          </p:cNvPr>
          <p:cNvSpPr txBox="1">
            <a:spLocks noChangeArrowheads="1"/>
          </p:cNvSpPr>
          <p:nvPr/>
        </p:nvSpPr>
        <p:spPr bwMode="auto">
          <a:xfrm>
            <a:off x="1831512" y="2966720"/>
            <a:ext cx="14630400" cy="822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Tx/>
              <a:buNone/>
            </a:pPr>
            <a:r>
              <a:rPr lang="en-US" altLang="en-US" sz="4000" b="0" dirty="0" err="1">
                <a:solidFill>
                  <a:srgbClr val="002060"/>
                </a:solidFill>
                <a:latin typeface="Arial" panose="020B0604020202020204" pitchFamily="34" charset="0"/>
                <a:cs typeface="Arial" panose="020B0604020202020204" pitchFamily="34" charset="0"/>
              </a:rPr>
              <a:t>Trong</a:t>
            </a:r>
            <a:r>
              <a:rPr lang="en-US" altLang="en-US" sz="4000" b="0" dirty="0">
                <a:solidFill>
                  <a:srgbClr val="002060"/>
                </a:solidFill>
                <a:latin typeface="Arial" panose="020B0604020202020204" pitchFamily="34" charset="0"/>
                <a:cs typeface="Arial" panose="020B0604020202020204" pitchFamily="34" charset="0"/>
              </a:rPr>
              <a:t> </a:t>
            </a:r>
            <a:r>
              <a:rPr lang="en-US" altLang="en-US" sz="4000" b="0" dirty="0" err="1">
                <a:solidFill>
                  <a:srgbClr val="002060"/>
                </a:solidFill>
                <a:latin typeface="Arial" panose="020B0604020202020204" pitchFamily="34" charset="0"/>
                <a:cs typeface="Arial" panose="020B0604020202020204" pitchFamily="34" charset="0"/>
              </a:rPr>
              <a:t>giai</a:t>
            </a:r>
            <a:r>
              <a:rPr lang="en-US" altLang="en-US" sz="4000" b="0" dirty="0">
                <a:solidFill>
                  <a:srgbClr val="002060"/>
                </a:solidFill>
                <a:latin typeface="Arial" panose="020B0604020202020204" pitchFamily="34" charset="0"/>
                <a:cs typeface="Arial" panose="020B0604020202020204" pitchFamily="34" charset="0"/>
              </a:rPr>
              <a:t> </a:t>
            </a:r>
            <a:r>
              <a:rPr lang="en-US" altLang="en-US" sz="4000" b="0" dirty="0" err="1">
                <a:solidFill>
                  <a:srgbClr val="002060"/>
                </a:solidFill>
                <a:latin typeface="Arial" panose="020B0604020202020204" pitchFamily="34" charset="0"/>
                <a:cs typeface="Arial" panose="020B0604020202020204" pitchFamily="34" charset="0"/>
              </a:rPr>
              <a:t>đoạn</a:t>
            </a:r>
            <a:r>
              <a:rPr lang="en-US" altLang="en-US" sz="4000" b="0" dirty="0">
                <a:solidFill>
                  <a:srgbClr val="002060"/>
                </a:solidFill>
                <a:latin typeface="Arial" panose="020B0604020202020204" pitchFamily="34" charset="0"/>
                <a:cs typeface="Arial" panose="020B0604020202020204" pitchFamily="34" charset="0"/>
              </a:rPr>
              <a:t> </a:t>
            </a:r>
            <a:r>
              <a:rPr lang="en-US" altLang="en-US" sz="4000" b="0" dirty="0" err="1">
                <a:solidFill>
                  <a:srgbClr val="002060"/>
                </a:solidFill>
                <a:latin typeface="Arial" panose="020B0604020202020204" pitchFamily="34" charset="0"/>
                <a:cs typeface="Arial" panose="020B0604020202020204" pitchFamily="34" charset="0"/>
              </a:rPr>
              <a:t>tự</a:t>
            </a:r>
            <a:r>
              <a:rPr lang="en-US" altLang="en-US" sz="4000" b="0" dirty="0">
                <a:solidFill>
                  <a:srgbClr val="002060"/>
                </a:solidFill>
                <a:latin typeface="Arial" panose="020B0604020202020204" pitchFamily="34" charset="0"/>
                <a:cs typeface="Arial" panose="020B0604020202020204" pitchFamily="34" charset="0"/>
              </a:rPr>
              <a:t> do </a:t>
            </a:r>
            <a:r>
              <a:rPr lang="en-US" altLang="en-US" sz="4000" b="0" dirty="0" err="1">
                <a:solidFill>
                  <a:srgbClr val="002060"/>
                </a:solidFill>
                <a:latin typeface="Arial" panose="020B0604020202020204" pitchFamily="34" charset="0"/>
                <a:cs typeface="Arial" panose="020B0604020202020204" pitchFamily="34" charset="0"/>
              </a:rPr>
              <a:t>cạnh</a:t>
            </a:r>
            <a:r>
              <a:rPr lang="en-US" altLang="en-US" sz="4000" b="0" dirty="0">
                <a:solidFill>
                  <a:srgbClr val="002060"/>
                </a:solidFill>
                <a:latin typeface="Arial" panose="020B0604020202020204" pitchFamily="34" charset="0"/>
                <a:cs typeface="Arial" panose="020B0604020202020204" pitchFamily="34" charset="0"/>
              </a:rPr>
              <a:t> </a:t>
            </a:r>
            <a:r>
              <a:rPr lang="en-US" altLang="en-US" sz="4000" b="0" dirty="0" err="1">
                <a:solidFill>
                  <a:srgbClr val="002060"/>
                </a:solidFill>
                <a:latin typeface="Arial" panose="020B0604020202020204" pitchFamily="34" charset="0"/>
                <a:cs typeface="Arial" panose="020B0604020202020204" pitchFamily="34" charset="0"/>
              </a:rPr>
              <a:t>tranh</a:t>
            </a:r>
            <a:r>
              <a:rPr lang="en-US" altLang="en-US" sz="4000" b="0" dirty="0">
                <a:solidFill>
                  <a:srgbClr val="002060"/>
                </a:solidFill>
                <a:latin typeface="Arial" panose="020B0604020202020204" pitchFamily="34" charset="0"/>
                <a:cs typeface="Arial" panose="020B0604020202020204" pitchFamily="34" charset="0"/>
              </a:rPr>
              <a:t> </a:t>
            </a:r>
            <a:r>
              <a:rPr lang="en-US" altLang="en-US" sz="4000" b="0" dirty="0" err="1">
                <a:solidFill>
                  <a:srgbClr val="002060"/>
                </a:solidFill>
                <a:latin typeface="Arial" panose="020B0604020202020204" pitchFamily="34" charset="0"/>
                <a:cs typeface="Arial" panose="020B0604020202020204" pitchFamily="34" charset="0"/>
              </a:rPr>
              <a:t>của</a:t>
            </a:r>
            <a:r>
              <a:rPr lang="en-US" altLang="en-US" sz="4000" b="0" dirty="0">
                <a:solidFill>
                  <a:srgbClr val="002060"/>
                </a:solidFill>
                <a:latin typeface="Arial" panose="020B0604020202020204" pitchFamily="34" charset="0"/>
                <a:cs typeface="Arial" panose="020B0604020202020204" pitchFamily="34" charset="0"/>
              </a:rPr>
              <a:t> CNTB:</a:t>
            </a:r>
          </a:p>
          <a:p>
            <a:pPr algn="just">
              <a:buFontTx/>
              <a:buNone/>
            </a:pPr>
            <a:endParaRPr lang="en-US" altLang="en-US" sz="4000" b="0" dirty="0">
              <a:solidFill>
                <a:srgbClr val="002060"/>
              </a:solidFill>
              <a:latin typeface="Arial" panose="020B0604020202020204" pitchFamily="34" charset="0"/>
              <a:cs typeface="Arial" panose="020B0604020202020204" pitchFamily="34" charset="0"/>
            </a:endParaRPr>
          </a:p>
          <a:p>
            <a:pPr algn="just">
              <a:buFontTx/>
              <a:buNone/>
            </a:pPr>
            <a:endParaRPr lang="en-US" altLang="en-US" sz="4000" b="0" dirty="0">
              <a:solidFill>
                <a:srgbClr val="002060"/>
              </a:solidFill>
              <a:latin typeface="Arial" panose="020B0604020202020204" pitchFamily="34" charset="0"/>
              <a:cs typeface="Arial" panose="020B0604020202020204" pitchFamily="34" charset="0"/>
            </a:endParaRPr>
          </a:p>
          <a:p>
            <a:pPr algn="just">
              <a:buFontTx/>
              <a:buNone/>
            </a:pPr>
            <a:endParaRPr lang="en-US" altLang="en-US" sz="4000" b="0" dirty="0">
              <a:solidFill>
                <a:srgbClr val="002060"/>
              </a:solidFill>
              <a:latin typeface="Arial" panose="020B0604020202020204" pitchFamily="34" charset="0"/>
              <a:cs typeface="Arial" panose="020B0604020202020204" pitchFamily="34" charset="0"/>
            </a:endParaRPr>
          </a:p>
          <a:p>
            <a:pPr algn="just">
              <a:buFontTx/>
              <a:buNone/>
            </a:pPr>
            <a:endParaRPr lang="en-US" altLang="en-US" sz="4000" b="0" dirty="0">
              <a:solidFill>
                <a:srgbClr val="002060"/>
              </a:solidFill>
              <a:latin typeface="Arial" panose="020B0604020202020204" pitchFamily="34" charset="0"/>
              <a:cs typeface="Arial" panose="020B0604020202020204" pitchFamily="34" charset="0"/>
            </a:endParaRPr>
          </a:p>
          <a:p>
            <a:pPr algn="just">
              <a:buFontTx/>
              <a:buNone/>
            </a:pPr>
            <a:endParaRPr lang="en-US" altLang="en-US" sz="4000" b="0" dirty="0">
              <a:solidFill>
                <a:srgbClr val="002060"/>
              </a:solidFill>
              <a:latin typeface="Arial" panose="020B0604020202020204" pitchFamily="34" charset="0"/>
              <a:cs typeface="Arial" panose="020B0604020202020204" pitchFamily="34" charset="0"/>
            </a:endParaRPr>
          </a:p>
          <a:p>
            <a:pPr algn="just">
              <a:buFont typeface="Arial" panose="020B0604020202020204" pitchFamily="34" charset="0"/>
              <a:buChar char="•"/>
            </a:pP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Quy</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luật</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lợi</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nhuận</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bình</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quân</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Nguyên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tắc</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phân</a:t>
            </a:r>
            <a:r>
              <a:rPr lang="en-US" altLang="en-US" sz="3600" b="0" dirty="0">
                <a:solidFill>
                  <a:srgbClr val="002060"/>
                </a:solidFill>
                <a:latin typeface="Arial" panose="020B0604020202020204" pitchFamily="34" charset="0"/>
                <a:cs typeface="Arial" panose="020B0604020202020204" pitchFamily="34" charset="0"/>
              </a:rPr>
              <a:t> chia m </a:t>
            </a:r>
            <a:r>
              <a:rPr lang="en-US" altLang="en-US" sz="3600" b="0" dirty="0" err="1">
                <a:solidFill>
                  <a:srgbClr val="002060"/>
                </a:solidFill>
                <a:latin typeface="Arial" panose="020B0604020202020204" pitchFamily="34" charset="0"/>
                <a:cs typeface="Arial" panose="020B0604020202020204" pitchFamily="34" charset="0"/>
              </a:rPr>
              <a:t>giữa</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các</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tập</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đoàn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tư</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bản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căn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cứ</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vào</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tỷ</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suất</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lợi</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nhuận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bình</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quân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và</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tương</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ứng</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với</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lượng</a:t>
            </a:r>
            <a:r>
              <a:rPr lang="en-US" altLang="en-US" sz="3600" b="0" dirty="0">
                <a:solidFill>
                  <a:srgbClr val="002060"/>
                </a:solidFill>
                <a:latin typeface="Arial" panose="020B0604020202020204" pitchFamily="34" charset="0"/>
                <a:cs typeface="Arial" panose="020B0604020202020204" pitchFamily="34" charset="0"/>
              </a:rPr>
              <a:t> TB </a:t>
            </a:r>
            <a:r>
              <a:rPr lang="en-US" altLang="en-US" sz="3600" b="0" dirty="0" err="1">
                <a:solidFill>
                  <a:srgbClr val="002060"/>
                </a:solidFill>
                <a:latin typeface="Arial" panose="020B0604020202020204" pitchFamily="34" charset="0"/>
                <a:cs typeface="Arial" panose="020B0604020202020204" pitchFamily="34" charset="0"/>
              </a:rPr>
              <a:t>ứng</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trước</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các</a:t>
            </a:r>
            <a:r>
              <a:rPr lang="en-US" altLang="en-US" sz="3600" b="0" dirty="0">
                <a:solidFill>
                  <a:srgbClr val="002060"/>
                </a:solidFill>
                <a:latin typeface="Arial" panose="020B0604020202020204" pitchFamily="34" charset="0"/>
                <a:cs typeface="Arial" panose="020B0604020202020204" pitchFamily="34" charset="0"/>
              </a:rPr>
              <a:t> TB </a:t>
            </a:r>
            <a:r>
              <a:rPr lang="en-US" altLang="en-US" sz="3600" b="0" dirty="0" err="1">
                <a:solidFill>
                  <a:srgbClr val="002060"/>
                </a:solidFill>
                <a:latin typeface="Arial" panose="020B0604020202020204" pitchFamily="34" charset="0"/>
                <a:cs typeface="Arial" panose="020B0604020202020204" pitchFamily="34" charset="0"/>
              </a:rPr>
              <a:t>hoạt</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động</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sẽ</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được</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hưởng</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thu</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nhập</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bằng</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lợi</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nhuận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bình</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quân</a:t>
            </a:r>
            <a:r>
              <a:rPr lang="en-US" altLang="en-US" sz="3600" b="0" dirty="0">
                <a:solidFill>
                  <a:srgbClr val="002060"/>
                </a:solidFill>
                <a:latin typeface="Arial" panose="020B0604020202020204" pitchFamily="34" charset="0"/>
                <a:cs typeface="Arial" panose="020B0604020202020204" pitchFamily="34" charset="0"/>
              </a:rPr>
              <a:t>.</a:t>
            </a:r>
          </a:p>
          <a:p>
            <a:pPr algn="just">
              <a:buFont typeface="Arial" panose="020B0604020202020204" pitchFamily="34" charset="0"/>
              <a:buChar char="•"/>
            </a:pP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Quy</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luật</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giá</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cả</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sản</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xuất</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giá</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cả</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sản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xuất</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và</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giá</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cả</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thị</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trường</a:t>
            </a:r>
            <a:r>
              <a:rPr lang="en-US" altLang="en-US" sz="3600" b="0" dirty="0">
                <a:solidFill>
                  <a:srgbClr val="002060"/>
                </a:solidFill>
                <a:latin typeface="Arial" panose="020B0604020202020204" pitchFamily="34" charset="0"/>
                <a:cs typeface="Arial" panose="020B0604020202020204" pitchFamily="34" charset="0"/>
              </a:rPr>
              <a:t>.</a:t>
            </a:r>
          </a:p>
          <a:p>
            <a:pPr algn="just">
              <a:buFont typeface="Arial" panose="020B0604020202020204" pitchFamily="34" charset="0"/>
              <a:buChar char="•"/>
            </a:pPr>
            <a:r>
              <a:rPr lang="en-US" altLang="en-US" sz="3600" b="0" dirty="0" err="1">
                <a:solidFill>
                  <a:srgbClr val="002060"/>
                </a:solidFill>
                <a:latin typeface="Arial" panose="020B0604020202020204" pitchFamily="34" charset="0"/>
                <a:cs typeface="Arial" panose="020B0604020202020204" pitchFamily="34" charset="0"/>
              </a:rPr>
              <a:t>Sự</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hình</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thành</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lợi</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nhuận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bình</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quân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vẫn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không</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chấm</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dứt</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được</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cạnh</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tranh</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trong</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CNTB</a:t>
            </a:r>
          </a:p>
          <a:p>
            <a:pPr algn="just">
              <a:buFont typeface="Arial" panose="020B0604020202020204" pitchFamily="34" charset="0"/>
              <a:buChar char="•"/>
            </a:pPr>
            <a:r>
              <a:rPr lang="en-US" altLang="en-US" sz="3600" b="0" dirty="0" err="1">
                <a:solidFill>
                  <a:srgbClr val="002060"/>
                </a:solidFill>
                <a:latin typeface="Arial" panose="020B0604020202020204" pitchFamily="34" charset="0"/>
                <a:cs typeface="Arial" panose="020B0604020202020204" pitchFamily="34" charset="0"/>
              </a:rPr>
              <a:t>Qúa</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trình</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hình</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thành</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lợi</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nhuận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bình</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quân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phản</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ánh</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mâu</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thuẫn</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giữa</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các</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nhà</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tư</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highlight>
                  <a:srgbClr val="FFFF00"/>
                </a:highlight>
                <a:latin typeface="Arial" panose="020B0604020202020204" pitchFamily="34" charset="0"/>
                <a:cs typeface="Arial" panose="020B0604020202020204" pitchFamily="34" charset="0"/>
              </a:rPr>
              <a:t>bản</a:t>
            </a:r>
            <a:r>
              <a:rPr lang="en-US" altLang="en-US" sz="3600" b="0" dirty="0">
                <a:solidFill>
                  <a:srgbClr val="002060"/>
                </a:solidFill>
                <a:highlight>
                  <a:srgbClr val="FFFF00"/>
                </a:highlight>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với</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nhau</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trong</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việc</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tranh</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giành</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quyền</a:t>
            </a:r>
            <a:r>
              <a:rPr lang="en-US" altLang="en-US" sz="3600" b="0" dirty="0">
                <a:solidFill>
                  <a:srgbClr val="002060"/>
                </a:solidFill>
                <a:latin typeface="Arial" panose="020B0604020202020204" pitchFamily="34" charset="0"/>
                <a:cs typeface="Arial" panose="020B0604020202020204" pitchFamily="34" charset="0"/>
              </a:rPr>
              <a:t> </a:t>
            </a:r>
            <a:r>
              <a:rPr lang="en-US" altLang="en-US" sz="3600" b="0" dirty="0" err="1">
                <a:solidFill>
                  <a:srgbClr val="002060"/>
                </a:solidFill>
                <a:latin typeface="Arial" panose="020B0604020202020204" pitchFamily="34" charset="0"/>
                <a:cs typeface="Arial" panose="020B0604020202020204" pitchFamily="34" charset="0"/>
              </a:rPr>
              <a:t>lợi</a:t>
            </a:r>
            <a:endParaRPr lang="en-US" altLang="en-US" sz="3600" b="0" dirty="0">
              <a:solidFill>
                <a:srgbClr val="002060"/>
              </a:solidFill>
              <a:latin typeface="Arial" panose="020B0604020202020204" pitchFamily="34" charset="0"/>
              <a:cs typeface="Arial" panose="020B0604020202020204" pitchFamily="34" charset="0"/>
            </a:endParaRPr>
          </a:p>
          <a:p>
            <a:pPr algn="just">
              <a:buFontTx/>
              <a:buNone/>
            </a:pPr>
            <a:r>
              <a:rPr lang="en-US" altLang="en-US" sz="4000" b="0" dirty="0">
                <a:solidFill>
                  <a:srgbClr val="002060"/>
                </a:solidFill>
                <a:latin typeface="Arial" panose="020B0604020202020204" pitchFamily="34" charset="0"/>
                <a:cs typeface="Arial" panose="020B0604020202020204" pitchFamily="34" charset="0"/>
              </a:rPr>
              <a:t> </a:t>
            </a:r>
          </a:p>
          <a:p>
            <a:pPr algn="just">
              <a:buFontTx/>
              <a:buNone/>
            </a:pPr>
            <a:endParaRPr lang="en-US" altLang="en-US" sz="4000" b="0" dirty="0">
              <a:solidFill>
                <a:srgbClr val="002060"/>
              </a:solidFill>
              <a:latin typeface="Arial" panose="020B0604020202020204" pitchFamily="34" charset="0"/>
              <a:cs typeface="Arial" panose="020B0604020202020204" pitchFamily="34" charset="0"/>
            </a:endParaRPr>
          </a:p>
        </p:txBody>
      </p:sp>
      <p:graphicFrame>
        <p:nvGraphicFramePr>
          <p:cNvPr id="10" name="Diagram 9">
            <a:extLst>
              <a:ext uri="{FF2B5EF4-FFF2-40B4-BE49-F238E27FC236}">
                <a16:creationId xmlns:a16="http://schemas.microsoft.com/office/drawing/2014/main" id="{E7874D3B-14C8-BBDD-5304-F519D78B67E6}"/>
              </a:ext>
            </a:extLst>
          </p:cNvPr>
          <p:cNvGraphicFramePr/>
          <p:nvPr>
            <p:extLst>
              <p:ext uri="{D42A27DB-BD31-4B8C-83A1-F6EECF244321}">
                <p14:modId xmlns:p14="http://schemas.microsoft.com/office/powerpoint/2010/main" val="3452745901"/>
              </p:ext>
            </p:extLst>
          </p:nvPr>
        </p:nvGraphicFramePr>
        <p:xfrm>
          <a:off x="4574712" y="3423920"/>
          <a:ext cx="11539048" cy="3962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Hộp Văn bản 3">
            <a:extLst>
              <a:ext uri="{FF2B5EF4-FFF2-40B4-BE49-F238E27FC236}">
                <a16:creationId xmlns:a16="http://schemas.microsoft.com/office/drawing/2014/main" id="{8D68943D-06A8-98F2-F2AC-AE7540C2498E}"/>
              </a:ext>
            </a:extLst>
          </p:cNvPr>
          <p:cNvSpPr txBox="1"/>
          <p:nvPr/>
        </p:nvSpPr>
        <p:spPr>
          <a:xfrm>
            <a:off x="18592800" y="1219200"/>
            <a:ext cx="7032502" cy="7417415"/>
          </a:xfrm>
          <a:prstGeom prst="rect">
            <a:avLst/>
          </a:prstGeom>
          <a:noFill/>
        </p:spPr>
        <p:txBody>
          <a:bodyPr wrap="square" rtlCol="0">
            <a:spAutoFit/>
          </a:bodyPr>
          <a:lstStyle/>
          <a:p>
            <a:r>
              <a:rPr lang="en-US" sz="2800">
                <a:solidFill>
                  <a:srgbClr val="C00000"/>
                </a:solidFill>
              </a:rPr>
              <a:t>Trong thời kỳ cạnh tranh tự do, các ngành có c/v khác nhau =&gt; v’ khác nhau =&gt; cạnh tranh khác ngành. CTKN làm cho:</a:t>
            </a:r>
          </a:p>
          <a:p>
            <a:pPr marL="457200" indent="-457200">
              <a:buFont typeface="Arial" panose="020B0604020202020204" pitchFamily="34" charset="0"/>
              <a:buChar char="•"/>
            </a:pPr>
            <a:r>
              <a:rPr lang="en-US" sz="2800">
                <a:solidFill>
                  <a:srgbClr val="C00000"/>
                </a:solidFill>
              </a:rPr>
              <a:t>p’ -&gt; p’ bình quân   =&gt;   p -&gt; p bình quân, theo đó quy luật lợi nhuận chuyển hóa thành quy luật lợi nhuận bình quân</a:t>
            </a:r>
          </a:p>
          <a:p>
            <a:r>
              <a:rPr lang="en-US" sz="2800">
                <a:solidFill>
                  <a:srgbClr val="C00000"/>
                </a:solidFill>
              </a:rPr>
              <a:t>Lợi nhuận bình quân: chia theo tỷ suất lợi nhuận bình quân chung bằng nhau nhưng phụ thuộc vào k</a:t>
            </a:r>
          </a:p>
          <a:p>
            <a:pPr marL="457200" indent="-457200">
              <a:buFont typeface="Arial" panose="020B0604020202020204" pitchFamily="34" charset="0"/>
              <a:buChar char="•"/>
            </a:pPr>
            <a:r>
              <a:rPr lang="en-US" sz="2800">
                <a:solidFill>
                  <a:srgbClr val="C00000"/>
                </a:solidFill>
              </a:rPr>
              <a:t>Khi p -&gt; p bình quân, giá trị -&gt; giá cả sx   =&gt;  qluat gt -&gt; qluat gcsx.</a:t>
            </a:r>
          </a:p>
          <a:p>
            <a:r>
              <a:rPr lang="en-US" sz="2800">
                <a:solidFill>
                  <a:srgbClr val="C00000"/>
                </a:solidFill>
              </a:rPr>
              <a:t>QL GCSX: </a:t>
            </a:r>
          </a:p>
          <a:p>
            <a:r>
              <a:rPr lang="en-US" sz="2800">
                <a:solidFill>
                  <a:srgbClr val="C00000"/>
                </a:solidFill>
              </a:rPr>
              <a:t>	+ GCSX là giá bán lần đầu tiên của người sx cho nhà phân phối</a:t>
            </a:r>
          </a:p>
          <a:p>
            <a:r>
              <a:rPr lang="en-US" sz="2800">
                <a:solidFill>
                  <a:srgbClr val="C00000"/>
                </a:solidFill>
              </a:rPr>
              <a:t>	+ GC thị trường: giá bán cuối cùng của nhà phân phối cho ng tiêu dùng</a:t>
            </a:r>
          </a:p>
          <a:p>
            <a:pPr marL="457200" indent="-457200">
              <a:buFontTx/>
              <a:buChar char="-"/>
            </a:pPr>
            <a:endParaRPr lang="en-US" sz="2800">
              <a:solidFill>
                <a:srgbClr val="C00000"/>
              </a:solidFill>
            </a:endParaRPr>
          </a:p>
        </p:txBody>
      </p:sp>
    </p:spTree>
    <p:extLst>
      <p:ext uri="{BB962C8B-B14F-4D97-AF65-F5344CB8AC3E}">
        <p14:creationId xmlns:p14="http://schemas.microsoft.com/office/powerpoint/2010/main" val="1915735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3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3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3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3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ppt_w</p:attrName>
                                        </p:attrNameLst>
                                      </p:cBhvr>
                                      <p:tavLst>
                                        <p:tav tm="0">
                                          <p:val>
                                            <p:fltVal val="0"/>
                                          </p:val>
                                        </p:tav>
                                        <p:tav tm="100000">
                                          <p:val>
                                            <p:strVal val="#ppt_w"/>
                                          </p:val>
                                        </p:tav>
                                      </p:tavLst>
                                    </p:anim>
                                    <p:anim calcmode="lin" valueType="num">
                                      <p:cBhvr>
                                        <p:cTn id="16" dur="500" fill="hold"/>
                                        <p:tgtEl>
                                          <p:spTgt spid="10"/>
                                        </p:tgtEl>
                                        <p:attrNameLst>
                                          <p:attrName>ppt_h</p:attrName>
                                        </p:attrNameLst>
                                      </p:cBhvr>
                                      <p:tavLst>
                                        <p:tav tm="0">
                                          <p:val>
                                            <p:fltVal val="0"/>
                                          </p:val>
                                        </p:tav>
                                        <p:tav tm="100000">
                                          <p:val>
                                            <p:strVal val="#ppt_h"/>
                                          </p:val>
                                        </p:tav>
                                      </p:tavLst>
                                    </p:anim>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iterate type="lt">
                                    <p:tmPct val="5000"/>
                                  </p:iterate>
                                  <p:childTnLst>
                                    <p:set>
                                      <p:cBhvr>
                                        <p:cTn id="21" dur="1" fill="hold">
                                          <p:stCondLst>
                                            <p:cond delay="0"/>
                                          </p:stCondLst>
                                        </p:cTn>
                                        <p:tgtEl>
                                          <p:spTgt spid="3">
                                            <p:txEl>
                                              <p:pRg st="6" end="6"/>
                                            </p:txEl>
                                          </p:spTgt>
                                        </p:tgtEl>
                                        <p:attrNameLst>
                                          <p:attrName>style.visibility</p:attrName>
                                        </p:attrNameLst>
                                      </p:cBhvr>
                                      <p:to>
                                        <p:strVal val="visible"/>
                                      </p:to>
                                    </p:set>
                                    <p:anim calcmode="lin" valueType="num">
                                      <p:cBhvr>
                                        <p:cTn id="22" dur="300" fill="hold"/>
                                        <p:tgtEl>
                                          <p:spTgt spid="3">
                                            <p:txEl>
                                              <p:pRg st="6" end="6"/>
                                            </p:txEl>
                                          </p:spTgt>
                                        </p:tgtEl>
                                        <p:attrNameLst>
                                          <p:attrName>ppt_w</p:attrName>
                                        </p:attrNameLst>
                                      </p:cBhvr>
                                      <p:tavLst>
                                        <p:tav tm="0">
                                          <p:val>
                                            <p:fltVal val="0"/>
                                          </p:val>
                                        </p:tav>
                                        <p:tav tm="100000">
                                          <p:val>
                                            <p:strVal val="#ppt_w"/>
                                          </p:val>
                                        </p:tav>
                                      </p:tavLst>
                                    </p:anim>
                                    <p:anim calcmode="lin" valueType="num">
                                      <p:cBhvr>
                                        <p:cTn id="23" dur="300" fill="hold"/>
                                        <p:tgtEl>
                                          <p:spTgt spid="3">
                                            <p:txEl>
                                              <p:pRg st="6" end="6"/>
                                            </p:txEl>
                                          </p:spTgt>
                                        </p:tgtEl>
                                        <p:attrNameLst>
                                          <p:attrName>ppt_h</p:attrName>
                                        </p:attrNameLst>
                                      </p:cBhvr>
                                      <p:tavLst>
                                        <p:tav tm="0">
                                          <p:val>
                                            <p:fltVal val="0"/>
                                          </p:val>
                                        </p:tav>
                                        <p:tav tm="100000">
                                          <p:val>
                                            <p:strVal val="#ppt_h"/>
                                          </p:val>
                                        </p:tav>
                                      </p:tavLst>
                                    </p:anim>
                                    <p:anim calcmode="lin" valueType="num">
                                      <p:cBhvr>
                                        <p:cTn id="24" dur="300" fill="hold"/>
                                        <p:tgtEl>
                                          <p:spTgt spid="3">
                                            <p:txEl>
                                              <p:pRg st="6" end="6"/>
                                            </p:txEl>
                                          </p:spTgt>
                                        </p:tgtEl>
                                        <p:attrNameLst>
                                          <p:attrName>style.rotation</p:attrName>
                                        </p:attrNameLst>
                                      </p:cBhvr>
                                      <p:tavLst>
                                        <p:tav tm="0">
                                          <p:val>
                                            <p:fltVal val="90"/>
                                          </p:val>
                                        </p:tav>
                                        <p:tav tm="100000">
                                          <p:val>
                                            <p:fltVal val="0"/>
                                          </p:val>
                                        </p:tav>
                                      </p:tavLst>
                                    </p:anim>
                                    <p:animEffect transition="in" filter="fade">
                                      <p:cBhvr>
                                        <p:cTn id="25" dur="300"/>
                                        <p:tgtEl>
                                          <p:spTgt spid="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nodeType="clickEffect">
                                  <p:stCondLst>
                                    <p:cond delay="0"/>
                                  </p:stCondLst>
                                  <p:iterate type="lt">
                                    <p:tmPct val="5000"/>
                                  </p:iterate>
                                  <p:childTnLst>
                                    <p:set>
                                      <p:cBhvr>
                                        <p:cTn id="29" dur="1" fill="hold">
                                          <p:stCondLst>
                                            <p:cond delay="0"/>
                                          </p:stCondLst>
                                        </p:cTn>
                                        <p:tgtEl>
                                          <p:spTgt spid="3">
                                            <p:txEl>
                                              <p:pRg st="7" end="7"/>
                                            </p:txEl>
                                          </p:spTgt>
                                        </p:tgtEl>
                                        <p:attrNameLst>
                                          <p:attrName>style.visibility</p:attrName>
                                        </p:attrNameLst>
                                      </p:cBhvr>
                                      <p:to>
                                        <p:strVal val="visible"/>
                                      </p:to>
                                    </p:set>
                                    <p:anim calcmode="lin" valueType="num">
                                      <p:cBhvr>
                                        <p:cTn id="30" dur="300" fill="hold"/>
                                        <p:tgtEl>
                                          <p:spTgt spid="3">
                                            <p:txEl>
                                              <p:pRg st="7" end="7"/>
                                            </p:txEl>
                                          </p:spTgt>
                                        </p:tgtEl>
                                        <p:attrNameLst>
                                          <p:attrName>ppt_w</p:attrName>
                                        </p:attrNameLst>
                                      </p:cBhvr>
                                      <p:tavLst>
                                        <p:tav tm="0">
                                          <p:val>
                                            <p:fltVal val="0"/>
                                          </p:val>
                                        </p:tav>
                                        <p:tav tm="100000">
                                          <p:val>
                                            <p:strVal val="#ppt_w"/>
                                          </p:val>
                                        </p:tav>
                                      </p:tavLst>
                                    </p:anim>
                                    <p:anim calcmode="lin" valueType="num">
                                      <p:cBhvr>
                                        <p:cTn id="31" dur="300" fill="hold"/>
                                        <p:tgtEl>
                                          <p:spTgt spid="3">
                                            <p:txEl>
                                              <p:pRg st="7" end="7"/>
                                            </p:txEl>
                                          </p:spTgt>
                                        </p:tgtEl>
                                        <p:attrNameLst>
                                          <p:attrName>ppt_h</p:attrName>
                                        </p:attrNameLst>
                                      </p:cBhvr>
                                      <p:tavLst>
                                        <p:tav tm="0">
                                          <p:val>
                                            <p:fltVal val="0"/>
                                          </p:val>
                                        </p:tav>
                                        <p:tav tm="100000">
                                          <p:val>
                                            <p:strVal val="#ppt_h"/>
                                          </p:val>
                                        </p:tav>
                                      </p:tavLst>
                                    </p:anim>
                                    <p:anim calcmode="lin" valueType="num">
                                      <p:cBhvr>
                                        <p:cTn id="32" dur="300" fill="hold"/>
                                        <p:tgtEl>
                                          <p:spTgt spid="3">
                                            <p:txEl>
                                              <p:pRg st="7" end="7"/>
                                            </p:txEl>
                                          </p:spTgt>
                                        </p:tgtEl>
                                        <p:attrNameLst>
                                          <p:attrName>style.rotation</p:attrName>
                                        </p:attrNameLst>
                                      </p:cBhvr>
                                      <p:tavLst>
                                        <p:tav tm="0">
                                          <p:val>
                                            <p:fltVal val="90"/>
                                          </p:val>
                                        </p:tav>
                                        <p:tav tm="100000">
                                          <p:val>
                                            <p:fltVal val="0"/>
                                          </p:val>
                                        </p:tav>
                                      </p:tavLst>
                                    </p:anim>
                                    <p:animEffect transition="in" filter="fade">
                                      <p:cBhvr>
                                        <p:cTn id="33" dur="3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iterate type="lt">
                                    <p:tmPct val="5000"/>
                                  </p:iterate>
                                  <p:childTnLst>
                                    <p:set>
                                      <p:cBhvr>
                                        <p:cTn id="37" dur="1" fill="hold">
                                          <p:stCondLst>
                                            <p:cond delay="0"/>
                                          </p:stCondLst>
                                        </p:cTn>
                                        <p:tgtEl>
                                          <p:spTgt spid="3">
                                            <p:txEl>
                                              <p:pRg st="8" end="8"/>
                                            </p:txEl>
                                          </p:spTgt>
                                        </p:tgtEl>
                                        <p:attrNameLst>
                                          <p:attrName>style.visibility</p:attrName>
                                        </p:attrNameLst>
                                      </p:cBhvr>
                                      <p:to>
                                        <p:strVal val="visible"/>
                                      </p:to>
                                    </p:set>
                                    <p:anim calcmode="lin" valueType="num">
                                      <p:cBhvr>
                                        <p:cTn id="38" dur="300" fill="hold"/>
                                        <p:tgtEl>
                                          <p:spTgt spid="3">
                                            <p:txEl>
                                              <p:pRg st="8" end="8"/>
                                            </p:txEl>
                                          </p:spTgt>
                                        </p:tgtEl>
                                        <p:attrNameLst>
                                          <p:attrName>ppt_w</p:attrName>
                                        </p:attrNameLst>
                                      </p:cBhvr>
                                      <p:tavLst>
                                        <p:tav tm="0">
                                          <p:val>
                                            <p:fltVal val="0"/>
                                          </p:val>
                                        </p:tav>
                                        <p:tav tm="100000">
                                          <p:val>
                                            <p:strVal val="#ppt_w"/>
                                          </p:val>
                                        </p:tav>
                                      </p:tavLst>
                                    </p:anim>
                                    <p:anim calcmode="lin" valueType="num">
                                      <p:cBhvr>
                                        <p:cTn id="39" dur="300" fill="hold"/>
                                        <p:tgtEl>
                                          <p:spTgt spid="3">
                                            <p:txEl>
                                              <p:pRg st="8" end="8"/>
                                            </p:txEl>
                                          </p:spTgt>
                                        </p:tgtEl>
                                        <p:attrNameLst>
                                          <p:attrName>ppt_h</p:attrName>
                                        </p:attrNameLst>
                                      </p:cBhvr>
                                      <p:tavLst>
                                        <p:tav tm="0">
                                          <p:val>
                                            <p:fltVal val="0"/>
                                          </p:val>
                                        </p:tav>
                                        <p:tav tm="100000">
                                          <p:val>
                                            <p:strVal val="#ppt_h"/>
                                          </p:val>
                                        </p:tav>
                                      </p:tavLst>
                                    </p:anim>
                                    <p:anim calcmode="lin" valueType="num">
                                      <p:cBhvr>
                                        <p:cTn id="40" dur="300" fill="hold"/>
                                        <p:tgtEl>
                                          <p:spTgt spid="3">
                                            <p:txEl>
                                              <p:pRg st="8" end="8"/>
                                            </p:txEl>
                                          </p:spTgt>
                                        </p:tgtEl>
                                        <p:attrNameLst>
                                          <p:attrName>style.rotation</p:attrName>
                                        </p:attrNameLst>
                                      </p:cBhvr>
                                      <p:tavLst>
                                        <p:tav tm="0">
                                          <p:val>
                                            <p:fltVal val="90"/>
                                          </p:val>
                                        </p:tav>
                                        <p:tav tm="100000">
                                          <p:val>
                                            <p:fltVal val="0"/>
                                          </p:val>
                                        </p:tav>
                                      </p:tavLst>
                                    </p:anim>
                                    <p:animEffect transition="in" filter="fade">
                                      <p:cBhvr>
                                        <p:cTn id="41" dur="300"/>
                                        <p:tgtEl>
                                          <p:spTgt spid="3">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1" presetClass="entr" presetSubtype="0" fill="hold" nodeType="clickEffect">
                                  <p:stCondLst>
                                    <p:cond delay="0"/>
                                  </p:stCondLst>
                                  <p:iterate type="lt">
                                    <p:tmPct val="5000"/>
                                  </p:iterate>
                                  <p:childTnLst>
                                    <p:set>
                                      <p:cBhvr>
                                        <p:cTn id="45" dur="1" fill="hold">
                                          <p:stCondLst>
                                            <p:cond delay="0"/>
                                          </p:stCondLst>
                                        </p:cTn>
                                        <p:tgtEl>
                                          <p:spTgt spid="3">
                                            <p:txEl>
                                              <p:pRg st="9" end="9"/>
                                            </p:txEl>
                                          </p:spTgt>
                                        </p:tgtEl>
                                        <p:attrNameLst>
                                          <p:attrName>style.visibility</p:attrName>
                                        </p:attrNameLst>
                                      </p:cBhvr>
                                      <p:to>
                                        <p:strVal val="visible"/>
                                      </p:to>
                                    </p:set>
                                    <p:anim calcmode="lin" valueType="num">
                                      <p:cBhvr>
                                        <p:cTn id="46" dur="300" fill="hold"/>
                                        <p:tgtEl>
                                          <p:spTgt spid="3">
                                            <p:txEl>
                                              <p:pRg st="9" end="9"/>
                                            </p:txEl>
                                          </p:spTgt>
                                        </p:tgtEl>
                                        <p:attrNameLst>
                                          <p:attrName>ppt_w</p:attrName>
                                        </p:attrNameLst>
                                      </p:cBhvr>
                                      <p:tavLst>
                                        <p:tav tm="0">
                                          <p:val>
                                            <p:fltVal val="0"/>
                                          </p:val>
                                        </p:tav>
                                        <p:tav tm="100000">
                                          <p:val>
                                            <p:strVal val="#ppt_w"/>
                                          </p:val>
                                        </p:tav>
                                      </p:tavLst>
                                    </p:anim>
                                    <p:anim calcmode="lin" valueType="num">
                                      <p:cBhvr>
                                        <p:cTn id="47" dur="300" fill="hold"/>
                                        <p:tgtEl>
                                          <p:spTgt spid="3">
                                            <p:txEl>
                                              <p:pRg st="9" end="9"/>
                                            </p:txEl>
                                          </p:spTgt>
                                        </p:tgtEl>
                                        <p:attrNameLst>
                                          <p:attrName>ppt_h</p:attrName>
                                        </p:attrNameLst>
                                      </p:cBhvr>
                                      <p:tavLst>
                                        <p:tav tm="0">
                                          <p:val>
                                            <p:fltVal val="0"/>
                                          </p:val>
                                        </p:tav>
                                        <p:tav tm="100000">
                                          <p:val>
                                            <p:strVal val="#ppt_h"/>
                                          </p:val>
                                        </p:tav>
                                      </p:tavLst>
                                    </p:anim>
                                    <p:anim calcmode="lin" valueType="num">
                                      <p:cBhvr>
                                        <p:cTn id="48" dur="300" fill="hold"/>
                                        <p:tgtEl>
                                          <p:spTgt spid="3">
                                            <p:txEl>
                                              <p:pRg st="9" end="9"/>
                                            </p:txEl>
                                          </p:spTgt>
                                        </p:tgtEl>
                                        <p:attrNameLst>
                                          <p:attrName>style.rotation</p:attrName>
                                        </p:attrNameLst>
                                      </p:cBhvr>
                                      <p:tavLst>
                                        <p:tav tm="0">
                                          <p:val>
                                            <p:fltVal val="90"/>
                                          </p:val>
                                        </p:tav>
                                        <p:tav tm="100000">
                                          <p:val>
                                            <p:fltVal val="0"/>
                                          </p:val>
                                        </p:tav>
                                      </p:tavLst>
                                    </p:anim>
                                    <p:animEffect transition="in" filter="fade">
                                      <p:cBhvr>
                                        <p:cTn id="49" dur="300"/>
                                        <p:tgtEl>
                                          <p:spTgt spid="3">
                                            <p:txEl>
                                              <p:pRg st="9" end="9"/>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1" presetClass="entr" presetSubtype="0" fill="hold" nodeType="clickEffect">
                                  <p:stCondLst>
                                    <p:cond delay="0"/>
                                  </p:stCondLst>
                                  <p:iterate type="lt">
                                    <p:tmPct val="5000"/>
                                  </p:iterate>
                                  <p:childTnLst>
                                    <p:set>
                                      <p:cBhvr>
                                        <p:cTn id="53" dur="1" fill="hold">
                                          <p:stCondLst>
                                            <p:cond delay="0"/>
                                          </p:stCondLst>
                                        </p:cTn>
                                        <p:tgtEl>
                                          <p:spTgt spid="3">
                                            <p:txEl>
                                              <p:pRg st="10" end="10"/>
                                            </p:txEl>
                                          </p:spTgt>
                                        </p:tgtEl>
                                        <p:attrNameLst>
                                          <p:attrName>style.visibility</p:attrName>
                                        </p:attrNameLst>
                                      </p:cBhvr>
                                      <p:to>
                                        <p:strVal val="visible"/>
                                      </p:to>
                                    </p:set>
                                    <p:anim calcmode="lin" valueType="num">
                                      <p:cBhvr>
                                        <p:cTn id="54" dur="3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55" dur="300" fill="hold"/>
                                        <p:tgtEl>
                                          <p:spTgt spid="3">
                                            <p:txEl>
                                              <p:pRg st="10" end="10"/>
                                            </p:txEl>
                                          </p:spTgt>
                                        </p:tgtEl>
                                        <p:attrNameLst>
                                          <p:attrName>ppt_h</p:attrName>
                                        </p:attrNameLst>
                                      </p:cBhvr>
                                      <p:tavLst>
                                        <p:tav tm="0">
                                          <p:val>
                                            <p:fltVal val="0"/>
                                          </p:val>
                                        </p:tav>
                                        <p:tav tm="100000">
                                          <p:val>
                                            <p:strVal val="#ppt_h"/>
                                          </p:val>
                                        </p:tav>
                                      </p:tavLst>
                                    </p:anim>
                                    <p:anim calcmode="lin" valueType="num">
                                      <p:cBhvr>
                                        <p:cTn id="56" dur="300" fill="hold"/>
                                        <p:tgtEl>
                                          <p:spTgt spid="3">
                                            <p:txEl>
                                              <p:pRg st="10" end="10"/>
                                            </p:txEl>
                                          </p:spTgt>
                                        </p:tgtEl>
                                        <p:attrNameLst>
                                          <p:attrName>style.rotation</p:attrName>
                                        </p:attrNameLst>
                                      </p:cBhvr>
                                      <p:tavLst>
                                        <p:tav tm="0">
                                          <p:val>
                                            <p:fltVal val="90"/>
                                          </p:val>
                                        </p:tav>
                                        <p:tav tm="100000">
                                          <p:val>
                                            <p:fltVal val="0"/>
                                          </p:val>
                                        </p:tav>
                                      </p:tavLst>
                                    </p:anim>
                                    <p:animEffect transition="in" filter="fade">
                                      <p:cBhvr>
                                        <p:cTn id="57" dur="3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FA2A3ED-54C7-8D66-D0F3-0839C7B77F9F}"/>
              </a:ext>
            </a:extLst>
          </p:cNvPr>
          <p:cNvSpPr txBox="1">
            <a:spLocks noChangeArrowheads="1"/>
          </p:cNvSpPr>
          <p:nvPr/>
        </p:nvSpPr>
        <p:spPr bwMode="auto">
          <a:xfrm>
            <a:off x="751840" y="2438401"/>
            <a:ext cx="16306800" cy="10509250"/>
          </a:xfrm>
          <a:prstGeom prst="rect">
            <a:avLst/>
          </a:prstGeom>
        </p:spPr>
        <p:txBody>
          <a:bodyPr vert="horz" wrap="square" lIns="182880" tIns="91440" rIns="182880" bIns="91440" numCol="1" rtlCol="0" anchor="t" anchorCtr="0" compatLnSpc="1">
            <a:prstTxWarp prst="textNoShape">
              <a:avLst/>
            </a:prstTxWarp>
            <a:normAutofit/>
          </a:bodyPr>
          <a:lstStyle>
            <a:lvl1pPr marL="0" indent="0" algn="ctr" defTabSz="685800" rtl="0" fontAlgn="base">
              <a:lnSpc>
                <a:spcPct val="90000"/>
              </a:lnSpc>
              <a:spcBef>
                <a:spcPts val="750"/>
              </a:spcBef>
              <a:spcAft>
                <a:spcPct val="0"/>
              </a:spcAft>
              <a:buFont typeface="Arial" panose="020B0604020202020204" pitchFamily="34" charset="0"/>
              <a:buNone/>
              <a:defRPr sz="1800" kern="1200">
                <a:solidFill>
                  <a:schemeClr val="tx1"/>
                </a:solidFill>
                <a:latin typeface="+mn-lt"/>
                <a:ea typeface="+mn-ea"/>
                <a:cs typeface="+mn-cs"/>
              </a:defRPr>
            </a:lvl1pPr>
            <a:lvl2pPr marL="342900" indent="0" algn="ctr" defTabSz="685800" rtl="0" fontAlgn="base">
              <a:lnSpc>
                <a:spcPct val="90000"/>
              </a:lnSpc>
              <a:spcBef>
                <a:spcPts val="375"/>
              </a:spcBef>
              <a:spcAft>
                <a:spcPct val="0"/>
              </a:spcAft>
              <a:buFont typeface="Arial" panose="020B0604020202020204" pitchFamily="34" charset="0"/>
              <a:buNone/>
              <a:defRPr sz="1500" kern="1200">
                <a:solidFill>
                  <a:schemeClr val="tx1"/>
                </a:solidFill>
                <a:latin typeface="+mn-lt"/>
                <a:ea typeface="+mn-ea"/>
                <a:cs typeface="+mn-cs"/>
              </a:defRPr>
            </a:lvl2pPr>
            <a:lvl3pPr marL="685800" indent="0" algn="ctr" defTabSz="685800" rtl="0" fontAlgn="base">
              <a:lnSpc>
                <a:spcPct val="90000"/>
              </a:lnSpc>
              <a:spcBef>
                <a:spcPts val="375"/>
              </a:spcBef>
              <a:spcAft>
                <a:spcPct val="0"/>
              </a:spcAft>
              <a:buFont typeface="Arial" panose="020B0604020202020204" pitchFamily="34" charset="0"/>
              <a:buNone/>
              <a:defRPr sz="1350" kern="1200">
                <a:solidFill>
                  <a:schemeClr val="tx1"/>
                </a:solidFill>
                <a:latin typeface="+mn-lt"/>
                <a:ea typeface="+mn-ea"/>
                <a:cs typeface="+mn-cs"/>
              </a:defRPr>
            </a:lvl3pPr>
            <a:lvl4pPr marL="1028700" indent="0" algn="ctr" defTabSz="685800" rtl="0" fontAlgn="base">
              <a:lnSpc>
                <a:spcPct val="90000"/>
              </a:lnSpc>
              <a:spcBef>
                <a:spcPts val="375"/>
              </a:spcBef>
              <a:spcAft>
                <a:spcPct val="0"/>
              </a:spcAft>
              <a:buFont typeface="Arial" panose="020B0604020202020204" pitchFamily="34" charset="0"/>
              <a:buNone/>
              <a:defRPr sz="1200" kern="1200">
                <a:solidFill>
                  <a:schemeClr val="tx1"/>
                </a:solidFill>
                <a:latin typeface="+mn-lt"/>
                <a:ea typeface="+mn-ea"/>
                <a:cs typeface="+mn-cs"/>
              </a:defRPr>
            </a:lvl4pPr>
            <a:lvl5pPr marL="1371600" indent="0" algn="ctr" defTabSz="685800" rtl="0" fontAlgn="base">
              <a:lnSpc>
                <a:spcPct val="90000"/>
              </a:lnSpc>
              <a:spcBef>
                <a:spcPts val="375"/>
              </a:spcBef>
              <a:spcAft>
                <a:spcPct val="0"/>
              </a:spcAft>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defTabSz="1371600">
              <a:spcBef>
                <a:spcPts val="1500"/>
              </a:spcBef>
              <a:defRPr/>
            </a:pPr>
            <a:r>
              <a:rPr lang="en-US" altLang="en-US" sz="7200" b="1">
                <a:solidFill>
                  <a:srgbClr val="002060"/>
                </a:solidFill>
                <a:latin typeface="Calibri" panose="020F0502020204030204"/>
              </a:rPr>
              <a:t>			        SLĐ</a:t>
            </a:r>
          </a:p>
          <a:p>
            <a:pPr algn="l" defTabSz="1371600">
              <a:spcBef>
                <a:spcPts val="1500"/>
              </a:spcBef>
              <a:defRPr/>
            </a:pPr>
            <a:r>
              <a:rPr lang="en-US" altLang="en-US" sz="7200" b="1">
                <a:solidFill>
                  <a:srgbClr val="002060"/>
                </a:solidFill>
                <a:latin typeface="Calibri" panose="020F0502020204030204"/>
              </a:rPr>
              <a:t>      T  -  H                       ... SX ...        H</a:t>
            </a:r>
            <a:r>
              <a:rPr lang="ja-JP" altLang="en-US" sz="7200" b="1">
                <a:solidFill>
                  <a:srgbClr val="002060"/>
                </a:solidFill>
                <a:latin typeface="Calibri" panose="020F0502020204030204"/>
                <a:ea typeface="ＭＳ Ｐゴシック" panose="020B0600070205080204" pitchFamily="34" charset="-128"/>
              </a:rPr>
              <a:t>’</a:t>
            </a:r>
            <a:r>
              <a:rPr lang="en-US" altLang="ja-JP" sz="7200" b="1">
                <a:solidFill>
                  <a:srgbClr val="002060"/>
                </a:solidFill>
                <a:latin typeface="Calibri" panose="020F0502020204030204"/>
                <a:ea typeface="ＭＳ Ｐゴシック" panose="020B0600070205080204" pitchFamily="34" charset="-128"/>
              </a:rPr>
              <a:t> -  T</a:t>
            </a:r>
            <a:r>
              <a:rPr lang="ja-JP" altLang="en-US" sz="7200" b="1">
                <a:solidFill>
                  <a:srgbClr val="002060"/>
                </a:solidFill>
                <a:latin typeface="Calibri" panose="020F0502020204030204"/>
                <a:ea typeface="ＭＳ Ｐゴシック" panose="020B0600070205080204" pitchFamily="34" charset="-128"/>
              </a:rPr>
              <a:t>’</a:t>
            </a:r>
            <a:endParaRPr lang="en-US" altLang="ja-JP" sz="7200" b="1">
              <a:solidFill>
                <a:srgbClr val="002060"/>
              </a:solidFill>
              <a:latin typeface="Calibri" panose="020F0502020204030204"/>
              <a:ea typeface="ＭＳ Ｐゴシック" panose="020B0600070205080204" pitchFamily="34" charset="-128"/>
            </a:endParaRPr>
          </a:p>
          <a:p>
            <a:pPr algn="l" defTabSz="1371600">
              <a:spcBef>
                <a:spcPts val="1500"/>
              </a:spcBef>
              <a:defRPr/>
            </a:pPr>
            <a:r>
              <a:rPr lang="en-US" altLang="en-US" sz="7200" b="1">
                <a:solidFill>
                  <a:srgbClr val="002060"/>
                </a:solidFill>
                <a:latin typeface="Calibri" panose="020F0502020204030204"/>
              </a:rPr>
              <a:t>                            TLSX</a:t>
            </a:r>
          </a:p>
          <a:p>
            <a:pPr algn="l" defTabSz="1371600">
              <a:spcBef>
                <a:spcPts val="1500"/>
              </a:spcBef>
              <a:defRPr/>
            </a:pPr>
            <a:endParaRPr lang="en-US" altLang="en-US" sz="7200" b="1">
              <a:solidFill>
                <a:srgbClr val="002060"/>
              </a:solidFill>
              <a:latin typeface="Calibri" panose="020F0502020204030204"/>
            </a:endParaRPr>
          </a:p>
          <a:p>
            <a:pPr algn="l" defTabSz="1371600">
              <a:spcBef>
                <a:spcPts val="1500"/>
              </a:spcBef>
              <a:defRPr/>
            </a:pPr>
            <a:r>
              <a:rPr lang="en-US" altLang="en-US" sz="7200" b="1">
                <a:solidFill>
                  <a:srgbClr val="002060"/>
                </a:solidFill>
                <a:latin typeface="Calibri" panose="020F0502020204030204"/>
              </a:rPr>
              <a:t>	</a:t>
            </a:r>
            <a:r>
              <a:rPr lang="en-US" altLang="en-US" sz="6000" b="1">
                <a:solidFill>
                  <a:srgbClr val="002060"/>
                </a:solidFill>
                <a:latin typeface="Calibri" panose="020F0502020204030204"/>
                <a:cs typeface="Arial" panose="020B0604020202020204" pitchFamily="34" charset="0"/>
              </a:rPr>
              <a:t>TB thương nghiệp đảm nhận</a:t>
            </a:r>
          </a:p>
          <a:p>
            <a:pPr algn="l" defTabSz="1371600">
              <a:spcBef>
                <a:spcPts val="1500"/>
              </a:spcBef>
              <a:defRPr/>
            </a:pPr>
            <a:r>
              <a:rPr lang="en-US" altLang="en-US" sz="7200" b="1">
                <a:solidFill>
                  <a:srgbClr val="002060"/>
                </a:solidFill>
                <a:latin typeface="Calibri" panose="020F0502020204030204"/>
              </a:rPr>
              <a:t>	</a:t>
            </a:r>
            <a:r>
              <a:rPr lang="en-US" altLang="en-US" sz="6000" b="1">
                <a:solidFill>
                  <a:srgbClr val="002060"/>
                </a:solidFill>
                <a:latin typeface="Calibri" panose="020F0502020204030204"/>
                <a:cs typeface="Arial" panose="020B0604020202020204" pitchFamily="34" charset="0"/>
              </a:rPr>
              <a:t>Công thức vận động: </a:t>
            </a:r>
            <a:r>
              <a:rPr lang="en-US" altLang="en-US" sz="7200" b="1">
                <a:solidFill>
                  <a:srgbClr val="002060"/>
                </a:solidFill>
                <a:latin typeface="Calibri" panose="020F0502020204030204"/>
              </a:rPr>
              <a:t>  T   -   H   -   T</a:t>
            </a:r>
            <a:r>
              <a:rPr lang="ja-JP" altLang="en-US" sz="7200" b="1">
                <a:solidFill>
                  <a:srgbClr val="002060"/>
                </a:solidFill>
                <a:latin typeface="Calibri" panose="020F0502020204030204"/>
                <a:ea typeface="ＭＳ Ｐゴシック" panose="020B0600070205080204" pitchFamily="34" charset="-128"/>
              </a:rPr>
              <a:t>’</a:t>
            </a:r>
            <a:endParaRPr lang="en-US" altLang="ja-JP" sz="7200" b="1">
              <a:solidFill>
                <a:srgbClr val="002060"/>
              </a:solidFill>
              <a:latin typeface="Calibri" panose="020F0502020204030204"/>
              <a:ea typeface="ＭＳ Ｐゴシック" panose="020B0600070205080204" pitchFamily="34" charset="-128"/>
            </a:endParaRPr>
          </a:p>
          <a:p>
            <a:pPr algn="just" defTabSz="1371600">
              <a:spcBef>
                <a:spcPts val="1500"/>
              </a:spcBef>
              <a:defRPr/>
            </a:pPr>
            <a:r>
              <a:rPr lang="en-US" altLang="en-US" sz="7200" b="1">
                <a:solidFill>
                  <a:srgbClr val="002060"/>
                </a:solidFill>
                <a:latin typeface="Calibri" panose="020F0502020204030204"/>
              </a:rPr>
              <a:t>   </a:t>
            </a:r>
            <a:endParaRPr lang="en-US" altLang="en-US" sz="3600" b="1">
              <a:solidFill>
                <a:srgbClr val="002060"/>
              </a:solidFill>
              <a:latin typeface="Calibri" panose="020F0502020204030204"/>
            </a:endParaRPr>
          </a:p>
        </p:txBody>
      </p:sp>
      <p:sp>
        <p:nvSpPr>
          <p:cNvPr id="5" name="Oval 6">
            <a:extLst>
              <a:ext uri="{FF2B5EF4-FFF2-40B4-BE49-F238E27FC236}">
                <a16:creationId xmlns:a16="http://schemas.microsoft.com/office/drawing/2014/main" id="{4CD0D293-28BB-58B9-B4F7-7E3BD34B5E01}"/>
              </a:ext>
            </a:extLst>
          </p:cNvPr>
          <p:cNvSpPr>
            <a:spLocks noChangeArrowheads="1"/>
          </p:cNvSpPr>
          <p:nvPr/>
        </p:nvSpPr>
        <p:spPr bwMode="auto">
          <a:xfrm>
            <a:off x="12943840" y="3200400"/>
            <a:ext cx="3533140" cy="22860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defTabSz="1828800" eaLnBrk="0" hangingPunct="0">
              <a:defRPr/>
            </a:pPr>
            <a:endParaRPr lang="en-US" altLang="en-US" sz="3600" kern="0">
              <a:solidFill>
                <a:prstClr val="black"/>
              </a:solidFill>
            </a:endParaRPr>
          </a:p>
        </p:txBody>
      </p:sp>
      <p:sp>
        <p:nvSpPr>
          <p:cNvPr id="6" name="Line 10">
            <a:extLst>
              <a:ext uri="{FF2B5EF4-FFF2-40B4-BE49-F238E27FC236}">
                <a16:creationId xmlns:a16="http://schemas.microsoft.com/office/drawing/2014/main" id="{8699D438-0B9F-F905-39FA-48D53F978647}"/>
              </a:ext>
            </a:extLst>
          </p:cNvPr>
          <p:cNvSpPr>
            <a:spLocks noChangeShapeType="1"/>
          </p:cNvSpPr>
          <p:nvPr/>
        </p:nvSpPr>
        <p:spPr bwMode="auto">
          <a:xfrm flipV="1">
            <a:off x="5323841" y="3200400"/>
            <a:ext cx="1223010" cy="1371600"/>
          </a:xfrm>
          <a:prstGeom prst="line">
            <a:avLst/>
          </a:prstGeom>
          <a:noFill/>
          <a:ln w="381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defTabSz="1828800" eaLnBrk="0" hangingPunct="0">
              <a:defRPr/>
            </a:pPr>
            <a:endParaRPr lang="en-US" sz="3600" kern="0">
              <a:solidFill>
                <a:prstClr val="black"/>
              </a:solidFill>
              <a:latin typeface="Verdana" panose="020B0604030504040204" pitchFamily="34" charset="0"/>
              <a:ea typeface="MS PGothic" panose="020B0600070205080204" pitchFamily="34" charset="-128"/>
            </a:endParaRPr>
          </a:p>
        </p:txBody>
      </p:sp>
      <p:sp>
        <p:nvSpPr>
          <p:cNvPr id="7" name="Line 11">
            <a:extLst>
              <a:ext uri="{FF2B5EF4-FFF2-40B4-BE49-F238E27FC236}">
                <a16:creationId xmlns:a16="http://schemas.microsoft.com/office/drawing/2014/main" id="{0BB34FD0-1F59-C3EA-21D1-E64BE4E7E525}"/>
              </a:ext>
            </a:extLst>
          </p:cNvPr>
          <p:cNvSpPr>
            <a:spLocks noChangeShapeType="1"/>
          </p:cNvSpPr>
          <p:nvPr/>
        </p:nvSpPr>
        <p:spPr bwMode="auto">
          <a:xfrm>
            <a:off x="5323840" y="4572000"/>
            <a:ext cx="1358900" cy="1066800"/>
          </a:xfrm>
          <a:prstGeom prst="line">
            <a:avLst/>
          </a:prstGeom>
          <a:noFill/>
          <a:ln w="381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defTabSz="1828800" eaLnBrk="0" hangingPunct="0">
              <a:defRPr/>
            </a:pPr>
            <a:endParaRPr lang="en-US" sz="3600" kern="0">
              <a:solidFill>
                <a:prstClr val="black"/>
              </a:solidFill>
              <a:latin typeface="Verdana" panose="020B0604030504040204" pitchFamily="34" charset="0"/>
              <a:ea typeface="MS PGothic" panose="020B0600070205080204" pitchFamily="34" charset="-128"/>
            </a:endParaRPr>
          </a:p>
        </p:txBody>
      </p:sp>
      <p:sp>
        <p:nvSpPr>
          <p:cNvPr id="8" name="Line 12">
            <a:extLst>
              <a:ext uri="{FF2B5EF4-FFF2-40B4-BE49-F238E27FC236}">
                <a16:creationId xmlns:a16="http://schemas.microsoft.com/office/drawing/2014/main" id="{091405AC-B7E3-878E-A382-7C4E1CD4D81A}"/>
              </a:ext>
            </a:extLst>
          </p:cNvPr>
          <p:cNvSpPr>
            <a:spLocks noChangeShapeType="1"/>
          </p:cNvSpPr>
          <p:nvPr/>
        </p:nvSpPr>
        <p:spPr bwMode="auto">
          <a:xfrm flipH="1">
            <a:off x="9286241" y="5334000"/>
            <a:ext cx="4212590" cy="1981200"/>
          </a:xfrm>
          <a:prstGeom prst="line">
            <a:avLst/>
          </a:prstGeom>
          <a:noFill/>
          <a:ln w="38100">
            <a:solidFill>
              <a:sysClr val="windowText" lastClr="000000"/>
            </a:solidFill>
            <a:round/>
            <a:headEnd/>
            <a:tailEnd type="triangle" w="med" len="med"/>
          </a:ln>
          <a:extLst>
            <a:ext uri="{909E8E84-426E-40DD-AFC4-6F175D3DCCD1}">
              <a14:hiddenFill xmlns:a14="http://schemas.microsoft.com/office/drawing/2010/main">
                <a:noFill/>
              </a14:hiddenFill>
            </a:ext>
          </a:extLst>
        </p:spPr>
        <p:txBody>
          <a:bodyPr/>
          <a:lstStyle/>
          <a:p>
            <a:pPr defTabSz="1828800" eaLnBrk="0" hangingPunct="0">
              <a:defRPr/>
            </a:pPr>
            <a:endParaRPr lang="en-US" sz="3600" kern="0">
              <a:solidFill>
                <a:prstClr val="black"/>
              </a:solidFill>
              <a:latin typeface="Verdana" panose="020B0604030504040204" pitchFamily="34" charset="0"/>
              <a:ea typeface="MS PGothic" panose="020B0600070205080204" pitchFamily="34" charset="-128"/>
            </a:endParaRPr>
          </a:p>
        </p:txBody>
      </p:sp>
      <p:sp>
        <p:nvSpPr>
          <p:cNvPr id="9" name="Text Box 14">
            <a:extLst>
              <a:ext uri="{FF2B5EF4-FFF2-40B4-BE49-F238E27FC236}">
                <a16:creationId xmlns:a16="http://schemas.microsoft.com/office/drawing/2014/main" id="{18B21AFB-8133-F318-B46C-861175F594CF}"/>
              </a:ext>
            </a:extLst>
          </p:cNvPr>
          <p:cNvSpPr txBox="1">
            <a:spLocks noChangeArrowheads="1"/>
          </p:cNvSpPr>
          <p:nvPr/>
        </p:nvSpPr>
        <p:spPr bwMode="auto">
          <a:xfrm>
            <a:off x="1666240" y="10363200"/>
            <a:ext cx="14947900" cy="2492990"/>
          </a:xfrm>
          <a:prstGeom prst="rect">
            <a:avLst/>
          </a:prstGeom>
          <a:noFill/>
          <a:ln w="28575">
            <a:solidFill>
              <a:srgbClr val="99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just" eaLnBrk="0" hangingPunct="0">
              <a:spcBef>
                <a:spcPct val="50000"/>
              </a:spcBef>
            </a:pPr>
            <a:r>
              <a:rPr lang="en-US" altLang="en-US" sz="5200" dirty="0">
                <a:solidFill>
                  <a:srgbClr val="FF0000"/>
                </a:solidFill>
                <a:latin typeface="Arial" panose="020B0604020202020204" pitchFamily="34" charset="0"/>
                <a:cs typeface="Arial" panose="020B0604020202020204" pitchFamily="34" charset="0"/>
              </a:rPr>
              <a:t>Tư </a:t>
            </a:r>
            <a:r>
              <a:rPr lang="en-US" altLang="en-US" sz="5200" dirty="0" err="1">
                <a:solidFill>
                  <a:srgbClr val="FF0000"/>
                </a:solidFill>
                <a:latin typeface="Arial" panose="020B0604020202020204" pitchFamily="34" charset="0"/>
                <a:cs typeface="Arial" panose="020B0604020202020204" pitchFamily="34" charset="0"/>
              </a:rPr>
              <a:t>bản</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thương</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nghiệp</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là</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một</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bộ</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phận</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của</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tư</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bản</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công</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nghiệp</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được</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tách</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rời</a:t>
            </a:r>
            <a:r>
              <a:rPr lang="en-US" altLang="en-US" sz="5200" dirty="0">
                <a:solidFill>
                  <a:srgbClr val="FF0000"/>
                </a:solidFill>
                <a:latin typeface="Arial" panose="020B0604020202020204" pitchFamily="34" charset="0"/>
                <a:cs typeface="Arial" panose="020B0604020202020204" pitchFamily="34" charset="0"/>
              </a:rPr>
              <a:t> ra </a:t>
            </a:r>
            <a:r>
              <a:rPr lang="en-US" altLang="en-US" sz="5200" dirty="0" err="1">
                <a:solidFill>
                  <a:srgbClr val="FF0000"/>
                </a:solidFill>
                <a:latin typeface="Arial" panose="020B0604020202020204" pitchFamily="34" charset="0"/>
                <a:cs typeface="Arial" panose="020B0604020202020204" pitchFamily="34" charset="0"/>
              </a:rPr>
              <a:t>và</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phục</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vụ</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cho</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quá</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trình</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lưu</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thông</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hàng</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hoá</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của</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tư</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bản</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công</a:t>
            </a:r>
            <a:r>
              <a:rPr lang="en-US" altLang="en-US" sz="5200" dirty="0">
                <a:solidFill>
                  <a:srgbClr val="FF0000"/>
                </a:solidFill>
                <a:latin typeface="Arial" panose="020B0604020202020204" pitchFamily="34" charset="0"/>
                <a:cs typeface="Arial" panose="020B0604020202020204" pitchFamily="34" charset="0"/>
              </a:rPr>
              <a:t> </a:t>
            </a:r>
            <a:r>
              <a:rPr lang="en-US" altLang="en-US" sz="5200" dirty="0" err="1">
                <a:solidFill>
                  <a:srgbClr val="FF0000"/>
                </a:solidFill>
                <a:latin typeface="Arial" panose="020B0604020202020204" pitchFamily="34" charset="0"/>
                <a:cs typeface="Arial" panose="020B0604020202020204" pitchFamily="34" charset="0"/>
              </a:rPr>
              <a:t>nghiệp</a:t>
            </a:r>
            <a:r>
              <a:rPr lang="en-US" altLang="en-US" sz="5200" dirty="0">
                <a:solidFill>
                  <a:srgbClr val="FF0000"/>
                </a:solidFill>
                <a:latin typeface="Arial" panose="020B0604020202020204" pitchFamily="34" charset="0"/>
                <a:cs typeface="Arial" panose="020B0604020202020204" pitchFamily="34" charset="0"/>
              </a:rPr>
              <a:t>. </a:t>
            </a:r>
          </a:p>
        </p:txBody>
      </p:sp>
      <p:sp>
        <p:nvSpPr>
          <p:cNvPr id="11" name="Rectangle 2">
            <a:extLst>
              <a:ext uri="{FF2B5EF4-FFF2-40B4-BE49-F238E27FC236}">
                <a16:creationId xmlns:a16="http://schemas.microsoft.com/office/drawing/2014/main" id="{895B8A44-8D6C-57DF-19D7-BA80FF3B03B9}"/>
              </a:ext>
            </a:extLst>
          </p:cNvPr>
          <p:cNvSpPr txBox="1">
            <a:spLocks noChangeArrowheads="1"/>
          </p:cNvSpPr>
          <p:nvPr/>
        </p:nvSpPr>
        <p:spPr>
          <a:xfrm>
            <a:off x="3428656" y="1158876"/>
            <a:ext cx="10521024" cy="1127124"/>
          </a:xfrm>
          <a:prstGeom prst="rect">
            <a:avLst/>
          </a:prstGeom>
        </p:spPr>
        <p:txBody>
          <a:bodyPr vert="horz" lIns="182880" tIns="91440" rIns="182880" bIns="9144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7200" b="1" dirty="0">
                <a:solidFill>
                  <a:srgbClr val="002060"/>
                </a:solidFill>
                <a:latin typeface="Aachen" panose="02020500000000000000" pitchFamily="18" charset="0"/>
                <a:ea typeface="Aachen" panose="02020500000000000000" pitchFamily="18" charset="0"/>
                <a:cs typeface="Aachen" panose="02020500000000000000" pitchFamily="18" charset="0"/>
              </a:rPr>
              <a:t>TƯ BẢN THƯƠNG NGHIỆP</a:t>
            </a:r>
          </a:p>
        </p:txBody>
      </p:sp>
    </p:spTree>
    <p:extLst>
      <p:ext uri="{BB962C8B-B14F-4D97-AF65-F5344CB8AC3E}">
        <p14:creationId xmlns:p14="http://schemas.microsoft.com/office/powerpoint/2010/main" val="1898735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blinds(horizontal)">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blinds(horizontal)">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AB868B97-7F02-8722-7DEF-E444D094BB66}"/>
              </a:ext>
            </a:extLst>
          </p:cNvPr>
          <p:cNvSpPr txBox="1">
            <a:spLocks noChangeArrowheads="1"/>
          </p:cNvSpPr>
          <p:nvPr/>
        </p:nvSpPr>
        <p:spPr bwMode="auto">
          <a:xfrm>
            <a:off x="4113531" y="2430146"/>
            <a:ext cx="18473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9600"/>
          </a:p>
        </p:txBody>
      </p:sp>
      <p:sp>
        <p:nvSpPr>
          <p:cNvPr id="3" name="Text Box 20">
            <a:extLst>
              <a:ext uri="{FF2B5EF4-FFF2-40B4-BE49-F238E27FC236}">
                <a16:creationId xmlns:a16="http://schemas.microsoft.com/office/drawing/2014/main" id="{6F8B7948-256A-987F-3BEA-D2FBD880A09D}"/>
              </a:ext>
            </a:extLst>
          </p:cNvPr>
          <p:cNvSpPr txBox="1">
            <a:spLocks noChangeArrowheads="1"/>
          </p:cNvSpPr>
          <p:nvPr/>
        </p:nvSpPr>
        <p:spPr bwMode="black">
          <a:xfrm>
            <a:off x="1402080" y="3460711"/>
            <a:ext cx="15392400" cy="8710077"/>
          </a:xfrm>
          <a:prstGeom prst="rect">
            <a:avLst/>
          </a:prstGeom>
          <a:noFill/>
          <a:ln w="9525">
            <a:noFill/>
            <a:prstDash val="dash"/>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gn="ctr" eaLnBrk="0" hangingPunct="0">
              <a:defRPr>
                <a:solidFill>
                  <a:schemeClr val="tx1"/>
                </a:solidFill>
                <a:latin typeface="Arial" panose="020B0604020202020204" pitchFamily="34" charset="0"/>
              </a:defRPr>
            </a:lvl1pPr>
            <a:lvl2pPr marL="742950" indent="-285750" algn="ctr" eaLnBrk="0" hangingPunct="0">
              <a:defRPr>
                <a:solidFill>
                  <a:schemeClr val="tx1"/>
                </a:solidFill>
                <a:latin typeface="Arial" panose="020B0604020202020204" pitchFamily="34" charset="0"/>
              </a:defRPr>
            </a:lvl2pPr>
            <a:lvl3pPr marL="1143000" indent="-228600" algn="ctr" eaLnBrk="0" hangingPunct="0">
              <a:defRPr>
                <a:solidFill>
                  <a:schemeClr val="tx1"/>
                </a:solidFill>
                <a:latin typeface="Arial" panose="020B0604020202020204" pitchFamily="34" charset="0"/>
              </a:defRPr>
            </a:lvl3pPr>
            <a:lvl4pPr marL="1600200" indent="-228600" algn="ctr" eaLnBrk="0" hangingPunct="0">
              <a:defRPr>
                <a:solidFill>
                  <a:schemeClr val="tx1"/>
                </a:solidFill>
                <a:latin typeface="Arial" panose="020B0604020202020204" pitchFamily="34" charset="0"/>
              </a:defRPr>
            </a:lvl4pPr>
            <a:lvl5pPr marL="2057400" indent="-228600" algn="ctr"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vi-VN" altLang="en-US" sz="8000">
                <a:solidFill>
                  <a:srgbClr val="002060"/>
                </a:solidFill>
              </a:rPr>
              <a:t>Lợi nhuận thương nghiệp là một bộ phận của giá trị thặng dư được tạo ra trong lĩnh vực SX và do nhà TB công nghiệp nhường lại cho nhà TB thương nghiệp vì nhà TB thương nghiệp tiêu thụ hàng hoá cho mình.	</a:t>
            </a:r>
          </a:p>
        </p:txBody>
      </p:sp>
      <p:sp>
        <p:nvSpPr>
          <p:cNvPr id="10" name="Rectangle 2">
            <a:extLst>
              <a:ext uri="{FF2B5EF4-FFF2-40B4-BE49-F238E27FC236}">
                <a16:creationId xmlns:a16="http://schemas.microsoft.com/office/drawing/2014/main" id="{60F71A1D-44B3-46FC-E6CD-29261D1668A5}"/>
              </a:ext>
            </a:extLst>
          </p:cNvPr>
          <p:cNvSpPr txBox="1">
            <a:spLocks noChangeArrowheads="1"/>
          </p:cNvSpPr>
          <p:nvPr/>
        </p:nvSpPr>
        <p:spPr>
          <a:xfrm>
            <a:off x="2758096" y="1452880"/>
            <a:ext cx="12349824" cy="1127124"/>
          </a:xfrm>
          <a:prstGeom prst="rect">
            <a:avLst/>
          </a:prstGeom>
        </p:spPr>
        <p:txBody>
          <a:bodyPr vert="horz" lIns="182880" tIns="91440" rIns="182880" bIns="9144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6400" b="1">
                <a:solidFill>
                  <a:srgbClr val="002060"/>
                </a:solidFill>
                <a:latin typeface="Times New Roman" panose="02020603050405020304" pitchFamily="18" charset="0"/>
                <a:cs typeface="Times New Roman" panose="02020603050405020304" pitchFamily="18" charset="0"/>
              </a:rPr>
              <a:t>BẢN CHẤT CỦA P TH</a:t>
            </a:r>
            <a:r>
              <a:rPr lang="vi-VN" altLang="en-US" sz="6400" b="1">
                <a:solidFill>
                  <a:srgbClr val="002060"/>
                </a:solidFill>
                <a:latin typeface="Times New Roman" panose="02020603050405020304" pitchFamily="18" charset="0"/>
                <a:cs typeface="Times New Roman" panose="02020603050405020304" pitchFamily="18" charset="0"/>
              </a:rPr>
              <a:t>Ư</a:t>
            </a:r>
            <a:r>
              <a:rPr lang="en-US" altLang="en-US" sz="6400" b="1">
                <a:solidFill>
                  <a:srgbClr val="002060"/>
                </a:solidFill>
                <a:latin typeface="Times New Roman" panose="02020603050405020304" pitchFamily="18" charset="0"/>
                <a:cs typeface="Times New Roman" panose="02020603050405020304" pitchFamily="18" charset="0"/>
              </a:rPr>
              <a:t>ƠNG NGHIỆP</a:t>
            </a:r>
          </a:p>
        </p:txBody>
      </p:sp>
    </p:spTree>
    <p:extLst>
      <p:ext uri="{BB962C8B-B14F-4D97-AF65-F5344CB8AC3E}">
        <p14:creationId xmlns:p14="http://schemas.microsoft.com/office/powerpoint/2010/main" val="372985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719C9107-0504-956F-9F47-1513CCE99A46}"/>
              </a:ext>
            </a:extLst>
          </p:cNvPr>
          <p:cNvSpPr txBox="1">
            <a:spLocks noChangeArrowheads="1"/>
          </p:cNvSpPr>
          <p:nvPr/>
        </p:nvSpPr>
        <p:spPr bwMode="auto">
          <a:xfrm>
            <a:off x="4085763" y="2206626"/>
            <a:ext cx="18473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9600"/>
          </a:p>
        </p:txBody>
      </p:sp>
      <p:sp>
        <p:nvSpPr>
          <p:cNvPr id="5" name="Rectangle 2">
            <a:extLst>
              <a:ext uri="{FF2B5EF4-FFF2-40B4-BE49-F238E27FC236}">
                <a16:creationId xmlns:a16="http://schemas.microsoft.com/office/drawing/2014/main" id="{1C28B420-A3FF-847F-1FB0-142E8E1C5128}"/>
              </a:ext>
            </a:extLst>
          </p:cNvPr>
          <p:cNvSpPr txBox="1">
            <a:spLocks noChangeArrowheads="1"/>
          </p:cNvSpPr>
          <p:nvPr/>
        </p:nvSpPr>
        <p:spPr>
          <a:xfrm>
            <a:off x="3197688" y="1292226"/>
            <a:ext cx="11892624" cy="1127124"/>
          </a:xfrm>
          <a:prstGeom prst="rect">
            <a:avLst/>
          </a:prstGeom>
        </p:spPr>
        <p:txBody>
          <a:bodyPr vert="horz" lIns="182880" tIns="91440" rIns="182880" bIns="9144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5600" b="1">
                <a:solidFill>
                  <a:srgbClr val="002060"/>
                </a:solidFill>
                <a:latin typeface="Times New Roman" panose="02020603050405020304" pitchFamily="18" charset="0"/>
                <a:cs typeface="Times New Roman" panose="02020603050405020304" pitchFamily="18" charset="0"/>
              </a:rPr>
              <a:t>HÌNH THÀNH P TH</a:t>
            </a:r>
            <a:r>
              <a:rPr lang="vi-VN" altLang="en-US" sz="5600" b="1">
                <a:solidFill>
                  <a:srgbClr val="002060"/>
                </a:solidFill>
                <a:latin typeface="Times New Roman" panose="02020603050405020304" pitchFamily="18" charset="0"/>
                <a:cs typeface="Times New Roman" panose="02020603050405020304" pitchFamily="18" charset="0"/>
              </a:rPr>
              <a:t>Ư</a:t>
            </a:r>
            <a:r>
              <a:rPr lang="en-US" altLang="en-US" sz="5600" b="1">
                <a:solidFill>
                  <a:srgbClr val="002060"/>
                </a:solidFill>
                <a:latin typeface="Times New Roman" panose="02020603050405020304" pitchFamily="18" charset="0"/>
                <a:cs typeface="Times New Roman" panose="02020603050405020304" pitchFamily="18" charset="0"/>
              </a:rPr>
              <a:t>ƠNG NGHIỆP</a:t>
            </a:r>
          </a:p>
        </p:txBody>
      </p:sp>
      <p:sp>
        <p:nvSpPr>
          <p:cNvPr id="6" name="Rectangle 3">
            <a:extLst>
              <a:ext uri="{FF2B5EF4-FFF2-40B4-BE49-F238E27FC236}">
                <a16:creationId xmlns:a16="http://schemas.microsoft.com/office/drawing/2014/main" id="{70863609-1F18-B857-545E-619A35AEC05F}"/>
              </a:ext>
            </a:extLst>
          </p:cNvPr>
          <p:cNvSpPr txBox="1">
            <a:spLocks noChangeArrowheads="1"/>
          </p:cNvSpPr>
          <p:nvPr/>
        </p:nvSpPr>
        <p:spPr bwMode="auto">
          <a:xfrm>
            <a:off x="1374312" y="3200400"/>
            <a:ext cx="15392400" cy="1005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5600" b="0">
                <a:solidFill>
                  <a:srgbClr val="002060"/>
                </a:solidFill>
              </a:rPr>
              <a:t>TBCN: 900 TB</a:t>
            </a:r>
          </a:p>
          <a:p>
            <a:endParaRPr lang="en-US" altLang="en-US" sz="5600">
              <a:solidFill>
                <a:srgbClr val="002060"/>
              </a:solidFill>
            </a:endParaRPr>
          </a:p>
          <a:p>
            <a:endParaRPr lang="en-US" altLang="en-US" sz="5600">
              <a:solidFill>
                <a:srgbClr val="002060"/>
              </a:solidFill>
            </a:endParaRPr>
          </a:p>
          <a:p>
            <a:pPr>
              <a:buFontTx/>
              <a:buNone/>
            </a:pPr>
            <a:endParaRPr lang="en-US" altLang="en-US" sz="5600">
              <a:solidFill>
                <a:srgbClr val="002060"/>
              </a:solidFill>
            </a:endParaRPr>
          </a:p>
          <a:p>
            <a:pPr>
              <a:lnSpc>
                <a:spcPct val="200000"/>
              </a:lnSpc>
            </a:pPr>
            <a:r>
              <a:rPr lang="en-US" altLang="en-US" sz="5600" b="0">
                <a:solidFill>
                  <a:srgbClr val="002060"/>
                </a:solidFill>
              </a:rPr>
              <a:t>TBTN tham gia vào: ứng ra 100 TB</a:t>
            </a:r>
          </a:p>
          <a:p>
            <a:r>
              <a:rPr lang="en-US" altLang="en-US" sz="5600" b="0">
                <a:solidFill>
                  <a:srgbClr val="002060"/>
                </a:solidFill>
              </a:rPr>
              <a:t>Tổng TB = 900 + 100 = 1000</a:t>
            </a:r>
          </a:p>
        </p:txBody>
      </p:sp>
      <p:sp>
        <p:nvSpPr>
          <p:cNvPr id="7" name="Rectangle 4">
            <a:extLst>
              <a:ext uri="{FF2B5EF4-FFF2-40B4-BE49-F238E27FC236}">
                <a16:creationId xmlns:a16="http://schemas.microsoft.com/office/drawing/2014/main" id="{5E888450-BC41-A188-65C2-FE40FDE0F1F4}"/>
              </a:ext>
            </a:extLst>
          </p:cNvPr>
          <p:cNvSpPr>
            <a:spLocks noChangeArrowheads="1"/>
          </p:cNvSpPr>
          <p:nvPr/>
        </p:nvSpPr>
        <p:spPr bwMode="auto">
          <a:xfrm>
            <a:off x="8537112" y="3048000"/>
            <a:ext cx="18288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 720 c</a:t>
            </a:r>
          </a:p>
        </p:txBody>
      </p:sp>
      <p:sp>
        <p:nvSpPr>
          <p:cNvPr id="8" name="Rectangle 5">
            <a:extLst>
              <a:ext uri="{FF2B5EF4-FFF2-40B4-BE49-F238E27FC236}">
                <a16:creationId xmlns:a16="http://schemas.microsoft.com/office/drawing/2014/main" id="{D526D241-8346-835F-B37F-43E249A5C0C1}"/>
              </a:ext>
            </a:extLst>
          </p:cNvPr>
          <p:cNvSpPr>
            <a:spLocks noChangeArrowheads="1"/>
          </p:cNvSpPr>
          <p:nvPr/>
        </p:nvSpPr>
        <p:spPr bwMode="auto">
          <a:xfrm>
            <a:off x="8537112" y="4114800"/>
            <a:ext cx="1828800" cy="7620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180 v</a:t>
            </a:r>
          </a:p>
        </p:txBody>
      </p:sp>
      <p:sp>
        <p:nvSpPr>
          <p:cNvPr id="9" name="Line 6">
            <a:extLst>
              <a:ext uri="{FF2B5EF4-FFF2-40B4-BE49-F238E27FC236}">
                <a16:creationId xmlns:a16="http://schemas.microsoft.com/office/drawing/2014/main" id="{7115AE3A-CA63-5246-F6B1-65ED38FE9652}"/>
              </a:ext>
            </a:extLst>
          </p:cNvPr>
          <p:cNvSpPr>
            <a:spLocks noChangeShapeType="1"/>
          </p:cNvSpPr>
          <p:nvPr/>
        </p:nvSpPr>
        <p:spPr bwMode="auto">
          <a:xfrm flipV="1">
            <a:off x="7775112" y="3505200"/>
            <a:ext cx="609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p>
        </p:txBody>
      </p:sp>
      <p:sp>
        <p:nvSpPr>
          <p:cNvPr id="11" name="Line 7">
            <a:extLst>
              <a:ext uri="{FF2B5EF4-FFF2-40B4-BE49-F238E27FC236}">
                <a16:creationId xmlns:a16="http://schemas.microsoft.com/office/drawing/2014/main" id="{5E36F071-A1B7-90E3-708A-0879ADB5DCCC}"/>
              </a:ext>
            </a:extLst>
          </p:cNvPr>
          <p:cNvSpPr>
            <a:spLocks noChangeShapeType="1"/>
          </p:cNvSpPr>
          <p:nvPr/>
        </p:nvSpPr>
        <p:spPr bwMode="auto">
          <a:xfrm>
            <a:off x="7775112" y="3810000"/>
            <a:ext cx="609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9600"/>
          </a:p>
        </p:txBody>
      </p:sp>
      <p:sp>
        <p:nvSpPr>
          <p:cNvPr id="12" name="Rectangle 8">
            <a:extLst>
              <a:ext uri="{FF2B5EF4-FFF2-40B4-BE49-F238E27FC236}">
                <a16:creationId xmlns:a16="http://schemas.microsoft.com/office/drawing/2014/main" id="{8B207655-CA3B-F0C1-4953-A582E2114A82}"/>
              </a:ext>
            </a:extLst>
          </p:cNvPr>
          <p:cNvSpPr>
            <a:spLocks noChangeArrowheads="1"/>
          </p:cNvSpPr>
          <p:nvPr/>
        </p:nvSpPr>
        <p:spPr bwMode="auto">
          <a:xfrm>
            <a:off x="10670712" y="3810000"/>
            <a:ext cx="47244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m</a:t>
            </a:r>
            <a:r>
              <a:rPr lang="ja-JP" altLang="en-US" sz="5600">
                <a:solidFill>
                  <a:srgbClr val="002060"/>
                </a:solidFill>
                <a:cs typeface="Arial" panose="020B0604020202020204" pitchFamily="34" charset="0"/>
              </a:rPr>
              <a:t>’</a:t>
            </a:r>
            <a:r>
              <a:rPr lang="en-US" altLang="ja-JP" sz="5600">
                <a:solidFill>
                  <a:srgbClr val="002060"/>
                </a:solidFill>
                <a:cs typeface="Arial" panose="020B0604020202020204" pitchFamily="34" charset="0"/>
              </a:rPr>
              <a:t> = 100%</a:t>
            </a:r>
            <a:endParaRPr lang="en-US" altLang="en-US" sz="5600">
              <a:solidFill>
                <a:srgbClr val="002060"/>
              </a:solidFill>
              <a:cs typeface="Arial" panose="020B0604020202020204" pitchFamily="34" charset="0"/>
            </a:endParaRPr>
          </a:p>
        </p:txBody>
      </p:sp>
      <p:sp>
        <p:nvSpPr>
          <p:cNvPr id="13" name="Rectangle 9">
            <a:extLst>
              <a:ext uri="{FF2B5EF4-FFF2-40B4-BE49-F238E27FC236}">
                <a16:creationId xmlns:a16="http://schemas.microsoft.com/office/drawing/2014/main" id="{F3625170-A913-8E98-5F38-0F45BD7E38E7}"/>
              </a:ext>
            </a:extLst>
          </p:cNvPr>
          <p:cNvSpPr>
            <a:spLocks noChangeArrowheads="1"/>
          </p:cNvSpPr>
          <p:nvPr/>
        </p:nvSpPr>
        <p:spPr bwMode="auto">
          <a:xfrm>
            <a:off x="1526712" y="5334000"/>
            <a:ext cx="914400" cy="10668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6400">
                <a:solidFill>
                  <a:srgbClr val="002060"/>
                </a:solidFill>
                <a:cs typeface="Arial" panose="020B0604020202020204" pitchFamily="34" charset="0"/>
              </a:rPr>
              <a:t>→</a:t>
            </a:r>
          </a:p>
        </p:txBody>
      </p:sp>
      <p:sp>
        <p:nvSpPr>
          <p:cNvPr id="14" name="Rectangle 10">
            <a:extLst>
              <a:ext uri="{FF2B5EF4-FFF2-40B4-BE49-F238E27FC236}">
                <a16:creationId xmlns:a16="http://schemas.microsoft.com/office/drawing/2014/main" id="{1A542F84-E1F2-9BB4-7AB6-B2E1FE3E28E5}"/>
              </a:ext>
            </a:extLst>
          </p:cNvPr>
          <p:cNvSpPr>
            <a:spLocks noChangeArrowheads="1"/>
          </p:cNvSpPr>
          <p:nvPr/>
        </p:nvSpPr>
        <p:spPr bwMode="auto">
          <a:xfrm>
            <a:off x="2441112" y="5334000"/>
            <a:ext cx="140208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Giá trị H² = 720 c + 180 v + 180 m = 1080</a:t>
            </a:r>
          </a:p>
        </p:txBody>
      </p:sp>
      <p:sp>
        <p:nvSpPr>
          <p:cNvPr id="15" name="Rectangle 11">
            <a:extLst>
              <a:ext uri="{FF2B5EF4-FFF2-40B4-BE49-F238E27FC236}">
                <a16:creationId xmlns:a16="http://schemas.microsoft.com/office/drawing/2014/main" id="{0B74DCF5-1D7F-9BB2-1021-86E949BC56F7}"/>
              </a:ext>
            </a:extLst>
          </p:cNvPr>
          <p:cNvSpPr>
            <a:spLocks noChangeArrowheads="1"/>
          </p:cNvSpPr>
          <p:nvPr/>
        </p:nvSpPr>
        <p:spPr bwMode="auto">
          <a:xfrm>
            <a:off x="4879512" y="6705600"/>
            <a:ext cx="1981200" cy="10668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6400">
                <a:solidFill>
                  <a:srgbClr val="002060"/>
                </a:solidFill>
                <a:cs typeface="Arial" panose="020B0604020202020204" pitchFamily="34" charset="0"/>
              </a:rPr>
              <a:t>P</a:t>
            </a:r>
            <a:r>
              <a:rPr lang="ja-JP" altLang="en-US" sz="6400">
                <a:solidFill>
                  <a:srgbClr val="002060"/>
                </a:solidFill>
                <a:cs typeface="Arial" panose="020B0604020202020204" pitchFamily="34" charset="0"/>
              </a:rPr>
              <a:t>’</a:t>
            </a:r>
            <a:r>
              <a:rPr lang="en-US" altLang="ja-JP" sz="3600" b="1">
                <a:solidFill>
                  <a:srgbClr val="002060"/>
                </a:solidFill>
                <a:cs typeface="Arial" panose="020B0604020202020204" pitchFamily="34" charset="0"/>
              </a:rPr>
              <a:t>CN</a:t>
            </a:r>
            <a:r>
              <a:rPr lang="en-US" altLang="ja-JP" sz="6400">
                <a:solidFill>
                  <a:srgbClr val="002060"/>
                </a:solidFill>
                <a:cs typeface="Arial" panose="020B0604020202020204" pitchFamily="34" charset="0"/>
              </a:rPr>
              <a:t> =</a:t>
            </a:r>
            <a:endParaRPr lang="en-US" altLang="en-US" sz="4000">
              <a:solidFill>
                <a:srgbClr val="002060"/>
              </a:solidFill>
              <a:cs typeface="Arial" panose="020B0604020202020204" pitchFamily="34" charset="0"/>
            </a:endParaRPr>
          </a:p>
        </p:txBody>
      </p:sp>
      <p:sp>
        <p:nvSpPr>
          <p:cNvPr id="16" name="Rectangle 12">
            <a:extLst>
              <a:ext uri="{FF2B5EF4-FFF2-40B4-BE49-F238E27FC236}">
                <a16:creationId xmlns:a16="http://schemas.microsoft.com/office/drawing/2014/main" id="{97EF9F26-7749-83A1-B73E-76EF65F8E5E3}"/>
              </a:ext>
            </a:extLst>
          </p:cNvPr>
          <p:cNvSpPr>
            <a:spLocks noChangeArrowheads="1"/>
          </p:cNvSpPr>
          <p:nvPr/>
        </p:nvSpPr>
        <p:spPr bwMode="auto">
          <a:xfrm>
            <a:off x="9299112" y="6705600"/>
            <a:ext cx="2590800" cy="10668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4800" b="1">
                <a:solidFill>
                  <a:srgbClr val="002060"/>
                </a:solidFill>
                <a:cs typeface="Arial" panose="020B0604020202020204" pitchFamily="34" charset="0"/>
              </a:rPr>
              <a:t>X</a:t>
            </a:r>
            <a:r>
              <a:rPr lang="en-US" altLang="en-US" sz="5600">
                <a:solidFill>
                  <a:srgbClr val="002060"/>
                </a:solidFill>
                <a:cs typeface="Arial" panose="020B0604020202020204" pitchFamily="34" charset="0"/>
              </a:rPr>
              <a:t> 100%</a:t>
            </a:r>
          </a:p>
        </p:txBody>
      </p:sp>
      <p:sp>
        <p:nvSpPr>
          <p:cNvPr id="17" name="Rectangle 13">
            <a:extLst>
              <a:ext uri="{FF2B5EF4-FFF2-40B4-BE49-F238E27FC236}">
                <a16:creationId xmlns:a16="http://schemas.microsoft.com/office/drawing/2014/main" id="{34D614AE-4387-F644-1CEF-FB6000BE5FF9}"/>
              </a:ext>
            </a:extLst>
          </p:cNvPr>
          <p:cNvSpPr>
            <a:spLocks noChangeArrowheads="1"/>
          </p:cNvSpPr>
          <p:nvPr/>
        </p:nvSpPr>
        <p:spPr bwMode="auto">
          <a:xfrm>
            <a:off x="7622712" y="7467600"/>
            <a:ext cx="1066800" cy="7620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900</a:t>
            </a:r>
          </a:p>
        </p:txBody>
      </p:sp>
      <p:sp>
        <p:nvSpPr>
          <p:cNvPr id="18" name="Rectangle 14">
            <a:extLst>
              <a:ext uri="{FF2B5EF4-FFF2-40B4-BE49-F238E27FC236}">
                <a16:creationId xmlns:a16="http://schemas.microsoft.com/office/drawing/2014/main" id="{12B26DC3-7D71-FED9-8D8C-8C4C19DD2A26}"/>
              </a:ext>
            </a:extLst>
          </p:cNvPr>
          <p:cNvSpPr>
            <a:spLocks noChangeArrowheads="1"/>
          </p:cNvSpPr>
          <p:nvPr/>
        </p:nvSpPr>
        <p:spPr bwMode="auto">
          <a:xfrm>
            <a:off x="7622712" y="6248400"/>
            <a:ext cx="9144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180</a:t>
            </a:r>
          </a:p>
        </p:txBody>
      </p:sp>
      <p:sp>
        <p:nvSpPr>
          <p:cNvPr id="19" name="Rectangle 15">
            <a:extLst>
              <a:ext uri="{FF2B5EF4-FFF2-40B4-BE49-F238E27FC236}">
                <a16:creationId xmlns:a16="http://schemas.microsoft.com/office/drawing/2014/main" id="{17C41642-7009-0080-5099-3AA309570F89}"/>
              </a:ext>
            </a:extLst>
          </p:cNvPr>
          <p:cNvSpPr>
            <a:spLocks noChangeArrowheads="1"/>
          </p:cNvSpPr>
          <p:nvPr/>
        </p:nvSpPr>
        <p:spPr bwMode="auto">
          <a:xfrm>
            <a:off x="12194712" y="6705600"/>
            <a:ext cx="914400" cy="10668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a:t>
            </a:r>
          </a:p>
        </p:txBody>
      </p:sp>
      <p:sp>
        <p:nvSpPr>
          <p:cNvPr id="20" name="Rectangle 16">
            <a:extLst>
              <a:ext uri="{FF2B5EF4-FFF2-40B4-BE49-F238E27FC236}">
                <a16:creationId xmlns:a16="http://schemas.microsoft.com/office/drawing/2014/main" id="{4DCC5D63-AD14-5F60-70DF-91789059368E}"/>
              </a:ext>
            </a:extLst>
          </p:cNvPr>
          <p:cNvSpPr>
            <a:spLocks noChangeArrowheads="1"/>
          </p:cNvSpPr>
          <p:nvPr/>
        </p:nvSpPr>
        <p:spPr bwMode="auto">
          <a:xfrm>
            <a:off x="13718712" y="6705600"/>
            <a:ext cx="1371600" cy="10668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20 %</a:t>
            </a:r>
          </a:p>
        </p:txBody>
      </p:sp>
      <p:sp>
        <p:nvSpPr>
          <p:cNvPr id="21" name="Line 17">
            <a:extLst>
              <a:ext uri="{FF2B5EF4-FFF2-40B4-BE49-F238E27FC236}">
                <a16:creationId xmlns:a16="http://schemas.microsoft.com/office/drawing/2014/main" id="{C30ED4CF-7201-581E-1104-43DA098E2A42}"/>
              </a:ext>
            </a:extLst>
          </p:cNvPr>
          <p:cNvSpPr>
            <a:spLocks noChangeShapeType="1"/>
          </p:cNvSpPr>
          <p:nvPr/>
        </p:nvSpPr>
        <p:spPr bwMode="auto">
          <a:xfrm>
            <a:off x="7317912" y="7315200"/>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9600"/>
          </a:p>
        </p:txBody>
      </p:sp>
      <p:sp>
        <p:nvSpPr>
          <p:cNvPr id="22" name="Rectangle 18">
            <a:extLst>
              <a:ext uri="{FF2B5EF4-FFF2-40B4-BE49-F238E27FC236}">
                <a16:creationId xmlns:a16="http://schemas.microsoft.com/office/drawing/2014/main" id="{84DDFC56-0748-6BDE-375F-2B8ACED0939C}"/>
              </a:ext>
            </a:extLst>
          </p:cNvPr>
          <p:cNvSpPr>
            <a:spLocks noChangeArrowheads="1"/>
          </p:cNvSpPr>
          <p:nvPr/>
        </p:nvSpPr>
        <p:spPr bwMode="auto">
          <a:xfrm>
            <a:off x="4422312" y="10820400"/>
            <a:ext cx="1981200" cy="13716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P</a:t>
            </a:r>
            <a:r>
              <a:rPr lang="ja-JP" altLang="en-US" sz="5600">
                <a:solidFill>
                  <a:srgbClr val="002060"/>
                </a:solidFill>
                <a:cs typeface="Arial" panose="020B0604020202020204" pitchFamily="34" charset="0"/>
              </a:rPr>
              <a:t>’</a:t>
            </a:r>
            <a:r>
              <a:rPr lang="en-US" altLang="ja-JP" sz="5600">
                <a:solidFill>
                  <a:srgbClr val="002060"/>
                </a:solidFill>
                <a:cs typeface="Arial" panose="020B0604020202020204" pitchFamily="34" charset="0"/>
              </a:rPr>
              <a:t> =</a:t>
            </a:r>
            <a:endParaRPr lang="en-US" altLang="en-US" sz="5600">
              <a:solidFill>
                <a:srgbClr val="002060"/>
              </a:solidFill>
              <a:cs typeface="Arial" panose="020B0604020202020204" pitchFamily="34" charset="0"/>
            </a:endParaRPr>
          </a:p>
        </p:txBody>
      </p:sp>
      <p:sp>
        <p:nvSpPr>
          <p:cNvPr id="23" name="Rectangle 19">
            <a:extLst>
              <a:ext uri="{FF2B5EF4-FFF2-40B4-BE49-F238E27FC236}">
                <a16:creationId xmlns:a16="http://schemas.microsoft.com/office/drawing/2014/main" id="{A9322326-6B77-86FB-18D0-E9298DC203A2}"/>
              </a:ext>
            </a:extLst>
          </p:cNvPr>
          <p:cNvSpPr>
            <a:spLocks noChangeArrowheads="1"/>
          </p:cNvSpPr>
          <p:nvPr/>
        </p:nvSpPr>
        <p:spPr bwMode="auto">
          <a:xfrm>
            <a:off x="7622712" y="10515600"/>
            <a:ext cx="13716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180</a:t>
            </a:r>
          </a:p>
        </p:txBody>
      </p:sp>
      <p:sp>
        <p:nvSpPr>
          <p:cNvPr id="24" name="Rectangle 20">
            <a:extLst>
              <a:ext uri="{FF2B5EF4-FFF2-40B4-BE49-F238E27FC236}">
                <a16:creationId xmlns:a16="http://schemas.microsoft.com/office/drawing/2014/main" id="{5A96FA30-9849-011C-2B04-875738484E49}"/>
              </a:ext>
            </a:extLst>
          </p:cNvPr>
          <p:cNvSpPr>
            <a:spLocks noChangeArrowheads="1"/>
          </p:cNvSpPr>
          <p:nvPr/>
        </p:nvSpPr>
        <p:spPr bwMode="auto">
          <a:xfrm>
            <a:off x="6555912" y="11734800"/>
            <a:ext cx="36576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900 + 100</a:t>
            </a:r>
          </a:p>
        </p:txBody>
      </p:sp>
      <p:sp>
        <p:nvSpPr>
          <p:cNvPr id="25" name="Rectangle 21">
            <a:extLst>
              <a:ext uri="{FF2B5EF4-FFF2-40B4-BE49-F238E27FC236}">
                <a16:creationId xmlns:a16="http://schemas.microsoft.com/office/drawing/2014/main" id="{206DFD70-9EB9-A480-720E-2404D68C82E2}"/>
              </a:ext>
            </a:extLst>
          </p:cNvPr>
          <p:cNvSpPr>
            <a:spLocks noChangeArrowheads="1"/>
          </p:cNvSpPr>
          <p:nvPr/>
        </p:nvSpPr>
        <p:spPr bwMode="auto">
          <a:xfrm>
            <a:off x="10670712" y="10972800"/>
            <a:ext cx="25908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4800" b="1">
                <a:solidFill>
                  <a:srgbClr val="002060"/>
                </a:solidFill>
                <a:cs typeface="Arial" panose="020B0604020202020204" pitchFamily="34" charset="0"/>
              </a:rPr>
              <a:t>X</a:t>
            </a:r>
            <a:r>
              <a:rPr lang="en-US" altLang="en-US" sz="5600">
                <a:solidFill>
                  <a:srgbClr val="002060"/>
                </a:solidFill>
                <a:cs typeface="Arial" panose="020B0604020202020204" pitchFamily="34" charset="0"/>
              </a:rPr>
              <a:t> 100%</a:t>
            </a:r>
          </a:p>
        </p:txBody>
      </p:sp>
      <p:sp>
        <p:nvSpPr>
          <p:cNvPr id="26" name="Rectangle 22">
            <a:extLst>
              <a:ext uri="{FF2B5EF4-FFF2-40B4-BE49-F238E27FC236}">
                <a16:creationId xmlns:a16="http://schemas.microsoft.com/office/drawing/2014/main" id="{A87459DF-2326-CE2E-84A2-B2F34C72C330}"/>
              </a:ext>
            </a:extLst>
          </p:cNvPr>
          <p:cNvSpPr>
            <a:spLocks noChangeArrowheads="1"/>
          </p:cNvSpPr>
          <p:nvPr/>
        </p:nvSpPr>
        <p:spPr bwMode="auto">
          <a:xfrm>
            <a:off x="14023512" y="10972800"/>
            <a:ext cx="7620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a:t>
            </a:r>
          </a:p>
        </p:txBody>
      </p:sp>
      <p:sp>
        <p:nvSpPr>
          <p:cNvPr id="27" name="Rectangle 23">
            <a:extLst>
              <a:ext uri="{FF2B5EF4-FFF2-40B4-BE49-F238E27FC236}">
                <a16:creationId xmlns:a16="http://schemas.microsoft.com/office/drawing/2014/main" id="{D421C0F8-22AA-51A4-6845-618052B458D1}"/>
              </a:ext>
            </a:extLst>
          </p:cNvPr>
          <p:cNvSpPr>
            <a:spLocks noChangeArrowheads="1"/>
          </p:cNvSpPr>
          <p:nvPr/>
        </p:nvSpPr>
        <p:spPr bwMode="auto">
          <a:xfrm>
            <a:off x="15090312" y="10972800"/>
            <a:ext cx="16764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600">
                <a:solidFill>
                  <a:srgbClr val="002060"/>
                </a:solidFill>
                <a:cs typeface="Arial" panose="020B0604020202020204" pitchFamily="34" charset="0"/>
              </a:rPr>
              <a:t>18%</a:t>
            </a:r>
          </a:p>
        </p:txBody>
      </p:sp>
      <p:sp>
        <p:nvSpPr>
          <p:cNvPr id="28" name="Line 24">
            <a:extLst>
              <a:ext uri="{FF2B5EF4-FFF2-40B4-BE49-F238E27FC236}">
                <a16:creationId xmlns:a16="http://schemas.microsoft.com/office/drawing/2014/main" id="{4606B69F-3689-CA11-696B-C31CD8BE4484}"/>
              </a:ext>
            </a:extLst>
          </p:cNvPr>
          <p:cNvSpPr>
            <a:spLocks noChangeShapeType="1"/>
          </p:cNvSpPr>
          <p:nvPr/>
        </p:nvSpPr>
        <p:spPr bwMode="auto">
          <a:xfrm>
            <a:off x="4727112" y="109728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9600"/>
          </a:p>
        </p:txBody>
      </p:sp>
      <p:sp>
        <p:nvSpPr>
          <p:cNvPr id="29" name="Line 25">
            <a:extLst>
              <a:ext uri="{FF2B5EF4-FFF2-40B4-BE49-F238E27FC236}">
                <a16:creationId xmlns:a16="http://schemas.microsoft.com/office/drawing/2014/main" id="{32264A46-492B-3754-D9A6-FCDC422FF35E}"/>
              </a:ext>
            </a:extLst>
          </p:cNvPr>
          <p:cNvSpPr>
            <a:spLocks noChangeShapeType="1"/>
          </p:cNvSpPr>
          <p:nvPr/>
        </p:nvSpPr>
        <p:spPr bwMode="auto">
          <a:xfrm>
            <a:off x="6860712" y="11430000"/>
            <a:ext cx="3048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9600"/>
          </a:p>
        </p:txBody>
      </p:sp>
    </p:spTree>
    <p:extLst>
      <p:ext uri="{BB962C8B-B14F-4D97-AF65-F5344CB8AC3E}">
        <p14:creationId xmlns:p14="http://schemas.microsoft.com/office/powerpoint/2010/main" val="2092216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20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20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linds(horizontal)">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31" presetClass="entr" presetSubtype="0" fill="hold" grpId="0" nodeType="clickEffect">
                                  <p:stCondLst>
                                    <p:cond delay="0"/>
                                  </p:stCondLst>
                                  <p:iterate type="lt">
                                    <p:tmPct val="5000"/>
                                  </p:iterate>
                                  <p:childTnLst>
                                    <p:set>
                                      <p:cBhvr>
                                        <p:cTn id="41" dur="1" fill="hold">
                                          <p:stCondLst>
                                            <p:cond delay="0"/>
                                          </p:stCondLst>
                                        </p:cTn>
                                        <p:tgtEl>
                                          <p:spTgt spid="14"/>
                                        </p:tgtEl>
                                        <p:attrNameLst>
                                          <p:attrName>style.visibility</p:attrName>
                                        </p:attrNameLst>
                                      </p:cBhvr>
                                      <p:to>
                                        <p:strVal val="visible"/>
                                      </p:to>
                                    </p:set>
                                    <p:anim calcmode="lin" valueType="num">
                                      <p:cBhvr>
                                        <p:cTn id="42" dur="1000" fill="hold"/>
                                        <p:tgtEl>
                                          <p:spTgt spid="14"/>
                                        </p:tgtEl>
                                        <p:attrNameLst>
                                          <p:attrName>ppt_w</p:attrName>
                                        </p:attrNameLst>
                                      </p:cBhvr>
                                      <p:tavLst>
                                        <p:tav tm="0">
                                          <p:val>
                                            <p:fltVal val="0"/>
                                          </p:val>
                                        </p:tav>
                                        <p:tav tm="100000">
                                          <p:val>
                                            <p:strVal val="#ppt_w"/>
                                          </p:val>
                                        </p:tav>
                                      </p:tavLst>
                                    </p:anim>
                                    <p:anim calcmode="lin" valueType="num">
                                      <p:cBhvr>
                                        <p:cTn id="43" dur="1000" fill="hold"/>
                                        <p:tgtEl>
                                          <p:spTgt spid="14"/>
                                        </p:tgtEl>
                                        <p:attrNameLst>
                                          <p:attrName>ppt_h</p:attrName>
                                        </p:attrNameLst>
                                      </p:cBhvr>
                                      <p:tavLst>
                                        <p:tav tm="0">
                                          <p:val>
                                            <p:fltVal val="0"/>
                                          </p:val>
                                        </p:tav>
                                        <p:tav tm="100000">
                                          <p:val>
                                            <p:strVal val="#ppt_h"/>
                                          </p:val>
                                        </p:tav>
                                      </p:tavLst>
                                    </p:anim>
                                    <p:anim calcmode="lin" valueType="num">
                                      <p:cBhvr>
                                        <p:cTn id="44" dur="1000" fill="hold"/>
                                        <p:tgtEl>
                                          <p:spTgt spid="14"/>
                                        </p:tgtEl>
                                        <p:attrNameLst>
                                          <p:attrName>style.rotation</p:attrName>
                                        </p:attrNameLst>
                                      </p:cBhvr>
                                      <p:tavLst>
                                        <p:tav tm="0">
                                          <p:val>
                                            <p:fltVal val="90"/>
                                          </p:val>
                                        </p:tav>
                                        <p:tav tm="100000">
                                          <p:val>
                                            <p:fltVal val="0"/>
                                          </p:val>
                                        </p:tav>
                                      </p:tavLst>
                                    </p:anim>
                                    <p:animEffect transition="in" filter="fade">
                                      <p:cBhvr>
                                        <p:cTn id="45" dur="10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20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20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2000"/>
                                        <p:tgtEl>
                                          <p:spTgt spid="2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2000"/>
                                        <p:tgtEl>
                                          <p:spTgt spid="1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2000"/>
                                        <p:tgtEl>
                                          <p:spTgt spid="16"/>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2000"/>
                                        <p:tgtEl>
                                          <p:spTgt spid="19"/>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2000"/>
                                        <p:tgtEl>
                                          <p:spTgt spid="20"/>
                                        </p:tgtEl>
                                      </p:cBhvr>
                                    </p:animEffect>
                                  </p:childTnLst>
                                </p:cTn>
                              </p:par>
                            </p:childTnLst>
                          </p:cTn>
                        </p:par>
                      </p:childTnLst>
                    </p:cTn>
                  </p:par>
                  <p:par>
                    <p:cTn id="81" fill="hold">
                      <p:stCondLst>
                        <p:cond delay="indefinite"/>
                      </p:stCondLst>
                      <p:childTnLst>
                        <p:par>
                          <p:cTn id="82" fill="hold">
                            <p:stCondLst>
                              <p:cond delay="0"/>
                            </p:stCondLst>
                            <p:childTnLst>
                              <p:par>
                                <p:cTn id="83" presetID="31" presetClass="entr" presetSubtype="0" fill="hold" nodeType="clickEffect">
                                  <p:stCondLst>
                                    <p:cond delay="0"/>
                                  </p:stCondLst>
                                  <p:iterate type="lt">
                                    <p:tmPct val="5000"/>
                                  </p:iterate>
                                  <p:childTnLst>
                                    <p:set>
                                      <p:cBhvr>
                                        <p:cTn id="84" dur="1" fill="hold">
                                          <p:stCondLst>
                                            <p:cond delay="0"/>
                                          </p:stCondLst>
                                        </p:cTn>
                                        <p:tgtEl>
                                          <p:spTgt spid="6">
                                            <p:txEl>
                                              <p:pRg st="4" end="4"/>
                                            </p:txEl>
                                          </p:spTgt>
                                        </p:tgtEl>
                                        <p:attrNameLst>
                                          <p:attrName>style.visibility</p:attrName>
                                        </p:attrNameLst>
                                      </p:cBhvr>
                                      <p:to>
                                        <p:strVal val="visible"/>
                                      </p:to>
                                    </p:set>
                                    <p:anim calcmode="lin" valueType="num">
                                      <p:cBhvr>
                                        <p:cTn id="85" dur="1000" fill="hold"/>
                                        <p:tgtEl>
                                          <p:spTgt spid="6">
                                            <p:txEl>
                                              <p:pRg st="4" end="4"/>
                                            </p:txEl>
                                          </p:spTgt>
                                        </p:tgtEl>
                                        <p:attrNameLst>
                                          <p:attrName>ppt_w</p:attrName>
                                        </p:attrNameLst>
                                      </p:cBhvr>
                                      <p:tavLst>
                                        <p:tav tm="0">
                                          <p:val>
                                            <p:fltVal val="0"/>
                                          </p:val>
                                        </p:tav>
                                        <p:tav tm="100000">
                                          <p:val>
                                            <p:strVal val="#ppt_w"/>
                                          </p:val>
                                        </p:tav>
                                      </p:tavLst>
                                    </p:anim>
                                    <p:anim calcmode="lin" valueType="num">
                                      <p:cBhvr>
                                        <p:cTn id="86" dur="1000" fill="hold"/>
                                        <p:tgtEl>
                                          <p:spTgt spid="6">
                                            <p:txEl>
                                              <p:pRg st="4" end="4"/>
                                            </p:txEl>
                                          </p:spTgt>
                                        </p:tgtEl>
                                        <p:attrNameLst>
                                          <p:attrName>ppt_h</p:attrName>
                                        </p:attrNameLst>
                                      </p:cBhvr>
                                      <p:tavLst>
                                        <p:tav tm="0">
                                          <p:val>
                                            <p:fltVal val="0"/>
                                          </p:val>
                                        </p:tav>
                                        <p:tav tm="100000">
                                          <p:val>
                                            <p:strVal val="#ppt_h"/>
                                          </p:val>
                                        </p:tav>
                                      </p:tavLst>
                                    </p:anim>
                                    <p:anim calcmode="lin" valueType="num">
                                      <p:cBhvr>
                                        <p:cTn id="87" dur="1000" fill="hold"/>
                                        <p:tgtEl>
                                          <p:spTgt spid="6">
                                            <p:txEl>
                                              <p:pRg st="4" end="4"/>
                                            </p:txEl>
                                          </p:spTgt>
                                        </p:tgtEl>
                                        <p:attrNameLst>
                                          <p:attrName>style.rotation</p:attrName>
                                        </p:attrNameLst>
                                      </p:cBhvr>
                                      <p:tavLst>
                                        <p:tav tm="0">
                                          <p:val>
                                            <p:fltVal val="90"/>
                                          </p:val>
                                        </p:tav>
                                        <p:tav tm="100000">
                                          <p:val>
                                            <p:fltVal val="0"/>
                                          </p:val>
                                        </p:tav>
                                      </p:tavLst>
                                    </p:anim>
                                    <p:animEffect transition="in" filter="fade">
                                      <p:cBhvr>
                                        <p:cTn id="88" dur="1000"/>
                                        <p:tgtEl>
                                          <p:spTgt spid="6">
                                            <p:txEl>
                                              <p:pRg st="4" end="4"/>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31" presetClass="entr" presetSubtype="0" fill="hold" nodeType="clickEffect">
                                  <p:stCondLst>
                                    <p:cond delay="0"/>
                                  </p:stCondLst>
                                  <p:iterate type="lt">
                                    <p:tmPct val="5000"/>
                                  </p:iterate>
                                  <p:childTnLst>
                                    <p:set>
                                      <p:cBhvr>
                                        <p:cTn id="92" dur="1" fill="hold">
                                          <p:stCondLst>
                                            <p:cond delay="0"/>
                                          </p:stCondLst>
                                        </p:cTn>
                                        <p:tgtEl>
                                          <p:spTgt spid="6">
                                            <p:txEl>
                                              <p:pRg st="5" end="5"/>
                                            </p:txEl>
                                          </p:spTgt>
                                        </p:tgtEl>
                                        <p:attrNameLst>
                                          <p:attrName>style.visibility</p:attrName>
                                        </p:attrNameLst>
                                      </p:cBhvr>
                                      <p:to>
                                        <p:strVal val="visible"/>
                                      </p:to>
                                    </p:set>
                                    <p:anim calcmode="lin" valueType="num">
                                      <p:cBhvr>
                                        <p:cTn id="93" dur="1000" fill="hold"/>
                                        <p:tgtEl>
                                          <p:spTgt spid="6">
                                            <p:txEl>
                                              <p:pRg st="5" end="5"/>
                                            </p:txEl>
                                          </p:spTgt>
                                        </p:tgtEl>
                                        <p:attrNameLst>
                                          <p:attrName>ppt_w</p:attrName>
                                        </p:attrNameLst>
                                      </p:cBhvr>
                                      <p:tavLst>
                                        <p:tav tm="0">
                                          <p:val>
                                            <p:fltVal val="0"/>
                                          </p:val>
                                        </p:tav>
                                        <p:tav tm="100000">
                                          <p:val>
                                            <p:strVal val="#ppt_w"/>
                                          </p:val>
                                        </p:tav>
                                      </p:tavLst>
                                    </p:anim>
                                    <p:anim calcmode="lin" valueType="num">
                                      <p:cBhvr>
                                        <p:cTn id="94" dur="1000" fill="hold"/>
                                        <p:tgtEl>
                                          <p:spTgt spid="6">
                                            <p:txEl>
                                              <p:pRg st="5" end="5"/>
                                            </p:txEl>
                                          </p:spTgt>
                                        </p:tgtEl>
                                        <p:attrNameLst>
                                          <p:attrName>ppt_h</p:attrName>
                                        </p:attrNameLst>
                                      </p:cBhvr>
                                      <p:tavLst>
                                        <p:tav tm="0">
                                          <p:val>
                                            <p:fltVal val="0"/>
                                          </p:val>
                                        </p:tav>
                                        <p:tav tm="100000">
                                          <p:val>
                                            <p:strVal val="#ppt_h"/>
                                          </p:val>
                                        </p:tav>
                                      </p:tavLst>
                                    </p:anim>
                                    <p:anim calcmode="lin" valueType="num">
                                      <p:cBhvr>
                                        <p:cTn id="95" dur="1000" fill="hold"/>
                                        <p:tgtEl>
                                          <p:spTgt spid="6">
                                            <p:txEl>
                                              <p:pRg st="5" end="5"/>
                                            </p:txEl>
                                          </p:spTgt>
                                        </p:tgtEl>
                                        <p:attrNameLst>
                                          <p:attrName>style.rotation</p:attrName>
                                        </p:attrNameLst>
                                      </p:cBhvr>
                                      <p:tavLst>
                                        <p:tav tm="0">
                                          <p:val>
                                            <p:fltVal val="90"/>
                                          </p:val>
                                        </p:tav>
                                        <p:tav tm="100000">
                                          <p:val>
                                            <p:fltVal val="0"/>
                                          </p:val>
                                        </p:tav>
                                      </p:tavLst>
                                    </p:anim>
                                    <p:animEffect transition="in" filter="fade">
                                      <p:cBhvr>
                                        <p:cTn id="96" dur="1000"/>
                                        <p:tgtEl>
                                          <p:spTgt spid="6">
                                            <p:txEl>
                                              <p:pRg st="5" end="5"/>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22"/>
                                        </p:tgtEl>
                                        <p:attrNameLst>
                                          <p:attrName>style.visibility</p:attrName>
                                        </p:attrNameLst>
                                      </p:cBhvr>
                                      <p:to>
                                        <p:strVal val="visible"/>
                                      </p:to>
                                    </p:set>
                                    <p:animEffect transition="in" filter="fade">
                                      <p:cBhvr>
                                        <p:cTn id="101" dur="2000"/>
                                        <p:tgtEl>
                                          <p:spTgt spid="2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8"/>
                                        </p:tgtEl>
                                        <p:attrNameLst>
                                          <p:attrName>style.visibility</p:attrName>
                                        </p:attrNameLst>
                                      </p:cBhvr>
                                      <p:to>
                                        <p:strVal val="visible"/>
                                      </p:to>
                                    </p:set>
                                    <p:animEffect transition="in" filter="fade">
                                      <p:cBhvr>
                                        <p:cTn id="104" dur="500"/>
                                        <p:tgtEl>
                                          <p:spTgt spid="28"/>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23"/>
                                        </p:tgtEl>
                                        <p:attrNameLst>
                                          <p:attrName>style.visibility</p:attrName>
                                        </p:attrNameLst>
                                      </p:cBhvr>
                                      <p:to>
                                        <p:strVal val="visible"/>
                                      </p:to>
                                    </p:set>
                                    <p:animEffect transition="in" filter="fade">
                                      <p:cBhvr>
                                        <p:cTn id="109" dur="2000"/>
                                        <p:tgtEl>
                                          <p:spTgt spid="23"/>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2000"/>
                                        <p:tgtEl>
                                          <p:spTgt spid="29"/>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24"/>
                                        </p:tgtEl>
                                        <p:attrNameLst>
                                          <p:attrName>style.visibility</p:attrName>
                                        </p:attrNameLst>
                                      </p:cBhvr>
                                      <p:to>
                                        <p:strVal val="visible"/>
                                      </p:to>
                                    </p:set>
                                    <p:animEffect transition="in" filter="fade">
                                      <p:cBhvr>
                                        <p:cTn id="119" dur="2000"/>
                                        <p:tgtEl>
                                          <p:spTgt spid="24"/>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25"/>
                                        </p:tgtEl>
                                        <p:attrNameLst>
                                          <p:attrName>style.visibility</p:attrName>
                                        </p:attrNameLst>
                                      </p:cBhvr>
                                      <p:to>
                                        <p:strVal val="visible"/>
                                      </p:to>
                                    </p:set>
                                    <p:animEffect transition="in" filter="fade">
                                      <p:cBhvr>
                                        <p:cTn id="124" dur="2000"/>
                                        <p:tgtEl>
                                          <p:spTgt spid="25"/>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26"/>
                                        </p:tgtEl>
                                        <p:attrNameLst>
                                          <p:attrName>style.visibility</p:attrName>
                                        </p:attrNameLst>
                                      </p:cBhvr>
                                      <p:to>
                                        <p:strVal val="visible"/>
                                      </p:to>
                                    </p:set>
                                    <p:animEffect transition="in" filter="fade">
                                      <p:cBhvr>
                                        <p:cTn id="129" dur="2000"/>
                                        <p:tgtEl>
                                          <p:spTgt spid="26"/>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27"/>
                                        </p:tgtEl>
                                        <p:attrNameLst>
                                          <p:attrName>style.visibility</p:attrName>
                                        </p:attrNameLst>
                                      </p:cBhvr>
                                      <p:to>
                                        <p:strVal val="visible"/>
                                      </p:to>
                                    </p:set>
                                    <p:animEffect transition="in" filter="fade">
                                      <p:cBhvr>
                                        <p:cTn id="134"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81052E8-5A5C-61F9-7D12-18840BB98AB7}"/>
              </a:ext>
            </a:extLst>
          </p:cNvPr>
          <p:cNvSpPr txBox="1">
            <a:spLocks noChangeArrowheads="1"/>
          </p:cNvSpPr>
          <p:nvPr/>
        </p:nvSpPr>
        <p:spPr bwMode="auto">
          <a:xfrm>
            <a:off x="3200400" y="3870960"/>
            <a:ext cx="137668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kern="1200">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1" fontAlgn="base" hangingPunct="1">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ct val="40000"/>
              </a:spcBef>
              <a:buNone/>
            </a:pPr>
            <a:r>
              <a:rPr lang="en-US" altLang="en-US" sz="6400" b="0">
                <a:solidFill>
                  <a:srgbClr val="002060"/>
                </a:solidFill>
              </a:rPr>
              <a:t>Nhà TBCN thu p = 18% x 900 = 162</a:t>
            </a:r>
          </a:p>
          <a:p>
            <a:pPr marL="0" indent="0" algn="just">
              <a:spcBef>
                <a:spcPct val="40000"/>
              </a:spcBef>
              <a:buNone/>
            </a:pPr>
            <a:r>
              <a:rPr lang="en-US" altLang="en-US" sz="6400" b="0">
                <a:solidFill>
                  <a:srgbClr val="002060"/>
                </a:solidFill>
              </a:rPr>
              <a:t>Nhà TBTN thu p = 18% x 100 = 18</a:t>
            </a:r>
          </a:p>
          <a:p>
            <a:pPr marL="0" indent="0" algn="just">
              <a:spcBef>
                <a:spcPct val="40000"/>
              </a:spcBef>
              <a:buNone/>
            </a:pPr>
            <a:r>
              <a:rPr lang="en-US" altLang="en-US" sz="6400" b="0">
                <a:solidFill>
                  <a:srgbClr val="002060"/>
                </a:solidFill>
              </a:rPr>
              <a:t>Nhà TBCN bán cho TBTN theo giá:</a:t>
            </a:r>
          </a:p>
          <a:p>
            <a:pPr marL="0" indent="0" algn="just">
              <a:spcBef>
                <a:spcPct val="40000"/>
              </a:spcBef>
              <a:buNone/>
            </a:pPr>
            <a:r>
              <a:rPr lang="en-US" altLang="en-US" sz="6400" b="0">
                <a:solidFill>
                  <a:srgbClr val="002060"/>
                </a:solidFill>
              </a:rPr>
              <a:t>720c+180v+162p=1062 </a:t>
            </a:r>
            <a:r>
              <a:rPr lang="en-US" altLang="en-US" sz="6400" b="0">
                <a:solidFill>
                  <a:srgbClr val="FF0000"/>
                </a:solidFill>
              </a:rPr>
              <a:t>(GCSX CN)</a:t>
            </a:r>
          </a:p>
          <a:p>
            <a:pPr marL="0" indent="0" algn="just">
              <a:spcBef>
                <a:spcPct val="40000"/>
              </a:spcBef>
              <a:buNone/>
            </a:pPr>
            <a:r>
              <a:rPr lang="en-US" altLang="en-US" sz="6400" b="0">
                <a:solidFill>
                  <a:srgbClr val="002060"/>
                </a:solidFill>
              </a:rPr>
              <a:t>Nhà TBTN bán cho người TD theo giá:</a:t>
            </a:r>
          </a:p>
          <a:p>
            <a:pPr marL="0" indent="0" algn="just">
              <a:spcBef>
                <a:spcPct val="40000"/>
              </a:spcBef>
              <a:buNone/>
            </a:pPr>
            <a:r>
              <a:rPr lang="en-US" altLang="en-US" sz="6400" b="0">
                <a:solidFill>
                  <a:srgbClr val="002060"/>
                </a:solidFill>
              </a:rPr>
              <a:t>1062 + 18p = 1080 </a:t>
            </a:r>
            <a:r>
              <a:rPr lang="en-US" altLang="en-US" sz="6400" b="0">
                <a:solidFill>
                  <a:srgbClr val="FF0000"/>
                </a:solidFill>
              </a:rPr>
              <a:t>(GC thị trường)</a:t>
            </a:r>
          </a:p>
        </p:txBody>
      </p:sp>
      <p:sp>
        <p:nvSpPr>
          <p:cNvPr id="3" name="Rectangle 2">
            <a:extLst>
              <a:ext uri="{FF2B5EF4-FFF2-40B4-BE49-F238E27FC236}">
                <a16:creationId xmlns:a16="http://schemas.microsoft.com/office/drawing/2014/main" id="{D5433E3D-8839-B302-540B-C27CB4488A90}"/>
              </a:ext>
            </a:extLst>
          </p:cNvPr>
          <p:cNvSpPr txBox="1">
            <a:spLocks noChangeArrowheads="1"/>
          </p:cNvSpPr>
          <p:nvPr/>
        </p:nvSpPr>
        <p:spPr>
          <a:xfrm>
            <a:off x="3197688" y="1473200"/>
            <a:ext cx="11892624" cy="1127124"/>
          </a:xfrm>
          <a:prstGeom prst="rect">
            <a:avLst/>
          </a:prstGeom>
        </p:spPr>
        <p:txBody>
          <a:bodyPr vert="horz" lIns="182880" tIns="91440" rIns="182880" bIns="9144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5600" b="1">
                <a:solidFill>
                  <a:srgbClr val="002060"/>
                </a:solidFill>
                <a:latin typeface="Times New Roman" panose="02020603050405020304" pitchFamily="18" charset="0"/>
                <a:cs typeface="Times New Roman" panose="02020603050405020304" pitchFamily="18" charset="0"/>
              </a:rPr>
              <a:t>HÌNH THÀNH P TH</a:t>
            </a:r>
            <a:r>
              <a:rPr lang="vi-VN" altLang="en-US" sz="5600" b="1">
                <a:solidFill>
                  <a:srgbClr val="002060"/>
                </a:solidFill>
                <a:latin typeface="Times New Roman" panose="02020603050405020304" pitchFamily="18" charset="0"/>
                <a:cs typeface="Times New Roman" panose="02020603050405020304" pitchFamily="18" charset="0"/>
              </a:rPr>
              <a:t>Ư</a:t>
            </a:r>
            <a:r>
              <a:rPr lang="en-US" altLang="en-US" sz="5600" b="1">
                <a:solidFill>
                  <a:srgbClr val="002060"/>
                </a:solidFill>
                <a:latin typeface="Times New Roman" panose="02020603050405020304" pitchFamily="18" charset="0"/>
                <a:cs typeface="Times New Roman" panose="02020603050405020304" pitchFamily="18" charset="0"/>
              </a:rPr>
              <a:t>ƠNG NGHIỆP</a:t>
            </a:r>
          </a:p>
        </p:txBody>
      </p:sp>
    </p:spTree>
    <p:extLst>
      <p:ext uri="{BB962C8B-B14F-4D97-AF65-F5344CB8AC3E}">
        <p14:creationId xmlns:p14="http://schemas.microsoft.com/office/powerpoint/2010/main" val="151463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iterate type="lt">
                                    <p:tmPct val="5000"/>
                                  </p:iterate>
                                  <p:childTnLst>
                                    <p:set>
                                      <p:cBhvr>
                                        <p:cTn id="14" dur="1" fill="hold">
                                          <p:stCondLst>
                                            <p:cond delay="0"/>
                                          </p:stCondLst>
                                        </p:cTn>
                                        <p:tgtEl>
                                          <p:spTgt spid="2">
                                            <p:txEl>
                                              <p:pRg st="1" end="1"/>
                                            </p:txEl>
                                          </p:spTgt>
                                        </p:tgtEl>
                                        <p:attrNameLst>
                                          <p:attrName>style.visibility</p:attrName>
                                        </p:attrNameLst>
                                      </p:cBhvr>
                                      <p:to>
                                        <p:strVal val="visible"/>
                                      </p:to>
                                    </p:set>
                                    <p:anim calcmode="lin" valueType="num">
                                      <p:cBhvr>
                                        <p:cTn id="15" dur="1000" fill="hold"/>
                                        <p:tgtEl>
                                          <p:spTgt spid="2">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2">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2">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iterate type="lt">
                                    <p:tmPct val="5000"/>
                                  </p:iterate>
                                  <p:childTnLst>
                                    <p:set>
                                      <p:cBhvr>
                                        <p:cTn id="22" dur="1" fill="hold">
                                          <p:stCondLst>
                                            <p:cond delay="0"/>
                                          </p:stCondLst>
                                        </p:cTn>
                                        <p:tgtEl>
                                          <p:spTgt spid="2">
                                            <p:txEl>
                                              <p:pRg st="2" end="2"/>
                                            </p:txEl>
                                          </p:spTgt>
                                        </p:tgtEl>
                                        <p:attrNameLst>
                                          <p:attrName>style.visibility</p:attrName>
                                        </p:attrNameLst>
                                      </p:cBhvr>
                                      <p:to>
                                        <p:strVal val="visible"/>
                                      </p:to>
                                    </p:set>
                                    <p:anim calcmode="lin" valueType="num">
                                      <p:cBhvr>
                                        <p:cTn id="23" dur="1000" fill="hold"/>
                                        <p:tgtEl>
                                          <p:spTgt spid="2">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2">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2">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2">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iterate type="lt">
                                    <p:tmPct val="5000"/>
                                  </p:iterate>
                                  <p:childTnLst>
                                    <p:set>
                                      <p:cBhvr>
                                        <p:cTn id="30" dur="1" fill="hold">
                                          <p:stCondLst>
                                            <p:cond delay="0"/>
                                          </p:stCondLst>
                                        </p:cTn>
                                        <p:tgtEl>
                                          <p:spTgt spid="2">
                                            <p:txEl>
                                              <p:pRg st="3" end="3"/>
                                            </p:txEl>
                                          </p:spTgt>
                                        </p:tgtEl>
                                        <p:attrNameLst>
                                          <p:attrName>style.visibility</p:attrName>
                                        </p:attrNameLst>
                                      </p:cBhvr>
                                      <p:to>
                                        <p:strVal val="visible"/>
                                      </p:to>
                                    </p:set>
                                    <p:anim calcmode="lin" valueType="num">
                                      <p:cBhvr>
                                        <p:cTn id="31" dur="1000" fill="hold"/>
                                        <p:tgtEl>
                                          <p:spTgt spid="2">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2">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2">
                                            <p:txEl>
                                              <p:pRg st="3" end="3"/>
                                            </p:txEl>
                                          </p:spTgt>
                                        </p:tgtEl>
                                        <p:attrNameLst>
                                          <p:attrName>style.rotation</p:attrName>
                                        </p:attrNameLst>
                                      </p:cBhvr>
                                      <p:tavLst>
                                        <p:tav tm="0">
                                          <p:val>
                                            <p:fltVal val="90"/>
                                          </p:val>
                                        </p:tav>
                                        <p:tav tm="100000">
                                          <p:val>
                                            <p:fltVal val="0"/>
                                          </p:val>
                                        </p:tav>
                                      </p:tavLst>
                                    </p:anim>
                                    <p:animEffect transition="in" filter="fade">
                                      <p:cBhvr>
                                        <p:cTn id="34" dur="1000"/>
                                        <p:tgtEl>
                                          <p:spTgt spid="2">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iterate type="lt">
                                    <p:tmPct val="5000"/>
                                  </p:iterate>
                                  <p:childTnLst>
                                    <p:set>
                                      <p:cBhvr>
                                        <p:cTn id="38" dur="1" fill="hold">
                                          <p:stCondLst>
                                            <p:cond delay="0"/>
                                          </p:stCondLst>
                                        </p:cTn>
                                        <p:tgtEl>
                                          <p:spTgt spid="2">
                                            <p:txEl>
                                              <p:pRg st="4" end="4"/>
                                            </p:txEl>
                                          </p:spTgt>
                                        </p:tgtEl>
                                        <p:attrNameLst>
                                          <p:attrName>style.visibility</p:attrName>
                                        </p:attrNameLst>
                                      </p:cBhvr>
                                      <p:to>
                                        <p:strVal val="visible"/>
                                      </p:to>
                                    </p:set>
                                    <p:anim calcmode="lin" valueType="num">
                                      <p:cBhvr>
                                        <p:cTn id="39" dur="1000" fill="hold"/>
                                        <p:tgtEl>
                                          <p:spTgt spid="2">
                                            <p:txEl>
                                              <p:pRg st="4" end="4"/>
                                            </p:txEl>
                                          </p:spTgt>
                                        </p:tgtEl>
                                        <p:attrNameLst>
                                          <p:attrName>ppt_w</p:attrName>
                                        </p:attrNameLst>
                                      </p:cBhvr>
                                      <p:tavLst>
                                        <p:tav tm="0">
                                          <p:val>
                                            <p:fltVal val="0"/>
                                          </p:val>
                                        </p:tav>
                                        <p:tav tm="100000">
                                          <p:val>
                                            <p:strVal val="#ppt_w"/>
                                          </p:val>
                                        </p:tav>
                                      </p:tavLst>
                                    </p:anim>
                                    <p:anim calcmode="lin" valueType="num">
                                      <p:cBhvr>
                                        <p:cTn id="40" dur="1000" fill="hold"/>
                                        <p:tgtEl>
                                          <p:spTgt spid="2">
                                            <p:txEl>
                                              <p:pRg st="4" end="4"/>
                                            </p:txEl>
                                          </p:spTgt>
                                        </p:tgtEl>
                                        <p:attrNameLst>
                                          <p:attrName>ppt_h</p:attrName>
                                        </p:attrNameLst>
                                      </p:cBhvr>
                                      <p:tavLst>
                                        <p:tav tm="0">
                                          <p:val>
                                            <p:fltVal val="0"/>
                                          </p:val>
                                        </p:tav>
                                        <p:tav tm="100000">
                                          <p:val>
                                            <p:strVal val="#ppt_h"/>
                                          </p:val>
                                        </p:tav>
                                      </p:tavLst>
                                    </p:anim>
                                    <p:anim calcmode="lin" valueType="num">
                                      <p:cBhvr>
                                        <p:cTn id="41" dur="1000" fill="hold"/>
                                        <p:tgtEl>
                                          <p:spTgt spid="2">
                                            <p:txEl>
                                              <p:pRg st="4" end="4"/>
                                            </p:txEl>
                                          </p:spTgt>
                                        </p:tgtEl>
                                        <p:attrNameLst>
                                          <p:attrName>style.rotation</p:attrName>
                                        </p:attrNameLst>
                                      </p:cBhvr>
                                      <p:tavLst>
                                        <p:tav tm="0">
                                          <p:val>
                                            <p:fltVal val="90"/>
                                          </p:val>
                                        </p:tav>
                                        <p:tav tm="100000">
                                          <p:val>
                                            <p:fltVal val="0"/>
                                          </p:val>
                                        </p:tav>
                                      </p:tavLst>
                                    </p:anim>
                                    <p:animEffect transition="in" filter="fade">
                                      <p:cBhvr>
                                        <p:cTn id="42" dur="1000"/>
                                        <p:tgtEl>
                                          <p:spTgt spid="2">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iterate type="lt">
                                    <p:tmPct val="5000"/>
                                  </p:iterate>
                                  <p:childTnLst>
                                    <p:set>
                                      <p:cBhvr>
                                        <p:cTn id="46" dur="1" fill="hold">
                                          <p:stCondLst>
                                            <p:cond delay="0"/>
                                          </p:stCondLst>
                                        </p:cTn>
                                        <p:tgtEl>
                                          <p:spTgt spid="2">
                                            <p:txEl>
                                              <p:pRg st="5" end="5"/>
                                            </p:txEl>
                                          </p:spTgt>
                                        </p:tgtEl>
                                        <p:attrNameLst>
                                          <p:attrName>style.visibility</p:attrName>
                                        </p:attrNameLst>
                                      </p:cBhvr>
                                      <p:to>
                                        <p:strVal val="visible"/>
                                      </p:to>
                                    </p:set>
                                    <p:anim calcmode="lin" valueType="num">
                                      <p:cBhvr>
                                        <p:cTn id="47" dur="1000" fill="hold"/>
                                        <p:tgtEl>
                                          <p:spTgt spid="2">
                                            <p:txEl>
                                              <p:pRg st="5" end="5"/>
                                            </p:txEl>
                                          </p:spTgt>
                                        </p:tgtEl>
                                        <p:attrNameLst>
                                          <p:attrName>ppt_w</p:attrName>
                                        </p:attrNameLst>
                                      </p:cBhvr>
                                      <p:tavLst>
                                        <p:tav tm="0">
                                          <p:val>
                                            <p:fltVal val="0"/>
                                          </p:val>
                                        </p:tav>
                                        <p:tav tm="100000">
                                          <p:val>
                                            <p:strVal val="#ppt_w"/>
                                          </p:val>
                                        </p:tav>
                                      </p:tavLst>
                                    </p:anim>
                                    <p:anim calcmode="lin" valueType="num">
                                      <p:cBhvr>
                                        <p:cTn id="48" dur="1000" fill="hold"/>
                                        <p:tgtEl>
                                          <p:spTgt spid="2">
                                            <p:txEl>
                                              <p:pRg st="5" end="5"/>
                                            </p:txEl>
                                          </p:spTgt>
                                        </p:tgtEl>
                                        <p:attrNameLst>
                                          <p:attrName>ppt_h</p:attrName>
                                        </p:attrNameLst>
                                      </p:cBhvr>
                                      <p:tavLst>
                                        <p:tav tm="0">
                                          <p:val>
                                            <p:fltVal val="0"/>
                                          </p:val>
                                        </p:tav>
                                        <p:tav tm="100000">
                                          <p:val>
                                            <p:strVal val="#ppt_h"/>
                                          </p:val>
                                        </p:tav>
                                      </p:tavLst>
                                    </p:anim>
                                    <p:anim calcmode="lin" valueType="num">
                                      <p:cBhvr>
                                        <p:cTn id="49" dur="1000" fill="hold"/>
                                        <p:tgtEl>
                                          <p:spTgt spid="2">
                                            <p:txEl>
                                              <p:pRg st="5" end="5"/>
                                            </p:txEl>
                                          </p:spTgt>
                                        </p:tgtEl>
                                        <p:attrNameLst>
                                          <p:attrName>style.rotation</p:attrName>
                                        </p:attrNameLst>
                                      </p:cBhvr>
                                      <p:tavLst>
                                        <p:tav tm="0">
                                          <p:val>
                                            <p:fltVal val="90"/>
                                          </p:val>
                                        </p:tav>
                                        <p:tav tm="100000">
                                          <p:val>
                                            <p:fltVal val="0"/>
                                          </p:val>
                                        </p:tav>
                                      </p:tavLst>
                                    </p:anim>
                                    <p:animEffect transition="in" filter="fade">
                                      <p:cBhvr>
                                        <p:cTn id="50" dur="10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B9C19672-3E8C-887E-4778-798AD9D5EA6F}"/>
              </a:ext>
            </a:extLst>
          </p:cNvPr>
          <p:cNvSpPr txBox="1">
            <a:spLocks noChangeArrowheads="1"/>
          </p:cNvSpPr>
          <p:nvPr/>
        </p:nvSpPr>
        <p:spPr bwMode="auto">
          <a:xfrm>
            <a:off x="4154171" y="2165986"/>
            <a:ext cx="18473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9600"/>
          </a:p>
        </p:txBody>
      </p:sp>
      <p:sp>
        <p:nvSpPr>
          <p:cNvPr id="5" name="Rectangle 2">
            <a:extLst>
              <a:ext uri="{FF2B5EF4-FFF2-40B4-BE49-F238E27FC236}">
                <a16:creationId xmlns:a16="http://schemas.microsoft.com/office/drawing/2014/main" id="{4C442A1F-3BAD-0F29-8358-726F5A8F24C7}"/>
              </a:ext>
            </a:extLst>
          </p:cNvPr>
          <p:cNvSpPr txBox="1">
            <a:spLocks noChangeArrowheads="1"/>
          </p:cNvSpPr>
          <p:nvPr/>
        </p:nvSpPr>
        <p:spPr>
          <a:xfrm>
            <a:off x="3954608" y="1079822"/>
            <a:ext cx="10521024" cy="1127124"/>
          </a:xfrm>
          <a:prstGeom prst="rect">
            <a:avLst/>
          </a:prstGeom>
        </p:spPr>
        <p:txBody>
          <a:bodyPr vert="horz" lIns="182880" tIns="91440" rIns="182880" bIns="9144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7200" b="1" dirty="0">
                <a:solidFill>
                  <a:srgbClr val="002060"/>
                </a:solidFill>
                <a:latin typeface="Aachen" panose="02020500000000000000" pitchFamily="18" charset="0"/>
                <a:ea typeface="Aachen" panose="02020500000000000000" pitchFamily="18" charset="0"/>
                <a:cs typeface="Aachen" panose="02020500000000000000" pitchFamily="18" charset="0"/>
              </a:rPr>
              <a:t>TƯ BẢN &amp; LỢI TỨC CHO VAY</a:t>
            </a:r>
          </a:p>
        </p:txBody>
      </p:sp>
      <p:graphicFrame>
        <p:nvGraphicFramePr>
          <p:cNvPr id="6" name="Diagram 5">
            <a:extLst>
              <a:ext uri="{FF2B5EF4-FFF2-40B4-BE49-F238E27FC236}">
                <a16:creationId xmlns:a16="http://schemas.microsoft.com/office/drawing/2014/main" id="{91055DB3-DDCF-EEDB-6117-A79893EDAADB}"/>
              </a:ext>
            </a:extLst>
          </p:cNvPr>
          <p:cNvGraphicFramePr/>
          <p:nvPr>
            <p:extLst>
              <p:ext uri="{D42A27DB-BD31-4B8C-83A1-F6EECF244321}">
                <p14:modId xmlns:p14="http://schemas.microsoft.com/office/powerpoint/2010/main" val="692329615"/>
              </p:ext>
            </p:extLst>
          </p:nvPr>
        </p:nvGraphicFramePr>
        <p:xfrm>
          <a:off x="1442720" y="2550163"/>
          <a:ext cx="15544800" cy="70103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a:extLst>
              <a:ext uri="{FF2B5EF4-FFF2-40B4-BE49-F238E27FC236}">
                <a16:creationId xmlns:a16="http://schemas.microsoft.com/office/drawing/2014/main" id="{8515A6A6-C9CF-BF42-3B34-26D3FA58852E}"/>
              </a:ext>
            </a:extLst>
          </p:cNvPr>
          <p:cNvSpPr/>
          <p:nvPr/>
        </p:nvSpPr>
        <p:spPr>
          <a:xfrm>
            <a:off x="1595120" y="9712961"/>
            <a:ext cx="15392400" cy="3046988"/>
          </a:xfrm>
          <a:prstGeom prst="rect">
            <a:avLst/>
          </a:prstGeom>
        </p:spPr>
        <p:txBody>
          <a:bodyPr wrap="square">
            <a:spAutoFit/>
          </a:bodyPr>
          <a:lstStyle/>
          <a:p>
            <a:pPr algn="just"/>
            <a:r>
              <a:rPr lang="vi-VN">
                <a:solidFill>
                  <a:srgbClr val="002060"/>
                </a:solidFill>
              </a:rPr>
              <a:t>Tư bản cho vay trong CNTB là tư bản tiền tệ tạm thời nhàn rỗi mà người chủ sở hữu nó nhường quyền sử dụng cho người khác trong một thời gian nhằm thu thêm một số lời nhất định gọi là </a:t>
            </a:r>
            <a:r>
              <a:rPr lang="vi-VN">
                <a:solidFill>
                  <a:srgbClr val="002060"/>
                </a:solidFill>
                <a:highlight>
                  <a:srgbClr val="FFFF00"/>
                </a:highlight>
              </a:rPr>
              <a:t>lợi tức (ký hiệu: z)</a:t>
            </a:r>
          </a:p>
        </p:txBody>
      </p:sp>
    </p:spTree>
    <p:extLst>
      <p:ext uri="{BB962C8B-B14F-4D97-AF65-F5344CB8AC3E}">
        <p14:creationId xmlns:p14="http://schemas.microsoft.com/office/powerpoint/2010/main" val="25185288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3DD6D-C308-C447-E51C-0133EA624887}"/>
              </a:ext>
            </a:extLst>
          </p:cNvPr>
          <p:cNvSpPr txBox="1">
            <a:spLocks/>
          </p:cNvSpPr>
          <p:nvPr/>
        </p:nvSpPr>
        <p:spPr>
          <a:xfrm>
            <a:off x="3883488" y="1798956"/>
            <a:ext cx="10521024" cy="1127124"/>
          </a:xfrm>
          <a:prstGeom prst="rect">
            <a:avLst/>
          </a:prstGeom>
        </p:spPr>
        <p:txBody>
          <a:bodyPr vert="horz" lIns="182880" tIns="91440" rIns="182880" bIns="9144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8000" b="1">
                <a:solidFill>
                  <a:srgbClr val="002060"/>
                </a:solidFill>
                <a:latin typeface="Aachen" panose="02020500000000000000" pitchFamily="18" charset="0"/>
                <a:ea typeface="Aachen" panose="02020500000000000000" pitchFamily="18" charset="0"/>
                <a:cs typeface="Aachen" panose="02020500000000000000" pitchFamily="18" charset="0"/>
              </a:rPr>
              <a:t>Bản chất của Lợi tức</a:t>
            </a:r>
          </a:p>
        </p:txBody>
      </p:sp>
      <p:sp>
        <p:nvSpPr>
          <p:cNvPr id="3" name="Content Placeholder 2">
            <a:extLst>
              <a:ext uri="{FF2B5EF4-FFF2-40B4-BE49-F238E27FC236}">
                <a16:creationId xmlns:a16="http://schemas.microsoft.com/office/drawing/2014/main" id="{B0DD83FE-32BF-E192-72B8-D888E55A8148}"/>
              </a:ext>
            </a:extLst>
          </p:cNvPr>
          <p:cNvSpPr txBox="1">
            <a:spLocks/>
          </p:cNvSpPr>
          <p:nvPr/>
        </p:nvSpPr>
        <p:spPr>
          <a:xfrm>
            <a:off x="1219200" y="3850640"/>
            <a:ext cx="15849600" cy="8229600"/>
          </a:xfrm>
          <a:prstGeom prst="rect">
            <a:avLst/>
          </a:prstGeom>
        </p:spPr>
        <p:txBody>
          <a:bodyPr vert="horz" lIns="182880" tIns="91440" rIns="182880" bIns="9144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vi-VN" sz="6400">
                <a:solidFill>
                  <a:srgbClr val="002060"/>
                </a:solidFill>
                <a:highlight>
                  <a:srgbClr val="FFFF00"/>
                </a:highlight>
              </a:rPr>
              <a:t>Về thực chất: </a:t>
            </a:r>
            <a:r>
              <a:rPr lang="vi-VN" sz="6400">
                <a:solidFill>
                  <a:srgbClr val="002060"/>
                </a:solidFill>
              </a:rPr>
              <a:t>lợi tức là một phần của lợi nhuận</a:t>
            </a:r>
            <a:r>
              <a:rPr lang="en-US" sz="6400">
                <a:solidFill>
                  <a:srgbClr val="002060"/>
                </a:solidFill>
              </a:rPr>
              <a:t> </a:t>
            </a:r>
            <a:r>
              <a:rPr lang="vi-VN" sz="6400">
                <a:solidFill>
                  <a:srgbClr val="002060"/>
                </a:solidFill>
              </a:rPr>
              <a:t>mà nhà tư bản hoạt động thu được nhờ sử dụng tư bản đi vay, phải trả cho nhà tư bản cho vay</a:t>
            </a:r>
            <a:endParaRPr lang="en-US" sz="6400">
              <a:solidFill>
                <a:srgbClr val="002060"/>
              </a:solidFill>
            </a:endParaRPr>
          </a:p>
          <a:p>
            <a:pPr algn="just"/>
            <a:endParaRPr lang="vi-VN" sz="6400">
              <a:solidFill>
                <a:srgbClr val="002060"/>
              </a:solidFill>
            </a:endParaRPr>
          </a:p>
          <a:p>
            <a:pPr algn="just"/>
            <a:r>
              <a:rPr lang="vi-VN" sz="6400">
                <a:solidFill>
                  <a:srgbClr val="002060"/>
                </a:solidFill>
                <a:highlight>
                  <a:srgbClr val="FFFF00"/>
                </a:highlight>
              </a:rPr>
              <a:t>Trên thực tế: </a:t>
            </a:r>
            <a:r>
              <a:rPr lang="vi-VN" sz="6400">
                <a:solidFill>
                  <a:srgbClr val="002060"/>
                </a:solidFill>
              </a:rPr>
              <a:t>lợi tức là một phần của lợi nhuận bình quân, mà nhà tư bản đi vay phải trả cho nhà tư bản cho vay, căn cứ vào số tư bản mà nhà tư bản cho vay đã đưa cho nhà tư bản đi vay sử dụng.</a:t>
            </a:r>
          </a:p>
        </p:txBody>
      </p:sp>
    </p:spTree>
    <p:extLst>
      <p:ext uri="{BB962C8B-B14F-4D97-AF65-F5344CB8AC3E}">
        <p14:creationId xmlns:p14="http://schemas.microsoft.com/office/powerpoint/2010/main" val="7107465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6B6DCAA2-77A8-4E5F-D248-877489C41650}"/>
              </a:ext>
            </a:extLst>
          </p:cNvPr>
          <p:cNvSpPr txBox="1">
            <a:spLocks noChangeArrowheads="1"/>
          </p:cNvSpPr>
          <p:nvPr/>
        </p:nvSpPr>
        <p:spPr bwMode="auto">
          <a:xfrm>
            <a:off x="4438651" y="2714626"/>
            <a:ext cx="18473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9600"/>
          </a:p>
        </p:txBody>
      </p:sp>
      <mc:AlternateContent xmlns:mc="http://schemas.openxmlformats.org/markup-compatibility/2006" xmlns:a14="http://schemas.microsoft.com/office/drawing/2010/main">
        <mc:Choice Requires="a14">
          <p:sp>
            <p:nvSpPr>
              <p:cNvPr id="5" name="Text Box 20">
                <a:extLst>
                  <a:ext uri="{FF2B5EF4-FFF2-40B4-BE49-F238E27FC236}">
                    <a16:creationId xmlns:a16="http://schemas.microsoft.com/office/drawing/2014/main" id="{22C331E7-D64B-808F-7EF7-7CE8E9276E5D}"/>
                  </a:ext>
                </a:extLst>
              </p:cNvPr>
              <p:cNvSpPr txBox="1">
                <a:spLocks noChangeArrowheads="1"/>
              </p:cNvSpPr>
              <p:nvPr/>
            </p:nvSpPr>
            <p:spPr bwMode="black">
              <a:xfrm>
                <a:off x="1879602" y="3098800"/>
                <a:ext cx="15392400" cy="9526967"/>
              </a:xfrm>
              <a:prstGeom prst="rect">
                <a:avLst/>
              </a:prstGeom>
              <a:noFill/>
              <a:ln w="9525">
                <a:noFill/>
                <a:prstDash val="dash"/>
                <a:miter lim="800000"/>
                <a:headEnd/>
                <a:tailEnd/>
              </a:ln>
              <a:extLst>
                <a:ext uri="{909E8E84-426E-40DD-AFC4-6F175D3DCCD1}">
                  <a14:hiddenFill>
                    <a:solidFill>
                      <a:srgbClr val="FFFFFF"/>
                    </a:solidFill>
                  </a14:hiddenFill>
                </a:ext>
              </a:extLst>
            </p:spPr>
            <p:txBody>
              <a:bodyPr wrap="square">
                <a:spAutoFit/>
              </a:bodyPr>
              <a:lstStyle>
                <a:lvl1pPr algn="ctr" eaLnBrk="0" hangingPunct="0">
                  <a:defRPr>
                    <a:solidFill>
                      <a:schemeClr val="tx1"/>
                    </a:solidFill>
                    <a:latin typeface="Arial" panose="020B0604020202020204" pitchFamily="34" charset="0"/>
                  </a:defRPr>
                </a:lvl1pPr>
                <a:lvl2pPr marL="742950" indent="-285750" algn="ctr" eaLnBrk="0" hangingPunct="0">
                  <a:defRPr>
                    <a:solidFill>
                      <a:schemeClr val="tx1"/>
                    </a:solidFill>
                    <a:latin typeface="Arial" panose="020B0604020202020204" pitchFamily="34" charset="0"/>
                  </a:defRPr>
                </a:lvl2pPr>
                <a:lvl3pPr marL="1143000" indent="-228600" algn="ctr" eaLnBrk="0" hangingPunct="0">
                  <a:defRPr>
                    <a:solidFill>
                      <a:schemeClr val="tx1"/>
                    </a:solidFill>
                    <a:latin typeface="Arial" panose="020B0604020202020204" pitchFamily="34" charset="0"/>
                  </a:defRPr>
                </a:lvl3pPr>
                <a:lvl4pPr marL="1600200" indent="-228600" algn="ctr" eaLnBrk="0" hangingPunct="0">
                  <a:defRPr>
                    <a:solidFill>
                      <a:schemeClr val="tx1"/>
                    </a:solidFill>
                    <a:latin typeface="Arial" panose="020B0604020202020204" pitchFamily="34" charset="0"/>
                  </a:defRPr>
                </a:lvl4pPr>
                <a:lvl5pPr marL="2057400" indent="-228600" algn="ctr"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en-US" altLang="en-US" sz="5600">
                    <a:solidFill>
                      <a:srgbClr val="002060"/>
                    </a:solidFill>
                  </a:rPr>
                  <a:t>Lợi tức và tỷ suất lợi tức:</a:t>
                </a:r>
                <a:r>
                  <a:rPr lang="vi-VN" altLang="en-US" sz="5600">
                    <a:solidFill>
                      <a:srgbClr val="002060"/>
                    </a:solidFill>
                  </a:rPr>
                  <a:t>	</a:t>
                </a:r>
              </a:p>
              <a:p>
                <a:pPr algn="just" eaLnBrk="1" hangingPunct="1">
                  <a:spcBef>
                    <a:spcPct val="50000"/>
                  </a:spcBef>
                </a:pPr>
                <a:r>
                  <a:rPr lang="vi-VN" altLang="en-US" sz="5600">
                    <a:solidFill>
                      <a:srgbClr val="002060"/>
                    </a:solidFill>
                  </a:rPr>
                  <a:t>+ Bản chất của lợi tức (z)</a:t>
                </a:r>
                <a:endParaRPr lang="en-US" altLang="en-US" sz="5600">
                  <a:solidFill>
                    <a:srgbClr val="002060"/>
                  </a:solidFill>
                </a:endParaRPr>
              </a:p>
              <a:p>
                <a:pPr algn="just" eaLnBrk="1" hangingPunct="1">
                  <a:spcBef>
                    <a:spcPct val="50000"/>
                  </a:spcBef>
                </a:pPr>
                <a14:m>
                  <m:oMathPara xmlns:m="http://schemas.openxmlformats.org/officeDocument/2006/math">
                    <m:oMathParaPr>
                      <m:jc m:val="centerGroup"/>
                    </m:oMathParaPr>
                    <m:oMath xmlns:m="http://schemas.openxmlformats.org/officeDocument/2006/math">
                      <m:r>
                        <a:rPr lang="en-US" altLang="en-US" sz="5600" i="1">
                          <a:solidFill>
                            <a:srgbClr val="002060"/>
                          </a:solidFill>
                          <a:latin typeface="Cambria Math" panose="02040503050406030204" pitchFamily="18" charset="0"/>
                        </a:rPr>
                        <m:t>0&lt;</m:t>
                      </m:r>
                      <m:r>
                        <a:rPr lang="en-US" altLang="en-US" sz="5600" i="1">
                          <a:solidFill>
                            <a:srgbClr val="002060"/>
                          </a:solidFill>
                          <a:latin typeface="Cambria Math" panose="02040503050406030204" pitchFamily="18" charset="0"/>
                        </a:rPr>
                        <m:t>𝑧</m:t>
                      </m:r>
                      <m:r>
                        <a:rPr lang="en-US" altLang="en-US" sz="5600" i="1">
                          <a:solidFill>
                            <a:srgbClr val="002060"/>
                          </a:solidFill>
                          <a:latin typeface="Cambria Math" panose="02040503050406030204" pitchFamily="18" charset="0"/>
                        </a:rPr>
                        <m:t>&lt; </m:t>
                      </m:r>
                      <m:acc>
                        <m:accPr>
                          <m:chr m:val="̅"/>
                          <m:ctrlPr>
                            <a:rPr lang="en-US" altLang="en-US" sz="5600" i="1">
                              <a:solidFill>
                                <a:srgbClr val="002060"/>
                              </a:solidFill>
                              <a:latin typeface="Cambria Math" panose="02040503050406030204" pitchFamily="18" charset="0"/>
                            </a:rPr>
                          </m:ctrlPr>
                        </m:accPr>
                        <m:e>
                          <m:r>
                            <a:rPr lang="en-US" altLang="en-US" sz="5600" i="1">
                              <a:solidFill>
                                <a:srgbClr val="002060"/>
                              </a:solidFill>
                              <a:latin typeface="Cambria Math" panose="02040503050406030204" pitchFamily="18" charset="0"/>
                            </a:rPr>
                            <m:t>𝑝</m:t>
                          </m:r>
                        </m:e>
                      </m:acc>
                    </m:oMath>
                  </m:oMathPara>
                </a14:m>
                <a:endParaRPr lang="en-US" altLang="en-US" sz="5600">
                  <a:solidFill>
                    <a:srgbClr val="002060"/>
                  </a:solidFill>
                </a:endParaRPr>
              </a:p>
              <a:p>
                <a:pPr algn="just" eaLnBrk="1" hangingPunct="1">
                  <a:spcBef>
                    <a:spcPct val="50000"/>
                  </a:spcBef>
                </a:pPr>
                <a:r>
                  <a:rPr lang="vi-VN" altLang="en-US" sz="5600">
                    <a:solidFill>
                      <a:srgbClr val="002060"/>
                    </a:solidFill>
                  </a:rPr>
                  <a:t>+  Tỷ suất lợi tức (z’)</a:t>
                </a:r>
                <a:endParaRPr lang="en-US" altLang="en-US" sz="5600">
                  <a:solidFill>
                    <a:srgbClr val="002060"/>
                  </a:solidFill>
                </a:endParaRPr>
              </a:p>
              <a:p>
                <a:pPr algn="just" eaLnBrk="1" hangingPunct="1">
                  <a:spcBef>
                    <a:spcPct val="50000"/>
                  </a:spcBef>
                </a:pPr>
                <a:endParaRPr lang="en-US" altLang="en-US" sz="5600">
                  <a:solidFill>
                    <a:srgbClr val="002060"/>
                  </a:solidFill>
                </a:endParaRPr>
              </a:p>
              <a:p>
                <a:pPr algn="just" eaLnBrk="1" hangingPunct="1">
                  <a:spcBef>
                    <a:spcPct val="50000"/>
                  </a:spcBef>
                </a:pPr>
                <a14:m>
                  <m:oMathPara xmlns:m="http://schemas.openxmlformats.org/officeDocument/2006/math">
                    <m:oMathParaPr>
                      <m:jc m:val="centerGroup"/>
                    </m:oMathParaPr>
                    <m:oMath xmlns:m="http://schemas.openxmlformats.org/officeDocument/2006/math">
                      <m:sSup>
                        <m:sSupPr>
                          <m:ctrlPr>
                            <a:rPr lang="en-US" altLang="en-US" sz="5600" i="1">
                              <a:solidFill>
                                <a:srgbClr val="002060"/>
                              </a:solidFill>
                              <a:latin typeface="Cambria Math" panose="02040503050406030204" pitchFamily="18" charset="0"/>
                            </a:rPr>
                          </m:ctrlPr>
                        </m:sSupPr>
                        <m:e>
                          <m:r>
                            <a:rPr lang="en-US" altLang="en-US" sz="5600" i="1">
                              <a:solidFill>
                                <a:srgbClr val="002060"/>
                              </a:solidFill>
                              <a:latin typeface="Cambria Math" panose="02040503050406030204" pitchFamily="18" charset="0"/>
                            </a:rPr>
                            <m:t>𝑧</m:t>
                          </m:r>
                        </m:e>
                        <m:sup>
                          <m:r>
                            <a:rPr lang="en-US" altLang="en-US" sz="5600" i="1">
                              <a:solidFill>
                                <a:srgbClr val="002060"/>
                              </a:solidFill>
                              <a:latin typeface="Cambria Math" panose="02040503050406030204" pitchFamily="18" charset="0"/>
                            </a:rPr>
                            <m:t>′</m:t>
                          </m:r>
                        </m:sup>
                      </m:sSup>
                      <m:r>
                        <a:rPr lang="en-US" altLang="en-US" sz="5600" i="1">
                          <a:solidFill>
                            <a:srgbClr val="002060"/>
                          </a:solidFill>
                          <a:latin typeface="Cambria Math" panose="02040503050406030204" pitchFamily="18" charset="0"/>
                        </a:rPr>
                        <m:t>=</m:t>
                      </m:r>
                      <m:f>
                        <m:fPr>
                          <m:ctrlPr>
                            <a:rPr lang="en-US" altLang="en-US" sz="5600" i="1">
                              <a:solidFill>
                                <a:srgbClr val="002060"/>
                              </a:solidFill>
                              <a:latin typeface="Cambria Math" panose="02040503050406030204" pitchFamily="18" charset="0"/>
                            </a:rPr>
                          </m:ctrlPr>
                        </m:fPr>
                        <m:num>
                          <m:r>
                            <a:rPr lang="en-US" altLang="en-US" sz="5600" i="1">
                              <a:solidFill>
                                <a:srgbClr val="002060"/>
                              </a:solidFill>
                              <a:latin typeface="Cambria Math" panose="02040503050406030204" pitchFamily="18" charset="0"/>
                            </a:rPr>
                            <m:t>𝑧</m:t>
                          </m:r>
                        </m:num>
                        <m:den>
                          <m:nary>
                            <m:naryPr>
                              <m:chr m:val="∑"/>
                              <m:subHide m:val="on"/>
                              <m:supHide m:val="on"/>
                              <m:ctrlPr>
                                <a:rPr lang="en-US" altLang="en-US" sz="5600" i="1">
                                  <a:solidFill>
                                    <a:srgbClr val="002060"/>
                                  </a:solidFill>
                                  <a:latin typeface="Cambria Math" panose="02040503050406030204" pitchFamily="18" charset="0"/>
                                </a:rPr>
                              </m:ctrlPr>
                            </m:naryPr>
                            <m:sub/>
                            <m:sup/>
                            <m:e>
                              <m:r>
                                <a:rPr lang="en-US" altLang="en-US" sz="5600" i="1">
                                  <a:solidFill>
                                    <a:srgbClr val="002060"/>
                                  </a:solidFill>
                                  <a:latin typeface="Cambria Math" panose="02040503050406030204" pitchFamily="18" charset="0"/>
                                </a:rPr>
                                <m:t>𝑇𝐵𝐶𝑉</m:t>
                              </m:r>
                            </m:e>
                          </m:nary>
                        </m:den>
                      </m:f>
                      <m:r>
                        <a:rPr lang="en-US" altLang="en-US" sz="5600" i="1">
                          <a:solidFill>
                            <a:srgbClr val="002060"/>
                          </a:solidFill>
                          <a:latin typeface="Cambria Math" panose="02040503050406030204" pitchFamily="18" charset="0"/>
                          <a:ea typeface="Cambria Math" panose="02040503050406030204" pitchFamily="18" charset="0"/>
                        </a:rPr>
                        <m:t>×100%</m:t>
                      </m:r>
                    </m:oMath>
                  </m:oMathPara>
                </a14:m>
                <a:endParaRPr lang="en-US" altLang="en-US" sz="5600">
                  <a:solidFill>
                    <a:srgbClr val="002060"/>
                  </a:solidFill>
                  <a:ea typeface="Cambria Math" panose="02040503050406030204" pitchFamily="18" charset="0"/>
                </a:endParaRPr>
              </a:p>
              <a:p>
                <a:pPr algn="just" eaLnBrk="1" hangingPunct="1">
                  <a:spcBef>
                    <a:spcPct val="50000"/>
                  </a:spcBef>
                </a:pPr>
                <a:endParaRPr lang="en-US" altLang="en-US" sz="5600" i="1">
                  <a:solidFill>
                    <a:srgbClr val="002060"/>
                  </a:solidFill>
                  <a:latin typeface="Cambria Math" panose="02040503050406030204" pitchFamily="18" charset="0"/>
                </a:endParaRPr>
              </a:p>
              <a:p>
                <a:pPr algn="just" eaLnBrk="1" hangingPunct="1">
                  <a:spcBef>
                    <a:spcPct val="50000"/>
                  </a:spcBef>
                </a:pPr>
                <a14:m>
                  <m:oMathPara xmlns:m="http://schemas.openxmlformats.org/officeDocument/2006/math">
                    <m:oMathParaPr>
                      <m:jc m:val="center"/>
                    </m:oMathParaPr>
                    <m:oMath xmlns:m="http://schemas.openxmlformats.org/officeDocument/2006/math">
                      <m:r>
                        <a:rPr lang="en-US" altLang="en-US" sz="5600" i="1">
                          <a:solidFill>
                            <a:srgbClr val="002060"/>
                          </a:solidFill>
                          <a:latin typeface="Cambria Math" panose="02040503050406030204" pitchFamily="18" charset="0"/>
                        </a:rPr>
                        <m:t>0&lt;</m:t>
                      </m:r>
                      <m:r>
                        <a:rPr lang="en-US" altLang="en-US" sz="5600" i="1">
                          <a:solidFill>
                            <a:srgbClr val="002060"/>
                          </a:solidFill>
                          <a:latin typeface="Cambria Math" panose="02040503050406030204" pitchFamily="18" charset="0"/>
                        </a:rPr>
                        <m:t>𝑧</m:t>
                      </m:r>
                      <m:r>
                        <a:rPr lang="en-US" altLang="en-US" sz="5600" i="1">
                          <a:solidFill>
                            <a:srgbClr val="002060"/>
                          </a:solidFill>
                          <a:latin typeface="Cambria Math" panose="02040503050406030204" pitchFamily="18" charset="0"/>
                        </a:rPr>
                        <m:t>′&lt; </m:t>
                      </m:r>
                      <m:acc>
                        <m:accPr>
                          <m:chr m:val="̅"/>
                          <m:ctrlPr>
                            <a:rPr lang="en-US" altLang="en-US" sz="5600" i="1">
                              <a:solidFill>
                                <a:srgbClr val="002060"/>
                              </a:solidFill>
                              <a:latin typeface="Cambria Math" panose="02040503050406030204" pitchFamily="18" charset="0"/>
                            </a:rPr>
                          </m:ctrlPr>
                        </m:accPr>
                        <m:e>
                          <m:r>
                            <a:rPr lang="en-US" altLang="en-US" sz="5600" i="1">
                              <a:solidFill>
                                <a:srgbClr val="002060"/>
                              </a:solidFill>
                              <a:latin typeface="Cambria Math" panose="02040503050406030204" pitchFamily="18" charset="0"/>
                            </a:rPr>
                            <m:t>𝑝</m:t>
                          </m:r>
                          <m:r>
                            <a:rPr lang="en-US" altLang="en-US" sz="5600" i="1">
                              <a:solidFill>
                                <a:srgbClr val="002060"/>
                              </a:solidFill>
                              <a:latin typeface="Cambria Math" panose="02040503050406030204" pitchFamily="18" charset="0"/>
                            </a:rPr>
                            <m:t>′</m:t>
                          </m:r>
                        </m:e>
                      </m:acc>
                    </m:oMath>
                  </m:oMathPara>
                </a14:m>
                <a:endParaRPr lang="vi-VN" altLang="en-US" sz="5600">
                  <a:solidFill>
                    <a:srgbClr val="002060"/>
                  </a:solidFill>
                </a:endParaRPr>
              </a:p>
            </p:txBody>
          </p:sp>
        </mc:Choice>
        <mc:Fallback xmlns="">
          <p:sp>
            <p:nvSpPr>
              <p:cNvPr id="5" name="Text Box 20">
                <a:extLst>
                  <a:ext uri="{FF2B5EF4-FFF2-40B4-BE49-F238E27FC236}">
                    <a16:creationId xmlns:a16="http://schemas.microsoft.com/office/drawing/2014/main" id="{22C331E7-D64B-808F-7EF7-7CE8E9276E5D}"/>
                  </a:ext>
                </a:extLst>
              </p:cNvPr>
              <p:cNvSpPr txBox="1">
                <a:spLocks noRot="1" noChangeAspect="1" noMove="1" noResize="1" noEditPoints="1" noAdjustHandles="1" noChangeArrowheads="1" noChangeShapeType="1" noTextEdit="1"/>
              </p:cNvSpPr>
              <p:nvPr/>
            </p:nvSpPr>
            <p:spPr bwMode="black">
              <a:xfrm>
                <a:off x="1879602" y="3098800"/>
                <a:ext cx="15392400" cy="9526967"/>
              </a:xfrm>
              <a:prstGeom prst="rect">
                <a:avLst/>
              </a:prstGeom>
              <a:blipFill>
                <a:blip r:embed="rId2"/>
                <a:stretch>
                  <a:fillRect l="-2178" t="-1791"/>
                </a:stretch>
              </a:blipFill>
              <a:ln w="9525">
                <a:no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r>
                  <a:rPr lang="en-US">
                    <a:noFill/>
                  </a:rPr>
                  <a:t> </a:t>
                </a:r>
              </a:p>
            </p:txBody>
          </p:sp>
        </mc:Fallback>
      </mc:AlternateContent>
      <p:sp>
        <p:nvSpPr>
          <p:cNvPr id="6" name="Rectangle 2">
            <a:extLst>
              <a:ext uri="{FF2B5EF4-FFF2-40B4-BE49-F238E27FC236}">
                <a16:creationId xmlns:a16="http://schemas.microsoft.com/office/drawing/2014/main" id="{65307142-7C56-F0A9-4276-58B6D3C5305E}"/>
              </a:ext>
            </a:extLst>
          </p:cNvPr>
          <p:cNvSpPr txBox="1">
            <a:spLocks noChangeArrowheads="1"/>
          </p:cNvSpPr>
          <p:nvPr/>
        </p:nvSpPr>
        <p:spPr>
          <a:xfrm>
            <a:off x="3550576" y="1270000"/>
            <a:ext cx="105210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6400" b="1">
                <a:solidFill>
                  <a:srgbClr val="002060"/>
                </a:solidFill>
                <a:latin typeface="Aachen" panose="02020500000000000000" pitchFamily="18" charset="0"/>
                <a:ea typeface="Aachen" panose="02020500000000000000" pitchFamily="18" charset="0"/>
                <a:cs typeface="Aachen" panose="02020500000000000000" pitchFamily="18" charset="0"/>
              </a:rPr>
              <a:t>LỢI TỨC CHO VAY</a:t>
            </a:r>
          </a:p>
        </p:txBody>
      </p:sp>
    </p:spTree>
    <p:extLst>
      <p:ext uri="{BB962C8B-B14F-4D97-AF65-F5344CB8AC3E}">
        <p14:creationId xmlns:p14="http://schemas.microsoft.com/office/powerpoint/2010/main" val="382226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wipe(down)">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wipe(down)">
                                      <p:cBhvr>
                                        <p:cTn id="3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2DD64EF4-CBBB-D892-9A63-543AF4C05BE9}"/>
              </a:ext>
            </a:extLst>
          </p:cNvPr>
          <p:cNvSpPr txBox="1">
            <a:spLocks noChangeArrowheads="1"/>
          </p:cNvSpPr>
          <p:nvPr/>
        </p:nvSpPr>
        <p:spPr bwMode="auto">
          <a:xfrm>
            <a:off x="3625851" y="1901826"/>
            <a:ext cx="18473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4000"/>
          </a:p>
        </p:txBody>
      </p:sp>
      <p:sp>
        <p:nvSpPr>
          <p:cNvPr id="3" name="Text Box 20">
            <a:extLst>
              <a:ext uri="{FF2B5EF4-FFF2-40B4-BE49-F238E27FC236}">
                <a16:creationId xmlns:a16="http://schemas.microsoft.com/office/drawing/2014/main" id="{C6354703-EF3E-DED2-636E-B04EAAAE1A67}"/>
              </a:ext>
            </a:extLst>
          </p:cNvPr>
          <p:cNvSpPr txBox="1">
            <a:spLocks noChangeArrowheads="1"/>
          </p:cNvSpPr>
          <p:nvPr/>
        </p:nvSpPr>
        <p:spPr bwMode="black">
          <a:xfrm>
            <a:off x="1066802" y="2286000"/>
            <a:ext cx="15392400" cy="923330"/>
          </a:xfrm>
          <a:prstGeom prst="rect">
            <a:avLst/>
          </a:prstGeom>
          <a:noFill/>
          <a:ln w="9525">
            <a:noFill/>
            <a:prstDash val="dash"/>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gn="ctr" eaLnBrk="0" hangingPunct="0">
              <a:defRPr>
                <a:solidFill>
                  <a:schemeClr val="tx1"/>
                </a:solidFill>
                <a:latin typeface="Arial" panose="020B0604020202020204" pitchFamily="34" charset="0"/>
              </a:defRPr>
            </a:lvl1pPr>
            <a:lvl2pPr marL="742950" indent="-285750" algn="ctr" eaLnBrk="0" hangingPunct="0">
              <a:defRPr>
                <a:solidFill>
                  <a:schemeClr val="tx1"/>
                </a:solidFill>
                <a:latin typeface="Arial" panose="020B0604020202020204" pitchFamily="34" charset="0"/>
              </a:defRPr>
            </a:lvl2pPr>
            <a:lvl3pPr marL="1143000" indent="-228600" algn="ctr" eaLnBrk="0" hangingPunct="0">
              <a:defRPr>
                <a:solidFill>
                  <a:schemeClr val="tx1"/>
                </a:solidFill>
                <a:latin typeface="Arial" panose="020B0604020202020204" pitchFamily="34" charset="0"/>
              </a:defRPr>
            </a:lvl3pPr>
            <a:lvl4pPr marL="1600200" indent="-228600" algn="ctr" eaLnBrk="0" hangingPunct="0">
              <a:defRPr>
                <a:solidFill>
                  <a:schemeClr val="tx1"/>
                </a:solidFill>
                <a:latin typeface="Arial" panose="020B0604020202020204" pitchFamily="34" charset="0"/>
              </a:defRPr>
            </a:lvl4pPr>
            <a:lvl5pPr marL="2057400" indent="-228600" algn="ctr"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en-US" altLang="en-US" sz="5400" b="1" dirty="0" err="1">
                <a:solidFill>
                  <a:srgbClr val="FF0000"/>
                </a:solidFill>
              </a:rPr>
              <a:t>Ngân</a:t>
            </a:r>
            <a:r>
              <a:rPr lang="en-US" altLang="en-US" sz="5400" b="1" dirty="0">
                <a:solidFill>
                  <a:srgbClr val="FF0000"/>
                </a:solidFill>
              </a:rPr>
              <a:t> </a:t>
            </a:r>
            <a:r>
              <a:rPr lang="en-US" altLang="en-US" sz="5400" b="1" dirty="0" err="1">
                <a:solidFill>
                  <a:srgbClr val="FF0000"/>
                </a:solidFill>
              </a:rPr>
              <a:t>hàng</a:t>
            </a:r>
            <a:r>
              <a:rPr lang="en-US" altLang="en-US" sz="5400" b="1" dirty="0">
                <a:solidFill>
                  <a:srgbClr val="FF0000"/>
                </a:solidFill>
              </a:rPr>
              <a:t> </a:t>
            </a:r>
            <a:r>
              <a:rPr lang="en-US" altLang="en-US" sz="5400" b="1" dirty="0" err="1">
                <a:solidFill>
                  <a:srgbClr val="FF0000"/>
                </a:solidFill>
              </a:rPr>
              <a:t>trong</a:t>
            </a:r>
            <a:r>
              <a:rPr lang="en-US" altLang="en-US" sz="5400" b="1" dirty="0">
                <a:solidFill>
                  <a:srgbClr val="FF0000"/>
                </a:solidFill>
              </a:rPr>
              <a:t> CNTB</a:t>
            </a:r>
          </a:p>
        </p:txBody>
      </p:sp>
      <p:sp>
        <p:nvSpPr>
          <p:cNvPr id="7" name="Rectangle 2">
            <a:extLst>
              <a:ext uri="{FF2B5EF4-FFF2-40B4-BE49-F238E27FC236}">
                <a16:creationId xmlns:a16="http://schemas.microsoft.com/office/drawing/2014/main" id="{BE7553A6-1C43-BB6A-DED4-B3444125BF4A}"/>
              </a:ext>
            </a:extLst>
          </p:cNvPr>
          <p:cNvSpPr txBox="1">
            <a:spLocks noChangeArrowheads="1"/>
          </p:cNvSpPr>
          <p:nvPr/>
        </p:nvSpPr>
        <p:spPr>
          <a:xfrm>
            <a:off x="3930116" y="887294"/>
            <a:ext cx="10521024" cy="1127124"/>
          </a:xfrm>
          <a:prstGeom prst="rect">
            <a:avLst/>
          </a:prstGeom>
        </p:spPr>
        <p:txBody>
          <a:bodyPr vert="horz" lIns="182880" tIns="91440" rIns="182880" bIns="9144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7200" b="1" dirty="0">
                <a:solidFill>
                  <a:srgbClr val="002060"/>
                </a:solidFill>
                <a:latin typeface="Aachen" panose="02020500000000000000" pitchFamily="18" charset="0"/>
                <a:ea typeface="Aachen" panose="02020500000000000000" pitchFamily="18" charset="0"/>
                <a:cs typeface="Aachen" panose="02020500000000000000" pitchFamily="18" charset="0"/>
              </a:rPr>
              <a:t>TƯ BẢN VÀ P NGÂN HÀNG</a:t>
            </a:r>
          </a:p>
        </p:txBody>
      </p:sp>
      <p:sp>
        <p:nvSpPr>
          <p:cNvPr id="8" name="TextBox 7">
            <a:extLst>
              <a:ext uri="{FF2B5EF4-FFF2-40B4-BE49-F238E27FC236}">
                <a16:creationId xmlns:a16="http://schemas.microsoft.com/office/drawing/2014/main" id="{BD4A2779-EBD5-E05D-33AD-34B8A389AFB2}"/>
              </a:ext>
            </a:extLst>
          </p:cNvPr>
          <p:cNvSpPr txBox="1"/>
          <p:nvPr/>
        </p:nvSpPr>
        <p:spPr>
          <a:xfrm>
            <a:off x="1371600" y="4747737"/>
            <a:ext cx="3200400" cy="707886"/>
          </a:xfrm>
          <a:prstGeom prst="rect">
            <a:avLst/>
          </a:prstGeom>
          <a:noFill/>
        </p:spPr>
        <p:txBody>
          <a:bodyPr wrap="square" rtlCol="0">
            <a:spAutoFit/>
          </a:bodyPr>
          <a:lstStyle/>
          <a:p>
            <a:pPr algn="ctr"/>
            <a:r>
              <a:rPr lang="en-US" sz="4000" b="1" dirty="0" err="1"/>
              <a:t>Cung</a:t>
            </a:r>
            <a:r>
              <a:rPr lang="en-US" sz="4000" b="1" dirty="0"/>
              <a:t> TBTT</a:t>
            </a:r>
          </a:p>
        </p:txBody>
      </p:sp>
      <p:sp>
        <p:nvSpPr>
          <p:cNvPr id="9" name="TextBox 8">
            <a:extLst>
              <a:ext uri="{FF2B5EF4-FFF2-40B4-BE49-F238E27FC236}">
                <a16:creationId xmlns:a16="http://schemas.microsoft.com/office/drawing/2014/main" id="{A2D2F5B0-E31D-B766-7CE9-F47CB9A2C20D}"/>
              </a:ext>
            </a:extLst>
          </p:cNvPr>
          <p:cNvSpPr txBox="1"/>
          <p:nvPr/>
        </p:nvSpPr>
        <p:spPr>
          <a:xfrm>
            <a:off x="7162800" y="4738639"/>
            <a:ext cx="3200400" cy="707886"/>
          </a:xfrm>
          <a:prstGeom prst="rect">
            <a:avLst/>
          </a:prstGeom>
          <a:noFill/>
        </p:spPr>
        <p:txBody>
          <a:bodyPr wrap="square" rtlCol="0">
            <a:spAutoFit/>
          </a:bodyPr>
          <a:lstStyle/>
          <a:p>
            <a:pPr algn="ctr"/>
            <a:r>
              <a:rPr lang="en-US" sz="4000" b="1">
                <a:solidFill>
                  <a:srgbClr val="FF0000"/>
                </a:solidFill>
              </a:rPr>
              <a:t>NGÂN HÀNG</a:t>
            </a:r>
          </a:p>
        </p:txBody>
      </p:sp>
      <p:sp>
        <p:nvSpPr>
          <p:cNvPr id="10" name="TextBox 9">
            <a:extLst>
              <a:ext uri="{FF2B5EF4-FFF2-40B4-BE49-F238E27FC236}">
                <a16:creationId xmlns:a16="http://schemas.microsoft.com/office/drawing/2014/main" id="{56C45DEE-B0F7-585B-78AE-50D99BDC721F}"/>
              </a:ext>
            </a:extLst>
          </p:cNvPr>
          <p:cNvSpPr txBox="1"/>
          <p:nvPr/>
        </p:nvSpPr>
        <p:spPr>
          <a:xfrm>
            <a:off x="12055522" y="4738639"/>
            <a:ext cx="3200400" cy="707886"/>
          </a:xfrm>
          <a:prstGeom prst="rect">
            <a:avLst/>
          </a:prstGeom>
          <a:noFill/>
        </p:spPr>
        <p:txBody>
          <a:bodyPr wrap="square" rtlCol="0">
            <a:spAutoFit/>
          </a:bodyPr>
          <a:lstStyle/>
          <a:p>
            <a:pPr algn="ctr"/>
            <a:r>
              <a:rPr lang="en-US" sz="4000" b="1"/>
              <a:t>Cầu TBTT</a:t>
            </a:r>
          </a:p>
        </p:txBody>
      </p:sp>
      <p:sp>
        <p:nvSpPr>
          <p:cNvPr id="11" name="Curved Down Arrow 3">
            <a:extLst>
              <a:ext uri="{FF2B5EF4-FFF2-40B4-BE49-F238E27FC236}">
                <a16:creationId xmlns:a16="http://schemas.microsoft.com/office/drawing/2014/main" id="{B14A25C4-BAB3-9AE7-71F2-287A3C909701}"/>
              </a:ext>
            </a:extLst>
          </p:cNvPr>
          <p:cNvSpPr/>
          <p:nvPr/>
        </p:nvSpPr>
        <p:spPr>
          <a:xfrm>
            <a:off x="3505200" y="3418821"/>
            <a:ext cx="5029200" cy="91439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solidFill>
                <a:schemeClr val="tx1"/>
              </a:solidFill>
            </a:endParaRPr>
          </a:p>
        </p:txBody>
      </p:sp>
      <p:sp>
        <p:nvSpPr>
          <p:cNvPr id="12" name="Curved Down Arrow 9">
            <a:extLst>
              <a:ext uri="{FF2B5EF4-FFF2-40B4-BE49-F238E27FC236}">
                <a16:creationId xmlns:a16="http://schemas.microsoft.com/office/drawing/2014/main" id="{53140897-E520-6398-5CB0-510A005C9C36}"/>
              </a:ext>
            </a:extLst>
          </p:cNvPr>
          <p:cNvSpPr/>
          <p:nvPr/>
        </p:nvSpPr>
        <p:spPr>
          <a:xfrm rot="10800000">
            <a:off x="3414214" y="5486401"/>
            <a:ext cx="5029200" cy="91439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solidFill>
                <a:schemeClr val="tx1"/>
              </a:solidFill>
            </a:endParaRPr>
          </a:p>
        </p:txBody>
      </p:sp>
      <p:sp>
        <p:nvSpPr>
          <p:cNvPr id="13" name="Curved Down Arrow 10">
            <a:extLst>
              <a:ext uri="{FF2B5EF4-FFF2-40B4-BE49-F238E27FC236}">
                <a16:creationId xmlns:a16="http://schemas.microsoft.com/office/drawing/2014/main" id="{835E1B4D-D13E-FA4C-E42C-4EDAE784C3A3}"/>
              </a:ext>
            </a:extLst>
          </p:cNvPr>
          <p:cNvSpPr/>
          <p:nvPr/>
        </p:nvSpPr>
        <p:spPr>
          <a:xfrm>
            <a:off x="9281614" y="3418821"/>
            <a:ext cx="5029200" cy="91439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solidFill>
                <a:schemeClr val="tx1"/>
              </a:solidFill>
            </a:endParaRPr>
          </a:p>
        </p:txBody>
      </p:sp>
      <p:sp>
        <p:nvSpPr>
          <p:cNvPr id="14" name="Curved Down Arrow 11">
            <a:extLst>
              <a:ext uri="{FF2B5EF4-FFF2-40B4-BE49-F238E27FC236}">
                <a16:creationId xmlns:a16="http://schemas.microsoft.com/office/drawing/2014/main" id="{A00FF4C2-3D1B-42CB-AC63-64E11779EF90}"/>
              </a:ext>
            </a:extLst>
          </p:cNvPr>
          <p:cNvSpPr/>
          <p:nvPr/>
        </p:nvSpPr>
        <p:spPr>
          <a:xfrm rot="10800000">
            <a:off x="9190628" y="5486401"/>
            <a:ext cx="5029200" cy="91439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solidFill>
                <a:schemeClr val="tx1"/>
              </a:solidFill>
            </a:endParaRPr>
          </a:p>
        </p:txBody>
      </p:sp>
      <p:sp>
        <p:nvSpPr>
          <p:cNvPr id="15" name="TextBox 14">
            <a:extLst>
              <a:ext uri="{FF2B5EF4-FFF2-40B4-BE49-F238E27FC236}">
                <a16:creationId xmlns:a16="http://schemas.microsoft.com/office/drawing/2014/main" id="{098760A2-DBD4-4AA8-B0C8-CB7B50B8CF97}"/>
              </a:ext>
            </a:extLst>
          </p:cNvPr>
          <p:cNvSpPr txBox="1"/>
          <p:nvPr/>
        </p:nvSpPr>
        <p:spPr>
          <a:xfrm>
            <a:off x="4328614" y="6402294"/>
            <a:ext cx="3200400" cy="707886"/>
          </a:xfrm>
          <a:prstGeom prst="rect">
            <a:avLst/>
          </a:prstGeom>
          <a:noFill/>
        </p:spPr>
        <p:txBody>
          <a:bodyPr wrap="square" rtlCol="0">
            <a:spAutoFit/>
          </a:bodyPr>
          <a:lstStyle/>
          <a:p>
            <a:pPr algn="ctr"/>
            <a:r>
              <a:rPr lang="en-US" sz="4000" b="1">
                <a:solidFill>
                  <a:srgbClr val="FF0000"/>
                </a:solidFill>
              </a:rPr>
              <a:t>z nhận gửi</a:t>
            </a:r>
          </a:p>
        </p:txBody>
      </p:sp>
      <p:sp>
        <p:nvSpPr>
          <p:cNvPr id="16" name="TextBox 15">
            <a:extLst>
              <a:ext uri="{FF2B5EF4-FFF2-40B4-BE49-F238E27FC236}">
                <a16:creationId xmlns:a16="http://schemas.microsoft.com/office/drawing/2014/main" id="{3A474C0F-A5D7-BF38-E43D-C926E6EE19F1}"/>
              </a:ext>
            </a:extLst>
          </p:cNvPr>
          <p:cNvSpPr txBox="1"/>
          <p:nvPr/>
        </p:nvSpPr>
        <p:spPr>
          <a:xfrm>
            <a:off x="10058400" y="6402290"/>
            <a:ext cx="3200400" cy="707886"/>
          </a:xfrm>
          <a:prstGeom prst="rect">
            <a:avLst/>
          </a:prstGeom>
          <a:noFill/>
        </p:spPr>
        <p:txBody>
          <a:bodyPr wrap="square" rtlCol="0">
            <a:spAutoFit/>
          </a:bodyPr>
          <a:lstStyle/>
          <a:p>
            <a:pPr algn="ctr"/>
            <a:r>
              <a:rPr lang="en-US" sz="4000" b="1">
                <a:solidFill>
                  <a:srgbClr val="FF0000"/>
                </a:solidFill>
              </a:rPr>
              <a:t>z cho vay</a:t>
            </a:r>
          </a:p>
        </p:txBody>
      </p:sp>
      <p:sp>
        <p:nvSpPr>
          <p:cNvPr id="17" name="TextBox 16">
            <a:extLst>
              <a:ext uri="{FF2B5EF4-FFF2-40B4-BE49-F238E27FC236}">
                <a16:creationId xmlns:a16="http://schemas.microsoft.com/office/drawing/2014/main" id="{C3DE93CE-615E-EF86-7B90-AF5621949B05}"/>
              </a:ext>
            </a:extLst>
          </p:cNvPr>
          <p:cNvSpPr txBox="1"/>
          <p:nvPr/>
        </p:nvSpPr>
        <p:spPr>
          <a:xfrm>
            <a:off x="7193508" y="6248401"/>
            <a:ext cx="3200400" cy="923330"/>
          </a:xfrm>
          <a:prstGeom prst="rect">
            <a:avLst/>
          </a:prstGeom>
          <a:noFill/>
        </p:spPr>
        <p:txBody>
          <a:bodyPr wrap="square" rtlCol="0">
            <a:spAutoFit/>
          </a:bodyPr>
          <a:lstStyle/>
          <a:p>
            <a:pPr algn="ctr"/>
            <a:r>
              <a:rPr lang="en-US" sz="5400" b="1" dirty="0">
                <a:solidFill>
                  <a:srgbClr val="FF0000"/>
                </a:solidFill>
              </a:rPr>
              <a:t>&lt;</a:t>
            </a:r>
          </a:p>
        </p:txBody>
      </p:sp>
      <mc:AlternateContent xmlns:mc="http://schemas.openxmlformats.org/markup-compatibility/2006" xmlns:a14="http://schemas.microsoft.com/office/drawing/2010/main">
        <mc:Choice Requires="a14">
          <p:sp>
            <p:nvSpPr>
              <p:cNvPr id="18" name="Text Box 20">
                <a:extLst>
                  <a:ext uri="{FF2B5EF4-FFF2-40B4-BE49-F238E27FC236}">
                    <a16:creationId xmlns:a16="http://schemas.microsoft.com/office/drawing/2014/main" id="{47AA42DB-5EFD-8591-DF7F-CE3A113EE156}"/>
                  </a:ext>
                </a:extLst>
              </p:cNvPr>
              <p:cNvSpPr txBox="1">
                <a:spLocks noChangeArrowheads="1"/>
              </p:cNvSpPr>
              <p:nvPr/>
            </p:nvSpPr>
            <p:spPr bwMode="black">
              <a:xfrm>
                <a:off x="1059978" y="7467601"/>
                <a:ext cx="15392400" cy="2033762"/>
              </a:xfrm>
              <a:prstGeom prst="rect">
                <a:avLst/>
              </a:prstGeom>
              <a:noFill/>
              <a:ln w="9525">
                <a:noFill/>
                <a:prstDash val="dash"/>
                <a:miter lim="800000"/>
                <a:headEnd/>
                <a:tailEnd/>
              </a:ln>
              <a:extLst>
                <a:ext uri="{909E8E84-426E-40DD-AFC4-6F175D3DCCD1}">
                  <a14:hiddenFill>
                    <a:solidFill>
                      <a:srgbClr val="FFFFFF"/>
                    </a:solidFill>
                  </a14:hiddenFill>
                </a:ext>
              </a:extLst>
            </p:spPr>
            <p:txBody>
              <a:bodyPr wrap="square">
                <a:spAutoFit/>
              </a:bodyPr>
              <a:lstStyle>
                <a:lvl1pPr algn="ctr" eaLnBrk="0" hangingPunct="0">
                  <a:defRPr>
                    <a:solidFill>
                      <a:schemeClr val="tx1"/>
                    </a:solidFill>
                    <a:latin typeface="Arial" panose="020B0604020202020204" pitchFamily="34" charset="0"/>
                  </a:defRPr>
                </a:lvl1pPr>
                <a:lvl2pPr marL="742950" indent="-285750" algn="ctr" eaLnBrk="0" hangingPunct="0">
                  <a:defRPr>
                    <a:solidFill>
                      <a:schemeClr val="tx1"/>
                    </a:solidFill>
                    <a:latin typeface="Arial" panose="020B0604020202020204" pitchFamily="34" charset="0"/>
                  </a:defRPr>
                </a:lvl2pPr>
                <a:lvl3pPr marL="1143000" indent="-228600" algn="ctr" eaLnBrk="0" hangingPunct="0">
                  <a:defRPr>
                    <a:solidFill>
                      <a:schemeClr val="tx1"/>
                    </a:solidFill>
                    <a:latin typeface="Arial" panose="020B0604020202020204" pitchFamily="34" charset="0"/>
                  </a:defRPr>
                </a:lvl3pPr>
                <a:lvl4pPr marL="1600200" indent="-228600" algn="ctr" eaLnBrk="0" hangingPunct="0">
                  <a:defRPr>
                    <a:solidFill>
                      <a:schemeClr val="tx1"/>
                    </a:solidFill>
                    <a:latin typeface="Arial" panose="020B0604020202020204" pitchFamily="34" charset="0"/>
                  </a:defRPr>
                </a:lvl4pPr>
                <a:lvl5pPr marL="2057400" indent="-228600" algn="ctr"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en-US" altLang="en-US" sz="3600" b="1" dirty="0" err="1">
                    <a:solidFill>
                      <a:srgbClr val="FF0000"/>
                    </a:solidFill>
                  </a:rPr>
                  <a:t>Lợi</a:t>
                </a:r>
                <a:r>
                  <a:rPr lang="en-US" altLang="en-US" sz="3600" b="1" dirty="0">
                    <a:solidFill>
                      <a:srgbClr val="FF0000"/>
                    </a:solidFill>
                  </a:rPr>
                  <a:t> </a:t>
                </a:r>
                <a:r>
                  <a:rPr lang="en-US" altLang="en-US" sz="3600" b="1" dirty="0" err="1">
                    <a:solidFill>
                      <a:srgbClr val="FF0000"/>
                    </a:solidFill>
                  </a:rPr>
                  <a:t>nhuận</a:t>
                </a:r>
                <a:r>
                  <a:rPr lang="en-US" altLang="en-US" sz="3600" b="1" dirty="0">
                    <a:solidFill>
                      <a:srgbClr val="FF0000"/>
                    </a:solidFill>
                  </a:rPr>
                  <a:t> </a:t>
                </a:r>
                <a:r>
                  <a:rPr lang="en-US" altLang="en-US" sz="3600" b="1" dirty="0" err="1">
                    <a:solidFill>
                      <a:srgbClr val="FF0000"/>
                    </a:solidFill>
                  </a:rPr>
                  <a:t>ngân</a:t>
                </a:r>
                <a:r>
                  <a:rPr lang="en-US" altLang="en-US" sz="3600" b="1" dirty="0">
                    <a:solidFill>
                      <a:srgbClr val="FF0000"/>
                    </a:solidFill>
                  </a:rPr>
                  <a:t> </a:t>
                </a:r>
                <a:r>
                  <a:rPr lang="en-US" altLang="en-US" sz="3600" b="1" dirty="0" err="1">
                    <a:solidFill>
                      <a:srgbClr val="FF0000"/>
                    </a:solidFill>
                  </a:rPr>
                  <a:t>hàng</a:t>
                </a:r>
                <a:endParaRPr lang="en-US" altLang="en-US" sz="3600" b="1" dirty="0">
                  <a:solidFill>
                    <a:srgbClr val="FF0000"/>
                  </a:solidFill>
                </a:endParaRPr>
              </a:p>
              <a:p>
                <a:pPr algn="just"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altLang="en-US" sz="3600" b="1" i="1">
                              <a:latin typeface="Cambria Math" panose="02040503050406030204" pitchFamily="18" charset="0"/>
                            </a:rPr>
                          </m:ctrlPr>
                        </m:sSubPr>
                        <m:e>
                          <m:r>
                            <a:rPr lang="en-US" altLang="en-US" sz="3600" b="1" i="1">
                              <a:latin typeface="Cambria Math" panose="02040503050406030204" pitchFamily="18" charset="0"/>
                            </a:rPr>
                            <m:t>𝒑</m:t>
                          </m:r>
                        </m:e>
                        <m:sub>
                          <m:r>
                            <a:rPr lang="en-US" altLang="en-US" sz="3600" b="1" i="1">
                              <a:latin typeface="Cambria Math" panose="02040503050406030204" pitchFamily="18" charset="0"/>
                            </a:rPr>
                            <m:t>𝒏𝒈</m:t>
                          </m:r>
                          <m:r>
                            <a:rPr lang="en-US" altLang="en-US" sz="3600" b="1" i="1">
                              <a:latin typeface="Cambria Math" panose="02040503050406030204" pitchFamily="18" charset="0"/>
                            </a:rPr>
                            <m:t>â</m:t>
                          </m:r>
                          <m:r>
                            <a:rPr lang="en-US" altLang="en-US" sz="3600" b="1" i="1">
                              <a:latin typeface="Cambria Math" panose="02040503050406030204" pitchFamily="18" charset="0"/>
                            </a:rPr>
                            <m:t>𝒏</m:t>
                          </m:r>
                          <m:r>
                            <a:rPr lang="en-US" altLang="en-US" sz="3600" b="1" i="1">
                              <a:latin typeface="Cambria Math" panose="02040503050406030204" pitchFamily="18" charset="0"/>
                            </a:rPr>
                            <m:t> </m:t>
                          </m:r>
                          <m:r>
                            <a:rPr lang="en-US" altLang="en-US" sz="3600" b="1" i="1">
                              <a:latin typeface="Cambria Math" panose="02040503050406030204" pitchFamily="18" charset="0"/>
                            </a:rPr>
                            <m:t>𝒉</m:t>
                          </m:r>
                          <m:r>
                            <a:rPr lang="en-US" altLang="en-US" sz="3600" b="1" i="1">
                              <a:latin typeface="Cambria Math" panose="02040503050406030204" pitchFamily="18" charset="0"/>
                            </a:rPr>
                            <m:t>à</m:t>
                          </m:r>
                          <m:r>
                            <a:rPr lang="en-US" altLang="en-US" sz="3600" b="1" i="1">
                              <a:latin typeface="Cambria Math" panose="02040503050406030204" pitchFamily="18" charset="0"/>
                            </a:rPr>
                            <m:t>𝒏𝒈</m:t>
                          </m:r>
                          <m:r>
                            <a:rPr lang="en-US" altLang="en-US" sz="3600" b="1" i="1">
                              <a:latin typeface="Cambria Math" panose="02040503050406030204" pitchFamily="18" charset="0"/>
                            </a:rPr>
                            <m:t> </m:t>
                          </m:r>
                        </m:sub>
                      </m:sSub>
                      <m:r>
                        <a:rPr lang="en-US" altLang="en-US" sz="3600" b="1" i="1">
                          <a:latin typeface="Cambria Math" panose="02040503050406030204" pitchFamily="18" charset="0"/>
                        </a:rPr>
                        <m:t>= </m:t>
                      </m:r>
                      <m:d>
                        <m:dPr>
                          <m:begChr m:val="["/>
                          <m:endChr m:val="]"/>
                          <m:ctrlPr>
                            <a:rPr lang="en-US" altLang="en-US" sz="3600" b="1" i="1">
                              <a:latin typeface="Cambria Math" panose="02040503050406030204" pitchFamily="18" charset="0"/>
                            </a:rPr>
                          </m:ctrlPr>
                        </m:dPr>
                        <m:e>
                          <m:sSub>
                            <m:sSubPr>
                              <m:ctrlPr>
                                <a:rPr lang="en-US" altLang="en-US" sz="3600" b="1" i="1">
                                  <a:latin typeface="Cambria Math" panose="02040503050406030204" pitchFamily="18" charset="0"/>
                                </a:rPr>
                              </m:ctrlPr>
                            </m:sSubPr>
                            <m:e>
                              <m:r>
                                <a:rPr lang="en-US" altLang="en-US" sz="3600" b="1" i="1">
                                  <a:latin typeface="Cambria Math" panose="02040503050406030204" pitchFamily="18" charset="0"/>
                                </a:rPr>
                                <m:t>𝒛</m:t>
                              </m:r>
                            </m:e>
                            <m:sub>
                              <m:r>
                                <a:rPr lang="en-US" altLang="en-US" sz="3600" b="1" i="1">
                                  <a:latin typeface="Cambria Math" panose="02040503050406030204" pitchFamily="18" charset="0"/>
                                </a:rPr>
                                <m:t>𝒄𝒉𝒐</m:t>
                              </m:r>
                              <m:r>
                                <a:rPr lang="en-US" altLang="en-US" sz="3600" b="1" i="1">
                                  <a:latin typeface="Cambria Math" panose="02040503050406030204" pitchFamily="18" charset="0"/>
                                </a:rPr>
                                <m:t> </m:t>
                              </m:r>
                              <m:r>
                                <a:rPr lang="en-US" altLang="en-US" sz="3600" b="1" i="1">
                                  <a:latin typeface="Cambria Math" panose="02040503050406030204" pitchFamily="18" charset="0"/>
                                </a:rPr>
                                <m:t>𝒗𝒂𝒚</m:t>
                              </m:r>
                            </m:sub>
                          </m:sSub>
                          <m:r>
                            <a:rPr lang="en-US" altLang="en-US" sz="3600" b="1" i="1">
                              <a:latin typeface="Cambria Math" panose="02040503050406030204" pitchFamily="18" charset="0"/>
                            </a:rPr>
                            <m:t>+</m:t>
                          </m:r>
                          <m:r>
                            <a:rPr lang="en-US" altLang="en-US" sz="3600" b="1" i="1">
                              <a:latin typeface="Cambria Math" panose="02040503050406030204" pitchFamily="18" charset="0"/>
                            </a:rPr>
                            <m:t>𝒕𝒉𝒖</m:t>
                          </m:r>
                          <m:r>
                            <a:rPr lang="en-US" altLang="en-US" sz="3600" b="1" i="1">
                              <a:latin typeface="Cambria Math" panose="02040503050406030204" pitchFamily="18" charset="0"/>
                            </a:rPr>
                            <m:t> </m:t>
                          </m:r>
                          <m:r>
                            <a:rPr lang="en-US" altLang="en-US" sz="3600" b="1" i="1">
                              <a:latin typeface="Cambria Math" panose="02040503050406030204" pitchFamily="18" charset="0"/>
                            </a:rPr>
                            <m:t>𝒕</m:t>
                          </m:r>
                          <m:r>
                            <a:rPr lang="en-US" altLang="en-US" sz="3600" b="1" i="1">
                              <a:latin typeface="Cambria Math" panose="02040503050406030204" pitchFamily="18" charset="0"/>
                            </a:rPr>
                            <m:t>ừ </m:t>
                          </m:r>
                          <m:r>
                            <a:rPr lang="en-US" altLang="en-US" sz="3600" b="1" i="1">
                              <a:latin typeface="Cambria Math" panose="02040503050406030204" pitchFamily="18" charset="0"/>
                            </a:rPr>
                            <m:t>𝑫𝑽</m:t>
                          </m:r>
                          <m:r>
                            <a:rPr lang="en-US" altLang="en-US" sz="3600" b="1" i="1">
                              <a:latin typeface="Cambria Math" panose="02040503050406030204" pitchFamily="18" charset="0"/>
                            </a:rPr>
                            <m:t> </m:t>
                          </m:r>
                          <m:r>
                            <a:rPr lang="en-US" altLang="en-US" sz="3600" b="1" i="1">
                              <a:latin typeface="Cambria Math" panose="02040503050406030204" pitchFamily="18" charset="0"/>
                            </a:rPr>
                            <m:t>𝒌𝒉</m:t>
                          </m:r>
                          <m:r>
                            <a:rPr lang="en-US" altLang="en-US" sz="3600" b="1" i="1">
                              <a:latin typeface="Cambria Math" panose="02040503050406030204" pitchFamily="18" charset="0"/>
                            </a:rPr>
                            <m:t>á</m:t>
                          </m:r>
                          <m:r>
                            <a:rPr lang="en-US" altLang="en-US" sz="3600" b="1" i="1">
                              <a:latin typeface="Cambria Math" panose="02040503050406030204" pitchFamily="18" charset="0"/>
                            </a:rPr>
                            <m:t>𝒄</m:t>
                          </m:r>
                        </m:e>
                      </m:d>
                      <m:r>
                        <a:rPr lang="en-US" altLang="en-US" sz="3600" b="1" i="1">
                          <a:latin typeface="Cambria Math" panose="02040503050406030204" pitchFamily="18" charset="0"/>
                        </a:rPr>
                        <m:t>−</m:t>
                      </m:r>
                      <m:sSub>
                        <m:sSubPr>
                          <m:ctrlPr>
                            <a:rPr lang="en-US" altLang="en-US" sz="3600" b="1" i="1">
                              <a:latin typeface="Cambria Math" panose="02040503050406030204" pitchFamily="18" charset="0"/>
                            </a:rPr>
                          </m:ctrlPr>
                        </m:sSubPr>
                        <m:e>
                          <m:r>
                            <a:rPr lang="en-US" altLang="en-US" sz="3600" b="1" i="1">
                              <a:latin typeface="Cambria Math" panose="02040503050406030204" pitchFamily="18" charset="0"/>
                            </a:rPr>
                            <m:t>𝒛</m:t>
                          </m:r>
                        </m:e>
                        <m:sub>
                          <m:r>
                            <a:rPr lang="en-US" altLang="en-US" sz="3600" b="1" i="1">
                              <a:latin typeface="Cambria Math" panose="02040503050406030204" pitchFamily="18" charset="0"/>
                            </a:rPr>
                            <m:t>𝒏𝒉</m:t>
                          </m:r>
                          <m:r>
                            <a:rPr lang="en-US" altLang="en-US" sz="3600" b="1" i="1">
                              <a:latin typeface="Cambria Math" panose="02040503050406030204" pitchFamily="18" charset="0"/>
                            </a:rPr>
                            <m:t>ậ</m:t>
                          </m:r>
                          <m:r>
                            <a:rPr lang="en-US" altLang="en-US" sz="3600" b="1" i="1">
                              <a:latin typeface="Cambria Math" panose="02040503050406030204" pitchFamily="18" charset="0"/>
                            </a:rPr>
                            <m:t>𝒏</m:t>
                          </m:r>
                          <m:r>
                            <a:rPr lang="en-US" altLang="en-US" sz="3600" b="1" i="1">
                              <a:latin typeface="Cambria Math" panose="02040503050406030204" pitchFamily="18" charset="0"/>
                            </a:rPr>
                            <m:t> </m:t>
                          </m:r>
                          <m:r>
                            <a:rPr lang="en-US" altLang="en-US" sz="3600" b="1" i="1">
                              <a:latin typeface="Cambria Math" panose="02040503050406030204" pitchFamily="18" charset="0"/>
                            </a:rPr>
                            <m:t>𝒈</m:t>
                          </m:r>
                          <m:r>
                            <a:rPr lang="en-US" altLang="en-US" sz="3600" b="1" i="1">
                              <a:latin typeface="Cambria Math" panose="02040503050406030204" pitchFamily="18" charset="0"/>
                            </a:rPr>
                            <m:t>ưỉ</m:t>
                          </m:r>
                        </m:sub>
                      </m:sSub>
                      <m:r>
                        <a:rPr lang="en-US" altLang="en-US" sz="3600" b="1" i="1">
                          <a:latin typeface="Cambria Math" panose="02040503050406030204" pitchFamily="18" charset="0"/>
                        </a:rPr>
                        <m:t>−</m:t>
                      </m:r>
                      <m:r>
                        <a:rPr lang="en-US" altLang="en-US" sz="3600" b="1" i="1">
                          <a:latin typeface="Cambria Math" panose="02040503050406030204" pitchFamily="18" charset="0"/>
                        </a:rPr>
                        <m:t>𝑪𝒉𝒊</m:t>
                      </m:r>
                      <m:r>
                        <a:rPr lang="en-US" altLang="en-US" sz="3600" b="1" i="1">
                          <a:latin typeface="Cambria Math" panose="02040503050406030204" pitchFamily="18" charset="0"/>
                        </a:rPr>
                        <m:t> </m:t>
                      </m:r>
                      <m:r>
                        <a:rPr lang="en-US" altLang="en-US" sz="3600" b="1" i="1">
                          <a:latin typeface="Cambria Math" panose="02040503050406030204" pitchFamily="18" charset="0"/>
                        </a:rPr>
                        <m:t>𝒑𝒉</m:t>
                      </m:r>
                      <m:r>
                        <a:rPr lang="en-US" altLang="en-US" sz="3600" b="1" i="1">
                          <a:latin typeface="Cambria Math" panose="02040503050406030204" pitchFamily="18" charset="0"/>
                        </a:rPr>
                        <m:t>í </m:t>
                      </m:r>
                      <m:r>
                        <a:rPr lang="en-US" altLang="en-US" sz="3600" b="1" i="1">
                          <a:latin typeface="Cambria Math" panose="02040503050406030204" pitchFamily="18" charset="0"/>
                        </a:rPr>
                        <m:t>𝑲𝑫</m:t>
                      </m:r>
                    </m:oMath>
                  </m:oMathPara>
                </a14:m>
                <a:endParaRPr lang="en-US" altLang="en-US" sz="3600" b="1" dirty="0"/>
              </a:p>
              <a:p>
                <a:pPr algn="just"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altLang="en-US" sz="4400" b="1" i="1">
                              <a:latin typeface="Cambria Math" panose="02040503050406030204" pitchFamily="18" charset="0"/>
                            </a:rPr>
                          </m:ctrlPr>
                        </m:sSubPr>
                        <m:e>
                          <m:r>
                            <a:rPr lang="en-US" altLang="en-US" sz="4400" b="1" i="1">
                              <a:latin typeface="Cambria Math" panose="02040503050406030204" pitchFamily="18" charset="0"/>
                            </a:rPr>
                            <m:t>𝒑</m:t>
                          </m:r>
                        </m:e>
                        <m:sub>
                          <m:r>
                            <a:rPr lang="en-US" altLang="en-US" sz="4400" b="1" i="1">
                              <a:latin typeface="Cambria Math" panose="02040503050406030204" pitchFamily="18" charset="0"/>
                            </a:rPr>
                            <m:t>𝒏𝒈</m:t>
                          </m:r>
                          <m:r>
                            <a:rPr lang="en-US" altLang="en-US" sz="4400" b="1" i="1">
                              <a:latin typeface="Cambria Math" panose="02040503050406030204" pitchFamily="18" charset="0"/>
                            </a:rPr>
                            <m:t>â</m:t>
                          </m:r>
                          <m:r>
                            <a:rPr lang="en-US" altLang="en-US" sz="4400" b="1" i="1">
                              <a:latin typeface="Cambria Math" panose="02040503050406030204" pitchFamily="18" charset="0"/>
                            </a:rPr>
                            <m:t>𝒏</m:t>
                          </m:r>
                          <m:r>
                            <a:rPr lang="en-US" altLang="en-US" sz="4400" b="1" i="1">
                              <a:latin typeface="Cambria Math" panose="02040503050406030204" pitchFamily="18" charset="0"/>
                            </a:rPr>
                            <m:t> </m:t>
                          </m:r>
                          <m:r>
                            <a:rPr lang="en-US" altLang="en-US" sz="4400" b="1" i="1">
                              <a:latin typeface="Cambria Math" panose="02040503050406030204" pitchFamily="18" charset="0"/>
                            </a:rPr>
                            <m:t>𝒉</m:t>
                          </m:r>
                          <m:r>
                            <a:rPr lang="en-US" altLang="en-US" sz="4400" b="1" i="1">
                              <a:latin typeface="Cambria Math" panose="02040503050406030204" pitchFamily="18" charset="0"/>
                            </a:rPr>
                            <m:t>à</m:t>
                          </m:r>
                          <m:r>
                            <a:rPr lang="en-US" altLang="en-US" sz="4400" b="1" i="1">
                              <a:latin typeface="Cambria Math" panose="02040503050406030204" pitchFamily="18" charset="0"/>
                            </a:rPr>
                            <m:t>𝒏𝒈</m:t>
                          </m:r>
                        </m:sub>
                      </m:sSub>
                      <m:r>
                        <a:rPr lang="en-US" altLang="en-US" sz="4400" b="1" i="1">
                          <a:latin typeface="Cambria Math" panose="02040503050406030204" pitchFamily="18" charset="0"/>
                        </a:rPr>
                        <m:t>=</m:t>
                      </m:r>
                      <m:acc>
                        <m:accPr>
                          <m:chr m:val="̅"/>
                          <m:ctrlPr>
                            <a:rPr lang="en-US" altLang="en-US" sz="4400" b="1" i="1">
                              <a:latin typeface="Cambria Math" panose="02040503050406030204" pitchFamily="18" charset="0"/>
                            </a:rPr>
                          </m:ctrlPr>
                        </m:accPr>
                        <m:e>
                          <m:r>
                            <a:rPr lang="en-US" altLang="en-US" sz="4400" b="1" i="1">
                              <a:latin typeface="Cambria Math" panose="02040503050406030204" pitchFamily="18" charset="0"/>
                            </a:rPr>
                            <m:t>𝒑</m:t>
                          </m:r>
                        </m:e>
                      </m:acc>
                    </m:oMath>
                  </m:oMathPara>
                </a14:m>
                <a:endParaRPr lang="en-US" altLang="en-US" sz="4400" b="1" dirty="0"/>
              </a:p>
            </p:txBody>
          </p:sp>
        </mc:Choice>
        <mc:Fallback xmlns="">
          <p:sp>
            <p:nvSpPr>
              <p:cNvPr id="18" name="Text Box 20">
                <a:extLst>
                  <a:ext uri="{FF2B5EF4-FFF2-40B4-BE49-F238E27FC236}">
                    <a16:creationId xmlns:a16="http://schemas.microsoft.com/office/drawing/2014/main" id="{47AA42DB-5EFD-8591-DF7F-CE3A113EE156}"/>
                  </a:ext>
                </a:extLst>
              </p:cNvPr>
              <p:cNvSpPr txBox="1">
                <a:spLocks noRot="1" noChangeAspect="1" noMove="1" noResize="1" noEditPoints="1" noAdjustHandles="1" noChangeArrowheads="1" noChangeShapeType="1" noTextEdit="1"/>
              </p:cNvSpPr>
              <p:nvPr/>
            </p:nvSpPr>
            <p:spPr bwMode="black">
              <a:xfrm>
                <a:off x="1059978" y="7467601"/>
                <a:ext cx="15392400" cy="2033762"/>
              </a:xfrm>
              <a:prstGeom prst="rect">
                <a:avLst/>
              </a:prstGeom>
              <a:blipFill>
                <a:blip r:embed="rId2"/>
                <a:stretch>
                  <a:fillRect l="-1228" t="-4491"/>
                </a:stretch>
              </a:blipFill>
              <a:ln w="9525">
                <a:no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 Box 20">
                <a:extLst>
                  <a:ext uri="{FF2B5EF4-FFF2-40B4-BE49-F238E27FC236}">
                    <a16:creationId xmlns:a16="http://schemas.microsoft.com/office/drawing/2014/main" id="{1DB1627F-205C-EDB9-7F87-289AF312A1F9}"/>
                  </a:ext>
                </a:extLst>
              </p:cNvPr>
              <p:cNvSpPr txBox="1">
                <a:spLocks noChangeArrowheads="1"/>
              </p:cNvSpPr>
              <p:nvPr/>
            </p:nvSpPr>
            <p:spPr bwMode="black">
              <a:xfrm>
                <a:off x="1097508" y="9733928"/>
                <a:ext cx="15392400" cy="3072636"/>
              </a:xfrm>
              <a:prstGeom prst="rect">
                <a:avLst/>
              </a:prstGeom>
              <a:noFill/>
              <a:ln w="9525">
                <a:noFill/>
                <a:prstDash val="dash"/>
                <a:miter lim="800000"/>
                <a:headEnd/>
                <a:tailEnd/>
              </a:ln>
              <a:extLst>
                <a:ext uri="{909E8E84-426E-40DD-AFC4-6F175D3DCCD1}">
                  <a14:hiddenFill>
                    <a:solidFill>
                      <a:srgbClr val="FFFFFF"/>
                    </a:solidFill>
                  </a14:hiddenFill>
                </a:ext>
              </a:extLst>
            </p:spPr>
            <p:txBody>
              <a:bodyPr wrap="square">
                <a:spAutoFit/>
              </a:bodyPr>
              <a:lstStyle>
                <a:lvl1pPr algn="ctr" eaLnBrk="0" hangingPunct="0">
                  <a:defRPr>
                    <a:solidFill>
                      <a:schemeClr val="tx1"/>
                    </a:solidFill>
                    <a:latin typeface="Arial" panose="020B0604020202020204" pitchFamily="34" charset="0"/>
                  </a:defRPr>
                </a:lvl1pPr>
                <a:lvl2pPr marL="742950" indent="-285750" algn="ctr" eaLnBrk="0" hangingPunct="0">
                  <a:defRPr>
                    <a:solidFill>
                      <a:schemeClr val="tx1"/>
                    </a:solidFill>
                    <a:latin typeface="Arial" panose="020B0604020202020204" pitchFamily="34" charset="0"/>
                  </a:defRPr>
                </a:lvl2pPr>
                <a:lvl3pPr marL="1143000" indent="-228600" algn="ctr" eaLnBrk="0" hangingPunct="0">
                  <a:defRPr>
                    <a:solidFill>
                      <a:schemeClr val="tx1"/>
                    </a:solidFill>
                    <a:latin typeface="Arial" panose="020B0604020202020204" pitchFamily="34" charset="0"/>
                  </a:defRPr>
                </a:lvl3pPr>
                <a:lvl4pPr marL="1600200" indent="-228600" algn="ctr" eaLnBrk="0" hangingPunct="0">
                  <a:defRPr>
                    <a:solidFill>
                      <a:schemeClr val="tx1"/>
                    </a:solidFill>
                    <a:latin typeface="Arial" panose="020B0604020202020204" pitchFamily="34" charset="0"/>
                  </a:defRPr>
                </a:lvl4pPr>
                <a:lvl5pPr marL="2057400" indent="-228600" algn="ctr"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en-US" altLang="en-US" sz="4400" b="1" dirty="0" err="1">
                    <a:solidFill>
                      <a:srgbClr val="FF0000"/>
                    </a:solidFill>
                  </a:rPr>
                  <a:t>Tỷ</a:t>
                </a:r>
                <a:r>
                  <a:rPr lang="en-US" altLang="en-US" sz="4400" b="1" dirty="0">
                    <a:solidFill>
                      <a:srgbClr val="FF0000"/>
                    </a:solidFill>
                  </a:rPr>
                  <a:t> </a:t>
                </a:r>
                <a:r>
                  <a:rPr lang="en-US" altLang="en-US" sz="4400" b="1" dirty="0" err="1">
                    <a:solidFill>
                      <a:srgbClr val="FF0000"/>
                    </a:solidFill>
                  </a:rPr>
                  <a:t>suất</a:t>
                </a:r>
                <a:r>
                  <a:rPr lang="en-US" altLang="en-US" sz="4400" b="1" dirty="0">
                    <a:solidFill>
                      <a:srgbClr val="FF0000"/>
                    </a:solidFill>
                  </a:rPr>
                  <a:t> </a:t>
                </a:r>
                <a:r>
                  <a:rPr lang="en-US" altLang="en-US" sz="4400" b="1" dirty="0" err="1">
                    <a:solidFill>
                      <a:srgbClr val="FF0000"/>
                    </a:solidFill>
                  </a:rPr>
                  <a:t>lợi</a:t>
                </a:r>
                <a:r>
                  <a:rPr lang="en-US" altLang="en-US" sz="4400" b="1" dirty="0">
                    <a:solidFill>
                      <a:srgbClr val="FF0000"/>
                    </a:solidFill>
                  </a:rPr>
                  <a:t> </a:t>
                </a:r>
                <a:r>
                  <a:rPr lang="en-US" altLang="en-US" sz="4400" b="1" dirty="0" err="1">
                    <a:solidFill>
                      <a:srgbClr val="FF0000"/>
                    </a:solidFill>
                  </a:rPr>
                  <a:t>nhuận</a:t>
                </a:r>
                <a:r>
                  <a:rPr lang="en-US" altLang="en-US" sz="4400" b="1" dirty="0">
                    <a:solidFill>
                      <a:srgbClr val="FF0000"/>
                    </a:solidFill>
                  </a:rPr>
                  <a:t> </a:t>
                </a:r>
                <a:r>
                  <a:rPr lang="en-US" altLang="en-US" sz="4400" b="1" dirty="0" err="1">
                    <a:solidFill>
                      <a:srgbClr val="FF0000"/>
                    </a:solidFill>
                  </a:rPr>
                  <a:t>ngân</a:t>
                </a:r>
                <a:r>
                  <a:rPr lang="en-US" altLang="en-US" sz="4400" b="1" dirty="0">
                    <a:solidFill>
                      <a:srgbClr val="FF0000"/>
                    </a:solidFill>
                  </a:rPr>
                  <a:t> </a:t>
                </a:r>
                <a:r>
                  <a:rPr lang="en-US" altLang="en-US" sz="4400" b="1" dirty="0" err="1">
                    <a:solidFill>
                      <a:srgbClr val="FF0000"/>
                    </a:solidFill>
                  </a:rPr>
                  <a:t>hàng</a:t>
                </a:r>
                <a:endParaRPr lang="en-US" altLang="en-US" sz="4400" b="1" dirty="0">
                  <a:solidFill>
                    <a:srgbClr val="FF0000"/>
                  </a:solidFill>
                </a:endParaRPr>
              </a:p>
              <a:p>
                <a:pPr algn="just"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altLang="en-US" sz="4400" b="1" i="1">
                              <a:latin typeface="Cambria Math" panose="02040503050406030204" pitchFamily="18" charset="0"/>
                            </a:rPr>
                          </m:ctrlPr>
                        </m:sSubPr>
                        <m:e>
                          <m:r>
                            <a:rPr lang="en-US" altLang="en-US" sz="4400" b="1" i="1">
                              <a:latin typeface="Cambria Math" panose="02040503050406030204" pitchFamily="18" charset="0"/>
                            </a:rPr>
                            <m:t>𝒑</m:t>
                          </m:r>
                          <m:r>
                            <a:rPr lang="en-US" altLang="en-US" sz="4400" b="1" i="1">
                              <a:latin typeface="Cambria Math" panose="02040503050406030204" pitchFamily="18" charset="0"/>
                            </a:rPr>
                            <m:t>′</m:t>
                          </m:r>
                        </m:e>
                        <m:sub>
                          <m:r>
                            <a:rPr lang="en-US" altLang="en-US" sz="4400" b="1" i="1">
                              <a:latin typeface="Cambria Math" panose="02040503050406030204" pitchFamily="18" charset="0"/>
                            </a:rPr>
                            <m:t>𝒏𝒈</m:t>
                          </m:r>
                          <m:r>
                            <a:rPr lang="en-US" altLang="en-US" sz="4400" b="1" i="1">
                              <a:latin typeface="Cambria Math" panose="02040503050406030204" pitchFamily="18" charset="0"/>
                            </a:rPr>
                            <m:t>â</m:t>
                          </m:r>
                          <m:r>
                            <a:rPr lang="en-US" altLang="en-US" sz="4400" b="1" i="1">
                              <a:latin typeface="Cambria Math" panose="02040503050406030204" pitchFamily="18" charset="0"/>
                            </a:rPr>
                            <m:t>𝒏</m:t>
                          </m:r>
                          <m:r>
                            <a:rPr lang="en-US" altLang="en-US" sz="4400" b="1" i="1">
                              <a:latin typeface="Cambria Math" panose="02040503050406030204" pitchFamily="18" charset="0"/>
                            </a:rPr>
                            <m:t> </m:t>
                          </m:r>
                          <m:r>
                            <a:rPr lang="en-US" altLang="en-US" sz="4400" b="1" i="1">
                              <a:latin typeface="Cambria Math" panose="02040503050406030204" pitchFamily="18" charset="0"/>
                            </a:rPr>
                            <m:t>𝒉</m:t>
                          </m:r>
                          <m:r>
                            <a:rPr lang="en-US" altLang="en-US" sz="4400" b="1" i="1">
                              <a:latin typeface="Cambria Math" panose="02040503050406030204" pitchFamily="18" charset="0"/>
                            </a:rPr>
                            <m:t>à</m:t>
                          </m:r>
                          <m:r>
                            <a:rPr lang="en-US" altLang="en-US" sz="4400" b="1" i="1">
                              <a:latin typeface="Cambria Math" panose="02040503050406030204" pitchFamily="18" charset="0"/>
                            </a:rPr>
                            <m:t>𝒏𝒈</m:t>
                          </m:r>
                          <m:r>
                            <a:rPr lang="en-US" altLang="en-US" sz="4400" b="1" i="1">
                              <a:latin typeface="Cambria Math" panose="02040503050406030204" pitchFamily="18" charset="0"/>
                            </a:rPr>
                            <m:t> </m:t>
                          </m:r>
                        </m:sub>
                      </m:sSub>
                      <m:r>
                        <a:rPr lang="en-US" altLang="en-US" sz="4400" b="1" i="1">
                          <a:latin typeface="Cambria Math" panose="02040503050406030204" pitchFamily="18" charset="0"/>
                        </a:rPr>
                        <m:t>= </m:t>
                      </m:r>
                      <m:f>
                        <m:fPr>
                          <m:ctrlPr>
                            <a:rPr lang="en-US" altLang="en-US" sz="4400" b="1" i="1">
                              <a:latin typeface="Cambria Math" panose="02040503050406030204" pitchFamily="18" charset="0"/>
                            </a:rPr>
                          </m:ctrlPr>
                        </m:fPr>
                        <m:num>
                          <m:sSub>
                            <m:sSubPr>
                              <m:ctrlPr>
                                <a:rPr lang="en-US" altLang="en-US" sz="4400" b="1" i="1">
                                  <a:latin typeface="Cambria Math" panose="02040503050406030204" pitchFamily="18" charset="0"/>
                                </a:rPr>
                              </m:ctrlPr>
                            </m:sSubPr>
                            <m:e>
                              <m:r>
                                <a:rPr lang="en-US" altLang="en-US" sz="4400" b="1" i="1">
                                  <a:latin typeface="Cambria Math" panose="02040503050406030204" pitchFamily="18" charset="0"/>
                                </a:rPr>
                                <m:t>𝒑</m:t>
                              </m:r>
                            </m:e>
                            <m:sub>
                              <m:r>
                                <a:rPr lang="en-US" altLang="en-US" sz="4400" b="1" i="1">
                                  <a:latin typeface="Cambria Math" panose="02040503050406030204" pitchFamily="18" charset="0"/>
                                </a:rPr>
                                <m:t>𝒏𝒈</m:t>
                              </m:r>
                              <m:r>
                                <a:rPr lang="en-US" altLang="en-US" sz="4400" b="1" i="1">
                                  <a:latin typeface="Cambria Math" panose="02040503050406030204" pitchFamily="18" charset="0"/>
                                </a:rPr>
                                <m:t>â</m:t>
                              </m:r>
                              <m:r>
                                <a:rPr lang="en-US" altLang="en-US" sz="4400" b="1" i="1">
                                  <a:latin typeface="Cambria Math" panose="02040503050406030204" pitchFamily="18" charset="0"/>
                                </a:rPr>
                                <m:t>𝒏</m:t>
                              </m:r>
                              <m:r>
                                <a:rPr lang="en-US" altLang="en-US" sz="4400" b="1" i="1">
                                  <a:latin typeface="Cambria Math" panose="02040503050406030204" pitchFamily="18" charset="0"/>
                                </a:rPr>
                                <m:t> </m:t>
                              </m:r>
                              <m:r>
                                <a:rPr lang="en-US" altLang="en-US" sz="4400" b="1" i="1">
                                  <a:latin typeface="Cambria Math" panose="02040503050406030204" pitchFamily="18" charset="0"/>
                                </a:rPr>
                                <m:t>𝒉</m:t>
                              </m:r>
                              <m:r>
                                <a:rPr lang="en-US" altLang="en-US" sz="4400" b="1" i="1">
                                  <a:latin typeface="Cambria Math" panose="02040503050406030204" pitchFamily="18" charset="0"/>
                                </a:rPr>
                                <m:t>à</m:t>
                              </m:r>
                              <m:r>
                                <a:rPr lang="en-US" altLang="en-US" sz="4400" b="1" i="1">
                                  <a:latin typeface="Cambria Math" panose="02040503050406030204" pitchFamily="18" charset="0"/>
                                </a:rPr>
                                <m:t>𝒏𝒈</m:t>
                              </m:r>
                            </m:sub>
                          </m:sSub>
                        </m:num>
                        <m:den>
                          <m:nary>
                            <m:naryPr>
                              <m:chr m:val="∑"/>
                              <m:subHide m:val="on"/>
                              <m:supHide m:val="on"/>
                              <m:ctrlPr>
                                <a:rPr lang="en-US" altLang="en-US" sz="4400" b="1" i="1">
                                  <a:latin typeface="Cambria Math" panose="02040503050406030204" pitchFamily="18" charset="0"/>
                                </a:rPr>
                              </m:ctrlPr>
                            </m:naryPr>
                            <m:sub/>
                            <m:sup/>
                            <m:e>
                              <m:r>
                                <a:rPr lang="en-US" altLang="en-US" sz="4400" b="1" i="1">
                                  <a:latin typeface="Cambria Math" panose="02040503050406030204" pitchFamily="18" charset="0"/>
                                </a:rPr>
                                <m:t>𝑻𝑩</m:t>
                              </m:r>
                              <m:r>
                                <a:rPr lang="en-US" altLang="en-US" sz="4400" b="1" i="1">
                                  <a:latin typeface="Cambria Math" panose="02040503050406030204" pitchFamily="18" charset="0"/>
                                </a:rPr>
                                <m:t> </m:t>
                              </m:r>
                              <m:r>
                                <a:rPr lang="en-US" altLang="en-US" sz="4400" b="1" i="1">
                                  <a:latin typeface="Cambria Math" panose="02040503050406030204" pitchFamily="18" charset="0"/>
                                </a:rPr>
                                <m:t>𝒕</m:t>
                              </m:r>
                              <m:r>
                                <a:rPr lang="en-US" altLang="en-US" sz="4400" b="1" i="1">
                                  <a:latin typeface="Cambria Math" panose="02040503050406030204" pitchFamily="18" charset="0"/>
                                </a:rPr>
                                <m:t>ự </m:t>
                              </m:r>
                              <m:r>
                                <a:rPr lang="en-US" altLang="en-US" sz="4400" b="1" i="1">
                                  <a:latin typeface="Cambria Math" panose="02040503050406030204" pitchFamily="18" charset="0"/>
                                </a:rPr>
                                <m:t>𝒄</m:t>
                              </m:r>
                              <m:r>
                                <a:rPr lang="en-US" altLang="en-US" sz="4400" b="1" i="1">
                                  <a:latin typeface="Cambria Math" panose="02040503050406030204" pitchFamily="18" charset="0"/>
                                </a:rPr>
                                <m:t>ó </m:t>
                              </m:r>
                              <m:r>
                                <a:rPr lang="en-US" altLang="en-US" sz="4400" b="1" i="1">
                                  <a:latin typeface="Cambria Math" panose="02040503050406030204" pitchFamily="18" charset="0"/>
                                </a:rPr>
                                <m:t>𝒄</m:t>
                              </m:r>
                              <m:r>
                                <a:rPr lang="en-US" altLang="en-US" sz="4400" b="1" i="1">
                                  <a:latin typeface="Cambria Math" panose="02040503050406030204" pitchFamily="18" charset="0"/>
                                </a:rPr>
                                <m:t>ủ</m:t>
                              </m:r>
                              <m:r>
                                <a:rPr lang="en-US" altLang="en-US" sz="4400" b="1" i="1">
                                  <a:latin typeface="Cambria Math" panose="02040503050406030204" pitchFamily="18" charset="0"/>
                                </a:rPr>
                                <m:t>𝒂</m:t>
                              </m:r>
                              <m:r>
                                <a:rPr lang="en-US" altLang="en-US" sz="4400" b="1" i="1">
                                  <a:latin typeface="Cambria Math" panose="02040503050406030204" pitchFamily="18" charset="0"/>
                                </a:rPr>
                                <m:t> </m:t>
                              </m:r>
                              <m:r>
                                <a:rPr lang="en-US" altLang="en-US" sz="4400" b="1" i="1">
                                  <a:latin typeface="Cambria Math" panose="02040503050406030204" pitchFamily="18" charset="0"/>
                                </a:rPr>
                                <m:t>𝑵𝑯</m:t>
                              </m:r>
                            </m:e>
                          </m:nary>
                        </m:den>
                      </m:f>
                    </m:oMath>
                  </m:oMathPara>
                </a14:m>
                <a:endParaRPr lang="en-US" altLang="en-US" sz="5400" b="1" dirty="0"/>
              </a:p>
              <a:p>
                <a:pPr algn="just"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altLang="en-US" sz="5400" b="1" i="1">
                              <a:latin typeface="Cambria Math" panose="02040503050406030204" pitchFamily="18" charset="0"/>
                            </a:rPr>
                          </m:ctrlPr>
                        </m:sSubPr>
                        <m:e>
                          <m:r>
                            <a:rPr lang="en-US" altLang="en-US" sz="5400" b="1" i="1">
                              <a:latin typeface="Cambria Math" panose="02040503050406030204" pitchFamily="18" charset="0"/>
                            </a:rPr>
                            <m:t>𝒑</m:t>
                          </m:r>
                          <m:r>
                            <a:rPr lang="en-US" altLang="en-US" sz="5400" b="1" i="1">
                              <a:latin typeface="Cambria Math" panose="02040503050406030204" pitchFamily="18" charset="0"/>
                            </a:rPr>
                            <m:t>′</m:t>
                          </m:r>
                        </m:e>
                        <m:sub>
                          <m:r>
                            <a:rPr lang="en-US" altLang="en-US" sz="5400" b="1" i="1">
                              <a:latin typeface="Cambria Math" panose="02040503050406030204" pitchFamily="18" charset="0"/>
                            </a:rPr>
                            <m:t>𝒏𝒈</m:t>
                          </m:r>
                          <m:r>
                            <a:rPr lang="en-US" altLang="en-US" sz="5400" b="1" i="1">
                              <a:latin typeface="Cambria Math" panose="02040503050406030204" pitchFamily="18" charset="0"/>
                            </a:rPr>
                            <m:t>â</m:t>
                          </m:r>
                          <m:r>
                            <a:rPr lang="en-US" altLang="en-US" sz="5400" b="1" i="1">
                              <a:latin typeface="Cambria Math" panose="02040503050406030204" pitchFamily="18" charset="0"/>
                            </a:rPr>
                            <m:t>𝒏</m:t>
                          </m:r>
                          <m:r>
                            <a:rPr lang="en-US" altLang="en-US" sz="5400" b="1" i="1">
                              <a:latin typeface="Cambria Math" panose="02040503050406030204" pitchFamily="18" charset="0"/>
                            </a:rPr>
                            <m:t> </m:t>
                          </m:r>
                          <m:r>
                            <a:rPr lang="en-US" altLang="en-US" sz="5400" b="1" i="1">
                              <a:latin typeface="Cambria Math" panose="02040503050406030204" pitchFamily="18" charset="0"/>
                            </a:rPr>
                            <m:t>𝒉</m:t>
                          </m:r>
                          <m:r>
                            <a:rPr lang="en-US" altLang="en-US" sz="5400" b="1" i="1">
                              <a:latin typeface="Cambria Math" panose="02040503050406030204" pitchFamily="18" charset="0"/>
                            </a:rPr>
                            <m:t>à</m:t>
                          </m:r>
                          <m:r>
                            <a:rPr lang="en-US" altLang="en-US" sz="5400" b="1" i="1">
                              <a:latin typeface="Cambria Math" panose="02040503050406030204" pitchFamily="18" charset="0"/>
                            </a:rPr>
                            <m:t>𝒏𝒈</m:t>
                          </m:r>
                        </m:sub>
                      </m:sSub>
                      <m:r>
                        <a:rPr lang="en-US" altLang="en-US" sz="5400" b="1" i="1">
                          <a:latin typeface="Cambria Math" panose="02040503050406030204" pitchFamily="18" charset="0"/>
                        </a:rPr>
                        <m:t>=</m:t>
                      </m:r>
                      <m:acc>
                        <m:accPr>
                          <m:chr m:val="̅"/>
                          <m:ctrlPr>
                            <a:rPr lang="en-US" altLang="en-US" sz="5400" b="1" i="1">
                              <a:latin typeface="Cambria Math" panose="02040503050406030204" pitchFamily="18" charset="0"/>
                            </a:rPr>
                          </m:ctrlPr>
                        </m:accPr>
                        <m:e>
                          <m:r>
                            <a:rPr lang="en-US" altLang="en-US" sz="5400" b="1" i="1">
                              <a:latin typeface="Cambria Math" panose="02040503050406030204" pitchFamily="18" charset="0"/>
                            </a:rPr>
                            <m:t>𝒑</m:t>
                          </m:r>
                          <m:r>
                            <a:rPr lang="en-US" altLang="en-US" sz="5400" b="1" i="1">
                              <a:latin typeface="Cambria Math" panose="02040503050406030204" pitchFamily="18" charset="0"/>
                            </a:rPr>
                            <m:t>′</m:t>
                          </m:r>
                        </m:e>
                      </m:acc>
                    </m:oMath>
                  </m:oMathPara>
                </a14:m>
                <a:endParaRPr lang="en-US" altLang="en-US" sz="5400" b="1" dirty="0"/>
              </a:p>
            </p:txBody>
          </p:sp>
        </mc:Choice>
        <mc:Fallback xmlns="">
          <p:sp>
            <p:nvSpPr>
              <p:cNvPr id="19" name="Text Box 20">
                <a:extLst>
                  <a:ext uri="{FF2B5EF4-FFF2-40B4-BE49-F238E27FC236}">
                    <a16:creationId xmlns:a16="http://schemas.microsoft.com/office/drawing/2014/main" id="{1DB1627F-205C-EDB9-7F87-289AF312A1F9}"/>
                  </a:ext>
                </a:extLst>
              </p:cNvPr>
              <p:cNvSpPr txBox="1">
                <a:spLocks noRot="1" noChangeAspect="1" noMove="1" noResize="1" noEditPoints="1" noAdjustHandles="1" noChangeArrowheads="1" noChangeShapeType="1" noTextEdit="1"/>
              </p:cNvSpPr>
              <p:nvPr/>
            </p:nvSpPr>
            <p:spPr bwMode="black">
              <a:xfrm>
                <a:off x="1097508" y="9733928"/>
                <a:ext cx="15392400" cy="3072636"/>
              </a:xfrm>
              <a:prstGeom prst="rect">
                <a:avLst/>
              </a:prstGeom>
              <a:blipFill>
                <a:blip r:embed="rId3"/>
                <a:stretch>
                  <a:fillRect l="-1584" t="-4365"/>
                </a:stretch>
              </a:blipFill>
              <a:ln w="9525">
                <a:no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r>
                  <a:rPr lang="en-US">
                    <a:noFill/>
                  </a:rPr>
                  <a:t> </a:t>
                </a:r>
              </a:p>
            </p:txBody>
          </p:sp>
        </mc:Fallback>
      </mc:AlternateContent>
    </p:spTree>
    <p:extLst>
      <p:ext uri="{BB962C8B-B14F-4D97-AF65-F5344CB8AC3E}">
        <p14:creationId xmlns:p14="http://schemas.microsoft.com/office/powerpoint/2010/main" val="3595569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00"/>
                                        <p:tgtEl>
                                          <p:spTgt spid="9"/>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down)">
                                      <p:cBhvr>
                                        <p:cTn id="28" dur="500"/>
                                        <p:tgtEl>
                                          <p:spTgt spid="15"/>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down)">
                                      <p:cBhvr>
                                        <p:cTn id="31" dur="500"/>
                                        <p:tgtEl>
                                          <p:spTgt spid="1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down)">
                                      <p:cBhvr>
                                        <p:cTn id="34" dur="500"/>
                                        <p:tgtEl>
                                          <p:spTgt spid="16"/>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down)">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animEffect transition="in" filter="wipe(down)">
                                      <p:cBhvr>
                                        <p:cTn id="42" dur="500"/>
                                        <p:tgtEl>
                                          <p:spTgt spid="18">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8">
                                            <p:txEl>
                                              <p:pRg st="1" end="1"/>
                                            </p:txEl>
                                          </p:spTgt>
                                        </p:tgtEl>
                                        <p:attrNameLst>
                                          <p:attrName>style.visibility</p:attrName>
                                        </p:attrNameLst>
                                      </p:cBhvr>
                                      <p:to>
                                        <p:strVal val="visible"/>
                                      </p:to>
                                    </p:set>
                                    <p:animEffect transition="in" filter="wipe(down)">
                                      <p:cBhvr>
                                        <p:cTn id="47" dur="500"/>
                                        <p:tgtEl>
                                          <p:spTgt spid="18">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8">
                                            <p:txEl>
                                              <p:pRg st="2" end="2"/>
                                            </p:txEl>
                                          </p:spTgt>
                                        </p:tgtEl>
                                        <p:attrNameLst>
                                          <p:attrName>style.visibility</p:attrName>
                                        </p:attrNameLst>
                                      </p:cBhvr>
                                      <p:to>
                                        <p:strVal val="visible"/>
                                      </p:to>
                                    </p:set>
                                    <p:animEffect transition="in" filter="wipe(down)">
                                      <p:cBhvr>
                                        <p:cTn id="52" dur="500"/>
                                        <p:tgtEl>
                                          <p:spTgt spid="18">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9">
                                            <p:txEl>
                                              <p:pRg st="0" end="0"/>
                                            </p:txEl>
                                          </p:spTgt>
                                        </p:tgtEl>
                                        <p:attrNameLst>
                                          <p:attrName>style.visibility</p:attrName>
                                        </p:attrNameLst>
                                      </p:cBhvr>
                                      <p:to>
                                        <p:strVal val="visible"/>
                                      </p:to>
                                    </p:set>
                                    <p:animEffect transition="in" filter="wipe(down)">
                                      <p:cBhvr>
                                        <p:cTn id="57" dur="500"/>
                                        <p:tgtEl>
                                          <p:spTgt spid="19">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19">
                                            <p:txEl>
                                              <p:pRg st="1" end="1"/>
                                            </p:txEl>
                                          </p:spTgt>
                                        </p:tgtEl>
                                        <p:attrNameLst>
                                          <p:attrName>style.visibility</p:attrName>
                                        </p:attrNameLst>
                                      </p:cBhvr>
                                      <p:to>
                                        <p:strVal val="visible"/>
                                      </p:to>
                                    </p:set>
                                    <p:animEffect transition="in" filter="wipe(down)">
                                      <p:cBhvr>
                                        <p:cTn id="62" dur="500"/>
                                        <p:tgtEl>
                                          <p:spTgt spid="19">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19">
                                            <p:txEl>
                                              <p:pRg st="2" end="2"/>
                                            </p:txEl>
                                          </p:spTgt>
                                        </p:tgtEl>
                                        <p:attrNameLst>
                                          <p:attrName>style.visibility</p:attrName>
                                        </p:attrNameLst>
                                      </p:cBhvr>
                                      <p:to>
                                        <p:strVal val="visible"/>
                                      </p:to>
                                    </p:set>
                                    <p:animEffect transition="in" filter="wipe(down)">
                                      <p:cBhvr>
                                        <p:cTn id="67" dur="500"/>
                                        <p:tgtEl>
                                          <p:spTgt spid="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0" grpId="0"/>
      <p:bldP spid="11" grpId="0" animBg="1"/>
      <p:bldP spid="12" grpId="0" animBg="1"/>
      <p:bldP spid="13" grpId="0" animBg="1"/>
      <p:bldP spid="14" grpId="0" animBg="1"/>
      <p:bldP spid="15" grpId="0"/>
      <p:bldP spid="16" grpId="0"/>
      <p:bldP spid="17" grpId="0"/>
      <p:bldP spid="18" grpId="0" build="p"/>
      <p:bldP spid="19"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1134045" y="4389666"/>
          <a:ext cx="16019910" cy="7010400"/>
        </p:xfrm>
        <a:graphic>
          <a:graphicData uri="http://schemas.openxmlformats.org/drawingml/2006/table">
            <a:tbl>
              <a:tblPr firstRow="1" bandRow="1">
                <a:tableStyleId>{5C22544A-7EE6-4342-B048-85BDC9FD1C3A}</a:tableStyleId>
              </a:tblPr>
              <a:tblGrid>
                <a:gridCol w="4589908">
                  <a:extLst>
                    <a:ext uri="{9D8B030D-6E8A-4147-A177-3AD203B41FA5}">
                      <a16:colId xmlns:a16="http://schemas.microsoft.com/office/drawing/2014/main" val="20000"/>
                    </a:ext>
                  </a:extLst>
                </a:gridCol>
                <a:gridCol w="6090032">
                  <a:extLst>
                    <a:ext uri="{9D8B030D-6E8A-4147-A177-3AD203B41FA5}">
                      <a16:colId xmlns:a16="http://schemas.microsoft.com/office/drawing/2014/main" val="20001"/>
                    </a:ext>
                  </a:extLst>
                </a:gridCol>
                <a:gridCol w="5339970">
                  <a:extLst>
                    <a:ext uri="{9D8B030D-6E8A-4147-A177-3AD203B41FA5}">
                      <a16:colId xmlns:a16="http://schemas.microsoft.com/office/drawing/2014/main" val="20002"/>
                    </a:ext>
                  </a:extLst>
                </a:gridCol>
              </a:tblGrid>
              <a:tr h="792480">
                <a:tc>
                  <a:txBody>
                    <a:bodyPr/>
                    <a:lstStyle/>
                    <a:p>
                      <a:pPr algn="ctr"/>
                      <a:endParaRPr lang="vi-VN" sz="4000" dirty="0">
                        <a:solidFill>
                          <a:schemeClr val="tx1"/>
                        </a:solidFill>
                      </a:endParaRPr>
                    </a:p>
                  </a:txBody>
                  <a:tcPr marL="182880" marR="182880" marT="91440" marB="91440" anchor="ctr">
                    <a:solidFill>
                      <a:schemeClr val="accent1">
                        <a:lumMod val="40000"/>
                        <a:lumOff val="60000"/>
                      </a:schemeClr>
                    </a:solidFill>
                  </a:tcPr>
                </a:tc>
                <a:tc>
                  <a:txBody>
                    <a:bodyPr/>
                    <a:lstStyle/>
                    <a:p>
                      <a:pPr algn="ctr"/>
                      <a:r>
                        <a:rPr lang="en-US" sz="4000" dirty="0">
                          <a:solidFill>
                            <a:schemeClr val="tx1"/>
                          </a:solidFill>
                        </a:rPr>
                        <a:t>Tư</a:t>
                      </a:r>
                      <a:r>
                        <a:rPr lang="en-US" sz="4000" baseline="0" dirty="0">
                          <a:solidFill>
                            <a:schemeClr val="tx1"/>
                          </a:solidFill>
                        </a:rPr>
                        <a:t> </a:t>
                      </a:r>
                      <a:r>
                        <a:rPr lang="en-US" sz="4000" baseline="0" dirty="0" err="1">
                          <a:solidFill>
                            <a:schemeClr val="tx1"/>
                          </a:solidFill>
                        </a:rPr>
                        <a:t>bản</a:t>
                      </a:r>
                      <a:r>
                        <a:rPr lang="en-US" sz="4000" baseline="0" dirty="0">
                          <a:solidFill>
                            <a:schemeClr val="tx1"/>
                          </a:solidFill>
                        </a:rPr>
                        <a:t> </a:t>
                      </a:r>
                      <a:r>
                        <a:rPr lang="en-US" sz="4000" baseline="0" dirty="0" err="1">
                          <a:solidFill>
                            <a:schemeClr val="tx1"/>
                          </a:solidFill>
                        </a:rPr>
                        <a:t>ngân</a:t>
                      </a:r>
                      <a:r>
                        <a:rPr lang="en-US" sz="4000" baseline="0" dirty="0">
                          <a:solidFill>
                            <a:schemeClr val="tx1"/>
                          </a:solidFill>
                        </a:rPr>
                        <a:t> </a:t>
                      </a:r>
                      <a:r>
                        <a:rPr lang="en-US" sz="4000" baseline="0" dirty="0" err="1">
                          <a:solidFill>
                            <a:schemeClr val="tx1"/>
                          </a:solidFill>
                        </a:rPr>
                        <a:t>hàng</a:t>
                      </a:r>
                      <a:endParaRPr lang="vi-VN" sz="4000" dirty="0">
                        <a:solidFill>
                          <a:schemeClr val="tx1"/>
                        </a:solidFill>
                      </a:endParaRPr>
                    </a:p>
                  </a:txBody>
                  <a:tcPr marL="182880" marR="182880" marT="91440" marB="91440" anchor="ctr">
                    <a:solidFill>
                      <a:schemeClr val="accent1">
                        <a:lumMod val="40000"/>
                        <a:lumOff val="60000"/>
                      </a:schemeClr>
                    </a:solidFill>
                  </a:tcPr>
                </a:tc>
                <a:tc>
                  <a:txBody>
                    <a:bodyPr/>
                    <a:lstStyle/>
                    <a:p>
                      <a:pPr algn="ctr"/>
                      <a:r>
                        <a:rPr lang="en-US" sz="4000" dirty="0">
                          <a:solidFill>
                            <a:schemeClr val="tx1"/>
                          </a:solidFill>
                        </a:rPr>
                        <a:t>Tư</a:t>
                      </a:r>
                      <a:r>
                        <a:rPr lang="en-US" sz="4000" baseline="0" dirty="0">
                          <a:solidFill>
                            <a:schemeClr val="tx1"/>
                          </a:solidFill>
                        </a:rPr>
                        <a:t> </a:t>
                      </a:r>
                      <a:r>
                        <a:rPr lang="en-US" sz="4000" baseline="0" dirty="0" err="1">
                          <a:solidFill>
                            <a:schemeClr val="tx1"/>
                          </a:solidFill>
                        </a:rPr>
                        <a:t>bản</a:t>
                      </a:r>
                      <a:r>
                        <a:rPr lang="en-US" sz="4000" baseline="0" dirty="0">
                          <a:solidFill>
                            <a:schemeClr val="tx1"/>
                          </a:solidFill>
                        </a:rPr>
                        <a:t> </a:t>
                      </a:r>
                      <a:r>
                        <a:rPr lang="en-US" sz="4000" baseline="0" dirty="0" err="1">
                          <a:solidFill>
                            <a:schemeClr val="tx1"/>
                          </a:solidFill>
                        </a:rPr>
                        <a:t>cho</a:t>
                      </a:r>
                      <a:r>
                        <a:rPr lang="en-US" sz="4000" baseline="0" dirty="0">
                          <a:solidFill>
                            <a:schemeClr val="tx1"/>
                          </a:solidFill>
                        </a:rPr>
                        <a:t> </a:t>
                      </a:r>
                      <a:r>
                        <a:rPr lang="en-US" sz="4000" baseline="0" dirty="0" err="1">
                          <a:solidFill>
                            <a:schemeClr val="tx1"/>
                          </a:solidFill>
                        </a:rPr>
                        <a:t>vay</a:t>
                      </a:r>
                      <a:endParaRPr lang="vi-VN" sz="4000" dirty="0">
                        <a:solidFill>
                          <a:schemeClr val="tx1"/>
                        </a:solidFill>
                      </a:endParaRPr>
                    </a:p>
                  </a:txBody>
                  <a:tcPr marL="182880" marR="182880" marT="91440" marB="91440" anchor="ctr">
                    <a:solidFill>
                      <a:schemeClr val="accent1">
                        <a:lumMod val="40000"/>
                        <a:lumOff val="60000"/>
                      </a:schemeClr>
                    </a:solidFill>
                  </a:tcPr>
                </a:tc>
                <a:extLst>
                  <a:ext uri="{0D108BD9-81ED-4DB2-BD59-A6C34878D82A}">
                    <a16:rowId xmlns:a16="http://schemas.microsoft.com/office/drawing/2014/main" val="10000"/>
                  </a:ext>
                </a:extLst>
              </a:tr>
              <a:tr h="2011680">
                <a:tc>
                  <a:txBody>
                    <a:bodyPr/>
                    <a:lstStyle/>
                    <a:p>
                      <a:pPr algn="l"/>
                      <a:r>
                        <a:rPr lang="en-US" sz="4000">
                          <a:solidFill>
                            <a:schemeClr val="tx1"/>
                          </a:solidFill>
                        </a:rPr>
                        <a:t>Bản chất</a:t>
                      </a:r>
                      <a:endParaRPr lang="vi-VN" sz="4000">
                        <a:solidFill>
                          <a:schemeClr val="tx1"/>
                        </a:solidFill>
                      </a:endParaRPr>
                    </a:p>
                  </a:txBody>
                  <a:tcPr marL="182880" marR="182880" marT="91440" marB="91440" anchor="ctr">
                    <a:solidFill>
                      <a:schemeClr val="accent1">
                        <a:lumMod val="40000"/>
                        <a:lumOff val="60000"/>
                      </a:schemeClr>
                    </a:solidFill>
                  </a:tcPr>
                </a:tc>
                <a:tc>
                  <a:txBody>
                    <a:bodyPr/>
                    <a:lstStyle/>
                    <a:p>
                      <a:pPr algn="ctr"/>
                      <a:r>
                        <a:rPr lang="en-US" sz="4000" dirty="0">
                          <a:solidFill>
                            <a:schemeClr val="tx1"/>
                          </a:solidFill>
                        </a:rPr>
                        <a:t>Tư</a:t>
                      </a:r>
                      <a:r>
                        <a:rPr lang="en-US" sz="4000" baseline="0" dirty="0">
                          <a:solidFill>
                            <a:schemeClr val="tx1"/>
                          </a:solidFill>
                        </a:rPr>
                        <a:t> </a:t>
                      </a:r>
                      <a:r>
                        <a:rPr lang="en-US" sz="4000" baseline="0" dirty="0" err="1">
                          <a:solidFill>
                            <a:schemeClr val="tx1"/>
                          </a:solidFill>
                        </a:rPr>
                        <a:t>bản</a:t>
                      </a:r>
                      <a:r>
                        <a:rPr lang="en-US" sz="4000" baseline="0" dirty="0">
                          <a:solidFill>
                            <a:schemeClr val="tx1"/>
                          </a:solidFill>
                        </a:rPr>
                        <a:t> </a:t>
                      </a:r>
                      <a:r>
                        <a:rPr lang="en-US" sz="4000" baseline="0" dirty="0" err="1">
                          <a:solidFill>
                            <a:schemeClr val="tx1"/>
                          </a:solidFill>
                        </a:rPr>
                        <a:t>chức</a:t>
                      </a:r>
                      <a:r>
                        <a:rPr lang="en-US" sz="4000" baseline="0" dirty="0">
                          <a:solidFill>
                            <a:schemeClr val="tx1"/>
                          </a:solidFill>
                        </a:rPr>
                        <a:t> </a:t>
                      </a:r>
                      <a:r>
                        <a:rPr lang="en-US" sz="4000" baseline="0" dirty="0" err="1">
                          <a:solidFill>
                            <a:schemeClr val="tx1"/>
                          </a:solidFill>
                        </a:rPr>
                        <a:t>năng</a:t>
                      </a:r>
                      <a:r>
                        <a:rPr lang="en-US" sz="4000" baseline="0" dirty="0">
                          <a:solidFill>
                            <a:schemeClr val="tx1"/>
                          </a:solidFill>
                        </a:rPr>
                        <a:t>, </a:t>
                      </a:r>
                      <a:r>
                        <a:rPr lang="en-US" sz="4000" baseline="0" dirty="0" err="1">
                          <a:solidFill>
                            <a:schemeClr val="tx1"/>
                          </a:solidFill>
                        </a:rPr>
                        <a:t>mang</a:t>
                      </a:r>
                      <a:r>
                        <a:rPr lang="en-US" sz="4000" baseline="0" dirty="0">
                          <a:solidFill>
                            <a:schemeClr val="tx1"/>
                          </a:solidFill>
                        </a:rPr>
                        <a:t> </a:t>
                      </a:r>
                      <a:r>
                        <a:rPr lang="en-US" sz="4000" baseline="0" dirty="0" err="1">
                          <a:solidFill>
                            <a:schemeClr val="tx1"/>
                          </a:solidFill>
                        </a:rPr>
                        <a:t>tính</a:t>
                      </a:r>
                      <a:r>
                        <a:rPr lang="en-US" sz="4000" baseline="0" dirty="0">
                          <a:solidFill>
                            <a:schemeClr val="tx1"/>
                          </a:solidFill>
                        </a:rPr>
                        <a:t> </a:t>
                      </a:r>
                      <a:r>
                        <a:rPr lang="en-US" sz="4000" baseline="0" dirty="0" err="1">
                          <a:solidFill>
                            <a:schemeClr val="tx1"/>
                          </a:solidFill>
                        </a:rPr>
                        <a:t>xã</a:t>
                      </a:r>
                      <a:r>
                        <a:rPr lang="en-US" sz="4000" baseline="0" dirty="0">
                          <a:solidFill>
                            <a:schemeClr val="tx1"/>
                          </a:solidFill>
                        </a:rPr>
                        <a:t> </a:t>
                      </a:r>
                      <a:r>
                        <a:rPr lang="en-US" sz="4000" baseline="0" dirty="0" err="1">
                          <a:solidFill>
                            <a:schemeClr val="tx1"/>
                          </a:solidFill>
                        </a:rPr>
                        <a:t>hội</a:t>
                      </a:r>
                      <a:endParaRPr lang="vi-VN" sz="4000" dirty="0">
                        <a:solidFill>
                          <a:schemeClr val="tx1"/>
                        </a:solidFill>
                      </a:endParaRPr>
                    </a:p>
                  </a:txBody>
                  <a:tcPr marL="182880" marR="182880" marT="91440" marB="91440" anchor="ctr">
                    <a:solidFill>
                      <a:schemeClr val="accent1">
                        <a:lumMod val="40000"/>
                        <a:lumOff val="60000"/>
                      </a:schemeClr>
                    </a:solidFill>
                  </a:tcPr>
                </a:tc>
                <a:tc>
                  <a:txBody>
                    <a:bodyPr/>
                    <a:lstStyle/>
                    <a:p>
                      <a:pPr algn="ctr"/>
                      <a:r>
                        <a:rPr lang="en-US" sz="4000" dirty="0">
                          <a:solidFill>
                            <a:schemeClr val="tx1"/>
                          </a:solidFill>
                        </a:rPr>
                        <a:t>Tư</a:t>
                      </a:r>
                      <a:r>
                        <a:rPr lang="en-US" sz="4000" baseline="0" dirty="0">
                          <a:solidFill>
                            <a:schemeClr val="tx1"/>
                          </a:solidFill>
                        </a:rPr>
                        <a:t> </a:t>
                      </a:r>
                      <a:r>
                        <a:rPr lang="en-US" sz="4000" baseline="0" dirty="0" err="1">
                          <a:solidFill>
                            <a:schemeClr val="tx1"/>
                          </a:solidFill>
                        </a:rPr>
                        <a:t>bản</a:t>
                      </a:r>
                      <a:r>
                        <a:rPr lang="en-US" sz="4000" baseline="0" dirty="0">
                          <a:solidFill>
                            <a:schemeClr val="tx1"/>
                          </a:solidFill>
                        </a:rPr>
                        <a:t> </a:t>
                      </a:r>
                      <a:r>
                        <a:rPr lang="en-US" sz="4000" baseline="0" dirty="0" err="1">
                          <a:solidFill>
                            <a:schemeClr val="tx1"/>
                          </a:solidFill>
                        </a:rPr>
                        <a:t>tiềm</a:t>
                      </a:r>
                      <a:r>
                        <a:rPr lang="en-US" sz="4000" baseline="0" dirty="0">
                          <a:solidFill>
                            <a:schemeClr val="tx1"/>
                          </a:solidFill>
                        </a:rPr>
                        <a:t> </a:t>
                      </a:r>
                      <a:r>
                        <a:rPr lang="en-US" sz="4000" baseline="0" dirty="0" err="1">
                          <a:solidFill>
                            <a:schemeClr val="tx1"/>
                          </a:solidFill>
                        </a:rPr>
                        <a:t>thế</a:t>
                      </a:r>
                      <a:r>
                        <a:rPr lang="en-US" sz="4000" baseline="0" dirty="0">
                          <a:solidFill>
                            <a:schemeClr val="tx1"/>
                          </a:solidFill>
                        </a:rPr>
                        <a:t>, </a:t>
                      </a:r>
                      <a:r>
                        <a:rPr lang="en-US" sz="4000" baseline="0" dirty="0" err="1">
                          <a:solidFill>
                            <a:schemeClr val="tx1"/>
                          </a:solidFill>
                        </a:rPr>
                        <a:t>chỉ</a:t>
                      </a:r>
                      <a:r>
                        <a:rPr lang="en-US" sz="4000" baseline="0" dirty="0">
                          <a:solidFill>
                            <a:schemeClr val="tx1"/>
                          </a:solidFill>
                        </a:rPr>
                        <a:t> </a:t>
                      </a:r>
                      <a:r>
                        <a:rPr lang="en-US" sz="4000" baseline="0" dirty="0" err="1">
                          <a:solidFill>
                            <a:schemeClr val="tx1"/>
                          </a:solidFill>
                        </a:rPr>
                        <a:t>là</a:t>
                      </a:r>
                      <a:r>
                        <a:rPr lang="en-US" sz="4000" baseline="0" dirty="0">
                          <a:solidFill>
                            <a:schemeClr val="tx1"/>
                          </a:solidFill>
                        </a:rPr>
                        <a:t> </a:t>
                      </a:r>
                      <a:r>
                        <a:rPr lang="en-US" sz="4000" baseline="0" dirty="0" err="1">
                          <a:solidFill>
                            <a:schemeClr val="tx1"/>
                          </a:solidFill>
                        </a:rPr>
                        <a:t>tư</a:t>
                      </a:r>
                      <a:r>
                        <a:rPr lang="en-US" sz="4000" baseline="0" dirty="0">
                          <a:solidFill>
                            <a:schemeClr val="tx1"/>
                          </a:solidFill>
                        </a:rPr>
                        <a:t> </a:t>
                      </a:r>
                      <a:r>
                        <a:rPr lang="en-US" sz="4000" baseline="0" dirty="0" err="1">
                          <a:solidFill>
                            <a:schemeClr val="tx1"/>
                          </a:solidFill>
                        </a:rPr>
                        <a:t>bản</a:t>
                      </a:r>
                      <a:r>
                        <a:rPr lang="en-US" sz="4000" baseline="0" dirty="0">
                          <a:solidFill>
                            <a:schemeClr val="tx1"/>
                          </a:solidFill>
                        </a:rPr>
                        <a:t> </a:t>
                      </a:r>
                      <a:r>
                        <a:rPr lang="en-US" sz="4000" baseline="0" dirty="0" err="1">
                          <a:solidFill>
                            <a:schemeClr val="tx1"/>
                          </a:solidFill>
                        </a:rPr>
                        <a:t>nhàn</a:t>
                      </a:r>
                      <a:r>
                        <a:rPr lang="en-US" sz="4000" baseline="0" dirty="0">
                          <a:solidFill>
                            <a:schemeClr val="tx1"/>
                          </a:solidFill>
                        </a:rPr>
                        <a:t> </a:t>
                      </a:r>
                      <a:r>
                        <a:rPr lang="en-US" sz="4000" baseline="0" dirty="0" err="1">
                          <a:solidFill>
                            <a:schemeClr val="tx1"/>
                          </a:solidFill>
                        </a:rPr>
                        <a:t>rỗi</a:t>
                      </a:r>
                      <a:r>
                        <a:rPr lang="en-US" sz="4000" baseline="0" dirty="0">
                          <a:solidFill>
                            <a:schemeClr val="tx1"/>
                          </a:solidFill>
                        </a:rPr>
                        <a:t> </a:t>
                      </a:r>
                      <a:r>
                        <a:rPr lang="en-US" sz="4000" baseline="0" dirty="0" err="1">
                          <a:solidFill>
                            <a:schemeClr val="tx1"/>
                          </a:solidFill>
                        </a:rPr>
                        <a:t>của</a:t>
                      </a:r>
                      <a:r>
                        <a:rPr lang="en-US" sz="4000" baseline="0" dirty="0">
                          <a:solidFill>
                            <a:schemeClr val="tx1"/>
                          </a:solidFill>
                        </a:rPr>
                        <a:t> </a:t>
                      </a:r>
                      <a:r>
                        <a:rPr lang="en-US" sz="4000" baseline="0" dirty="0" err="1">
                          <a:solidFill>
                            <a:schemeClr val="tx1"/>
                          </a:solidFill>
                        </a:rPr>
                        <a:t>cá</a:t>
                      </a:r>
                      <a:r>
                        <a:rPr lang="en-US" sz="4000" baseline="0" dirty="0">
                          <a:solidFill>
                            <a:schemeClr val="tx1"/>
                          </a:solidFill>
                        </a:rPr>
                        <a:t> </a:t>
                      </a:r>
                      <a:r>
                        <a:rPr lang="en-US" sz="4000" baseline="0" dirty="0" err="1">
                          <a:solidFill>
                            <a:schemeClr val="tx1"/>
                          </a:solidFill>
                        </a:rPr>
                        <a:t>nhân</a:t>
                      </a:r>
                      <a:endParaRPr lang="vi-VN" sz="4000" dirty="0">
                        <a:solidFill>
                          <a:schemeClr val="tx1"/>
                        </a:solidFill>
                      </a:endParaRPr>
                    </a:p>
                  </a:txBody>
                  <a:tcPr marL="182880" marR="182880" marT="91440" marB="91440" anchor="ctr">
                    <a:solidFill>
                      <a:schemeClr val="accent1">
                        <a:lumMod val="40000"/>
                        <a:lumOff val="60000"/>
                      </a:schemeClr>
                    </a:solidFill>
                  </a:tcPr>
                </a:tc>
                <a:extLst>
                  <a:ext uri="{0D108BD9-81ED-4DB2-BD59-A6C34878D82A}">
                    <a16:rowId xmlns:a16="http://schemas.microsoft.com/office/drawing/2014/main" val="10001"/>
                  </a:ext>
                </a:extLst>
              </a:tr>
              <a:tr h="792480">
                <a:tc>
                  <a:txBody>
                    <a:bodyPr/>
                    <a:lstStyle/>
                    <a:p>
                      <a:pPr algn="l"/>
                      <a:r>
                        <a:rPr lang="en-US" sz="4000" baseline="0">
                          <a:solidFill>
                            <a:schemeClr val="tx1"/>
                          </a:solidFill>
                        </a:rPr>
                        <a:t>Hình thành p’bq </a:t>
                      </a:r>
                      <a:endParaRPr lang="vi-VN" sz="4000">
                        <a:solidFill>
                          <a:schemeClr val="tx1"/>
                        </a:solidFill>
                      </a:endParaRPr>
                    </a:p>
                  </a:txBody>
                  <a:tcPr marL="182880" marR="182880" marT="91440" marB="91440" anchor="ctr">
                    <a:solidFill>
                      <a:schemeClr val="accent1">
                        <a:lumMod val="40000"/>
                        <a:lumOff val="60000"/>
                      </a:schemeClr>
                    </a:solidFill>
                  </a:tcPr>
                </a:tc>
                <a:tc>
                  <a:txBody>
                    <a:bodyPr/>
                    <a:lstStyle/>
                    <a:p>
                      <a:pPr algn="ctr"/>
                      <a:r>
                        <a:rPr lang="en-US" sz="4000">
                          <a:solidFill>
                            <a:schemeClr val="tx1"/>
                          </a:solidFill>
                        </a:rPr>
                        <a:t>Tham gia </a:t>
                      </a:r>
                      <a:endParaRPr lang="vi-VN" sz="4000">
                        <a:solidFill>
                          <a:schemeClr val="tx1"/>
                        </a:solidFill>
                      </a:endParaRPr>
                    </a:p>
                  </a:txBody>
                  <a:tcPr marL="182880" marR="182880" marT="91440" marB="91440" anchor="ctr">
                    <a:solidFill>
                      <a:schemeClr val="accent1">
                        <a:lumMod val="40000"/>
                        <a:lumOff val="60000"/>
                      </a:schemeClr>
                    </a:solidFill>
                  </a:tcPr>
                </a:tc>
                <a:tc>
                  <a:txBody>
                    <a:bodyPr/>
                    <a:lstStyle/>
                    <a:p>
                      <a:pPr algn="ctr"/>
                      <a:r>
                        <a:rPr lang="en-US" sz="4000">
                          <a:solidFill>
                            <a:schemeClr val="tx1"/>
                          </a:solidFill>
                        </a:rPr>
                        <a:t>Không</a:t>
                      </a:r>
                      <a:r>
                        <a:rPr lang="en-US" sz="4000" baseline="0">
                          <a:solidFill>
                            <a:schemeClr val="tx1"/>
                          </a:solidFill>
                        </a:rPr>
                        <a:t> tham gia</a:t>
                      </a:r>
                      <a:endParaRPr lang="vi-VN" sz="4000">
                        <a:solidFill>
                          <a:schemeClr val="tx1"/>
                        </a:solidFill>
                      </a:endParaRPr>
                    </a:p>
                  </a:txBody>
                  <a:tcPr marL="182880" marR="182880" marT="91440" marB="91440" anchor="ctr">
                    <a:solidFill>
                      <a:schemeClr val="accent1">
                        <a:lumMod val="40000"/>
                        <a:lumOff val="60000"/>
                      </a:schemeClr>
                    </a:solidFill>
                  </a:tcPr>
                </a:tc>
                <a:extLst>
                  <a:ext uri="{0D108BD9-81ED-4DB2-BD59-A6C34878D82A}">
                    <a16:rowId xmlns:a16="http://schemas.microsoft.com/office/drawing/2014/main" val="10002"/>
                  </a:ext>
                </a:extLst>
              </a:tr>
              <a:tr h="1402080">
                <a:tc>
                  <a:txBody>
                    <a:bodyPr/>
                    <a:lstStyle/>
                    <a:p>
                      <a:pPr algn="l"/>
                      <a:r>
                        <a:rPr lang="en-US" sz="4000">
                          <a:solidFill>
                            <a:schemeClr val="tx1"/>
                          </a:solidFill>
                        </a:rPr>
                        <a:t>Lợi nhuận</a:t>
                      </a:r>
                      <a:endParaRPr lang="vi-VN" sz="4000">
                        <a:solidFill>
                          <a:schemeClr val="tx1"/>
                        </a:solidFill>
                      </a:endParaRPr>
                    </a:p>
                  </a:txBody>
                  <a:tcPr marL="182880" marR="182880" marT="91440" marB="91440" anchor="ctr">
                    <a:solidFill>
                      <a:schemeClr val="accent1">
                        <a:lumMod val="40000"/>
                        <a:lumOff val="60000"/>
                      </a:schemeClr>
                    </a:solidFill>
                  </a:tcPr>
                </a:tc>
                <a:tc>
                  <a:txBody>
                    <a:bodyPr/>
                    <a:lstStyle/>
                    <a:p>
                      <a:pPr algn="ctr"/>
                      <a:r>
                        <a:rPr lang="en-US" sz="4000">
                          <a:solidFill>
                            <a:schemeClr val="tx1"/>
                          </a:solidFill>
                        </a:rPr>
                        <a:t>LNNH=LNQB</a:t>
                      </a:r>
                      <a:endParaRPr lang="vi-VN" sz="4000">
                        <a:solidFill>
                          <a:schemeClr val="tx1"/>
                        </a:solidFill>
                      </a:endParaRPr>
                    </a:p>
                  </a:txBody>
                  <a:tcPr marL="182880" marR="182880" marT="91440" marB="91440" anchor="ctr">
                    <a:solidFill>
                      <a:schemeClr val="accent1">
                        <a:lumMod val="40000"/>
                        <a:lumOff val="60000"/>
                      </a:schemeClr>
                    </a:solidFill>
                  </a:tcPr>
                </a:tc>
                <a:tc>
                  <a:txBody>
                    <a:bodyPr/>
                    <a:lstStyle/>
                    <a:p>
                      <a:pPr algn="ctr"/>
                      <a:r>
                        <a:rPr lang="en-US" sz="4000">
                          <a:solidFill>
                            <a:schemeClr val="tx1"/>
                          </a:solidFill>
                        </a:rPr>
                        <a:t>Lợi</a:t>
                      </a:r>
                      <a:r>
                        <a:rPr lang="en-US" sz="4000" baseline="0">
                          <a:solidFill>
                            <a:schemeClr val="tx1"/>
                          </a:solidFill>
                        </a:rPr>
                        <a:t> tức = 1 phần của LNBQ</a:t>
                      </a:r>
                      <a:endParaRPr lang="vi-VN" sz="4000">
                        <a:solidFill>
                          <a:schemeClr val="tx1"/>
                        </a:solidFill>
                      </a:endParaRPr>
                    </a:p>
                  </a:txBody>
                  <a:tcPr marL="182880" marR="182880" marT="91440" marB="91440" anchor="ctr">
                    <a:solidFill>
                      <a:schemeClr val="accent1">
                        <a:lumMod val="40000"/>
                        <a:lumOff val="60000"/>
                      </a:schemeClr>
                    </a:solidFill>
                  </a:tcPr>
                </a:tc>
                <a:extLst>
                  <a:ext uri="{0D108BD9-81ED-4DB2-BD59-A6C34878D82A}">
                    <a16:rowId xmlns:a16="http://schemas.microsoft.com/office/drawing/2014/main" val="10003"/>
                  </a:ext>
                </a:extLst>
              </a:tr>
              <a:tr h="2011680">
                <a:tc>
                  <a:txBody>
                    <a:bodyPr/>
                    <a:lstStyle/>
                    <a:p>
                      <a:pPr algn="l"/>
                      <a:r>
                        <a:rPr lang="en-US" sz="4000">
                          <a:solidFill>
                            <a:schemeClr val="tx1"/>
                          </a:solidFill>
                        </a:rPr>
                        <a:t>Cấu thành</a:t>
                      </a:r>
                      <a:endParaRPr lang="vi-VN" sz="4000">
                        <a:solidFill>
                          <a:schemeClr val="tx1"/>
                        </a:solidFill>
                      </a:endParaRPr>
                    </a:p>
                  </a:txBody>
                  <a:tcPr marL="182880" marR="182880" marT="91440" marB="91440" anchor="ctr">
                    <a:solidFill>
                      <a:schemeClr val="accent1">
                        <a:lumMod val="40000"/>
                        <a:lumOff val="60000"/>
                      </a:schemeClr>
                    </a:solidFill>
                  </a:tcPr>
                </a:tc>
                <a:tc>
                  <a:txBody>
                    <a:bodyPr/>
                    <a:lstStyle/>
                    <a:p>
                      <a:pPr algn="ctr"/>
                      <a:r>
                        <a:rPr lang="en-US" sz="4000" dirty="0">
                          <a:solidFill>
                            <a:schemeClr val="tx1"/>
                          </a:solidFill>
                        </a:rPr>
                        <a:t>Tư</a:t>
                      </a:r>
                      <a:r>
                        <a:rPr lang="en-US" sz="4000" baseline="0" dirty="0">
                          <a:solidFill>
                            <a:schemeClr val="tx1"/>
                          </a:solidFill>
                        </a:rPr>
                        <a:t> </a:t>
                      </a:r>
                      <a:r>
                        <a:rPr lang="en-US" sz="4000" baseline="0" dirty="0" err="1">
                          <a:solidFill>
                            <a:schemeClr val="tx1"/>
                          </a:solidFill>
                        </a:rPr>
                        <a:t>bản</a:t>
                      </a:r>
                      <a:r>
                        <a:rPr lang="en-US" sz="4000" baseline="0" dirty="0">
                          <a:solidFill>
                            <a:schemeClr val="tx1"/>
                          </a:solidFill>
                        </a:rPr>
                        <a:t> </a:t>
                      </a:r>
                      <a:r>
                        <a:rPr lang="en-US" sz="4000" baseline="0" dirty="0" err="1">
                          <a:solidFill>
                            <a:schemeClr val="tx1"/>
                          </a:solidFill>
                        </a:rPr>
                        <a:t>tự</a:t>
                      </a:r>
                      <a:r>
                        <a:rPr lang="en-US" sz="4000" baseline="0" dirty="0">
                          <a:solidFill>
                            <a:schemeClr val="tx1"/>
                          </a:solidFill>
                        </a:rPr>
                        <a:t> </a:t>
                      </a:r>
                      <a:r>
                        <a:rPr lang="en-US" sz="4000" baseline="0" dirty="0" err="1">
                          <a:solidFill>
                            <a:schemeClr val="tx1"/>
                          </a:solidFill>
                        </a:rPr>
                        <a:t>có</a:t>
                      </a:r>
                      <a:r>
                        <a:rPr lang="en-US" sz="4000" baseline="0" dirty="0">
                          <a:solidFill>
                            <a:schemeClr val="tx1"/>
                          </a:solidFill>
                        </a:rPr>
                        <a:t>, </a:t>
                      </a:r>
                      <a:r>
                        <a:rPr lang="en-US" sz="4000" baseline="0" dirty="0" err="1">
                          <a:solidFill>
                            <a:schemeClr val="tx1"/>
                          </a:solidFill>
                        </a:rPr>
                        <a:t>tư</a:t>
                      </a:r>
                      <a:r>
                        <a:rPr lang="en-US" sz="4000" baseline="0" dirty="0">
                          <a:solidFill>
                            <a:schemeClr val="tx1"/>
                          </a:solidFill>
                        </a:rPr>
                        <a:t> </a:t>
                      </a:r>
                      <a:r>
                        <a:rPr lang="en-US" sz="4000" baseline="0" dirty="0" err="1">
                          <a:solidFill>
                            <a:schemeClr val="tx1"/>
                          </a:solidFill>
                        </a:rPr>
                        <a:t>bản</a:t>
                      </a:r>
                      <a:r>
                        <a:rPr lang="en-US" sz="4000" baseline="0" dirty="0">
                          <a:solidFill>
                            <a:schemeClr val="tx1"/>
                          </a:solidFill>
                        </a:rPr>
                        <a:t> </a:t>
                      </a:r>
                      <a:r>
                        <a:rPr lang="en-US" sz="4000" baseline="0" dirty="0" err="1">
                          <a:solidFill>
                            <a:schemeClr val="tx1"/>
                          </a:solidFill>
                        </a:rPr>
                        <a:t>được</a:t>
                      </a:r>
                      <a:r>
                        <a:rPr lang="en-US" sz="4000" baseline="0" dirty="0">
                          <a:solidFill>
                            <a:schemeClr val="tx1"/>
                          </a:solidFill>
                        </a:rPr>
                        <a:t> </a:t>
                      </a:r>
                      <a:r>
                        <a:rPr lang="en-US" sz="4000" baseline="0" dirty="0" err="1">
                          <a:solidFill>
                            <a:schemeClr val="tx1"/>
                          </a:solidFill>
                        </a:rPr>
                        <a:t>tích</a:t>
                      </a:r>
                      <a:r>
                        <a:rPr lang="en-US" sz="4000" baseline="0" dirty="0">
                          <a:solidFill>
                            <a:schemeClr val="tx1"/>
                          </a:solidFill>
                        </a:rPr>
                        <a:t> </a:t>
                      </a:r>
                      <a:r>
                        <a:rPr lang="en-US" sz="4000" baseline="0" dirty="0" err="1">
                          <a:solidFill>
                            <a:schemeClr val="tx1"/>
                          </a:solidFill>
                        </a:rPr>
                        <a:t>lũy</a:t>
                      </a:r>
                      <a:r>
                        <a:rPr lang="en-US" sz="4000" baseline="0" dirty="0">
                          <a:solidFill>
                            <a:schemeClr val="tx1"/>
                          </a:solidFill>
                        </a:rPr>
                        <a:t> </a:t>
                      </a:r>
                      <a:r>
                        <a:rPr lang="en-US" sz="4000" baseline="0" dirty="0" err="1">
                          <a:solidFill>
                            <a:schemeClr val="tx1"/>
                          </a:solidFill>
                        </a:rPr>
                        <a:t>lại</a:t>
                      </a:r>
                      <a:r>
                        <a:rPr lang="en-US" sz="4000" baseline="0" dirty="0">
                          <a:solidFill>
                            <a:schemeClr val="tx1"/>
                          </a:solidFill>
                        </a:rPr>
                        <a:t>, </a:t>
                      </a:r>
                      <a:r>
                        <a:rPr lang="en-US" sz="4000" baseline="0" dirty="0" err="1">
                          <a:solidFill>
                            <a:schemeClr val="tx1"/>
                          </a:solidFill>
                        </a:rPr>
                        <a:t>tư</a:t>
                      </a:r>
                      <a:r>
                        <a:rPr lang="en-US" sz="4000" baseline="0" dirty="0">
                          <a:solidFill>
                            <a:schemeClr val="tx1"/>
                          </a:solidFill>
                        </a:rPr>
                        <a:t> </a:t>
                      </a:r>
                      <a:r>
                        <a:rPr lang="en-US" sz="4000" baseline="0" dirty="0" err="1">
                          <a:solidFill>
                            <a:schemeClr val="tx1"/>
                          </a:solidFill>
                        </a:rPr>
                        <a:t>bản</a:t>
                      </a:r>
                      <a:r>
                        <a:rPr lang="en-US" sz="4000" baseline="0" dirty="0">
                          <a:solidFill>
                            <a:schemeClr val="tx1"/>
                          </a:solidFill>
                        </a:rPr>
                        <a:t> </a:t>
                      </a:r>
                      <a:r>
                        <a:rPr lang="en-US" sz="4000" baseline="0" dirty="0" err="1">
                          <a:solidFill>
                            <a:schemeClr val="tx1"/>
                          </a:solidFill>
                        </a:rPr>
                        <a:t>nhàn</a:t>
                      </a:r>
                      <a:r>
                        <a:rPr lang="en-US" sz="4000" baseline="0" dirty="0">
                          <a:solidFill>
                            <a:schemeClr val="tx1"/>
                          </a:solidFill>
                        </a:rPr>
                        <a:t> </a:t>
                      </a:r>
                      <a:r>
                        <a:rPr lang="en-US" sz="4000" baseline="0" dirty="0" err="1">
                          <a:solidFill>
                            <a:schemeClr val="tx1"/>
                          </a:solidFill>
                        </a:rPr>
                        <a:t>rỗi</a:t>
                      </a:r>
                      <a:r>
                        <a:rPr lang="en-US" sz="4000" baseline="0" dirty="0">
                          <a:solidFill>
                            <a:schemeClr val="tx1"/>
                          </a:solidFill>
                        </a:rPr>
                        <a:t>, </a:t>
                      </a:r>
                      <a:r>
                        <a:rPr lang="en-US" sz="4000" baseline="0" dirty="0" err="1">
                          <a:solidFill>
                            <a:schemeClr val="tx1"/>
                          </a:solidFill>
                        </a:rPr>
                        <a:t>vàng</a:t>
                      </a:r>
                      <a:r>
                        <a:rPr lang="en-US" sz="4000" baseline="0" dirty="0">
                          <a:solidFill>
                            <a:schemeClr val="tx1"/>
                          </a:solidFill>
                        </a:rPr>
                        <a:t>, </a:t>
                      </a:r>
                      <a:r>
                        <a:rPr lang="en-US" sz="4000" baseline="0" dirty="0" err="1">
                          <a:solidFill>
                            <a:schemeClr val="tx1"/>
                          </a:solidFill>
                        </a:rPr>
                        <a:t>bạc</a:t>
                      </a:r>
                      <a:r>
                        <a:rPr lang="en-US" sz="4000" baseline="0" dirty="0">
                          <a:solidFill>
                            <a:schemeClr val="tx1"/>
                          </a:solidFill>
                        </a:rPr>
                        <a:t>, </a:t>
                      </a:r>
                      <a:r>
                        <a:rPr lang="en-US" sz="4000" baseline="0" dirty="0" err="1">
                          <a:solidFill>
                            <a:schemeClr val="tx1"/>
                          </a:solidFill>
                        </a:rPr>
                        <a:t>đá</a:t>
                      </a:r>
                      <a:r>
                        <a:rPr lang="en-US" sz="4000" baseline="0" dirty="0">
                          <a:solidFill>
                            <a:schemeClr val="tx1"/>
                          </a:solidFill>
                        </a:rPr>
                        <a:t> </a:t>
                      </a:r>
                      <a:r>
                        <a:rPr lang="en-US" sz="4000" baseline="0" dirty="0" err="1">
                          <a:solidFill>
                            <a:schemeClr val="tx1"/>
                          </a:solidFill>
                        </a:rPr>
                        <a:t>quý</a:t>
                      </a:r>
                      <a:r>
                        <a:rPr lang="en-US" sz="4000" baseline="0" dirty="0">
                          <a:solidFill>
                            <a:schemeClr val="tx1"/>
                          </a:solidFill>
                        </a:rPr>
                        <a:t>…</a:t>
                      </a:r>
                      <a:endParaRPr lang="vi-VN" sz="4000" dirty="0">
                        <a:solidFill>
                          <a:schemeClr val="tx1"/>
                        </a:solidFill>
                      </a:endParaRPr>
                    </a:p>
                  </a:txBody>
                  <a:tcPr marL="182880" marR="182880" marT="91440" marB="91440" anchor="ctr">
                    <a:solidFill>
                      <a:schemeClr val="accent1">
                        <a:lumMod val="40000"/>
                        <a:lumOff val="60000"/>
                      </a:schemeClr>
                    </a:solidFill>
                  </a:tcPr>
                </a:tc>
                <a:tc>
                  <a:txBody>
                    <a:bodyPr/>
                    <a:lstStyle/>
                    <a:p>
                      <a:pPr algn="ctr"/>
                      <a:r>
                        <a:rPr lang="en-US" sz="4000" dirty="0" err="1">
                          <a:solidFill>
                            <a:schemeClr val="tx1"/>
                          </a:solidFill>
                        </a:rPr>
                        <a:t>Chỉ</a:t>
                      </a:r>
                      <a:r>
                        <a:rPr lang="en-US" sz="4000" dirty="0">
                          <a:solidFill>
                            <a:schemeClr val="tx1"/>
                          </a:solidFill>
                        </a:rPr>
                        <a:t> </a:t>
                      </a:r>
                      <a:r>
                        <a:rPr lang="en-US" sz="4000" dirty="0" err="1">
                          <a:solidFill>
                            <a:schemeClr val="tx1"/>
                          </a:solidFill>
                        </a:rPr>
                        <a:t>là</a:t>
                      </a:r>
                      <a:r>
                        <a:rPr lang="en-US" sz="4000" baseline="0" dirty="0">
                          <a:solidFill>
                            <a:schemeClr val="tx1"/>
                          </a:solidFill>
                        </a:rPr>
                        <a:t> </a:t>
                      </a:r>
                      <a:r>
                        <a:rPr lang="en-US" sz="4000" baseline="0" dirty="0" err="1">
                          <a:solidFill>
                            <a:schemeClr val="tx1"/>
                          </a:solidFill>
                        </a:rPr>
                        <a:t>tư</a:t>
                      </a:r>
                      <a:r>
                        <a:rPr lang="en-US" sz="4000" baseline="0" dirty="0">
                          <a:solidFill>
                            <a:schemeClr val="tx1"/>
                          </a:solidFill>
                        </a:rPr>
                        <a:t> </a:t>
                      </a:r>
                      <a:r>
                        <a:rPr lang="en-US" sz="4000" baseline="0" dirty="0" err="1">
                          <a:solidFill>
                            <a:schemeClr val="tx1"/>
                          </a:solidFill>
                        </a:rPr>
                        <a:t>bản</a:t>
                      </a:r>
                      <a:r>
                        <a:rPr lang="en-US" sz="4000" baseline="0" dirty="0">
                          <a:solidFill>
                            <a:schemeClr val="tx1"/>
                          </a:solidFill>
                        </a:rPr>
                        <a:t> </a:t>
                      </a:r>
                      <a:r>
                        <a:rPr lang="en-US" sz="4000" baseline="0" dirty="0" err="1">
                          <a:solidFill>
                            <a:schemeClr val="tx1"/>
                          </a:solidFill>
                        </a:rPr>
                        <a:t>tiền</a:t>
                      </a:r>
                      <a:r>
                        <a:rPr lang="en-US" sz="4000" baseline="0" dirty="0">
                          <a:solidFill>
                            <a:schemeClr val="tx1"/>
                          </a:solidFill>
                        </a:rPr>
                        <a:t> </a:t>
                      </a:r>
                      <a:r>
                        <a:rPr lang="en-US" sz="4000" baseline="0" dirty="0" err="1">
                          <a:solidFill>
                            <a:schemeClr val="tx1"/>
                          </a:solidFill>
                        </a:rPr>
                        <a:t>tệ</a:t>
                      </a:r>
                      <a:r>
                        <a:rPr lang="en-US" sz="4000" baseline="0" dirty="0">
                          <a:solidFill>
                            <a:schemeClr val="tx1"/>
                          </a:solidFill>
                        </a:rPr>
                        <a:t> </a:t>
                      </a:r>
                      <a:r>
                        <a:rPr lang="en-US" sz="4000" baseline="0" dirty="0" err="1">
                          <a:solidFill>
                            <a:schemeClr val="tx1"/>
                          </a:solidFill>
                        </a:rPr>
                        <a:t>tạm</a:t>
                      </a:r>
                      <a:r>
                        <a:rPr lang="en-US" sz="4000" baseline="0" dirty="0">
                          <a:solidFill>
                            <a:schemeClr val="tx1"/>
                          </a:solidFill>
                        </a:rPr>
                        <a:t> </a:t>
                      </a:r>
                      <a:r>
                        <a:rPr lang="en-US" sz="4000" baseline="0" dirty="0" err="1">
                          <a:solidFill>
                            <a:schemeClr val="tx1"/>
                          </a:solidFill>
                        </a:rPr>
                        <a:t>thời</a:t>
                      </a:r>
                      <a:r>
                        <a:rPr lang="en-US" sz="4000" baseline="0" dirty="0">
                          <a:solidFill>
                            <a:schemeClr val="tx1"/>
                          </a:solidFill>
                        </a:rPr>
                        <a:t> </a:t>
                      </a:r>
                      <a:r>
                        <a:rPr lang="en-US" sz="4000" baseline="0" dirty="0" err="1">
                          <a:solidFill>
                            <a:schemeClr val="tx1"/>
                          </a:solidFill>
                        </a:rPr>
                        <a:t>nhàn</a:t>
                      </a:r>
                      <a:r>
                        <a:rPr lang="en-US" sz="4000" baseline="0" dirty="0">
                          <a:solidFill>
                            <a:schemeClr val="tx1"/>
                          </a:solidFill>
                        </a:rPr>
                        <a:t> </a:t>
                      </a:r>
                      <a:r>
                        <a:rPr lang="en-US" sz="4000" baseline="0" dirty="0" err="1">
                          <a:solidFill>
                            <a:schemeClr val="tx1"/>
                          </a:solidFill>
                        </a:rPr>
                        <a:t>rỗi</a:t>
                      </a:r>
                      <a:endParaRPr lang="vi-VN" sz="4000" dirty="0">
                        <a:solidFill>
                          <a:schemeClr val="tx1"/>
                        </a:solidFill>
                      </a:endParaRPr>
                    </a:p>
                  </a:txBody>
                  <a:tcPr marL="182880" marR="182880" marT="91440" marB="91440" anchor="ctr">
                    <a:solidFill>
                      <a:schemeClr val="accent1">
                        <a:lumMod val="40000"/>
                        <a:lumOff val="60000"/>
                      </a:schemeClr>
                    </a:solidFill>
                  </a:tcPr>
                </a:tc>
                <a:extLst>
                  <a:ext uri="{0D108BD9-81ED-4DB2-BD59-A6C34878D82A}">
                    <a16:rowId xmlns:a16="http://schemas.microsoft.com/office/drawing/2014/main" val="10004"/>
                  </a:ext>
                </a:extLst>
              </a:tr>
            </a:tbl>
          </a:graphicData>
        </a:graphic>
      </p:graphicFrame>
      <p:sp>
        <p:nvSpPr>
          <p:cNvPr id="7" name="Rectangle 2">
            <a:extLst>
              <a:ext uri="{FF2B5EF4-FFF2-40B4-BE49-F238E27FC236}">
                <a16:creationId xmlns:a16="http://schemas.microsoft.com/office/drawing/2014/main" id="{371D8446-96E7-4EF2-BB74-244576787534}"/>
              </a:ext>
            </a:extLst>
          </p:cNvPr>
          <p:cNvSpPr txBox="1">
            <a:spLocks noChangeArrowheads="1"/>
          </p:cNvSpPr>
          <p:nvPr/>
        </p:nvSpPr>
        <p:spPr>
          <a:xfrm>
            <a:off x="3883486" y="1564930"/>
            <a:ext cx="10521024" cy="1127124"/>
          </a:xfrm>
          <a:prstGeom prst="rect">
            <a:avLst/>
          </a:prstGeom>
        </p:spPr>
        <p:txBody>
          <a:bodyPr vert="horz" lIns="182880" tIns="91440" rIns="182880" bIns="91440" rtlCol="0" anchor="b">
            <a:normAutofit fontScale="6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7200" b="1" dirty="0">
                <a:solidFill>
                  <a:srgbClr val="002060"/>
                </a:solidFill>
                <a:latin typeface="Aachen" panose="02020500000000000000" pitchFamily="18" charset="0"/>
                <a:ea typeface="Aachen" panose="02020500000000000000" pitchFamily="18" charset="0"/>
                <a:cs typeface="Aachen" panose="02020500000000000000" pitchFamily="18" charset="0"/>
              </a:rPr>
              <a:t>TƯ BẢN CHO VAY VÀ TƯ BẢN NGÂN HÀNG</a:t>
            </a:r>
          </a:p>
        </p:txBody>
      </p:sp>
    </p:spTree>
    <p:extLst>
      <p:ext uri="{BB962C8B-B14F-4D97-AF65-F5344CB8AC3E}">
        <p14:creationId xmlns:p14="http://schemas.microsoft.com/office/powerpoint/2010/main" val="1744063318"/>
      </p:ext>
    </p:extLst>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6C179E1-DF38-80FE-A69B-9804577D1D3E}"/>
              </a:ext>
            </a:extLst>
          </p:cNvPr>
          <p:cNvSpPr txBox="1">
            <a:spLocks noChangeArrowheads="1"/>
          </p:cNvSpPr>
          <p:nvPr/>
        </p:nvSpPr>
        <p:spPr>
          <a:xfrm>
            <a:off x="3550576" y="1676400"/>
            <a:ext cx="10521024" cy="1127124"/>
          </a:xfrm>
          <a:prstGeom prst="rect">
            <a:avLst/>
          </a:prstGeom>
        </p:spPr>
        <p:txBody>
          <a:bodyPr vert="horz" lIns="182880" tIns="91440" rIns="182880" bIns="9144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7200" b="1">
                <a:solidFill>
                  <a:srgbClr val="002060"/>
                </a:solidFill>
                <a:latin typeface="Aachen" panose="02020500000000000000" pitchFamily="18" charset="0"/>
                <a:ea typeface="Aachen" panose="02020500000000000000" pitchFamily="18" charset="0"/>
                <a:cs typeface="Aachen" panose="02020500000000000000" pitchFamily="18" charset="0"/>
              </a:rPr>
              <a:t>CÔNG TY CỔ PHẦN</a:t>
            </a:r>
          </a:p>
        </p:txBody>
      </p:sp>
      <p:sp>
        <p:nvSpPr>
          <p:cNvPr id="3" name="Text Box 3">
            <a:extLst>
              <a:ext uri="{FF2B5EF4-FFF2-40B4-BE49-F238E27FC236}">
                <a16:creationId xmlns:a16="http://schemas.microsoft.com/office/drawing/2014/main" id="{DCA030E8-908F-FDF7-057E-0714DE24C693}"/>
              </a:ext>
            </a:extLst>
          </p:cNvPr>
          <p:cNvSpPr txBox="1">
            <a:spLocks noChangeArrowheads="1"/>
          </p:cNvSpPr>
          <p:nvPr/>
        </p:nvSpPr>
        <p:spPr bwMode="auto">
          <a:xfrm>
            <a:off x="4438651" y="3121026"/>
            <a:ext cx="18473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9600"/>
          </a:p>
        </p:txBody>
      </p:sp>
      <p:sp>
        <p:nvSpPr>
          <p:cNvPr id="6" name="Content Placeholder 2">
            <a:extLst>
              <a:ext uri="{FF2B5EF4-FFF2-40B4-BE49-F238E27FC236}">
                <a16:creationId xmlns:a16="http://schemas.microsoft.com/office/drawing/2014/main" id="{16B39156-D0B2-5EB5-5EBD-379C5D82A2A8}"/>
              </a:ext>
            </a:extLst>
          </p:cNvPr>
          <p:cNvSpPr>
            <a:spLocks noGrp="1"/>
          </p:cNvSpPr>
          <p:nvPr/>
        </p:nvSpPr>
        <p:spPr bwMode="auto">
          <a:xfrm>
            <a:off x="1743528" y="3796392"/>
            <a:ext cx="15392400" cy="701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2880" tIns="91440" rIns="182880" bIns="9144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eaLnBrk="1" hangingPunct="1">
              <a:buNone/>
            </a:pPr>
            <a:r>
              <a:rPr lang="en-US" altLang="en-US" sz="9000" dirty="0" err="1">
                <a:solidFill>
                  <a:srgbClr val="002060"/>
                </a:solidFill>
              </a:rPr>
              <a:t>Công</a:t>
            </a:r>
            <a:r>
              <a:rPr lang="en-US" altLang="en-US" sz="9000" dirty="0">
                <a:solidFill>
                  <a:srgbClr val="002060"/>
                </a:solidFill>
              </a:rPr>
              <a:t> ty </a:t>
            </a:r>
            <a:r>
              <a:rPr lang="en-US" altLang="en-US" sz="9000" dirty="0" err="1">
                <a:solidFill>
                  <a:srgbClr val="002060"/>
                </a:solidFill>
              </a:rPr>
              <a:t>cổ</a:t>
            </a:r>
            <a:r>
              <a:rPr lang="en-US" altLang="en-US" sz="9000" dirty="0">
                <a:solidFill>
                  <a:srgbClr val="002060"/>
                </a:solidFill>
              </a:rPr>
              <a:t> </a:t>
            </a:r>
            <a:r>
              <a:rPr lang="en-US" altLang="en-US" sz="9000" dirty="0" err="1">
                <a:solidFill>
                  <a:srgbClr val="002060"/>
                </a:solidFill>
              </a:rPr>
              <a:t>phần</a:t>
            </a:r>
            <a:r>
              <a:rPr lang="en-US" altLang="en-US" sz="9000" dirty="0">
                <a:solidFill>
                  <a:srgbClr val="002060"/>
                </a:solidFill>
              </a:rPr>
              <a:t> </a:t>
            </a:r>
            <a:r>
              <a:rPr lang="en-US" altLang="en-US" sz="9000" dirty="0" err="1">
                <a:solidFill>
                  <a:srgbClr val="002060"/>
                </a:solidFill>
              </a:rPr>
              <a:t>là</a:t>
            </a:r>
            <a:r>
              <a:rPr lang="en-US" altLang="en-US" sz="9000" dirty="0">
                <a:solidFill>
                  <a:srgbClr val="002060"/>
                </a:solidFill>
              </a:rPr>
              <a:t> </a:t>
            </a:r>
            <a:r>
              <a:rPr lang="en-US" altLang="en-US" sz="9000" dirty="0" err="1">
                <a:solidFill>
                  <a:srgbClr val="002060"/>
                </a:solidFill>
              </a:rPr>
              <a:t>một</a:t>
            </a:r>
            <a:r>
              <a:rPr lang="en-US" altLang="en-US" sz="9000" dirty="0">
                <a:solidFill>
                  <a:srgbClr val="002060"/>
                </a:solidFill>
              </a:rPr>
              <a:t> </a:t>
            </a:r>
            <a:r>
              <a:rPr lang="en-US" altLang="en-US" sz="9000" dirty="0" err="1">
                <a:solidFill>
                  <a:srgbClr val="002060"/>
                </a:solidFill>
              </a:rPr>
              <a:t>loại</a:t>
            </a:r>
            <a:r>
              <a:rPr lang="en-US" altLang="en-US" sz="9000" dirty="0">
                <a:solidFill>
                  <a:srgbClr val="002060"/>
                </a:solidFill>
              </a:rPr>
              <a:t> </a:t>
            </a:r>
            <a:r>
              <a:rPr lang="en-US" altLang="en-US" sz="9000" dirty="0" err="1">
                <a:solidFill>
                  <a:srgbClr val="002060"/>
                </a:solidFill>
              </a:rPr>
              <a:t>hình</a:t>
            </a:r>
            <a:r>
              <a:rPr lang="en-US" altLang="en-US" sz="9000" dirty="0">
                <a:solidFill>
                  <a:srgbClr val="002060"/>
                </a:solidFill>
              </a:rPr>
              <a:t> </a:t>
            </a:r>
            <a:r>
              <a:rPr lang="en-US" altLang="en-US" sz="9000" dirty="0" err="1">
                <a:solidFill>
                  <a:srgbClr val="002060"/>
                </a:solidFill>
              </a:rPr>
              <a:t>doanh</a:t>
            </a:r>
            <a:r>
              <a:rPr lang="en-US" altLang="en-US" sz="9000" dirty="0">
                <a:solidFill>
                  <a:srgbClr val="002060"/>
                </a:solidFill>
              </a:rPr>
              <a:t> </a:t>
            </a:r>
            <a:r>
              <a:rPr lang="en-US" altLang="en-US" sz="9000" dirty="0" err="1">
                <a:solidFill>
                  <a:srgbClr val="002060"/>
                </a:solidFill>
              </a:rPr>
              <a:t>nghiệp</a:t>
            </a:r>
            <a:r>
              <a:rPr lang="en-US" altLang="en-US" sz="9000" dirty="0">
                <a:solidFill>
                  <a:srgbClr val="002060"/>
                </a:solidFill>
              </a:rPr>
              <a:t> </a:t>
            </a:r>
            <a:r>
              <a:rPr lang="en-US" altLang="en-US" sz="9000" dirty="0" err="1">
                <a:solidFill>
                  <a:srgbClr val="002060"/>
                </a:solidFill>
              </a:rPr>
              <a:t>dọc</a:t>
            </a:r>
            <a:r>
              <a:rPr lang="en-US" altLang="en-US" sz="9000" dirty="0">
                <a:solidFill>
                  <a:srgbClr val="002060"/>
                </a:solidFill>
              </a:rPr>
              <a:t> </a:t>
            </a:r>
            <a:r>
              <a:rPr lang="en-US" altLang="en-US" sz="9000" dirty="0" err="1">
                <a:solidFill>
                  <a:srgbClr val="002060"/>
                </a:solidFill>
              </a:rPr>
              <a:t>hình</a:t>
            </a:r>
            <a:r>
              <a:rPr lang="en-US" altLang="en-US" sz="9000" dirty="0">
                <a:solidFill>
                  <a:srgbClr val="002060"/>
                </a:solidFill>
              </a:rPr>
              <a:t> </a:t>
            </a:r>
            <a:r>
              <a:rPr lang="en-US" altLang="en-US" sz="9000" dirty="0" err="1">
                <a:solidFill>
                  <a:srgbClr val="002060"/>
                </a:solidFill>
              </a:rPr>
              <a:t>thành</a:t>
            </a:r>
            <a:r>
              <a:rPr lang="en-US" altLang="en-US" sz="9000" dirty="0">
                <a:solidFill>
                  <a:srgbClr val="002060"/>
                </a:solidFill>
              </a:rPr>
              <a:t> </a:t>
            </a:r>
            <a:r>
              <a:rPr lang="en-US" altLang="en-US" sz="9000" dirty="0" err="1">
                <a:solidFill>
                  <a:srgbClr val="002060"/>
                </a:solidFill>
              </a:rPr>
              <a:t>bằng</a:t>
            </a:r>
            <a:r>
              <a:rPr lang="en-US" altLang="en-US" sz="9000" dirty="0">
                <a:solidFill>
                  <a:srgbClr val="002060"/>
                </a:solidFill>
              </a:rPr>
              <a:t> con </a:t>
            </a:r>
            <a:r>
              <a:rPr lang="en-US" altLang="en-US" sz="9000" dirty="0" err="1">
                <a:solidFill>
                  <a:srgbClr val="002060"/>
                </a:solidFill>
              </a:rPr>
              <a:t>đường</a:t>
            </a:r>
            <a:r>
              <a:rPr lang="en-US" altLang="en-US" sz="9000" dirty="0">
                <a:solidFill>
                  <a:srgbClr val="002060"/>
                </a:solidFill>
              </a:rPr>
              <a:t> </a:t>
            </a:r>
            <a:r>
              <a:rPr lang="en-US" altLang="en-US" sz="9000" dirty="0" err="1">
                <a:solidFill>
                  <a:srgbClr val="002060"/>
                </a:solidFill>
              </a:rPr>
              <a:t>tập</a:t>
            </a:r>
            <a:r>
              <a:rPr lang="en-US" altLang="en-US" sz="9000" dirty="0">
                <a:solidFill>
                  <a:srgbClr val="002060"/>
                </a:solidFill>
              </a:rPr>
              <a:t> </a:t>
            </a:r>
            <a:r>
              <a:rPr lang="en-US" altLang="en-US" sz="9000" dirty="0" err="1">
                <a:solidFill>
                  <a:srgbClr val="002060"/>
                </a:solidFill>
              </a:rPr>
              <a:t>trung</a:t>
            </a:r>
            <a:r>
              <a:rPr lang="en-US" altLang="en-US" sz="9000" dirty="0">
                <a:solidFill>
                  <a:srgbClr val="002060"/>
                </a:solidFill>
              </a:rPr>
              <a:t> </a:t>
            </a:r>
            <a:r>
              <a:rPr lang="en-US" altLang="en-US" sz="9000" dirty="0" err="1">
                <a:solidFill>
                  <a:srgbClr val="002060"/>
                </a:solidFill>
              </a:rPr>
              <a:t>vốn</a:t>
            </a:r>
            <a:r>
              <a:rPr lang="en-US" altLang="en-US" sz="9000" dirty="0">
                <a:solidFill>
                  <a:srgbClr val="002060"/>
                </a:solidFill>
              </a:rPr>
              <a:t> </a:t>
            </a:r>
            <a:r>
              <a:rPr lang="en-US" altLang="en-US" sz="9000" dirty="0" err="1">
                <a:solidFill>
                  <a:srgbClr val="002060"/>
                </a:solidFill>
              </a:rPr>
              <a:t>thông</a:t>
            </a:r>
            <a:r>
              <a:rPr lang="en-US" altLang="en-US" sz="9000" dirty="0">
                <a:solidFill>
                  <a:srgbClr val="002060"/>
                </a:solidFill>
              </a:rPr>
              <a:t> qua </a:t>
            </a:r>
            <a:r>
              <a:rPr lang="en-US" altLang="en-US" sz="9000" dirty="0" err="1">
                <a:solidFill>
                  <a:srgbClr val="002060"/>
                </a:solidFill>
              </a:rPr>
              <a:t>việc</a:t>
            </a:r>
            <a:r>
              <a:rPr lang="en-US" altLang="en-US" sz="9000" dirty="0">
                <a:solidFill>
                  <a:srgbClr val="002060"/>
                </a:solidFill>
              </a:rPr>
              <a:t> </a:t>
            </a:r>
            <a:r>
              <a:rPr lang="en-US" altLang="en-US" sz="9000" dirty="0" err="1">
                <a:solidFill>
                  <a:srgbClr val="002060"/>
                </a:solidFill>
              </a:rPr>
              <a:t>phát</a:t>
            </a:r>
            <a:r>
              <a:rPr lang="en-US" altLang="en-US" sz="9000" dirty="0">
                <a:solidFill>
                  <a:srgbClr val="002060"/>
                </a:solidFill>
              </a:rPr>
              <a:t> </a:t>
            </a:r>
            <a:r>
              <a:rPr lang="en-US" altLang="en-US" sz="9000" dirty="0" err="1">
                <a:solidFill>
                  <a:srgbClr val="002060"/>
                </a:solidFill>
              </a:rPr>
              <a:t>hành</a:t>
            </a:r>
            <a:r>
              <a:rPr lang="en-US" altLang="en-US" sz="9000" dirty="0">
                <a:solidFill>
                  <a:srgbClr val="002060"/>
                </a:solidFill>
              </a:rPr>
              <a:t> </a:t>
            </a:r>
            <a:r>
              <a:rPr lang="en-US" altLang="en-US" sz="9000" dirty="0" err="1">
                <a:solidFill>
                  <a:srgbClr val="002060"/>
                </a:solidFill>
                <a:highlight>
                  <a:srgbClr val="FFFF00"/>
                </a:highlight>
              </a:rPr>
              <a:t>cổ</a:t>
            </a:r>
            <a:r>
              <a:rPr lang="en-US" altLang="en-US" sz="9000" dirty="0">
                <a:solidFill>
                  <a:srgbClr val="002060"/>
                </a:solidFill>
                <a:highlight>
                  <a:srgbClr val="FFFF00"/>
                </a:highlight>
              </a:rPr>
              <a:t> </a:t>
            </a:r>
            <a:r>
              <a:rPr lang="en-US" altLang="en-US" sz="9000" dirty="0" err="1">
                <a:solidFill>
                  <a:srgbClr val="002060"/>
                </a:solidFill>
                <a:highlight>
                  <a:srgbClr val="FFFF00"/>
                </a:highlight>
              </a:rPr>
              <a:t>phiếu</a:t>
            </a:r>
            <a:r>
              <a:rPr lang="en-US" altLang="en-US" sz="9000" dirty="0">
                <a:solidFill>
                  <a:srgbClr val="002060"/>
                </a:solidFill>
                <a:highlight>
                  <a:srgbClr val="FFFF00"/>
                </a:highlight>
              </a:rPr>
              <a:t> </a:t>
            </a:r>
            <a:r>
              <a:rPr lang="en-US" altLang="en-US" sz="9000" dirty="0" err="1">
                <a:solidFill>
                  <a:srgbClr val="002060"/>
                </a:solidFill>
                <a:highlight>
                  <a:srgbClr val="FFFF00"/>
                </a:highlight>
              </a:rPr>
              <a:t>và</a:t>
            </a:r>
            <a:r>
              <a:rPr lang="en-US" altLang="en-US" sz="9000" dirty="0">
                <a:solidFill>
                  <a:srgbClr val="002060"/>
                </a:solidFill>
                <a:highlight>
                  <a:srgbClr val="FFFF00"/>
                </a:highlight>
              </a:rPr>
              <a:t> </a:t>
            </a:r>
            <a:r>
              <a:rPr lang="en-US" altLang="en-US" sz="9000" dirty="0" err="1">
                <a:solidFill>
                  <a:srgbClr val="002060"/>
                </a:solidFill>
                <a:highlight>
                  <a:srgbClr val="FFFF00"/>
                </a:highlight>
              </a:rPr>
              <a:t>trái</a:t>
            </a:r>
            <a:r>
              <a:rPr lang="en-US" altLang="en-US" sz="9000" dirty="0">
                <a:solidFill>
                  <a:srgbClr val="002060"/>
                </a:solidFill>
                <a:highlight>
                  <a:srgbClr val="FFFF00"/>
                </a:highlight>
              </a:rPr>
              <a:t> </a:t>
            </a:r>
            <a:r>
              <a:rPr lang="en-US" altLang="en-US" sz="9000" dirty="0" err="1">
                <a:solidFill>
                  <a:srgbClr val="002060"/>
                </a:solidFill>
                <a:highlight>
                  <a:srgbClr val="FFFF00"/>
                </a:highlight>
              </a:rPr>
              <a:t>phiếu</a:t>
            </a:r>
            <a:r>
              <a:rPr lang="en-US" altLang="en-US" sz="9000" dirty="0">
                <a:solidFill>
                  <a:srgbClr val="002060"/>
                </a:solidFill>
                <a:highlight>
                  <a:srgbClr val="FFFF00"/>
                </a:highlight>
              </a:rPr>
              <a:t> </a:t>
            </a:r>
            <a:r>
              <a:rPr lang="en-US" altLang="en-US" sz="9000" dirty="0">
                <a:solidFill>
                  <a:srgbClr val="002060"/>
                </a:solidFill>
                <a:highlight>
                  <a:srgbClr val="FFFF00"/>
                </a:highlight>
                <a:sym typeface="Wingdings" panose="05000000000000000000" pitchFamily="2" charset="2"/>
              </a:rPr>
              <a:t> TƯ BẢN GIẢ</a:t>
            </a:r>
            <a:endParaRPr lang="en-US" altLang="en-US" sz="9000" dirty="0">
              <a:solidFill>
                <a:srgbClr val="002060"/>
              </a:solidFill>
              <a:highlight>
                <a:srgbClr val="FFFF00"/>
              </a:highlight>
            </a:endParaRPr>
          </a:p>
        </p:txBody>
      </p:sp>
    </p:spTree>
    <p:extLst>
      <p:ext uri="{BB962C8B-B14F-4D97-AF65-F5344CB8AC3E}">
        <p14:creationId xmlns:p14="http://schemas.microsoft.com/office/powerpoint/2010/main" val="5120379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E475F40-1FC5-240E-98B0-A8D9FD232880}"/>
              </a:ext>
            </a:extLst>
          </p:cNvPr>
          <p:cNvSpPr txBox="1">
            <a:spLocks noChangeArrowheads="1"/>
          </p:cNvSpPr>
          <p:nvPr/>
        </p:nvSpPr>
        <p:spPr>
          <a:xfrm>
            <a:off x="3799840" y="782956"/>
            <a:ext cx="105210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6400" b="1">
                <a:solidFill>
                  <a:srgbClr val="002060"/>
                </a:solidFill>
                <a:latin typeface="Aachen" panose="02020500000000000000" pitchFamily="18" charset="0"/>
                <a:ea typeface="Aachen" panose="02020500000000000000" pitchFamily="18" charset="0"/>
                <a:cs typeface="Aachen" panose="02020500000000000000" pitchFamily="18" charset="0"/>
              </a:rPr>
              <a:t>ĐỊA TÔ</a:t>
            </a:r>
          </a:p>
        </p:txBody>
      </p:sp>
      <p:sp>
        <p:nvSpPr>
          <p:cNvPr id="5" name="Text Box 3">
            <a:extLst>
              <a:ext uri="{FF2B5EF4-FFF2-40B4-BE49-F238E27FC236}">
                <a16:creationId xmlns:a16="http://schemas.microsoft.com/office/drawing/2014/main" id="{EC58D11B-DEC1-CB1D-CEB4-D0A66EE5B53E}"/>
              </a:ext>
            </a:extLst>
          </p:cNvPr>
          <p:cNvSpPr txBox="1">
            <a:spLocks noChangeArrowheads="1"/>
          </p:cNvSpPr>
          <p:nvPr/>
        </p:nvSpPr>
        <p:spPr bwMode="auto">
          <a:xfrm>
            <a:off x="3971291" y="2084706"/>
            <a:ext cx="18473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9600"/>
          </a:p>
        </p:txBody>
      </p:sp>
      <p:sp>
        <p:nvSpPr>
          <p:cNvPr id="7" name="Oval 2">
            <a:extLst>
              <a:ext uri="{FF2B5EF4-FFF2-40B4-BE49-F238E27FC236}">
                <a16:creationId xmlns:a16="http://schemas.microsoft.com/office/drawing/2014/main" id="{77B5E164-D1F3-41E6-871A-8F3E55590A88}"/>
              </a:ext>
            </a:extLst>
          </p:cNvPr>
          <p:cNvSpPr>
            <a:spLocks noChangeArrowheads="1"/>
          </p:cNvSpPr>
          <p:nvPr/>
        </p:nvSpPr>
        <p:spPr bwMode="auto">
          <a:xfrm>
            <a:off x="7508240" y="2367277"/>
            <a:ext cx="3505200" cy="2416178"/>
          </a:xfrm>
          <a:prstGeom prst="ellipse">
            <a:avLst/>
          </a:prstGeom>
          <a:solidFill>
            <a:srgbClr val="FFCCCC"/>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20000"/>
              </a:spcBef>
            </a:pPr>
            <a:r>
              <a:rPr lang="en-US" altLang="en-US" sz="5600">
                <a:latin typeface="Arial" panose="020B0604020202020204" pitchFamily="34" charset="0"/>
                <a:cs typeface="Arial" panose="020B0604020202020204" pitchFamily="34" charset="0"/>
              </a:rPr>
              <a:t>Địa chủ</a:t>
            </a:r>
          </a:p>
        </p:txBody>
      </p:sp>
      <p:sp>
        <p:nvSpPr>
          <p:cNvPr id="8" name="Rectangle 3">
            <a:extLst>
              <a:ext uri="{FF2B5EF4-FFF2-40B4-BE49-F238E27FC236}">
                <a16:creationId xmlns:a16="http://schemas.microsoft.com/office/drawing/2014/main" id="{23E3E9BB-0206-1922-71CE-8B9BA978D8F9}"/>
              </a:ext>
            </a:extLst>
          </p:cNvPr>
          <p:cNvSpPr>
            <a:spLocks noChangeArrowheads="1"/>
          </p:cNvSpPr>
          <p:nvPr/>
        </p:nvSpPr>
        <p:spPr bwMode="auto">
          <a:xfrm>
            <a:off x="5069840" y="6269355"/>
            <a:ext cx="8077200" cy="1419226"/>
          </a:xfrm>
          <a:prstGeom prst="rect">
            <a:avLst/>
          </a:prstGeom>
          <a:solidFill>
            <a:srgbClr val="CCCCFF"/>
          </a:solidFill>
          <a:ln w="19050">
            <a:solidFill>
              <a:schemeClr val="bg2"/>
            </a:solidFill>
            <a:miter lim="800000"/>
            <a:headEnd/>
            <a:tailEnd/>
          </a:ln>
        </p:spPr>
        <p:txBody>
          <a:bodyPr wrap="none" anchor="ct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20000"/>
              </a:spcBef>
            </a:pPr>
            <a:r>
              <a:rPr lang="en-US" altLang="en-US" sz="4800">
                <a:latin typeface="Arial" panose="020B0604020202020204" pitchFamily="34" charset="0"/>
                <a:cs typeface="Arial" panose="020B0604020202020204" pitchFamily="34" charset="0"/>
              </a:rPr>
              <a:t>TB kinh doanh nông nghiệp</a:t>
            </a:r>
          </a:p>
        </p:txBody>
      </p:sp>
      <p:sp>
        <p:nvSpPr>
          <p:cNvPr id="9" name="Rectangle 4">
            <a:extLst>
              <a:ext uri="{FF2B5EF4-FFF2-40B4-BE49-F238E27FC236}">
                <a16:creationId xmlns:a16="http://schemas.microsoft.com/office/drawing/2014/main" id="{53143071-4B02-08ED-79BB-E4CE3F7E491F}"/>
              </a:ext>
            </a:extLst>
          </p:cNvPr>
          <p:cNvSpPr>
            <a:spLocks noChangeArrowheads="1"/>
          </p:cNvSpPr>
          <p:nvPr/>
        </p:nvSpPr>
        <p:spPr bwMode="auto">
          <a:xfrm>
            <a:off x="5374640" y="9012554"/>
            <a:ext cx="8385176" cy="1450976"/>
          </a:xfrm>
          <a:prstGeom prst="rect">
            <a:avLst/>
          </a:prstGeom>
          <a:solidFill>
            <a:srgbClr val="CCFFCC"/>
          </a:solidFill>
          <a:ln w="19050">
            <a:solidFill>
              <a:schemeClr val="bg2"/>
            </a:solidFill>
            <a:miter lim="800000"/>
            <a:headEnd/>
            <a:tailEnd/>
          </a:ln>
        </p:spPr>
        <p:txBody>
          <a:bodyPr wrap="none" anchor="ct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20000"/>
              </a:spcBef>
            </a:pPr>
            <a:r>
              <a:rPr lang="en-US" altLang="en-US" sz="4800" b="1">
                <a:latin typeface="Arial" panose="020B0604020202020204" pitchFamily="34" charset="0"/>
                <a:cs typeface="Arial" panose="020B0604020202020204" pitchFamily="34" charset="0"/>
              </a:rPr>
              <a:t>Công nhân nông nghiệp</a:t>
            </a:r>
            <a:r>
              <a:rPr lang="en-US" altLang="en-US" sz="4800">
                <a:latin typeface="Arial" panose="020B0604020202020204" pitchFamily="34" charset="0"/>
                <a:cs typeface="Arial" panose="020B0604020202020204" pitchFamily="34" charset="0"/>
              </a:rPr>
              <a:t>  </a:t>
            </a:r>
          </a:p>
        </p:txBody>
      </p:sp>
      <p:sp>
        <p:nvSpPr>
          <p:cNvPr id="10" name="Rectangle 5">
            <a:extLst>
              <a:ext uri="{FF2B5EF4-FFF2-40B4-BE49-F238E27FC236}">
                <a16:creationId xmlns:a16="http://schemas.microsoft.com/office/drawing/2014/main" id="{4AB08A18-9C82-547F-0C39-ABD7173EECAD}"/>
              </a:ext>
            </a:extLst>
          </p:cNvPr>
          <p:cNvSpPr>
            <a:spLocks noChangeArrowheads="1"/>
          </p:cNvSpPr>
          <p:nvPr/>
        </p:nvSpPr>
        <p:spPr bwMode="auto">
          <a:xfrm>
            <a:off x="2021840" y="10908030"/>
            <a:ext cx="3962400" cy="1447800"/>
          </a:xfrm>
          <a:prstGeom prst="rect">
            <a:avLst/>
          </a:prstGeom>
          <a:solidFill>
            <a:srgbClr val="993300"/>
          </a:solidFill>
          <a:ln w="28575">
            <a:solidFill>
              <a:schemeClr val="bg2"/>
            </a:solidFill>
            <a:miter lim="800000"/>
            <a:headEnd/>
            <a:tailEnd/>
          </a:ln>
        </p:spPr>
        <p:txBody>
          <a:bodyPr wrap="none" anchor="ctr"/>
          <a:lstStyle/>
          <a:p>
            <a:pPr algn="ctr">
              <a:spcBef>
                <a:spcPct val="20000"/>
              </a:spcBef>
              <a:defRPr/>
            </a:pPr>
            <a:r>
              <a:rPr lang="en-US" b="1" dirty="0" err="1">
                <a:solidFill>
                  <a:schemeClr val="bg1"/>
                </a:solidFill>
                <a:ea typeface="ＭＳ Ｐゴシック" charset="0"/>
                <a:cs typeface="Arial" charset="0"/>
              </a:rPr>
              <a:t>Nông</a:t>
            </a:r>
            <a:r>
              <a:rPr lang="en-US" b="1" dirty="0">
                <a:solidFill>
                  <a:schemeClr val="bg1"/>
                </a:solidFill>
                <a:ea typeface="ＭＳ Ｐゴシック" charset="0"/>
                <a:cs typeface="Arial" charset="0"/>
              </a:rPr>
              <a:t> </a:t>
            </a:r>
            <a:r>
              <a:rPr lang="en-US" b="1" dirty="0" err="1">
                <a:solidFill>
                  <a:schemeClr val="bg1"/>
                </a:solidFill>
                <a:ea typeface="ＭＳ Ｐゴシック" charset="0"/>
                <a:cs typeface="Arial" charset="0"/>
              </a:rPr>
              <a:t>dân</a:t>
            </a:r>
            <a:r>
              <a:rPr lang="en-US" dirty="0">
                <a:ea typeface="ＭＳ Ｐゴシック" charset="0"/>
                <a:cs typeface="Arial" charset="0"/>
              </a:rPr>
              <a:t> </a:t>
            </a:r>
          </a:p>
        </p:txBody>
      </p:sp>
      <p:sp>
        <p:nvSpPr>
          <p:cNvPr id="11" name="Line 6">
            <a:extLst>
              <a:ext uri="{FF2B5EF4-FFF2-40B4-BE49-F238E27FC236}">
                <a16:creationId xmlns:a16="http://schemas.microsoft.com/office/drawing/2014/main" id="{346549DE-C8DF-AD6D-036B-E85B7DD54613}"/>
              </a:ext>
            </a:extLst>
          </p:cNvPr>
          <p:cNvSpPr>
            <a:spLocks noChangeShapeType="1"/>
          </p:cNvSpPr>
          <p:nvPr/>
        </p:nvSpPr>
        <p:spPr bwMode="auto">
          <a:xfrm flipH="1">
            <a:off x="3850640" y="3500754"/>
            <a:ext cx="3657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9600"/>
          </a:p>
        </p:txBody>
      </p:sp>
      <p:sp>
        <p:nvSpPr>
          <p:cNvPr id="12" name="Line 7">
            <a:extLst>
              <a:ext uri="{FF2B5EF4-FFF2-40B4-BE49-F238E27FC236}">
                <a16:creationId xmlns:a16="http://schemas.microsoft.com/office/drawing/2014/main" id="{B85EBEA2-23D0-76D0-BA8A-B9C677A1271B}"/>
              </a:ext>
            </a:extLst>
          </p:cNvPr>
          <p:cNvSpPr>
            <a:spLocks noChangeShapeType="1"/>
          </p:cNvSpPr>
          <p:nvPr/>
        </p:nvSpPr>
        <p:spPr bwMode="auto">
          <a:xfrm>
            <a:off x="3850640" y="3500754"/>
            <a:ext cx="0" cy="740727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9600"/>
          </a:p>
        </p:txBody>
      </p:sp>
      <p:sp>
        <p:nvSpPr>
          <p:cNvPr id="13" name="Line 8">
            <a:extLst>
              <a:ext uri="{FF2B5EF4-FFF2-40B4-BE49-F238E27FC236}">
                <a16:creationId xmlns:a16="http://schemas.microsoft.com/office/drawing/2014/main" id="{36B143A3-24B5-7A47-8E78-6AADB3F850C4}"/>
              </a:ext>
            </a:extLst>
          </p:cNvPr>
          <p:cNvSpPr>
            <a:spLocks noChangeShapeType="1"/>
          </p:cNvSpPr>
          <p:nvPr/>
        </p:nvSpPr>
        <p:spPr bwMode="auto">
          <a:xfrm>
            <a:off x="5984240" y="11711304"/>
            <a:ext cx="9296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9600"/>
          </a:p>
        </p:txBody>
      </p:sp>
      <p:sp>
        <p:nvSpPr>
          <p:cNvPr id="14" name="Line 9">
            <a:extLst>
              <a:ext uri="{FF2B5EF4-FFF2-40B4-BE49-F238E27FC236}">
                <a16:creationId xmlns:a16="http://schemas.microsoft.com/office/drawing/2014/main" id="{26C9F269-00CA-657A-9E90-FB3FAF4F1420}"/>
              </a:ext>
            </a:extLst>
          </p:cNvPr>
          <p:cNvSpPr>
            <a:spLocks noChangeShapeType="1"/>
          </p:cNvSpPr>
          <p:nvPr/>
        </p:nvSpPr>
        <p:spPr bwMode="auto">
          <a:xfrm>
            <a:off x="9337040" y="5110480"/>
            <a:ext cx="0" cy="1127124"/>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9600"/>
          </a:p>
        </p:txBody>
      </p:sp>
      <p:sp>
        <p:nvSpPr>
          <p:cNvPr id="15" name="Line 10">
            <a:extLst>
              <a:ext uri="{FF2B5EF4-FFF2-40B4-BE49-F238E27FC236}">
                <a16:creationId xmlns:a16="http://schemas.microsoft.com/office/drawing/2014/main" id="{F345B7A8-6B89-666A-328E-C4E4A5C51B63}"/>
              </a:ext>
            </a:extLst>
          </p:cNvPr>
          <p:cNvSpPr>
            <a:spLocks noChangeShapeType="1"/>
          </p:cNvSpPr>
          <p:nvPr/>
        </p:nvSpPr>
        <p:spPr bwMode="auto">
          <a:xfrm>
            <a:off x="9337040" y="7847330"/>
            <a:ext cx="0" cy="1127124"/>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9600"/>
          </a:p>
        </p:txBody>
      </p:sp>
      <p:sp>
        <p:nvSpPr>
          <p:cNvPr id="16" name="Line 11">
            <a:extLst>
              <a:ext uri="{FF2B5EF4-FFF2-40B4-BE49-F238E27FC236}">
                <a16:creationId xmlns:a16="http://schemas.microsoft.com/office/drawing/2014/main" id="{5DABAB34-3BBA-5704-0828-7E600426ECE0}"/>
              </a:ext>
            </a:extLst>
          </p:cNvPr>
          <p:cNvSpPr>
            <a:spLocks noChangeShapeType="1"/>
          </p:cNvSpPr>
          <p:nvPr/>
        </p:nvSpPr>
        <p:spPr bwMode="auto">
          <a:xfrm>
            <a:off x="13905867" y="9780904"/>
            <a:ext cx="460374"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sz="9600"/>
          </a:p>
        </p:txBody>
      </p:sp>
      <p:sp>
        <p:nvSpPr>
          <p:cNvPr id="17" name="Line 12">
            <a:extLst>
              <a:ext uri="{FF2B5EF4-FFF2-40B4-BE49-F238E27FC236}">
                <a16:creationId xmlns:a16="http://schemas.microsoft.com/office/drawing/2014/main" id="{3F9F4E70-2F84-E934-00A7-96D08303246C}"/>
              </a:ext>
            </a:extLst>
          </p:cNvPr>
          <p:cNvSpPr>
            <a:spLocks noChangeShapeType="1"/>
          </p:cNvSpPr>
          <p:nvPr/>
        </p:nvSpPr>
        <p:spPr bwMode="auto">
          <a:xfrm flipV="1">
            <a:off x="14366240" y="7205980"/>
            <a:ext cx="0" cy="2574924"/>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sz="9600"/>
          </a:p>
        </p:txBody>
      </p:sp>
      <p:sp>
        <p:nvSpPr>
          <p:cNvPr id="18" name="Line 13">
            <a:extLst>
              <a:ext uri="{FF2B5EF4-FFF2-40B4-BE49-F238E27FC236}">
                <a16:creationId xmlns:a16="http://schemas.microsoft.com/office/drawing/2014/main" id="{6B61C1E0-E905-29E7-CC29-1C5D6CD4F8E6}"/>
              </a:ext>
            </a:extLst>
          </p:cNvPr>
          <p:cNvSpPr>
            <a:spLocks noChangeShapeType="1"/>
          </p:cNvSpPr>
          <p:nvPr/>
        </p:nvSpPr>
        <p:spPr bwMode="auto">
          <a:xfrm flipH="1">
            <a:off x="13147040" y="7205980"/>
            <a:ext cx="1219200" cy="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9600"/>
          </a:p>
        </p:txBody>
      </p:sp>
      <p:sp>
        <p:nvSpPr>
          <p:cNvPr id="19" name="Line 14">
            <a:extLst>
              <a:ext uri="{FF2B5EF4-FFF2-40B4-BE49-F238E27FC236}">
                <a16:creationId xmlns:a16="http://schemas.microsoft.com/office/drawing/2014/main" id="{7E960669-192A-BDF1-59FE-8D53EB3E9E04}"/>
              </a:ext>
            </a:extLst>
          </p:cNvPr>
          <p:cNvSpPr>
            <a:spLocks noChangeShapeType="1"/>
          </p:cNvSpPr>
          <p:nvPr/>
        </p:nvSpPr>
        <p:spPr bwMode="auto">
          <a:xfrm>
            <a:off x="13147040" y="6561454"/>
            <a:ext cx="12192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sz="9600"/>
          </a:p>
        </p:txBody>
      </p:sp>
      <p:sp>
        <p:nvSpPr>
          <p:cNvPr id="20" name="Line 15">
            <a:extLst>
              <a:ext uri="{FF2B5EF4-FFF2-40B4-BE49-F238E27FC236}">
                <a16:creationId xmlns:a16="http://schemas.microsoft.com/office/drawing/2014/main" id="{2579CDEE-DD22-C7B3-A167-6142715217C1}"/>
              </a:ext>
            </a:extLst>
          </p:cNvPr>
          <p:cNvSpPr>
            <a:spLocks noChangeShapeType="1"/>
          </p:cNvSpPr>
          <p:nvPr/>
        </p:nvSpPr>
        <p:spPr bwMode="auto">
          <a:xfrm flipV="1">
            <a:off x="14366240" y="3983355"/>
            <a:ext cx="0" cy="2574926"/>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sz="9600"/>
          </a:p>
        </p:txBody>
      </p:sp>
      <p:sp>
        <p:nvSpPr>
          <p:cNvPr id="21" name="Line 16">
            <a:extLst>
              <a:ext uri="{FF2B5EF4-FFF2-40B4-BE49-F238E27FC236}">
                <a16:creationId xmlns:a16="http://schemas.microsoft.com/office/drawing/2014/main" id="{E51594FF-8E79-115A-6A86-D6B11C73FF5C}"/>
              </a:ext>
            </a:extLst>
          </p:cNvPr>
          <p:cNvSpPr>
            <a:spLocks noChangeShapeType="1"/>
          </p:cNvSpPr>
          <p:nvPr/>
        </p:nvSpPr>
        <p:spPr bwMode="auto">
          <a:xfrm flipH="1">
            <a:off x="10861040" y="3986530"/>
            <a:ext cx="3505200" cy="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9600"/>
          </a:p>
        </p:txBody>
      </p:sp>
      <p:sp>
        <p:nvSpPr>
          <p:cNvPr id="22" name="Line 17">
            <a:extLst>
              <a:ext uri="{FF2B5EF4-FFF2-40B4-BE49-F238E27FC236}">
                <a16:creationId xmlns:a16="http://schemas.microsoft.com/office/drawing/2014/main" id="{2074A88D-AFC0-09A2-8BA8-DEFDD95CEDF7}"/>
              </a:ext>
            </a:extLst>
          </p:cNvPr>
          <p:cNvSpPr>
            <a:spLocks noChangeShapeType="1"/>
          </p:cNvSpPr>
          <p:nvPr/>
        </p:nvSpPr>
        <p:spPr bwMode="auto">
          <a:xfrm flipV="1">
            <a:off x="15280640" y="2697480"/>
            <a:ext cx="0" cy="901382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sz="9600"/>
          </a:p>
        </p:txBody>
      </p:sp>
      <p:sp>
        <p:nvSpPr>
          <p:cNvPr id="23" name="Text Box 18">
            <a:extLst>
              <a:ext uri="{FF2B5EF4-FFF2-40B4-BE49-F238E27FC236}">
                <a16:creationId xmlns:a16="http://schemas.microsoft.com/office/drawing/2014/main" id="{95C5713D-0040-8671-F934-E924EEC2E2B3}"/>
              </a:ext>
            </a:extLst>
          </p:cNvPr>
          <p:cNvSpPr txBox="1">
            <a:spLocks noChangeArrowheads="1"/>
          </p:cNvSpPr>
          <p:nvPr/>
        </p:nvSpPr>
        <p:spPr bwMode="auto">
          <a:xfrm>
            <a:off x="9184640" y="11908155"/>
            <a:ext cx="2593976" cy="954107"/>
          </a:xfrm>
          <a:prstGeom prst="rect">
            <a:avLst/>
          </a:prstGeom>
          <a:solidFill>
            <a:srgbClr val="FFFFCC"/>
          </a:solidFill>
          <a:ln w="19050">
            <a:solidFill>
              <a:schemeClr val="bg2"/>
            </a:solidFill>
            <a:miter lim="800000"/>
            <a:headEnd/>
            <a:tailEnd/>
          </a:ln>
        </p:spPr>
        <p:txBody>
          <a:bodyPr wrap="squar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lgn="ctr">
              <a:spcBef>
                <a:spcPct val="50000"/>
              </a:spcBef>
            </a:pPr>
            <a:r>
              <a:rPr lang="en-US" altLang="en-US" sz="5600" b="1">
                <a:latin typeface="Arial" panose="020B0604020202020204" pitchFamily="34" charset="0"/>
                <a:cs typeface="Arial" panose="020B0604020202020204" pitchFamily="34" charset="0"/>
              </a:rPr>
              <a:t>r</a:t>
            </a:r>
            <a:r>
              <a:rPr lang="en-US" altLang="en-US" sz="5600" b="1" baseline="-25000">
                <a:latin typeface="Arial" panose="020B0604020202020204" pitchFamily="34" charset="0"/>
                <a:cs typeface="Arial" panose="020B0604020202020204" pitchFamily="34" charset="0"/>
              </a:rPr>
              <a:t>PK</a:t>
            </a:r>
            <a:endParaRPr lang="en-US" altLang="en-US" sz="5600" b="1">
              <a:latin typeface="Arial" panose="020B0604020202020204" pitchFamily="34" charset="0"/>
              <a:cs typeface="Arial" panose="020B0604020202020204" pitchFamily="34" charset="0"/>
            </a:endParaRPr>
          </a:p>
        </p:txBody>
      </p:sp>
      <p:sp>
        <p:nvSpPr>
          <p:cNvPr id="24" name="Text Box 19" descr="Stationery">
            <a:extLst>
              <a:ext uri="{FF2B5EF4-FFF2-40B4-BE49-F238E27FC236}">
                <a16:creationId xmlns:a16="http://schemas.microsoft.com/office/drawing/2014/main" id="{D82CC64F-F473-A98C-8B67-F81CB89B5874}"/>
              </a:ext>
            </a:extLst>
          </p:cNvPr>
          <p:cNvSpPr txBox="1">
            <a:spLocks noChangeArrowheads="1"/>
          </p:cNvSpPr>
          <p:nvPr/>
        </p:nvSpPr>
        <p:spPr bwMode="auto">
          <a:xfrm>
            <a:off x="13147040" y="7526654"/>
            <a:ext cx="12192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spcBef>
                <a:spcPct val="50000"/>
              </a:spcBef>
            </a:pPr>
            <a:r>
              <a:rPr lang="en-US" altLang="en-US" sz="6400" b="1">
                <a:cs typeface="Arial" panose="020B0604020202020204" pitchFamily="34" charset="0"/>
              </a:rPr>
              <a:t>m</a:t>
            </a:r>
            <a:endParaRPr lang="en-US" altLang="en-US" sz="4800">
              <a:cs typeface="Arial" panose="020B0604020202020204" pitchFamily="34" charset="0"/>
            </a:endParaRPr>
          </a:p>
        </p:txBody>
      </p:sp>
      <p:sp>
        <p:nvSpPr>
          <p:cNvPr id="25" name="Text Box 20">
            <a:extLst>
              <a:ext uri="{FF2B5EF4-FFF2-40B4-BE49-F238E27FC236}">
                <a16:creationId xmlns:a16="http://schemas.microsoft.com/office/drawing/2014/main" id="{2D8EEAA8-03CE-592E-6AA5-1E8EB2381B91}"/>
              </a:ext>
            </a:extLst>
          </p:cNvPr>
          <p:cNvSpPr txBox="1">
            <a:spLocks noChangeArrowheads="1"/>
          </p:cNvSpPr>
          <p:nvPr/>
        </p:nvSpPr>
        <p:spPr bwMode="auto">
          <a:xfrm>
            <a:off x="11470643" y="4592954"/>
            <a:ext cx="2438398" cy="954107"/>
          </a:xfrm>
          <a:prstGeom prst="rect">
            <a:avLst/>
          </a:prstGeom>
          <a:solidFill>
            <a:srgbClr val="FFFFCC"/>
          </a:solidFill>
          <a:ln w="19050">
            <a:solidFill>
              <a:schemeClr val="bg2"/>
            </a:solidFill>
            <a:miter lim="800000"/>
            <a:headEnd/>
            <a:tailEnd/>
          </a:ln>
        </p:spPr>
        <p:txBody>
          <a:bodyPr wrap="square">
            <a:spAutoFit/>
          </a:bodyPr>
          <a:lstStyle>
            <a:lvl1pPr marL="342900" indent="-342900">
              <a:defRPr sz="2400">
                <a:solidFill>
                  <a:schemeClr val="tx1"/>
                </a:solidFill>
                <a:latin typeface="VNI-Times" pitchFamily="2" charset="0"/>
                <a:ea typeface="MS PGothic" panose="020B0600070205080204" pitchFamily="34" charset="-128"/>
              </a:defRPr>
            </a:lvl1pPr>
            <a:lvl2pPr marL="11430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lvl="1">
              <a:spcBef>
                <a:spcPct val="50000"/>
              </a:spcBef>
            </a:pPr>
            <a:r>
              <a:rPr lang="en-US" altLang="en-US" sz="5600" b="1">
                <a:cs typeface="Arial" panose="020B0604020202020204" pitchFamily="34" charset="0"/>
              </a:rPr>
              <a:t>r</a:t>
            </a:r>
            <a:r>
              <a:rPr lang="en-US" altLang="en-US" sz="5600" b="1" baseline="-25000">
                <a:cs typeface="Arial" panose="020B0604020202020204" pitchFamily="34" charset="0"/>
              </a:rPr>
              <a:t>TBCN</a:t>
            </a:r>
            <a:endParaRPr lang="en-US" altLang="en-US" sz="5600" b="1">
              <a:cs typeface="Arial" panose="020B0604020202020204" pitchFamily="34" charset="0"/>
            </a:endParaRPr>
          </a:p>
        </p:txBody>
      </p:sp>
      <p:sp>
        <p:nvSpPr>
          <p:cNvPr id="26" name="Line 21">
            <a:extLst>
              <a:ext uri="{FF2B5EF4-FFF2-40B4-BE49-F238E27FC236}">
                <a16:creationId xmlns:a16="http://schemas.microsoft.com/office/drawing/2014/main" id="{16687B79-5C1D-8C3C-F8D4-ECA22CF7561E}"/>
              </a:ext>
            </a:extLst>
          </p:cNvPr>
          <p:cNvSpPr>
            <a:spLocks noChangeShapeType="1"/>
          </p:cNvSpPr>
          <p:nvPr/>
        </p:nvSpPr>
        <p:spPr bwMode="auto">
          <a:xfrm flipH="1">
            <a:off x="10861040" y="2697480"/>
            <a:ext cx="4419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9600"/>
          </a:p>
        </p:txBody>
      </p:sp>
      <p:sp>
        <p:nvSpPr>
          <p:cNvPr id="27" name="Text Box 22" descr="Stationery">
            <a:extLst>
              <a:ext uri="{FF2B5EF4-FFF2-40B4-BE49-F238E27FC236}">
                <a16:creationId xmlns:a16="http://schemas.microsoft.com/office/drawing/2014/main" id="{0C36EE01-C7D4-B4E9-CB82-5DCD6D35C0D0}"/>
              </a:ext>
            </a:extLst>
          </p:cNvPr>
          <p:cNvSpPr txBox="1">
            <a:spLocks noChangeArrowheads="1"/>
          </p:cNvSpPr>
          <p:nvPr/>
        </p:nvSpPr>
        <p:spPr bwMode="auto">
          <a:xfrm rot="16200000">
            <a:off x="218441" y="6564442"/>
            <a:ext cx="6175374" cy="8925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pPr>
              <a:spcBef>
                <a:spcPct val="50000"/>
              </a:spcBef>
            </a:pPr>
            <a:r>
              <a:rPr lang="en-US" altLang="en-US" sz="5200" b="1" i="1">
                <a:latin typeface="Arial" panose="020B0604020202020204" pitchFamily="34" charset="0"/>
                <a:cs typeface="Arial" panose="020B0604020202020204" pitchFamily="34" charset="0"/>
              </a:rPr>
              <a:t>Phát canh thu tô</a:t>
            </a:r>
          </a:p>
        </p:txBody>
      </p:sp>
    </p:spTree>
    <p:extLst>
      <p:ext uri="{BB962C8B-B14F-4D97-AF65-F5344CB8AC3E}">
        <p14:creationId xmlns:p14="http://schemas.microsoft.com/office/powerpoint/2010/main" val="1519313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up)">
                                      <p:cBhvr>
                                        <p:cTn id="22" dur="500"/>
                                        <p:tgtEl>
                                          <p:spTgt spid="12"/>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wipe(up)">
                                      <p:cBhvr>
                                        <p:cTn id="25" dur="500"/>
                                        <p:tgtEl>
                                          <p:spTgt spid="2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down)">
                                      <p:cBhvr>
                                        <p:cTn id="30" dur="500"/>
                                        <p:tgtEl>
                                          <p:spTgt spid="13"/>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wipe(down)">
                                      <p:cBhvr>
                                        <p:cTn id="33" dur="500"/>
                                        <p:tgtEl>
                                          <p:spTgt spid="22"/>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wipe(down)">
                                      <p:cBhvr>
                                        <p:cTn id="36" dur="500"/>
                                        <p:tgtEl>
                                          <p:spTgt spid="26"/>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down)">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up)">
                                      <p:cBhvr>
                                        <p:cTn id="44" dur="500"/>
                                        <p:tgtEl>
                                          <p:spTgt spid="14"/>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up)">
                                      <p:cBhvr>
                                        <p:cTn id="47" dur="500"/>
                                        <p:tgtEl>
                                          <p:spTgt spid="8"/>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up)">
                                      <p:cBhvr>
                                        <p:cTn id="50" dur="500"/>
                                        <p:tgtEl>
                                          <p:spTgt spid="15"/>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up)">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down)">
                                      <p:cBhvr>
                                        <p:cTn id="58" dur="500"/>
                                        <p:tgtEl>
                                          <p:spTgt spid="17"/>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wipe(down)">
                                      <p:cBhvr>
                                        <p:cTn id="61" dur="500"/>
                                        <p:tgtEl>
                                          <p:spTgt spid="16"/>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wipe(down)">
                                      <p:cBhvr>
                                        <p:cTn id="64" dur="500"/>
                                        <p:tgtEl>
                                          <p:spTgt spid="18"/>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wipe(down)">
                                      <p:cBhvr>
                                        <p:cTn id="67" dur="5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wipe(down)">
                                      <p:cBhvr>
                                        <p:cTn id="72" dur="500"/>
                                        <p:tgtEl>
                                          <p:spTgt spid="19"/>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wipe(down)">
                                      <p:cBhvr>
                                        <p:cTn id="75" dur="500"/>
                                        <p:tgtEl>
                                          <p:spTgt spid="25"/>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wipe(down)">
                                      <p:cBhvr>
                                        <p:cTn id="78" dur="500"/>
                                        <p:tgtEl>
                                          <p:spTgt spid="20"/>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Effect transition="in" filter="wipe(down)">
                                      <p:cBhvr>
                                        <p:cTn id="8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p:bldP spid="25" grpId="0" animBg="1"/>
      <p:bldP spid="26" grpId="0" animBg="1"/>
      <p:bldP spid="2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F1FE11F3-1ADE-87B5-3992-CC90B68FB99D}"/>
              </a:ext>
            </a:extLst>
          </p:cNvPr>
          <p:cNvSpPr txBox="1">
            <a:spLocks noChangeArrowheads="1"/>
          </p:cNvSpPr>
          <p:nvPr/>
        </p:nvSpPr>
        <p:spPr bwMode="auto">
          <a:xfrm>
            <a:off x="4154171" y="2287906"/>
            <a:ext cx="18473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9600">
              <a:solidFill>
                <a:srgbClr val="002060"/>
              </a:solidFill>
            </a:endParaRPr>
          </a:p>
        </p:txBody>
      </p:sp>
      <p:sp>
        <p:nvSpPr>
          <p:cNvPr id="3" name="Rectangle 50">
            <a:extLst>
              <a:ext uri="{FF2B5EF4-FFF2-40B4-BE49-F238E27FC236}">
                <a16:creationId xmlns:a16="http://schemas.microsoft.com/office/drawing/2014/main" id="{B5475E86-5AA0-9617-6BC5-A3A4B4877D6A}"/>
              </a:ext>
            </a:extLst>
          </p:cNvPr>
          <p:cNvSpPr>
            <a:spLocks noChangeArrowheads="1"/>
          </p:cNvSpPr>
          <p:nvPr/>
        </p:nvSpPr>
        <p:spPr bwMode="ltGray">
          <a:xfrm flipH="1">
            <a:off x="1475374" y="2976881"/>
            <a:ext cx="10286096" cy="844550"/>
          </a:xfrm>
          <a:prstGeom prst="rect">
            <a:avLst/>
          </a:prstGeom>
          <a:solidFill>
            <a:schemeClr val="bg2">
              <a:lumMod val="60000"/>
              <a:lumOff val="40000"/>
            </a:schemeClr>
          </a:solidFill>
          <a:ln>
            <a:noFill/>
          </a:ln>
          <a:effectLst/>
        </p:spPr>
        <p:txBody>
          <a:bodyPr wrap="none" anchor="ctr"/>
          <a:lstStyle/>
          <a:p>
            <a:pPr algn="ctr">
              <a:defRPr/>
            </a:pPr>
            <a:r>
              <a:rPr lang="en-US" sz="4400" b="1" kern="0" dirty="0">
                <a:solidFill>
                  <a:srgbClr val="002060"/>
                </a:solidFill>
              </a:rPr>
              <a:t>BẢN CHẤT CỦA ĐỊA TÔ TƯ BẢN CHỦ NGHĨA</a:t>
            </a:r>
          </a:p>
        </p:txBody>
      </p:sp>
      <p:sp>
        <p:nvSpPr>
          <p:cNvPr id="6" name="AutoShape 2">
            <a:extLst>
              <a:ext uri="{FF2B5EF4-FFF2-40B4-BE49-F238E27FC236}">
                <a16:creationId xmlns:a16="http://schemas.microsoft.com/office/drawing/2014/main" id="{2BB241EA-9D31-65F1-6B3B-605DC656C152}"/>
              </a:ext>
            </a:extLst>
          </p:cNvPr>
          <p:cNvSpPr>
            <a:spLocks noChangeArrowheads="1"/>
          </p:cNvSpPr>
          <p:nvPr/>
        </p:nvSpPr>
        <p:spPr bwMode="auto">
          <a:xfrm>
            <a:off x="4404996" y="5182737"/>
            <a:ext cx="5114924" cy="263526"/>
          </a:xfrm>
          <a:prstGeom prst="rightArrow">
            <a:avLst>
              <a:gd name="adj1" fmla="val 50000"/>
              <a:gd name="adj2" fmla="val 485243"/>
            </a:avLst>
          </a:prstGeom>
          <a:solidFill>
            <a:schemeClr val="bg2"/>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sz="9600">
              <a:solidFill>
                <a:srgbClr val="002060"/>
              </a:solidFill>
              <a:latin typeface="Arial" charset="0"/>
              <a:ea typeface="ＭＳ Ｐゴシック" charset="0"/>
            </a:endParaRPr>
          </a:p>
        </p:txBody>
      </p:sp>
      <p:sp>
        <p:nvSpPr>
          <p:cNvPr id="28" name="Line 3">
            <a:extLst>
              <a:ext uri="{FF2B5EF4-FFF2-40B4-BE49-F238E27FC236}">
                <a16:creationId xmlns:a16="http://schemas.microsoft.com/office/drawing/2014/main" id="{DBF0C656-DB84-57EF-16A1-C0C51D5A7B82}"/>
              </a:ext>
            </a:extLst>
          </p:cNvPr>
          <p:cNvSpPr>
            <a:spLocks noChangeShapeType="1"/>
          </p:cNvSpPr>
          <p:nvPr/>
        </p:nvSpPr>
        <p:spPr bwMode="auto">
          <a:xfrm flipV="1">
            <a:off x="10885338" y="4427800"/>
            <a:ext cx="1828800" cy="7620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9600">
              <a:solidFill>
                <a:srgbClr val="002060"/>
              </a:solidFill>
              <a:latin typeface="Arial" charset="0"/>
              <a:ea typeface="ＭＳ Ｐゴシック" charset="0"/>
            </a:endParaRPr>
          </a:p>
        </p:txBody>
      </p:sp>
      <p:sp>
        <p:nvSpPr>
          <p:cNvPr id="29" name="Line 4">
            <a:extLst>
              <a:ext uri="{FF2B5EF4-FFF2-40B4-BE49-F238E27FC236}">
                <a16:creationId xmlns:a16="http://schemas.microsoft.com/office/drawing/2014/main" id="{8CDF4E4D-3428-7164-450B-FB4859F50D4A}"/>
              </a:ext>
            </a:extLst>
          </p:cNvPr>
          <p:cNvSpPr>
            <a:spLocks noChangeShapeType="1"/>
          </p:cNvSpPr>
          <p:nvPr/>
        </p:nvSpPr>
        <p:spPr bwMode="auto">
          <a:xfrm>
            <a:off x="10885338" y="5255748"/>
            <a:ext cx="1676400" cy="7620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9600">
              <a:solidFill>
                <a:srgbClr val="002060"/>
              </a:solidFill>
              <a:latin typeface="Arial" charset="0"/>
              <a:ea typeface="ＭＳ Ｐゴシック" charset="0"/>
            </a:endParaRPr>
          </a:p>
        </p:txBody>
      </p:sp>
      <p:sp>
        <p:nvSpPr>
          <p:cNvPr id="30" name="Text Box 8">
            <a:extLst>
              <a:ext uri="{FF2B5EF4-FFF2-40B4-BE49-F238E27FC236}">
                <a16:creationId xmlns:a16="http://schemas.microsoft.com/office/drawing/2014/main" id="{893A5736-7143-808D-FFC9-0E6A3F5752DF}"/>
              </a:ext>
            </a:extLst>
          </p:cNvPr>
          <p:cNvSpPr txBox="1">
            <a:spLocks noChangeArrowheads="1"/>
          </p:cNvSpPr>
          <p:nvPr/>
        </p:nvSpPr>
        <p:spPr bwMode="ltGray">
          <a:xfrm>
            <a:off x="1442721" y="4738238"/>
            <a:ext cx="3079750"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US" altLang="en-US" sz="4800" b="1">
                <a:solidFill>
                  <a:srgbClr val="002060"/>
                </a:solidFill>
                <a:latin typeface="Times New Roman" panose="02020603050405020304" pitchFamily="18" charset="0"/>
                <a:cs typeface="Times New Roman" panose="02020603050405020304" pitchFamily="18" charset="0"/>
              </a:rPr>
              <a:t>TB KD N²</a:t>
            </a:r>
          </a:p>
        </p:txBody>
      </p:sp>
      <p:sp>
        <p:nvSpPr>
          <p:cNvPr id="31" name="Text Box 9">
            <a:extLst>
              <a:ext uri="{FF2B5EF4-FFF2-40B4-BE49-F238E27FC236}">
                <a16:creationId xmlns:a16="http://schemas.microsoft.com/office/drawing/2014/main" id="{EFD13E25-F521-E0DF-9FEC-B42777BFFC0C}"/>
              </a:ext>
            </a:extLst>
          </p:cNvPr>
          <p:cNvSpPr txBox="1">
            <a:spLocks noChangeArrowheads="1"/>
          </p:cNvSpPr>
          <p:nvPr/>
        </p:nvSpPr>
        <p:spPr bwMode="ltGray">
          <a:xfrm>
            <a:off x="4404996" y="4249882"/>
            <a:ext cx="5114924"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spcBef>
                <a:spcPct val="50000"/>
              </a:spcBef>
              <a:defRPr/>
            </a:pPr>
            <a:r>
              <a:rPr lang="en-US" err="1">
                <a:solidFill>
                  <a:srgbClr val="002060"/>
                </a:solidFill>
                <a:latin typeface="Times New Roman"/>
                <a:ea typeface="ＭＳ Ｐゴシック" charset="0"/>
                <a:cs typeface="Times New Roman"/>
              </a:rPr>
              <a:t>Thuê</a:t>
            </a:r>
            <a:r>
              <a:rPr lang="en-US">
                <a:solidFill>
                  <a:srgbClr val="002060"/>
                </a:solidFill>
                <a:latin typeface="Times New Roman"/>
                <a:ea typeface="ＭＳ Ｐゴシック" charset="0"/>
                <a:cs typeface="Times New Roman"/>
              </a:rPr>
              <a:t> đất – Địa chủ</a:t>
            </a:r>
            <a:endParaRPr lang="en-US" dirty="0">
              <a:solidFill>
                <a:srgbClr val="002060"/>
              </a:solidFill>
              <a:latin typeface="Times New Roman"/>
              <a:ea typeface="ＭＳ Ｐゴシック" charset="0"/>
              <a:cs typeface="Times New Roman"/>
            </a:endParaRPr>
          </a:p>
        </p:txBody>
      </p:sp>
      <p:sp>
        <p:nvSpPr>
          <p:cNvPr id="32" name="Text Box 10">
            <a:extLst>
              <a:ext uri="{FF2B5EF4-FFF2-40B4-BE49-F238E27FC236}">
                <a16:creationId xmlns:a16="http://schemas.microsoft.com/office/drawing/2014/main" id="{95763CE0-FC81-BAEE-A5C5-4EB6B9BA6B01}"/>
              </a:ext>
            </a:extLst>
          </p:cNvPr>
          <p:cNvSpPr txBox="1">
            <a:spLocks noChangeArrowheads="1"/>
          </p:cNvSpPr>
          <p:nvPr/>
        </p:nvSpPr>
        <p:spPr bwMode="ltGray">
          <a:xfrm>
            <a:off x="4643120" y="5446262"/>
            <a:ext cx="4876800" cy="1569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spcBef>
                <a:spcPct val="50000"/>
              </a:spcBef>
              <a:defRPr/>
            </a:pPr>
            <a:r>
              <a:rPr lang="en-US" err="1">
                <a:solidFill>
                  <a:srgbClr val="002060"/>
                </a:solidFill>
                <a:latin typeface="Times New Roman"/>
                <a:ea typeface="ＭＳ Ｐゴシック" charset="0"/>
                <a:cs typeface="Times New Roman"/>
              </a:rPr>
              <a:t>Thuê</a:t>
            </a:r>
            <a:r>
              <a:rPr lang="en-US">
                <a:solidFill>
                  <a:srgbClr val="002060"/>
                </a:solidFill>
                <a:latin typeface="Times New Roman"/>
                <a:ea typeface="ＭＳ Ｐゴシック" charset="0"/>
                <a:cs typeface="Times New Roman"/>
              </a:rPr>
              <a:t> SLĐ - Công nhân NN</a:t>
            </a:r>
            <a:endParaRPr lang="en-US" dirty="0">
              <a:solidFill>
                <a:srgbClr val="002060"/>
              </a:solidFill>
              <a:latin typeface="Times New Roman"/>
              <a:ea typeface="ＭＳ Ｐゴシック" charset="0"/>
              <a:cs typeface="Times New Roman"/>
            </a:endParaRPr>
          </a:p>
        </p:txBody>
      </p:sp>
      <p:sp>
        <p:nvSpPr>
          <p:cNvPr id="33" name="Text Box 11">
            <a:extLst>
              <a:ext uri="{FF2B5EF4-FFF2-40B4-BE49-F238E27FC236}">
                <a16:creationId xmlns:a16="http://schemas.microsoft.com/office/drawing/2014/main" id="{9B6FC287-D793-6E61-F20E-0B1CF01843CB}"/>
              </a:ext>
            </a:extLst>
          </p:cNvPr>
          <p:cNvSpPr txBox="1">
            <a:spLocks noChangeArrowheads="1"/>
          </p:cNvSpPr>
          <p:nvPr/>
        </p:nvSpPr>
        <p:spPr bwMode="ltGray">
          <a:xfrm>
            <a:off x="12314750" y="5446262"/>
            <a:ext cx="4672772" cy="15696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spcBef>
                <a:spcPct val="50000"/>
              </a:spcBef>
              <a:defRPr/>
            </a:pPr>
            <a:r>
              <a:rPr lang="en-US" dirty="0" err="1">
                <a:solidFill>
                  <a:srgbClr val="002060"/>
                </a:solidFill>
                <a:latin typeface="Times New Roman"/>
                <a:ea typeface="ＭＳ Ｐゴシック" charset="0"/>
                <a:cs typeface="Times New Roman"/>
              </a:rPr>
              <a:t>Trả</a:t>
            </a:r>
            <a:r>
              <a:rPr lang="en-US" dirty="0">
                <a:solidFill>
                  <a:srgbClr val="002060"/>
                </a:solidFill>
                <a:latin typeface="Times New Roman"/>
                <a:ea typeface="ＭＳ Ｐゴシック" charset="0"/>
                <a:cs typeface="Times New Roman"/>
              </a:rPr>
              <a:t> </a:t>
            </a:r>
            <a:r>
              <a:rPr lang="en-US" dirty="0" err="1">
                <a:solidFill>
                  <a:srgbClr val="002060"/>
                </a:solidFill>
                <a:latin typeface="Times New Roman"/>
                <a:ea typeface="ＭＳ Ｐゴシック" charset="0"/>
                <a:cs typeface="Times New Roman"/>
              </a:rPr>
              <a:t>tiền</a:t>
            </a:r>
            <a:r>
              <a:rPr lang="en-US" dirty="0">
                <a:solidFill>
                  <a:srgbClr val="002060"/>
                </a:solidFill>
                <a:latin typeface="Times New Roman"/>
                <a:ea typeface="ＭＳ Ｐゴシック" charset="0"/>
                <a:cs typeface="Times New Roman"/>
              </a:rPr>
              <a:t> </a:t>
            </a:r>
            <a:r>
              <a:rPr lang="en-US" err="1">
                <a:solidFill>
                  <a:srgbClr val="002060"/>
                </a:solidFill>
                <a:latin typeface="Times New Roman"/>
                <a:ea typeface="ＭＳ Ｐゴシック" charset="0"/>
                <a:cs typeface="Times New Roman"/>
              </a:rPr>
              <a:t>thuê</a:t>
            </a:r>
            <a:r>
              <a:rPr lang="en-US">
                <a:solidFill>
                  <a:srgbClr val="002060"/>
                </a:solidFill>
                <a:latin typeface="Times New Roman"/>
                <a:ea typeface="ＭＳ Ｐゴシック" charset="0"/>
                <a:cs typeface="Times New Roman"/>
              </a:rPr>
              <a:t> đất </a:t>
            </a:r>
            <a:r>
              <a:rPr lang="en-US" dirty="0">
                <a:solidFill>
                  <a:srgbClr val="002060"/>
                </a:solidFill>
                <a:latin typeface="Times New Roman"/>
                <a:ea typeface="ＭＳ Ｐゴシック" charset="0"/>
                <a:cs typeface="Times New Roman"/>
              </a:rPr>
              <a:t>(</a:t>
            </a:r>
            <a:r>
              <a:rPr lang="en-US" dirty="0" err="1">
                <a:solidFill>
                  <a:srgbClr val="002060"/>
                </a:solidFill>
                <a:latin typeface="Times New Roman"/>
                <a:ea typeface="ＭＳ Ｐゴシック" charset="0"/>
                <a:cs typeface="Times New Roman"/>
              </a:rPr>
              <a:t>địa</a:t>
            </a:r>
            <a:r>
              <a:rPr lang="en-US" dirty="0">
                <a:solidFill>
                  <a:srgbClr val="002060"/>
                </a:solidFill>
                <a:latin typeface="Times New Roman"/>
                <a:ea typeface="ＭＳ Ｐゴシック" charset="0"/>
                <a:cs typeface="Times New Roman"/>
              </a:rPr>
              <a:t> </a:t>
            </a:r>
            <a:r>
              <a:rPr lang="en-US" dirty="0" err="1">
                <a:solidFill>
                  <a:srgbClr val="002060"/>
                </a:solidFill>
                <a:latin typeface="Times New Roman"/>
                <a:ea typeface="ＭＳ Ｐゴシック" charset="0"/>
                <a:cs typeface="Times New Roman"/>
              </a:rPr>
              <a:t>tô</a:t>
            </a:r>
            <a:r>
              <a:rPr lang="en-US" dirty="0">
                <a:solidFill>
                  <a:srgbClr val="002060"/>
                </a:solidFill>
                <a:latin typeface="Times New Roman"/>
                <a:ea typeface="ＭＳ Ｐゴシック" charset="0"/>
                <a:cs typeface="Times New Roman"/>
              </a:rPr>
              <a:t>)</a:t>
            </a:r>
          </a:p>
        </p:txBody>
      </p:sp>
      <p:sp>
        <p:nvSpPr>
          <p:cNvPr id="34" name="Text Box 16">
            <a:extLst>
              <a:ext uri="{FF2B5EF4-FFF2-40B4-BE49-F238E27FC236}">
                <a16:creationId xmlns:a16="http://schemas.microsoft.com/office/drawing/2014/main" id="{AE53CDC5-E284-3B56-953B-3251110C2DB1}"/>
              </a:ext>
            </a:extLst>
          </p:cNvPr>
          <p:cNvSpPr txBox="1">
            <a:spLocks noChangeArrowheads="1"/>
          </p:cNvSpPr>
          <p:nvPr/>
        </p:nvSpPr>
        <p:spPr bwMode="ltGray">
          <a:xfrm>
            <a:off x="9519921" y="4785849"/>
            <a:ext cx="1873250"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dirty="0">
                <a:solidFill>
                  <a:srgbClr val="002060"/>
                </a:solidFill>
                <a:latin typeface="Times New Roman"/>
                <a:ea typeface="ＭＳ Ｐゴシック" charset="0"/>
                <a:cs typeface="Times New Roman"/>
              </a:rPr>
              <a:t>m</a:t>
            </a:r>
          </a:p>
        </p:txBody>
      </p:sp>
      <p:sp>
        <p:nvSpPr>
          <p:cNvPr id="35" name="Text Box 17">
            <a:extLst>
              <a:ext uri="{FF2B5EF4-FFF2-40B4-BE49-F238E27FC236}">
                <a16:creationId xmlns:a16="http://schemas.microsoft.com/office/drawing/2014/main" id="{DAD96FFB-2D59-A383-51B0-87A1B19DC067}"/>
              </a:ext>
            </a:extLst>
          </p:cNvPr>
          <p:cNvSpPr txBox="1">
            <a:spLocks noChangeArrowheads="1"/>
          </p:cNvSpPr>
          <p:nvPr/>
        </p:nvSpPr>
        <p:spPr bwMode="ltGray">
          <a:xfrm>
            <a:off x="12263121" y="3891280"/>
            <a:ext cx="5184774" cy="8309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US" altLang="en-US" sz="4800">
                <a:solidFill>
                  <a:srgbClr val="002060"/>
                </a:solidFill>
                <a:latin typeface="Times New Roman" panose="02020603050405020304" pitchFamily="18" charset="0"/>
                <a:cs typeface="Times New Roman" panose="02020603050405020304" pitchFamily="18" charset="0"/>
              </a:rPr>
              <a:t>giữ lại ít nhất = P</a:t>
            </a:r>
          </a:p>
        </p:txBody>
      </p:sp>
      <p:sp>
        <p:nvSpPr>
          <p:cNvPr id="36" name="Line 19">
            <a:extLst>
              <a:ext uri="{FF2B5EF4-FFF2-40B4-BE49-F238E27FC236}">
                <a16:creationId xmlns:a16="http://schemas.microsoft.com/office/drawing/2014/main" id="{A6DA2BE5-4B9B-6F7D-BA39-A1F3853D2A78}"/>
              </a:ext>
            </a:extLst>
          </p:cNvPr>
          <p:cNvSpPr>
            <a:spLocks noChangeShapeType="1"/>
          </p:cNvSpPr>
          <p:nvPr/>
        </p:nvSpPr>
        <p:spPr bwMode="auto">
          <a:xfrm>
            <a:off x="16377920" y="4074662"/>
            <a:ext cx="609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9600">
              <a:solidFill>
                <a:srgbClr val="002060"/>
              </a:solidFill>
              <a:latin typeface="Arial" charset="0"/>
              <a:ea typeface="ＭＳ Ｐゴシック" charset="0"/>
            </a:endParaRPr>
          </a:p>
        </p:txBody>
      </p:sp>
      <p:sp>
        <p:nvSpPr>
          <p:cNvPr id="37" name="Rectangle 2">
            <a:extLst>
              <a:ext uri="{FF2B5EF4-FFF2-40B4-BE49-F238E27FC236}">
                <a16:creationId xmlns:a16="http://schemas.microsoft.com/office/drawing/2014/main" id="{36EE0FE7-1606-E99F-3960-78567A14D07C}"/>
              </a:ext>
            </a:extLst>
          </p:cNvPr>
          <p:cNvSpPr txBox="1">
            <a:spLocks noChangeArrowheads="1"/>
          </p:cNvSpPr>
          <p:nvPr/>
        </p:nvSpPr>
        <p:spPr>
          <a:xfrm>
            <a:off x="3266096" y="843280"/>
            <a:ext cx="10521024" cy="1127124"/>
          </a:xfrm>
          <a:prstGeom prst="rect">
            <a:avLst/>
          </a:prstGeom>
        </p:spPr>
        <p:txBody>
          <a:bodyPr vert="horz" lIns="182880" tIns="91440" rIns="182880" bIns="9144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7200" b="1" dirty="0">
                <a:solidFill>
                  <a:srgbClr val="002060"/>
                </a:solidFill>
                <a:latin typeface="Aachen" panose="02020500000000000000" pitchFamily="18" charset="0"/>
                <a:ea typeface="Aachen" panose="02020500000000000000" pitchFamily="18" charset="0"/>
                <a:cs typeface="Aachen" panose="02020500000000000000" pitchFamily="18" charset="0"/>
              </a:rPr>
              <a:t>ĐỊA TÔ TƯ BẢN CHỦ NGHĨA</a:t>
            </a:r>
          </a:p>
        </p:txBody>
      </p:sp>
      <p:sp>
        <p:nvSpPr>
          <p:cNvPr id="38" name="AutoShape 8">
            <a:extLst>
              <a:ext uri="{FF2B5EF4-FFF2-40B4-BE49-F238E27FC236}">
                <a16:creationId xmlns:a16="http://schemas.microsoft.com/office/drawing/2014/main" id="{0A0FF29C-7D9F-27C2-26B5-C6272C6BBFE3}"/>
              </a:ext>
            </a:extLst>
          </p:cNvPr>
          <p:cNvSpPr>
            <a:spLocks noChangeArrowheads="1"/>
          </p:cNvSpPr>
          <p:nvPr/>
        </p:nvSpPr>
        <p:spPr bwMode="auto">
          <a:xfrm>
            <a:off x="1318896" y="8158480"/>
            <a:ext cx="3352800" cy="304800"/>
          </a:xfrm>
          <a:prstGeom prst="rightArrow">
            <a:avLst>
              <a:gd name="adj1" fmla="val 50000"/>
              <a:gd name="adj2" fmla="val 275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sz="9600">
              <a:solidFill>
                <a:srgbClr val="002060"/>
              </a:solidFill>
              <a:latin typeface="VNI-Times" charset="0"/>
              <a:ea typeface="ＭＳ Ｐゴシック" charset="0"/>
              <a:cs typeface="ＭＳ Ｐゴシック" charset="0"/>
            </a:endParaRPr>
          </a:p>
        </p:txBody>
      </p:sp>
      <p:sp>
        <p:nvSpPr>
          <p:cNvPr id="39" name="Rectangle 25">
            <a:extLst>
              <a:ext uri="{FF2B5EF4-FFF2-40B4-BE49-F238E27FC236}">
                <a16:creationId xmlns:a16="http://schemas.microsoft.com/office/drawing/2014/main" id="{B160205D-849E-8D44-365E-4E3AD35172CD}"/>
              </a:ext>
            </a:extLst>
          </p:cNvPr>
          <p:cNvSpPr>
            <a:spLocks noChangeArrowheads="1"/>
          </p:cNvSpPr>
          <p:nvPr/>
        </p:nvSpPr>
        <p:spPr bwMode="ltGray">
          <a:xfrm>
            <a:off x="5065397" y="7799707"/>
            <a:ext cx="7646645"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r>
              <a:rPr lang="en-US" altLang="en-US" sz="4800" b="1">
                <a:solidFill>
                  <a:srgbClr val="002060"/>
                </a:solidFill>
                <a:latin typeface="Arial" panose="020B0604020202020204" pitchFamily="34" charset="0"/>
              </a:rPr>
              <a:t>Khái niệm địa tô (r) TBCN</a:t>
            </a:r>
          </a:p>
        </p:txBody>
      </p:sp>
      <p:sp>
        <p:nvSpPr>
          <p:cNvPr id="40" name="Rectangle 39">
            <a:extLst>
              <a:ext uri="{FF2B5EF4-FFF2-40B4-BE49-F238E27FC236}">
                <a16:creationId xmlns:a16="http://schemas.microsoft.com/office/drawing/2014/main" id="{DD7C7B1E-60F8-6751-B9A5-F0304678856C}"/>
              </a:ext>
            </a:extLst>
          </p:cNvPr>
          <p:cNvSpPr/>
          <p:nvPr/>
        </p:nvSpPr>
        <p:spPr>
          <a:xfrm>
            <a:off x="1500393" y="9245521"/>
            <a:ext cx="15487126" cy="3046988"/>
          </a:xfrm>
          <a:prstGeom prst="rect">
            <a:avLst/>
          </a:prstGeom>
        </p:spPr>
        <p:txBody>
          <a:bodyPr wrap="square">
            <a:spAutoFit/>
          </a:bodyPr>
          <a:lstStyle/>
          <a:p>
            <a:pPr algn="just"/>
            <a:r>
              <a:rPr lang="vi-VN">
                <a:solidFill>
                  <a:srgbClr val="002060"/>
                </a:solidFill>
              </a:rPr>
              <a:t>Địa tô TBCN là phần giá trị thặng dư thừa ra ngoài lợi nhuận bình quân mà các nhà tư bản kinh doanh nông nghiệp phải nộp cho địa chủ. Thực chất, địa tô TBCN là lợi nhuận siêu ngạch trong lĩnh vực nông nghiệp</a:t>
            </a:r>
          </a:p>
        </p:txBody>
      </p:sp>
    </p:spTree>
    <p:extLst>
      <p:ext uri="{BB962C8B-B14F-4D97-AF65-F5344CB8AC3E}">
        <p14:creationId xmlns:p14="http://schemas.microsoft.com/office/powerpoint/2010/main" val="2078177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box(in)">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p:cTn id="17" dur="1000" fill="hold"/>
                                        <p:tgtEl>
                                          <p:spTgt spid="31"/>
                                        </p:tgtEl>
                                        <p:attrNameLst>
                                          <p:attrName>ppt_w</p:attrName>
                                        </p:attrNameLst>
                                      </p:cBhvr>
                                      <p:tavLst>
                                        <p:tav tm="0">
                                          <p:val>
                                            <p:strVal val="#ppt_w*0.70"/>
                                          </p:val>
                                        </p:tav>
                                        <p:tav tm="100000">
                                          <p:val>
                                            <p:strVal val="#ppt_w"/>
                                          </p:val>
                                        </p:tav>
                                      </p:tavLst>
                                    </p:anim>
                                    <p:anim calcmode="lin" valueType="num">
                                      <p:cBhvr>
                                        <p:cTn id="18" dur="1000" fill="hold"/>
                                        <p:tgtEl>
                                          <p:spTgt spid="31"/>
                                        </p:tgtEl>
                                        <p:attrNameLst>
                                          <p:attrName>ppt_h</p:attrName>
                                        </p:attrNameLst>
                                      </p:cBhvr>
                                      <p:tavLst>
                                        <p:tav tm="0">
                                          <p:val>
                                            <p:strVal val="#ppt_h"/>
                                          </p:val>
                                        </p:tav>
                                        <p:tav tm="100000">
                                          <p:val>
                                            <p:strVal val="#ppt_h"/>
                                          </p:val>
                                        </p:tav>
                                      </p:tavLst>
                                    </p:anim>
                                    <p:animEffect transition="in" filter="fade">
                                      <p:cBhvr>
                                        <p:cTn id="19" dur="1000"/>
                                        <p:tgtEl>
                                          <p:spTgt spid="31"/>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 calcmode="lin" valueType="num">
                                      <p:cBhvr>
                                        <p:cTn id="22" dur="1000" fill="hold"/>
                                        <p:tgtEl>
                                          <p:spTgt spid="32"/>
                                        </p:tgtEl>
                                        <p:attrNameLst>
                                          <p:attrName>ppt_w</p:attrName>
                                        </p:attrNameLst>
                                      </p:cBhvr>
                                      <p:tavLst>
                                        <p:tav tm="0">
                                          <p:val>
                                            <p:strVal val="#ppt_w*0.70"/>
                                          </p:val>
                                        </p:tav>
                                        <p:tav tm="100000">
                                          <p:val>
                                            <p:strVal val="#ppt_w"/>
                                          </p:val>
                                        </p:tav>
                                      </p:tavLst>
                                    </p:anim>
                                    <p:anim calcmode="lin" valueType="num">
                                      <p:cBhvr>
                                        <p:cTn id="23" dur="1000" fill="hold"/>
                                        <p:tgtEl>
                                          <p:spTgt spid="32"/>
                                        </p:tgtEl>
                                        <p:attrNameLst>
                                          <p:attrName>ppt_h</p:attrName>
                                        </p:attrNameLst>
                                      </p:cBhvr>
                                      <p:tavLst>
                                        <p:tav tm="0">
                                          <p:val>
                                            <p:strVal val="#ppt_h"/>
                                          </p:val>
                                        </p:tav>
                                        <p:tav tm="100000">
                                          <p:val>
                                            <p:strVal val="#ppt_h"/>
                                          </p:val>
                                        </p:tav>
                                      </p:tavLst>
                                    </p:anim>
                                    <p:animEffect transition="in" filter="fade">
                                      <p:cBhvr>
                                        <p:cTn id="24" dur="1000"/>
                                        <p:tgtEl>
                                          <p:spTgt spid="32"/>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1000" fill="hold"/>
                                        <p:tgtEl>
                                          <p:spTgt spid="6"/>
                                        </p:tgtEl>
                                        <p:attrNameLst>
                                          <p:attrName>ppt_w</p:attrName>
                                        </p:attrNameLst>
                                      </p:cBhvr>
                                      <p:tavLst>
                                        <p:tav tm="0">
                                          <p:val>
                                            <p:strVal val="#ppt_w*0.70"/>
                                          </p:val>
                                        </p:tav>
                                        <p:tav tm="100000">
                                          <p:val>
                                            <p:strVal val="#ppt_w"/>
                                          </p:val>
                                        </p:tav>
                                      </p:tavLst>
                                    </p:anim>
                                    <p:anim calcmode="lin" valueType="num">
                                      <p:cBhvr>
                                        <p:cTn id="28" dur="1000" fill="hold"/>
                                        <p:tgtEl>
                                          <p:spTgt spid="6"/>
                                        </p:tgtEl>
                                        <p:attrNameLst>
                                          <p:attrName>ppt_h</p:attrName>
                                        </p:attrNameLst>
                                      </p:cBhvr>
                                      <p:tavLst>
                                        <p:tav tm="0">
                                          <p:val>
                                            <p:strVal val="#ppt_h"/>
                                          </p:val>
                                        </p:tav>
                                        <p:tav tm="100000">
                                          <p:val>
                                            <p:strVal val="#ppt_h"/>
                                          </p:val>
                                        </p:tav>
                                      </p:tavLst>
                                    </p:anim>
                                    <p:animEffect transition="in" filter="fade">
                                      <p:cBhvr>
                                        <p:cTn id="29" dur="10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grpId="0" nodeType="clickEffect">
                                  <p:stCondLst>
                                    <p:cond delay="0"/>
                                  </p:stCondLst>
                                  <p:childTnLst>
                                    <p:set>
                                      <p:cBhvr>
                                        <p:cTn id="33" dur="1" fill="hold">
                                          <p:stCondLst>
                                            <p:cond delay="0"/>
                                          </p:stCondLst>
                                        </p:cTn>
                                        <p:tgtEl>
                                          <p:spTgt spid="34"/>
                                        </p:tgtEl>
                                        <p:attrNameLst>
                                          <p:attrName>style.visibility</p:attrName>
                                        </p:attrNameLst>
                                      </p:cBhvr>
                                      <p:to>
                                        <p:strVal val="visible"/>
                                      </p:to>
                                    </p:set>
                                    <p:anim calcmode="lin" valueType="num">
                                      <p:cBhvr>
                                        <p:cTn id="34" dur="1000" fill="hold"/>
                                        <p:tgtEl>
                                          <p:spTgt spid="34"/>
                                        </p:tgtEl>
                                        <p:attrNameLst>
                                          <p:attrName>ppt_w</p:attrName>
                                        </p:attrNameLst>
                                      </p:cBhvr>
                                      <p:tavLst>
                                        <p:tav tm="0">
                                          <p:val>
                                            <p:strVal val="#ppt_w*0.70"/>
                                          </p:val>
                                        </p:tav>
                                        <p:tav tm="100000">
                                          <p:val>
                                            <p:strVal val="#ppt_w"/>
                                          </p:val>
                                        </p:tav>
                                      </p:tavLst>
                                    </p:anim>
                                    <p:anim calcmode="lin" valueType="num">
                                      <p:cBhvr>
                                        <p:cTn id="35" dur="1000" fill="hold"/>
                                        <p:tgtEl>
                                          <p:spTgt spid="34"/>
                                        </p:tgtEl>
                                        <p:attrNameLst>
                                          <p:attrName>ppt_h</p:attrName>
                                        </p:attrNameLst>
                                      </p:cBhvr>
                                      <p:tavLst>
                                        <p:tav tm="0">
                                          <p:val>
                                            <p:strVal val="#ppt_h"/>
                                          </p:val>
                                        </p:tav>
                                        <p:tav tm="100000">
                                          <p:val>
                                            <p:strVal val="#ppt_h"/>
                                          </p:val>
                                        </p:tav>
                                      </p:tavLst>
                                    </p:anim>
                                    <p:animEffect transition="in" filter="fade">
                                      <p:cBhvr>
                                        <p:cTn id="36" dur="1000"/>
                                        <p:tgtEl>
                                          <p:spTgt spid="34"/>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 calcmode="lin" valueType="num">
                                      <p:cBhvr>
                                        <p:cTn id="41" dur="1000" fill="hold"/>
                                        <p:tgtEl>
                                          <p:spTgt spid="28"/>
                                        </p:tgtEl>
                                        <p:attrNameLst>
                                          <p:attrName>ppt_w</p:attrName>
                                        </p:attrNameLst>
                                      </p:cBhvr>
                                      <p:tavLst>
                                        <p:tav tm="0">
                                          <p:val>
                                            <p:strVal val="#ppt_w*0.70"/>
                                          </p:val>
                                        </p:tav>
                                        <p:tav tm="100000">
                                          <p:val>
                                            <p:strVal val="#ppt_w"/>
                                          </p:val>
                                        </p:tav>
                                      </p:tavLst>
                                    </p:anim>
                                    <p:anim calcmode="lin" valueType="num">
                                      <p:cBhvr>
                                        <p:cTn id="42" dur="1000" fill="hold"/>
                                        <p:tgtEl>
                                          <p:spTgt spid="28"/>
                                        </p:tgtEl>
                                        <p:attrNameLst>
                                          <p:attrName>ppt_h</p:attrName>
                                        </p:attrNameLst>
                                      </p:cBhvr>
                                      <p:tavLst>
                                        <p:tav tm="0">
                                          <p:val>
                                            <p:strVal val="#ppt_h"/>
                                          </p:val>
                                        </p:tav>
                                        <p:tav tm="100000">
                                          <p:val>
                                            <p:strVal val="#ppt_h"/>
                                          </p:val>
                                        </p:tav>
                                      </p:tavLst>
                                    </p:anim>
                                    <p:animEffect transition="in" filter="fade">
                                      <p:cBhvr>
                                        <p:cTn id="43" dur="1000"/>
                                        <p:tgtEl>
                                          <p:spTgt spid="28"/>
                                        </p:tgtEl>
                                      </p:cBhvr>
                                    </p:animEffect>
                                  </p:childTnLst>
                                </p:cTn>
                              </p:par>
                              <p:par>
                                <p:cTn id="44" presetID="55" presetClass="entr" presetSubtype="0" fill="hold" nodeType="withEffect">
                                  <p:stCondLst>
                                    <p:cond delay="0"/>
                                  </p:stCondLst>
                                  <p:childTnLst>
                                    <p:set>
                                      <p:cBhvr>
                                        <p:cTn id="45" dur="1" fill="hold">
                                          <p:stCondLst>
                                            <p:cond delay="0"/>
                                          </p:stCondLst>
                                        </p:cTn>
                                        <p:tgtEl>
                                          <p:spTgt spid="29"/>
                                        </p:tgtEl>
                                        <p:attrNameLst>
                                          <p:attrName>style.visibility</p:attrName>
                                        </p:attrNameLst>
                                      </p:cBhvr>
                                      <p:to>
                                        <p:strVal val="visible"/>
                                      </p:to>
                                    </p:set>
                                    <p:anim calcmode="lin" valueType="num">
                                      <p:cBhvr>
                                        <p:cTn id="46" dur="1000" fill="hold"/>
                                        <p:tgtEl>
                                          <p:spTgt spid="29"/>
                                        </p:tgtEl>
                                        <p:attrNameLst>
                                          <p:attrName>ppt_w</p:attrName>
                                        </p:attrNameLst>
                                      </p:cBhvr>
                                      <p:tavLst>
                                        <p:tav tm="0">
                                          <p:val>
                                            <p:strVal val="#ppt_w*0.70"/>
                                          </p:val>
                                        </p:tav>
                                        <p:tav tm="100000">
                                          <p:val>
                                            <p:strVal val="#ppt_w"/>
                                          </p:val>
                                        </p:tav>
                                      </p:tavLst>
                                    </p:anim>
                                    <p:anim calcmode="lin" valueType="num">
                                      <p:cBhvr>
                                        <p:cTn id="47" dur="1000" fill="hold"/>
                                        <p:tgtEl>
                                          <p:spTgt spid="29"/>
                                        </p:tgtEl>
                                        <p:attrNameLst>
                                          <p:attrName>ppt_h</p:attrName>
                                        </p:attrNameLst>
                                      </p:cBhvr>
                                      <p:tavLst>
                                        <p:tav tm="0">
                                          <p:val>
                                            <p:strVal val="#ppt_h"/>
                                          </p:val>
                                        </p:tav>
                                        <p:tav tm="100000">
                                          <p:val>
                                            <p:strVal val="#ppt_h"/>
                                          </p:val>
                                        </p:tav>
                                      </p:tavLst>
                                    </p:anim>
                                    <p:animEffect transition="in" filter="fade">
                                      <p:cBhvr>
                                        <p:cTn id="48" dur="1000"/>
                                        <p:tgtEl>
                                          <p:spTgt spid="29"/>
                                        </p:tgtEl>
                                      </p:cBhvr>
                                    </p:animEffect>
                                  </p:childTnLst>
                                </p:cTn>
                              </p:par>
                            </p:childTnLst>
                          </p:cTn>
                        </p:par>
                      </p:childTnLst>
                    </p:cTn>
                  </p:par>
                  <p:par>
                    <p:cTn id="49" fill="hold">
                      <p:stCondLst>
                        <p:cond delay="indefinite"/>
                      </p:stCondLst>
                      <p:childTnLst>
                        <p:par>
                          <p:cTn id="50" fill="hold">
                            <p:stCondLst>
                              <p:cond delay="0"/>
                            </p:stCondLst>
                            <p:childTnLst>
                              <p:par>
                                <p:cTn id="51" presetID="55" presetClass="entr" presetSubtype="0" fill="hold" grpId="0" nodeType="clickEffect">
                                  <p:stCondLst>
                                    <p:cond delay="0"/>
                                  </p:stCondLst>
                                  <p:childTnLst>
                                    <p:set>
                                      <p:cBhvr>
                                        <p:cTn id="52" dur="1" fill="hold">
                                          <p:stCondLst>
                                            <p:cond delay="0"/>
                                          </p:stCondLst>
                                        </p:cTn>
                                        <p:tgtEl>
                                          <p:spTgt spid="35"/>
                                        </p:tgtEl>
                                        <p:attrNameLst>
                                          <p:attrName>style.visibility</p:attrName>
                                        </p:attrNameLst>
                                      </p:cBhvr>
                                      <p:to>
                                        <p:strVal val="visible"/>
                                      </p:to>
                                    </p:set>
                                    <p:anim calcmode="lin" valueType="num">
                                      <p:cBhvr>
                                        <p:cTn id="53" dur="1000" fill="hold"/>
                                        <p:tgtEl>
                                          <p:spTgt spid="35"/>
                                        </p:tgtEl>
                                        <p:attrNameLst>
                                          <p:attrName>ppt_w</p:attrName>
                                        </p:attrNameLst>
                                      </p:cBhvr>
                                      <p:tavLst>
                                        <p:tav tm="0">
                                          <p:val>
                                            <p:strVal val="#ppt_w*0.70"/>
                                          </p:val>
                                        </p:tav>
                                        <p:tav tm="100000">
                                          <p:val>
                                            <p:strVal val="#ppt_w"/>
                                          </p:val>
                                        </p:tav>
                                      </p:tavLst>
                                    </p:anim>
                                    <p:anim calcmode="lin" valueType="num">
                                      <p:cBhvr>
                                        <p:cTn id="54" dur="1000" fill="hold"/>
                                        <p:tgtEl>
                                          <p:spTgt spid="35"/>
                                        </p:tgtEl>
                                        <p:attrNameLst>
                                          <p:attrName>ppt_h</p:attrName>
                                        </p:attrNameLst>
                                      </p:cBhvr>
                                      <p:tavLst>
                                        <p:tav tm="0">
                                          <p:val>
                                            <p:strVal val="#ppt_h"/>
                                          </p:val>
                                        </p:tav>
                                        <p:tav tm="100000">
                                          <p:val>
                                            <p:strVal val="#ppt_h"/>
                                          </p:val>
                                        </p:tav>
                                      </p:tavLst>
                                    </p:anim>
                                    <p:animEffect transition="in" filter="fade">
                                      <p:cBhvr>
                                        <p:cTn id="55" dur="1000"/>
                                        <p:tgtEl>
                                          <p:spTgt spid="35"/>
                                        </p:tgtEl>
                                      </p:cBhvr>
                                    </p:animEffect>
                                  </p:childTnLst>
                                </p:cTn>
                              </p:par>
                            </p:childTnLst>
                          </p:cTn>
                        </p:par>
                      </p:childTnLst>
                    </p:cTn>
                  </p:par>
                  <p:par>
                    <p:cTn id="56" fill="hold">
                      <p:stCondLst>
                        <p:cond delay="indefinite"/>
                      </p:stCondLst>
                      <p:childTnLst>
                        <p:par>
                          <p:cTn id="57" fill="hold">
                            <p:stCondLst>
                              <p:cond delay="0"/>
                            </p:stCondLst>
                            <p:childTnLst>
                              <p:par>
                                <p:cTn id="58" presetID="55" presetClass="entr" presetSubtype="0" fill="hold" grpId="0" nodeType="clickEffect">
                                  <p:stCondLst>
                                    <p:cond delay="0"/>
                                  </p:stCondLst>
                                  <p:childTnLst>
                                    <p:set>
                                      <p:cBhvr>
                                        <p:cTn id="59" dur="1" fill="hold">
                                          <p:stCondLst>
                                            <p:cond delay="0"/>
                                          </p:stCondLst>
                                        </p:cTn>
                                        <p:tgtEl>
                                          <p:spTgt spid="33"/>
                                        </p:tgtEl>
                                        <p:attrNameLst>
                                          <p:attrName>style.visibility</p:attrName>
                                        </p:attrNameLst>
                                      </p:cBhvr>
                                      <p:to>
                                        <p:strVal val="visible"/>
                                      </p:to>
                                    </p:set>
                                    <p:anim calcmode="lin" valueType="num">
                                      <p:cBhvr>
                                        <p:cTn id="60" dur="1000" fill="hold"/>
                                        <p:tgtEl>
                                          <p:spTgt spid="33"/>
                                        </p:tgtEl>
                                        <p:attrNameLst>
                                          <p:attrName>ppt_w</p:attrName>
                                        </p:attrNameLst>
                                      </p:cBhvr>
                                      <p:tavLst>
                                        <p:tav tm="0">
                                          <p:val>
                                            <p:strVal val="#ppt_w*0.70"/>
                                          </p:val>
                                        </p:tav>
                                        <p:tav tm="100000">
                                          <p:val>
                                            <p:strVal val="#ppt_w"/>
                                          </p:val>
                                        </p:tav>
                                      </p:tavLst>
                                    </p:anim>
                                    <p:anim calcmode="lin" valueType="num">
                                      <p:cBhvr>
                                        <p:cTn id="61" dur="1000" fill="hold"/>
                                        <p:tgtEl>
                                          <p:spTgt spid="33"/>
                                        </p:tgtEl>
                                        <p:attrNameLst>
                                          <p:attrName>ppt_h</p:attrName>
                                        </p:attrNameLst>
                                      </p:cBhvr>
                                      <p:tavLst>
                                        <p:tav tm="0">
                                          <p:val>
                                            <p:strVal val="#ppt_h"/>
                                          </p:val>
                                        </p:tav>
                                        <p:tav tm="100000">
                                          <p:val>
                                            <p:strVal val="#ppt_h"/>
                                          </p:val>
                                        </p:tav>
                                      </p:tavLst>
                                    </p:anim>
                                    <p:animEffect transition="in" filter="fade">
                                      <p:cBhvr>
                                        <p:cTn id="62" dur="1000"/>
                                        <p:tgtEl>
                                          <p:spTgt spid="33"/>
                                        </p:tgtEl>
                                      </p:cBhvr>
                                    </p:animEffect>
                                  </p:childTnLst>
                                </p:cTn>
                              </p:par>
                              <p:par>
                                <p:cTn id="63" presetID="55" presetClass="entr" presetSubtype="0"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anim calcmode="lin" valueType="num">
                                      <p:cBhvr>
                                        <p:cTn id="65" dur="1000" fill="hold"/>
                                        <p:tgtEl>
                                          <p:spTgt spid="36"/>
                                        </p:tgtEl>
                                        <p:attrNameLst>
                                          <p:attrName>ppt_w</p:attrName>
                                        </p:attrNameLst>
                                      </p:cBhvr>
                                      <p:tavLst>
                                        <p:tav tm="0">
                                          <p:val>
                                            <p:strVal val="#ppt_w*0.70"/>
                                          </p:val>
                                        </p:tav>
                                        <p:tav tm="100000">
                                          <p:val>
                                            <p:strVal val="#ppt_w"/>
                                          </p:val>
                                        </p:tav>
                                      </p:tavLst>
                                    </p:anim>
                                    <p:anim calcmode="lin" valueType="num">
                                      <p:cBhvr>
                                        <p:cTn id="66" dur="1000" fill="hold"/>
                                        <p:tgtEl>
                                          <p:spTgt spid="36"/>
                                        </p:tgtEl>
                                        <p:attrNameLst>
                                          <p:attrName>ppt_h</p:attrName>
                                        </p:attrNameLst>
                                      </p:cBhvr>
                                      <p:tavLst>
                                        <p:tav tm="0">
                                          <p:val>
                                            <p:strVal val="#ppt_h"/>
                                          </p:val>
                                        </p:tav>
                                        <p:tav tm="100000">
                                          <p:val>
                                            <p:strVal val="#ppt_h"/>
                                          </p:val>
                                        </p:tav>
                                      </p:tavLst>
                                    </p:anim>
                                    <p:animEffect transition="in" filter="fade">
                                      <p:cBhvr>
                                        <p:cTn id="67" dur="1000"/>
                                        <p:tgtEl>
                                          <p:spTgt spid="36"/>
                                        </p:tgtEl>
                                      </p:cBhvr>
                                    </p:animEffect>
                                  </p:childTnLst>
                                </p:cTn>
                              </p:par>
                            </p:childTnLst>
                          </p:cTn>
                        </p:par>
                      </p:childTnLst>
                    </p:cTn>
                  </p:par>
                  <p:par>
                    <p:cTn id="68" fill="hold">
                      <p:stCondLst>
                        <p:cond delay="indefinite"/>
                      </p:stCondLst>
                      <p:childTnLst>
                        <p:par>
                          <p:cTn id="69" fill="hold">
                            <p:stCondLst>
                              <p:cond delay="0"/>
                            </p:stCondLst>
                            <p:childTnLst>
                              <p:par>
                                <p:cTn id="70" presetID="55" presetClass="entr" presetSubtype="0" fill="hold" grpId="0" nodeType="clickEffect">
                                  <p:stCondLst>
                                    <p:cond delay="0"/>
                                  </p:stCondLst>
                                  <p:childTnLst>
                                    <p:set>
                                      <p:cBhvr>
                                        <p:cTn id="71" dur="1" fill="hold">
                                          <p:stCondLst>
                                            <p:cond delay="0"/>
                                          </p:stCondLst>
                                        </p:cTn>
                                        <p:tgtEl>
                                          <p:spTgt spid="38"/>
                                        </p:tgtEl>
                                        <p:attrNameLst>
                                          <p:attrName>style.visibility</p:attrName>
                                        </p:attrNameLst>
                                      </p:cBhvr>
                                      <p:to>
                                        <p:strVal val="visible"/>
                                      </p:to>
                                    </p:set>
                                    <p:anim calcmode="lin" valueType="num">
                                      <p:cBhvr>
                                        <p:cTn id="72" dur="1000" fill="hold"/>
                                        <p:tgtEl>
                                          <p:spTgt spid="38"/>
                                        </p:tgtEl>
                                        <p:attrNameLst>
                                          <p:attrName>ppt_w</p:attrName>
                                        </p:attrNameLst>
                                      </p:cBhvr>
                                      <p:tavLst>
                                        <p:tav tm="0">
                                          <p:val>
                                            <p:strVal val="#ppt_w*0.70"/>
                                          </p:val>
                                        </p:tav>
                                        <p:tav tm="100000">
                                          <p:val>
                                            <p:strVal val="#ppt_w"/>
                                          </p:val>
                                        </p:tav>
                                      </p:tavLst>
                                    </p:anim>
                                    <p:anim calcmode="lin" valueType="num">
                                      <p:cBhvr>
                                        <p:cTn id="73" dur="1000" fill="hold"/>
                                        <p:tgtEl>
                                          <p:spTgt spid="38"/>
                                        </p:tgtEl>
                                        <p:attrNameLst>
                                          <p:attrName>ppt_h</p:attrName>
                                        </p:attrNameLst>
                                      </p:cBhvr>
                                      <p:tavLst>
                                        <p:tav tm="0">
                                          <p:val>
                                            <p:strVal val="#ppt_h"/>
                                          </p:val>
                                        </p:tav>
                                        <p:tav tm="100000">
                                          <p:val>
                                            <p:strVal val="#ppt_h"/>
                                          </p:val>
                                        </p:tav>
                                      </p:tavLst>
                                    </p:anim>
                                    <p:animEffect transition="in" filter="fade">
                                      <p:cBhvr>
                                        <p:cTn id="74" dur="1000"/>
                                        <p:tgtEl>
                                          <p:spTgt spid="38"/>
                                        </p:tgtEl>
                                      </p:cBhvr>
                                    </p:animEffect>
                                  </p:childTnLst>
                                </p:cTn>
                              </p:par>
                              <p:par>
                                <p:cTn id="75" presetID="55" presetClass="entr" presetSubtype="0" fill="hold" grpId="0" nodeType="withEffect">
                                  <p:stCondLst>
                                    <p:cond delay="0"/>
                                  </p:stCondLst>
                                  <p:childTnLst>
                                    <p:set>
                                      <p:cBhvr>
                                        <p:cTn id="76" dur="1" fill="hold">
                                          <p:stCondLst>
                                            <p:cond delay="0"/>
                                          </p:stCondLst>
                                        </p:cTn>
                                        <p:tgtEl>
                                          <p:spTgt spid="39"/>
                                        </p:tgtEl>
                                        <p:attrNameLst>
                                          <p:attrName>style.visibility</p:attrName>
                                        </p:attrNameLst>
                                      </p:cBhvr>
                                      <p:to>
                                        <p:strVal val="visible"/>
                                      </p:to>
                                    </p:set>
                                    <p:anim calcmode="lin" valueType="num">
                                      <p:cBhvr>
                                        <p:cTn id="77" dur="1000" fill="hold"/>
                                        <p:tgtEl>
                                          <p:spTgt spid="39"/>
                                        </p:tgtEl>
                                        <p:attrNameLst>
                                          <p:attrName>ppt_w</p:attrName>
                                        </p:attrNameLst>
                                      </p:cBhvr>
                                      <p:tavLst>
                                        <p:tav tm="0">
                                          <p:val>
                                            <p:strVal val="#ppt_w*0.70"/>
                                          </p:val>
                                        </p:tav>
                                        <p:tav tm="100000">
                                          <p:val>
                                            <p:strVal val="#ppt_w"/>
                                          </p:val>
                                        </p:tav>
                                      </p:tavLst>
                                    </p:anim>
                                    <p:anim calcmode="lin" valueType="num">
                                      <p:cBhvr>
                                        <p:cTn id="78" dur="1000" fill="hold"/>
                                        <p:tgtEl>
                                          <p:spTgt spid="39"/>
                                        </p:tgtEl>
                                        <p:attrNameLst>
                                          <p:attrName>ppt_h</p:attrName>
                                        </p:attrNameLst>
                                      </p:cBhvr>
                                      <p:tavLst>
                                        <p:tav tm="0">
                                          <p:val>
                                            <p:strVal val="#ppt_h"/>
                                          </p:val>
                                        </p:tav>
                                        <p:tav tm="100000">
                                          <p:val>
                                            <p:strVal val="#ppt_h"/>
                                          </p:val>
                                        </p:tav>
                                      </p:tavLst>
                                    </p:anim>
                                    <p:animEffect transition="in" filter="fade">
                                      <p:cBhvr>
                                        <p:cTn id="79" dur="1000"/>
                                        <p:tgtEl>
                                          <p:spTgt spid="39"/>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40"/>
                                        </p:tgtEl>
                                        <p:attrNameLst>
                                          <p:attrName>style.visibility</p:attrName>
                                        </p:attrNameLst>
                                      </p:cBhvr>
                                      <p:to>
                                        <p:strVal val="visible"/>
                                      </p:to>
                                    </p:set>
                                    <p:anim calcmode="lin" valueType="num">
                                      <p:cBhvr>
                                        <p:cTn id="84" dur="500" fill="hold"/>
                                        <p:tgtEl>
                                          <p:spTgt spid="40"/>
                                        </p:tgtEl>
                                        <p:attrNameLst>
                                          <p:attrName>ppt_w</p:attrName>
                                        </p:attrNameLst>
                                      </p:cBhvr>
                                      <p:tavLst>
                                        <p:tav tm="0">
                                          <p:val>
                                            <p:fltVal val="0"/>
                                          </p:val>
                                        </p:tav>
                                        <p:tav tm="100000">
                                          <p:val>
                                            <p:strVal val="#ppt_w"/>
                                          </p:val>
                                        </p:tav>
                                      </p:tavLst>
                                    </p:anim>
                                    <p:anim calcmode="lin" valueType="num">
                                      <p:cBhvr>
                                        <p:cTn id="85" dur="500" fill="hold"/>
                                        <p:tgtEl>
                                          <p:spTgt spid="40"/>
                                        </p:tgtEl>
                                        <p:attrNameLst>
                                          <p:attrName>ppt_h</p:attrName>
                                        </p:attrNameLst>
                                      </p:cBhvr>
                                      <p:tavLst>
                                        <p:tav tm="0">
                                          <p:val>
                                            <p:fltVal val="0"/>
                                          </p:val>
                                        </p:tav>
                                        <p:tav tm="100000">
                                          <p:val>
                                            <p:strVal val="#ppt_h"/>
                                          </p:val>
                                        </p:tav>
                                      </p:tavLst>
                                    </p:anim>
                                    <p:animEffect transition="in" filter="fade">
                                      <p:cBhvr>
                                        <p:cTn id="86"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0" grpId="0"/>
      <p:bldP spid="31" grpId="0"/>
      <p:bldP spid="32" grpId="0"/>
      <p:bldP spid="33" grpId="0"/>
      <p:bldP spid="34" grpId="0"/>
      <p:bldP spid="35" grpId="0"/>
      <p:bldP spid="38" grpId="0" animBg="1"/>
      <p:bldP spid="39" grpId="0"/>
      <p:bldP spid="4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0">
            <a:extLst>
              <a:ext uri="{FF2B5EF4-FFF2-40B4-BE49-F238E27FC236}">
                <a16:creationId xmlns:a16="http://schemas.microsoft.com/office/drawing/2014/main" id="{A7027703-0C08-84A9-F917-6F350EDE1C54}"/>
              </a:ext>
            </a:extLst>
          </p:cNvPr>
          <p:cNvSpPr>
            <a:spLocks noChangeArrowheads="1"/>
          </p:cNvSpPr>
          <p:nvPr/>
        </p:nvSpPr>
        <p:spPr bwMode="ltGray">
          <a:xfrm flipH="1">
            <a:off x="1828801" y="2794001"/>
            <a:ext cx="4539346" cy="844550"/>
          </a:xfrm>
          <a:prstGeom prst="rect">
            <a:avLst/>
          </a:prstGeom>
          <a:solidFill>
            <a:schemeClr val="bg2">
              <a:lumMod val="60000"/>
              <a:lumOff val="40000"/>
            </a:schemeClr>
          </a:solidFill>
          <a:ln>
            <a:noFill/>
          </a:ln>
          <a:effectLst/>
        </p:spPr>
        <p:txBody>
          <a:bodyPr wrap="none" anchor="ctr"/>
          <a:lstStyle/>
          <a:p>
            <a:pPr algn="ctr">
              <a:defRPr/>
            </a:pPr>
            <a:r>
              <a:rPr lang="en-US" b="1" kern="0" dirty="0">
                <a:solidFill>
                  <a:srgbClr val="002060"/>
                </a:solidFill>
              </a:rPr>
              <a:t>CÁC LOẠI ĐỊA TÔ</a:t>
            </a:r>
          </a:p>
        </p:txBody>
      </p:sp>
      <p:sp>
        <p:nvSpPr>
          <p:cNvPr id="5" name="Rectangle 2">
            <a:extLst>
              <a:ext uri="{FF2B5EF4-FFF2-40B4-BE49-F238E27FC236}">
                <a16:creationId xmlns:a16="http://schemas.microsoft.com/office/drawing/2014/main" id="{8FFF7561-EAFA-235A-F3E3-EC348EB5312E}"/>
              </a:ext>
            </a:extLst>
          </p:cNvPr>
          <p:cNvSpPr txBox="1">
            <a:spLocks noChangeArrowheads="1"/>
          </p:cNvSpPr>
          <p:nvPr/>
        </p:nvSpPr>
        <p:spPr>
          <a:xfrm>
            <a:off x="3883488" y="1139826"/>
            <a:ext cx="10521024" cy="1127124"/>
          </a:xfrm>
          <a:prstGeom prst="rect">
            <a:avLst/>
          </a:prstGeom>
        </p:spPr>
        <p:txBody>
          <a:bodyPr vert="horz" lIns="182880" tIns="91440" rIns="182880" bIns="9144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6400" b="1" dirty="0">
                <a:solidFill>
                  <a:srgbClr val="002060"/>
                </a:solidFill>
                <a:latin typeface="Aachen" panose="02020500000000000000" pitchFamily="18" charset="0"/>
                <a:ea typeface="Aachen" panose="02020500000000000000" pitchFamily="18" charset="0"/>
                <a:cs typeface="Aachen" panose="02020500000000000000" pitchFamily="18" charset="0"/>
              </a:rPr>
              <a:t>CÁC LOẠI ĐỊA TÔ TƯ BẢN CHỦ NGHĨA</a:t>
            </a:r>
          </a:p>
        </p:txBody>
      </p:sp>
      <p:sp>
        <p:nvSpPr>
          <p:cNvPr id="7" name="Text Box 20">
            <a:extLst>
              <a:ext uri="{FF2B5EF4-FFF2-40B4-BE49-F238E27FC236}">
                <a16:creationId xmlns:a16="http://schemas.microsoft.com/office/drawing/2014/main" id="{2B9CCED6-AA75-2999-A979-E35C4D52EACF}"/>
              </a:ext>
            </a:extLst>
          </p:cNvPr>
          <p:cNvSpPr txBox="1">
            <a:spLocks noChangeArrowheads="1"/>
          </p:cNvSpPr>
          <p:nvPr/>
        </p:nvSpPr>
        <p:spPr bwMode="black">
          <a:xfrm>
            <a:off x="1580866" y="4165601"/>
            <a:ext cx="15392400" cy="8556188"/>
          </a:xfrm>
          <a:prstGeom prst="rect">
            <a:avLst/>
          </a:prstGeom>
          <a:noFill/>
          <a:ln w="9525">
            <a:noFill/>
            <a:prstDash val="dash"/>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gn="ctr" eaLnBrk="0" hangingPunct="0">
              <a:defRPr>
                <a:solidFill>
                  <a:schemeClr val="tx1"/>
                </a:solidFill>
                <a:latin typeface="Arial" panose="020B0604020202020204" pitchFamily="34" charset="0"/>
              </a:defRPr>
            </a:lvl1pPr>
            <a:lvl2pPr marL="742950" indent="-285750" algn="ctr" eaLnBrk="0" hangingPunct="0">
              <a:defRPr>
                <a:solidFill>
                  <a:schemeClr val="tx1"/>
                </a:solidFill>
                <a:latin typeface="Arial" panose="020B0604020202020204" pitchFamily="34" charset="0"/>
              </a:defRPr>
            </a:lvl2pPr>
            <a:lvl3pPr marL="1143000" indent="-228600" algn="ctr" eaLnBrk="0" hangingPunct="0">
              <a:defRPr>
                <a:solidFill>
                  <a:schemeClr val="tx1"/>
                </a:solidFill>
                <a:latin typeface="Arial" panose="020B0604020202020204" pitchFamily="34" charset="0"/>
              </a:defRPr>
            </a:lvl3pPr>
            <a:lvl4pPr marL="1600200" indent="-228600" algn="ctr" eaLnBrk="0" hangingPunct="0">
              <a:defRPr>
                <a:solidFill>
                  <a:schemeClr val="tx1"/>
                </a:solidFill>
                <a:latin typeface="Arial" panose="020B0604020202020204" pitchFamily="34" charset="0"/>
              </a:defRPr>
            </a:lvl4pPr>
            <a:lvl5pPr marL="2057400" indent="-228600" algn="ctr"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en-US" altLang="en-US" sz="4400">
                <a:solidFill>
                  <a:srgbClr val="002060"/>
                </a:solidFill>
              </a:rPr>
              <a:t>1. </a:t>
            </a:r>
            <a:r>
              <a:rPr lang="vi-VN" altLang="en-US" sz="4400">
                <a:solidFill>
                  <a:srgbClr val="002060"/>
                </a:solidFill>
              </a:rPr>
              <a:t>Địa tô chênh lệch:</a:t>
            </a:r>
            <a:endParaRPr lang="en-US" altLang="en-US" sz="4400">
              <a:solidFill>
                <a:srgbClr val="002060"/>
              </a:solidFill>
              <a:sym typeface="Wingdings" panose="05000000000000000000" pitchFamily="2" charset="2"/>
            </a:endParaRPr>
          </a:p>
          <a:p>
            <a:pPr algn="just" eaLnBrk="1" hangingPunct="1">
              <a:spcBef>
                <a:spcPct val="50000"/>
              </a:spcBef>
            </a:pPr>
            <a:r>
              <a:rPr lang="en-US" altLang="en-US" sz="4400">
                <a:solidFill>
                  <a:srgbClr val="002060"/>
                </a:solidFill>
              </a:rPr>
              <a:t>	</a:t>
            </a:r>
            <a:r>
              <a:rPr lang="vi-VN" altLang="en-US" sz="4400">
                <a:solidFill>
                  <a:srgbClr val="002060"/>
                </a:solidFill>
              </a:rPr>
              <a:t>Gắn với chế độ độc quyền kinh doanh theo lối TBCN về ruộng đất. </a:t>
            </a:r>
          </a:p>
          <a:p>
            <a:pPr algn="just" eaLnBrk="1" hangingPunct="1">
              <a:spcBef>
                <a:spcPct val="50000"/>
              </a:spcBef>
            </a:pPr>
            <a:r>
              <a:rPr lang="en-US" altLang="en-US" sz="4400">
                <a:solidFill>
                  <a:srgbClr val="002060"/>
                </a:solidFill>
              </a:rPr>
              <a:t>	</a:t>
            </a:r>
            <a:r>
              <a:rPr lang="vi-VN" altLang="en-US" sz="4400">
                <a:solidFill>
                  <a:srgbClr val="002060"/>
                </a:solidFill>
              </a:rPr>
              <a:t>Các loại địa tô chênh lệch:</a:t>
            </a:r>
          </a:p>
          <a:p>
            <a:pPr algn="just" eaLnBrk="1" hangingPunct="1">
              <a:spcBef>
                <a:spcPct val="50000"/>
              </a:spcBef>
            </a:pPr>
            <a:r>
              <a:rPr lang="en-US" altLang="en-US" sz="4400">
                <a:solidFill>
                  <a:srgbClr val="002060"/>
                </a:solidFill>
              </a:rPr>
              <a:t>		1.1. </a:t>
            </a:r>
            <a:r>
              <a:rPr lang="vi-VN" altLang="en-US" sz="4400">
                <a:solidFill>
                  <a:srgbClr val="002060"/>
                </a:solidFill>
              </a:rPr>
              <a:t>Địa tô chênh lệch I</a:t>
            </a:r>
            <a:endParaRPr lang="en-US" altLang="en-US" sz="4400">
              <a:solidFill>
                <a:srgbClr val="002060"/>
              </a:solidFill>
            </a:endParaRPr>
          </a:p>
          <a:p>
            <a:pPr algn="just" eaLnBrk="1" hangingPunct="1">
              <a:spcBef>
                <a:spcPct val="50000"/>
              </a:spcBef>
            </a:pPr>
            <a:r>
              <a:rPr lang="en-US" altLang="en-US" sz="4400">
                <a:solidFill>
                  <a:srgbClr val="002060"/>
                </a:solidFill>
              </a:rPr>
              <a:t>		1.2. </a:t>
            </a:r>
            <a:r>
              <a:rPr lang="vi-VN" altLang="en-US" sz="4400">
                <a:solidFill>
                  <a:srgbClr val="002060"/>
                </a:solidFill>
              </a:rPr>
              <a:t>Địa tô chênh lệch II</a:t>
            </a:r>
          </a:p>
          <a:p>
            <a:pPr algn="just" eaLnBrk="1" hangingPunct="1">
              <a:spcBef>
                <a:spcPct val="50000"/>
              </a:spcBef>
            </a:pPr>
            <a:r>
              <a:rPr lang="en-US" altLang="en-US" sz="4400">
                <a:solidFill>
                  <a:srgbClr val="002060"/>
                </a:solidFill>
              </a:rPr>
              <a:t>2. </a:t>
            </a:r>
            <a:r>
              <a:rPr lang="vi-VN" altLang="en-US" sz="4400">
                <a:solidFill>
                  <a:srgbClr val="002060"/>
                </a:solidFill>
              </a:rPr>
              <a:t>Địa tô tuyệt đối</a:t>
            </a:r>
          </a:p>
          <a:p>
            <a:pPr algn="just" eaLnBrk="1" hangingPunct="1">
              <a:spcBef>
                <a:spcPct val="50000"/>
              </a:spcBef>
            </a:pPr>
            <a:r>
              <a:rPr lang="en-US" altLang="en-US" sz="4400">
                <a:solidFill>
                  <a:srgbClr val="002060"/>
                </a:solidFill>
              </a:rPr>
              <a:t>	</a:t>
            </a:r>
            <a:r>
              <a:rPr lang="vi-VN" altLang="en-US" sz="4400">
                <a:solidFill>
                  <a:srgbClr val="002060"/>
                </a:solidFill>
              </a:rPr>
              <a:t>Gắn với chế độ độc quyền tư hữu về ruộng đất.</a:t>
            </a:r>
          </a:p>
          <a:p>
            <a:pPr algn="just" eaLnBrk="1" hangingPunct="1">
              <a:spcBef>
                <a:spcPct val="50000"/>
              </a:spcBef>
            </a:pPr>
            <a:r>
              <a:rPr lang="en-US" altLang="en-US" sz="4400">
                <a:solidFill>
                  <a:srgbClr val="002060"/>
                </a:solidFill>
              </a:rPr>
              <a:t>3. </a:t>
            </a:r>
            <a:r>
              <a:rPr lang="vi-VN" altLang="en-US" sz="4400">
                <a:solidFill>
                  <a:srgbClr val="002060"/>
                </a:solidFill>
              </a:rPr>
              <a:t>Địa tô độc quyền</a:t>
            </a:r>
          </a:p>
        </p:txBody>
      </p:sp>
    </p:spTree>
    <p:extLst>
      <p:ext uri="{BB962C8B-B14F-4D97-AF65-F5344CB8AC3E}">
        <p14:creationId xmlns:p14="http://schemas.microsoft.com/office/powerpoint/2010/main" val="1798091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down)">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wipe(down)">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wipe(down)">
                                      <p:cBhvr>
                                        <p:cTn id="22" dur="5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wipe(down)">
                                      <p:cBhvr>
                                        <p:cTn id="27" dur="500"/>
                                        <p:tgtEl>
                                          <p:spTgt spid="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wipe(down)">
                                      <p:cBhvr>
                                        <p:cTn id="32" dur="500"/>
                                        <p:tgtEl>
                                          <p:spTgt spid="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Effect transition="in" filter="wipe(down)">
                                      <p:cBhvr>
                                        <p:cTn id="37" dur="500"/>
                                        <p:tgtEl>
                                          <p:spTgt spid="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
                                            <p:txEl>
                                              <p:pRg st="6" end="6"/>
                                            </p:txEl>
                                          </p:spTgt>
                                        </p:tgtEl>
                                        <p:attrNameLst>
                                          <p:attrName>style.visibility</p:attrName>
                                        </p:attrNameLst>
                                      </p:cBhvr>
                                      <p:to>
                                        <p:strVal val="visible"/>
                                      </p:to>
                                    </p:set>
                                    <p:animEffect transition="in" filter="wipe(down)">
                                      <p:cBhvr>
                                        <p:cTn id="42" dur="500"/>
                                        <p:tgtEl>
                                          <p:spTgt spid="7">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7">
                                            <p:txEl>
                                              <p:pRg st="7" end="7"/>
                                            </p:txEl>
                                          </p:spTgt>
                                        </p:tgtEl>
                                        <p:attrNameLst>
                                          <p:attrName>style.visibility</p:attrName>
                                        </p:attrNameLst>
                                      </p:cBhvr>
                                      <p:to>
                                        <p:strVal val="visible"/>
                                      </p:to>
                                    </p:set>
                                    <p:animEffect transition="in" filter="wipe(down)">
                                      <p:cBhvr>
                                        <p:cTn id="47"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0">
            <a:extLst>
              <a:ext uri="{FF2B5EF4-FFF2-40B4-BE49-F238E27FC236}">
                <a16:creationId xmlns:a16="http://schemas.microsoft.com/office/drawing/2014/main" id="{F3C3A579-5F42-2B94-5546-62F499756035}"/>
              </a:ext>
            </a:extLst>
          </p:cNvPr>
          <p:cNvSpPr>
            <a:spLocks noChangeArrowheads="1"/>
          </p:cNvSpPr>
          <p:nvPr/>
        </p:nvSpPr>
        <p:spPr bwMode="ltGray">
          <a:xfrm flipH="1">
            <a:off x="1483361" y="2956561"/>
            <a:ext cx="5758546" cy="844550"/>
          </a:xfrm>
          <a:prstGeom prst="rect">
            <a:avLst/>
          </a:prstGeom>
          <a:solidFill>
            <a:schemeClr val="bg2">
              <a:lumMod val="60000"/>
              <a:lumOff val="40000"/>
            </a:schemeClr>
          </a:solidFill>
          <a:ln>
            <a:noFill/>
          </a:ln>
          <a:effectLst/>
        </p:spPr>
        <p:txBody>
          <a:bodyPr wrap="none" anchor="ctr"/>
          <a:lstStyle/>
          <a:p>
            <a:pPr algn="ctr">
              <a:defRPr/>
            </a:pPr>
            <a:r>
              <a:rPr lang="en-US" sz="5400" b="1" kern="0" dirty="0">
                <a:solidFill>
                  <a:srgbClr val="002060"/>
                </a:solidFill>
              </a:rPr>
              <a:t>GIÁ CẢ RUỘNG ĐẤT</a:t>
            </a:r>
          </a:p>
        </p:txBody>
      </p:sp>
      <p:sp>
        <p:nvSpPr>
          <p:cNvPr id="3" name="Rectangle 2">
            <a:extLst>
              <a:ext uri="{FF2B5EF4-FFF2-40B4-BE49-F238E27FC236}">
                <a16:creationId xmlns:a16="http://schemas.microsoft.com/office/drawing/2014/main" id="{2F2B8580-019D-7D12-7D53-53C4E5AE7B20}"/>
              </a:ext>
            </a:extLst>
          </p:cNvPr>
          <p:cNvSpPr txBox="1">
            <a:spLocks noChangeArrowheads="1"/>
          </p:cNvSpPr>
          <p:nvPr/>
        </p:nvSpPr>
        <p:spPr>
          <a:xfrm>
            <a:off x="3919048" y="1218848"/>
            <a:ext cx="10521024" cy="1127124"/>
          </a:xfrm>
          <a:prstGeom prst="rect">
            <a:avLst/>
          </a:prstGeom>
        </p:spPr>
        <p:txBody>
          <a:bodyPr vert="horz" lIns="182880" tIns="91440" rIns="182880" bIns="9144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6400" b="1" dirty="0">
                <a:solidFill>
                  <a:srgbClr val="002060"/>
                </a:solidFill>
                <a:latin typeface="Aachen" panose="02020500000000000000" pitchFamily="18" charset="0"/>
                <a:ea typeface="Aachen" panose="02020500000000000000" pitchFamily="18" charset="0"/>
                <a:cs typeface="Aachen" panose="02020500000000000000" pitchFamily="18" charset="0"/>
              </a:rPr>
              <a:t>ĐỊA TÔ TƯ BẢN CHỦ NGHĨA</a:t>
            </a:r>
          </a:p>
        </p:txBody>
      </p:sp>
      <mc:AlternateContent xmlns:mc="http://schemas.openxmlformats.org/markup-compatibility/2006" xmlns:a14="http://schemas.microsoft.com/office/drawing/2010/main">
        <mc:Choice Requires="a14">
          <p:sp>
            <p:nvSpPr>
              <p:cNvPr id="6" name="Text Box 20">
                <a:extLst>
                  <a:ext uri="{FF2B5EF4-FFF2-40B4-BE49-F238E27FC236}">
                    <a16:creationId xmlns:a16="http://schemas.microsoft.com/office/drawing/2014/main" id="{7639550B-B7E8-9EA2-AA92-E7B40F66A759}"/>
                  </a:ext>
                </a:extLst>
              </p:cNvPr>
              <p:cNvSpPr txBox="1">
                <a:spLocks noChangeArrowheads="1"/>
              </p:cNvSpPr>
              <p:nvPr/>
            </p:nvSpPr>
            <p:spPr bwMode="black">
              <a:xfrm>
                <a:off x="1483360" y="4385910"/>
                <a:ext cx="15392400" cy="7317644"/>
              </a:xfrm>
              <a:prstGeom prst="rect">
                <a:avLst/>
              </a:prstGeom>
              <a:noFill/>
              <a:ln w="9525">
                <a:noFill/>
                <a:prstDash val="dash"/>
                <a:miter lim="800000"/>
                <a:headEnd/>
                <a:tailEnd/>
              </a:ln>
              <a:extLst>
                <a:ext uri="{909E8E84-426E-40DD-AFC4-6F175D3DCCD1}">
                  <a14:hiddenFill>
                    <a:solidFill>
                      <a:srgbClr val="FFFFFF"/>
                    </a:solidFill>
                  </a14:hiddenFill>
                </a:ext>
              </a:extLst>
            </p:spPr>
            <p:txBody>
              <a:bodyPr wrap="square">
                <a:spAutoFit/>
              </a:bodyPr>
              <a:lstStyle>
                <a:lvl1pPr algn="ctr" eaLnBrk="0" hangingPunct="0">
                  <a:defRPr>
                    <a:solidFill>
                      <a:schemeClr val="tx1"/>
                    </a:solidFill>
                    <a:latin typeface="Arial" panose="020B0604020202020204" pitchFamily="34" charset="0"/>
                  </a:defRPr>
                </a:lvl1pPr>
                <a:lvl2pPr marL="742950" indent="-285750" algn="ctr" eaLnBrk="0" hangingPunct="0">
                  <a:defRPr>
                    <a:solidFill>
                      <a:schemeClr val="tx1"/>
                    </a:solidFill>
                    <a:latin typeface="Arial" panose="020B0604020202020204" pitchFamily="34" charset="0"/>
                  </a:defRPr>
                </a:lvl2pPr>
                <a:lvl3pPr marL="1143000" indent="-228600" algn="ctr" eaLnBrk="0" hangingPunct="0">
                  <a:defRPr>
                    <a:solidFill>
                      <a:schemeClr val="tx1"/>
                    </a:solidFill>
                    <a:latin typeface="Arial" panose="020B0604020202020204" pitchFamily="34" charset="0"/>
                  </a:defRPr>
                </a:lvl3pPr>
                <a:lvl4pPr marL="1600200" indent="-228600" algn="ctr" eaLnBrk="0" hangingPunct="0">
                  <a:defRPr>
                    <a:solidFill>
                      <a:schemeClr val="tx1"/>
                    </a:solidFill>
                    <a:latin typeface="Arial" panose="020B0604020202020204" pitchFamily="34" charset="0"/>
                  </a:defRPr>
                </a:lvl4pPr>
                <a:lvl5pPr marL="2057400" indent="-228600" algn="ctr"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vi-VN" altLang="en-US" b="1">
                    <a:solidFill>
                      <a:srgbClr val="002060"/>
                    </a:solidFill>
                  </a:rPr>
                  <a:t>Giá cả ruộng đất chính là địa tô được tư bản hóa.</a:t>
                </a:r>
                <a:endParaRPr lang="en-US" altLang="en-US" b="1">
                  <a:solidFill>
                    <a:srgbClr val="002060"/>
                  </a:solidFill>
                </a:endParaRPr>
              </a:p>
              <a:p>
                <a:pPr algn="just" eaLnBrk="1" hangingPunct="1">
                  <a:spcBef>
                    <a:spcPct val="50000"/>
                  </a:spcBef>
                </a:pPr>
                <a:r>
                  <a:rPr lang="vi-VN" altLang="en-US" b="1">
                    <a:solidFill>
                      <a:srgbClr val="002060"/>
                    </a:solidFill>
                  </a:rPr>
                  <a:t>Nguyên tắc xác định giá cả RĐ:</a:t>
                </a:r>
                <a:endParaRPr lang="en-US" altLang="en-US" b="1">
                  <a:solidFill>
                    <a:srgbClr val="002060"/>
                  </a:solidFill>
                </a:endParaRPr>
              </a:p>
              <a:p>
                <a:pPr algn="just" eaLnBrk="1" hangingPunct="1">
                  <a:spcBef>
                    <a:spcPct val="50000"/>
                  </a:spcBef>
                </a:pPr>
                <a:endParaRPr lang="en-US" altLang="en-US" b="1">
                  <a:solidFill>
                    <a:srgbClr val="002060"/>
                  </a:solidFill>
                </a:endParaRPr>
              </a:p>
              <a:p>
                <a:pPr algn="just" eaLnBrk="1" hangingPunct="1">
                  <a:spcBef>
                    <a:spcPct val="50000"/>
                  </a:spcBef>
                </a:pPr>
                <a14:m>
                  <m:oMathPara xmlns:m="http://schemas.openxmlformats.org/officeDocument/2006/math">
                    <m:oMathParaPr>
                      <m:jc m:val="left"/>
                    </m:oMathParaPr>
                    <m:oMath xmlns:m="http://schemas.openxmlformats.org/officeDocument/2006/math">
                      <m:sSup>
                        <m:sSupPr>
                          <m:ctrlPr>
                            <a:rPr lang="en-US" altLang="en-US" b="1" i="1">
                              <a:solidFill>
                                <a:srgbClr val="002060"/>
                              </a:solidFill>
                              <a:latin typeface="Cambria Math" panose="02040503050406030204" pitchFamily="18" charset="0"/>
                            </a:rPr>
                          </m:ctrlPr>
                        </m:sSupPr>
                        <m:e>
                          <m:r>
                            <a:rPr lang="en-US" altLang="en-US" b="1" i="1">
                              <a:solidFill>
                                <a:srgbClr val="002060"/>
                              </a:solidFill>
                              <a:latin typeface="Cambria Math" panose="02040503050406030204" pitchFamily="18" charset="0"/>
                            </a:rPr>
                            <m:t>𝒛</m:t>
                          </m:r>
                        </m:e>
                        <m:sup>
                          <m:r>
                            <a:rPr lang="en-US" altLang="en-US" b="1" i="1">
                              <a:solidFill>
                                <a:srgbClr val="002060"/>
                              </a:solidFill>
                              <a:latin typeface="Cambria Math" panose="02040503050406030204" pitchFamily="18" charset="0"/>
                            </a:rPr>
                            <m:t>′</m:t>
                          </m:r>
                        </m:sup>
                      </m:sSup>
                      <m:r>
                        <a:rPr lang="en-US" altLang="en-US" b="1" i="1">
                          <a:solidFill>
                            <a:srgbClr val="002060"/>
                          </a:solidFill>
                          <a:latin typeface="Cambria Math" panose="02040503050406030204" pitchFamily="18" charset="0"/>
                        </a:rPr>
                        <m:t>= </m:t>
                      </m:r>
                      <m:f>
                        <m:fPr>
                          <m:ctrlPr>
                            <a:rPr lang="en-US" altLang="en-US" b="1" i="1">
                              <a:solidFill>
                                <a:srgbClr val="002060"/>
                              </a:solidFill>
                              <a:latin typeface="Cambria Math" panose="02040503050406030204" pitchFamily="18" charset="0"/>
                            </a:rPr>
                          </m:ctrlPr>
                        </m:fPr>
                        <m:num>
                          <m:r>
                            <a:rPr lang="en-US" altLang="en-US" b="1" i="1">
                              <a:solidFill>
                                <a:srgbClr val="002060"/>
                              </a:solidFill>
                              <a:latin typeface="Cambria Math" panose="02040503050406030204" pitchFamily="18" charset="0"/>
                            </a:rPr>
                            <m:t>𝒛</m:t>
                          </m:r>
                        </m:num>
                        <m:den>
                          <m:r>
                            <a:rPr lang="en-US" altLang="en-US" b="1" i="1">
                              <a:solidFill>
                                <a:srgbClr val="002060"/>
                              </a:solidFill>
                              <a:latin typeface="Cambria Math" panose="02040503050406030204" pitchFamily="18" charset="0"/>
                            </a:rPr>
                            <m:t>𝑻𝒊</m:t>
                          </m:r>
                          <m:r>
                            <a:rPr lang="en-US" altLang="en-US" b="1" i="1">
                              <a:solidFill>
                                <a:srgbClr val="002060"/>
                              </a:solidFill>
                              <a:latin typeface="Cambria Math" panose="02040503050406030204" pitchFamily="18" charset="0"/>
                            </a:rPr>
                            <m:t>ề</m:t>
                          </m:r>
                          <m:r>
                            <a:rPr lang="en-US" altLang="en-US" b="1" i="1">
                              <a:solidFill>
                                <a:srgbClr val="002060"/>
                              </a:solidFill>
                              <a:latin typeface="Cambria Math" panose="02040503050406030204" pitchFamily="18" charset="0"/>
                            </a:rPr>
                            <m:t>𝒏</m:t>
                          </m:r>
                          <m:r>
                            <a:rPr lang="en-US" altLang="en-US" b="1" i="1">
                              <a:solidFill>
                                <a:srgbClr val="002060"/>
                              </a:solidFill>
                              <a:latin typeface="Cambria Math" panose="02040503050406030204" pitchFamily="18" charset="0"/>
                            </a:rPr>
                            <m:t> </m:t>
                          </m:r>
                          <m:r>
                            <a:rPr lang="en-US" altLang="en-US" b="1" i="1">
                              <a:solidFill>
                                <a:srgbClr val="002060"/>
                              </a:solidFill>
                              <a:latin typeface="Cambria Math" panose="02040503050406030204" pitchFamily="18" charset="0"/>
                            </a:rPr>
                            <m:t>𝒈</m:t>
                          </m:r>
                          <m:r>
                            <a:rPr lang="en-US" altLang="en-US" b="1" i="1">
                              <a:solidFill>
                                <a:srgbClr val="002060"/>
                              </a:solidFill>
                              <a:latin typeface="Cambria Math" panose="02040503050406030204" pitchFamily="18" charset="0"/>
                            </a:rPr>
                            <m:t>ử</m:t>
                          </m:r>
                          <m:r>
                            <a:rPr lang="en-US" altLang="en-US" b="1" i="1">
                              <a:solidFill>
                                <a:srgbClr val="002060"/>
                              </a:solidFill>
                              <a:latin typeface="Cambria Math" panose="02040503050406030204" pitchFamily="18" charset="0"/>
                            </a:rPr>
                            <m:t>𝒊</m:t>
                          </m:r>
                          <m:r>
                            <a:rPr lang="en-US" altLang="en-US" b="1" i="1">
                              <a:solidFill>
                                <a:srgbClr val="002060"/>
                              </a:solidFill>
                              <a:latin typeface="Cambria Math" panose="02040503050406030204" pitchFamily="18" charset="0"/>
                            </a:rPr>
                            <m:t> </m:t>
                          </m:r>
                          <m:r>
                            <a:rPr lang="en-US" altLang="en-US" b="1" i="1">
                              <a:solidFill>
                                <a:srgbClr val="002060"/>
                              </a:solidFill>
                              <a:latin typeface="Cambria Math" panose="02040503050406030204" pitchFamily="18" charset="0"/>
                            </a:rPr>
                            <m:t>𝑵𝑯</m:t>
                          </m:r>
                        </m:den>
                      </m:f>
                      <m:r>
                        <a:rPr lang="en-US" altLang="en-US" b="1" i="1">
                          <a:solidFill>
                            <a:srgbClr val="002060"/>
                          </a:solidFill>
                          <a:latin typeface="Cambria Math" panose="02040503050406030204" pitchFamily="18" charset="0"/>
                          <a:ea typeface="Cambria Math" panose="02040503050406030204" pitchFamily="18" charset="0"/>
                        </a:rPr>
                        <m:t>×</m:t>
                      </m:r>
                      <m:r>
                        <a:rPr lang="en-US" altLang="en-US" b="1" i="1">
                          <a:solidFill>
                            <a:srgbClr val="002060"/>
                          </a:solidFill>
                          <a:latin typeface="Cambria Math" panose="02040503050406030204" pitchFamily="18" charset="0"/>
                          <a:ea typeface="Cambria Math" panose="02040503050406030204" pitchFamily="18" charset="0"/>
                        </a:rPr>
                        <m:t>𝟏𝟎𝟎</m:t>
                      </m:r>
                      <m:r>
                        <a:rPr lang="en-US" altLang="en-US" b="1" i="1">
                          <a:solidFill>
                            <a:srgbClr val="002060"/>
                          </a:solidFill>
                          <a:latin typeface="Cambria Math" panose="02040503050406030204" pitchFamily="18" charset="0"/>
                          <a:ea typeface="Cambria Math" panose="02040503050406030204" pitchFamily="18" charset="0"/>
                        </a:rPr>
                        <m:t>%</m:t>
                      </m:r>
                    </m:oMath>
                  </m:oMathPara>
                </a14:m>
                <a:endParaRPr lang="en-US" altLang="en-US" b="1">
                  <a:solidFill>
                    <a:srgbClr val="002060"/>
                  </a:solidFill>
                </a:endParaRPr>
              </a:p>
              <a:p>
                <a:pPr algn="just" eaLnBrk="1" hangingPunct="1">
                  <a:spcBef>
                    <a:spcPct val="50000"/>
                  </a:spcBef>
                </a:pPr>
                <a:endParaRPr lang="en-US" altLang="en-US" b="1" i="1">
                  <a:solidFill>
                    <a:srgbClr val="002060"/>
                  </a:solidFill>
                  <a:latin typeface="Cambria Math" panose="02040503050406030204" pitchFamily="18" charset="0"/>
                </a:endParaRPr>
              </a:p>
              <a:p>
                <a:pPr algn="just" eaLnBrk="1" hangingPunct="1">
                  <a:spcBef>
                    <a:spcPct val="50000"/>
                  </a:spcBef>
                </a:pPr>
                <a14:m>
                  <m:oMath xmlns:m="http://schemas.openxmlformats.org/officeDocument/2006/math">
                    <m:r>
                      <a:rPr lang="en-US" altLang="en-US" b="1" i="1">
                        <a:solidFill>
                          <a:srgbClr val="002060"/>
                        </a:solidFill>
                        <a:latin typeface="Cambria Math" panose="02040503050406030204" pitchFamily="18" charset="0"/>
                      </a:rPr>
                      <m:t>𝑮𝑪𝑹</m:t>
                    </m:r>
                    <m:r>
                      <a:rPr lang="en-US" altLang="en-US" b="1" i="1">
                        <a:solidFill>
                          <a:srgbClr val="002060"/>
                        </a:solidFill>
                        <a:latin typeface="Cambria Math" panose="02040503050406030204" pitchFamily="18" charset="0"/>
                      </a:rPr>
                      <m:t>Đ= </m:t>
                    </m:r>
                    <m:f>
                      <m:fPr>
                        <m:ctrlPr>
                          <a:rPr lang="en-US" altLang="en-US" b="1" i="1">
                            <a:solidFill>
                              <a:srgbClr val="002060"/>
                            </a:solidFill>
                            <a:latin typeface="Cambria Math" panose="02040503050406030204" pitchFamily="18" charset="0"/>
                          </a:rPr>
                        </m:ctrlPr>
                      </m:fPr>
                      <m:num>
                        <m:r>
                          <a:rPr lang="en-US" altLang="en-US" b="1" i="1">
                            <a:solidFill>
                              <a:srgbClr val="002060"/>
                            </a:solidFill>
                            <a:latin typeface="Cambria Math" panose="02040503050406030204" pitchFamily="18" charset="0"/>
                          </a:rPr>
                          <m:t>Đị</m:t>
                        </m:r>
                        <m:r>
                          <a:rPr lang="en-US" altLang="en-US" b="1" i="1">
                            <a:solidFill>
                              <a:srgbClr val="002060"/>
                            </a:solidFill>
                            <a:latin typeface="Cambria Math" panose="02040503050406030204" pitchFamily="18" charset="0"/>
                          </a:rPr>
                          <m:t>𝒂</m:t>
                        </m:r>
                        <m:r>
                          <a:rPr lang="en-US" altLang="en-US" b="1" i="1">
                            <a:solidFill>
                              <a:srgbClr val="002060"/>
                            </a:solidFill>
                            <a:latin typeface="Cambria Math" panose="02040503050406030204" pitchFamily="18" charset="0"/>
                          </a:rPr>
                          <m:t> </m:t>
                        </m:r>
                        <m:r>
                          <a:rPr lang="en-US" altLang="en-US" b="1" i="1">
                            <a:solidFill>
                              <a:srgbClr val="002060"/>
                            </a:solidFill>
                            <a:latin typeface="Cambria Math" panose="02040503050406030204" pitchFamily="18" charset="0"/>
                          </a:rPr>
                          <m:t>𝒕</m:t>
                        </m:r>
                        <m:r>
                          <a:rPr lang="en-US" altLang="en-US" b="1" i="1">
                            <a:solidFill>
                              <a:srgbClr val="002060"/>
                            </a:solidFill>
                            <a:latin typeface="Cambria Math" panose="02040503050406030204" pitchFamily="18" charset="0"/>
                          </a:rPr>
                          <m:t>ô </m:t>
                        </m:r>
                        <m:r>
                          <a:rPr lang="en-US" altLang="en-US" b="1" i="1">
                            <a:solidFill>
                              <a:srgbClr val="002060"/>
                            </a:solidFill>
                            <a:latin typeface="Cambria Math" panose="02040503050406030204" pitchFamily="18" charset="0"/>
                          </a:rPr>
                          <m:t>𝒉</m:t>
                        </m:r>
                        <m:r>
                          <a:rPr lang="en-US" altLang="en-US" b="1" i="1">
                            <a:solidFill>
                              <a:srgbClr val="002060"/>
                            </a:solidFill>
                            <a:latin typeface="Cambria Math" panose="02040503050406030204" pitchFamily="18" charset="0"/>
                          </a:rPr>
                          <m:t>à</m:t>
                        </m:r>
                        <m:r>
                          <a:rPr lang="en-US" altLang="en-US" b="1" i="1">
                            <a:solidFill>
                              <a:srgbClr val="002060"/>
                            </a:solidFill>
                            <a:latin typeface="Cambria Math" panose="02040503050406030204" pitchFamily="18" charset="0"/>
                          </a:rPr>
                          <m:t>𝒏𝒈</m:t>
                        </m:r>
                        <m:r>
                          <a:rPr lang="en-US" altLang="en-US" b="1" i="1">
                            <a:solidFill>
                              <a:srgbClr val="002060"/>
                            </a:solidFill>
                            <a:latin typeface="Cambria Math" panose="02040503050406030204" pitchFamily="18" charset="0"/>
                          </a:rPr>
                          <m:t> </m:t>
                        </m:r>
                        <m:r>
                          <a:rPr lang="en-US" altLang="en-US" b="1" i="1">
                            <a:solidFill>
                              <a:srgbClr val="002060"/>
                            </a:solidFill>
                            <a:latin typeface="Cambria Math" panose="02040503050406030204" pitchFamily="18" charset="0"/>
                          </a:rPr>
                          <m:t>𝒏</m:t>
                        </m:r>
                        <m:r>
                          <a:rPr lang="en-US" altLang="en-US" b="1" i="1">
                            <a:solidFill>
                              <a:srgbClr val="002060"/>
                            </a:solidFill>
                            <a:latin typeface="Cambria Math" panose="02040503050406030204" pitchFamily="18" charset="0"/>
                          </a:rPr>
                          <m:t>ă</m:t>
                        </m:r>
                        <m:r>
                          <a:rPr lang="en-US" altLang="en-US" b="1" i="1">
                            <a:solidFill>
                              <a:srgbClr val="002060"/>
                            </a:solidFill>
                            <a:latin typeface="Cambria Math" panose="02040503050406030204" pitchFamily="18" charset="0"/>
                          </a:rPr>
                          <m:t>𝒎</m:t>
                        </m:r>
                      </m:num>
                      <m:den>
                        <m:sSup>
                          <m:sSupPr>
                            <m:ctrlPr>
                              <a:rPr lang="en-US" altLang="en-US" b="1" i="1">
                                <a:solidFill>
                                  <a:srgbClr val="002060"/>
                                </a:solidFill>
                                <a:latin typeface="Cambria Math" panose="02040503050406030204" pitchFamily="18" charset="0"/>
                              </a:rPr>
                            </m:ctrlPr>
                          </m:sSupPr>
                          <m:e>
                            <m:r>
                              <a:rPr lang="en-US" altLang="en-US" b="1" i="1">
                                <a:solidFill>
                                  <a:srgbClr val="002060"/>
                                </a:solidFill>
                                <a:latin typeface="Cambria Math" panose="02040503050406030204" pitchFamily="18" charset="0"/>
                              </a:rPr>
                              <m:t>𝒛</m:t>
                            </m:r>
                          </m:e>
                          <m:sup>
                            <m:r>
                              <a:rPr lang="en-US" altLang="en-US" b="1" i="1">
                                <a:solidFill>
                                  <a:srgbClr val="002060"/>
                                </a:solidFill>
                                <a:latin typeface="Cambria Math" panose="02040503050406030204" pitchFamily="18" charset="0"/>
                              </a:rPr>
                              <m:t>′</m:t>
                            </m:r>
                          </m:sup>
                        </m:sSup>
                        <m:r>
                          <a:rPr lang="en-US" altLang="en-US" b="1" i="1">
                            <a:solidFill>
                              <a:srgbClr val="002060"/>
                            </a:solidFill>
                            <a:latin typeface="Cambria Math" panose="02040503050406030204" pitchFamily="18" charset="0"/>
                          </a:rPr>
                          <m:t>𝒕𝒊</m:t>
                        </m:r>
                        <m:r>
                          <a:rPr lang="en-US" altLang="en-US" b="1" i="1">
                            <a:solidFill>
                              <a:srgbClr val="002060"/>
                            </a:solidFill>
                            <a:latin typeface="Cambria Math" panose="02040503050406030204" pitchFamily="18" charset="0"/>
                          </a:rPr>
                          <m:t>ề</m:t>
                        </m:r>
                        <m:r>
                          <a:rPr lang="en-US" altLang="en-US" b="1" i="1">
                            <a:solidFill>
                              <a:srgbClr val="002060"/>
                            </a:solidFill>
                            <a:latin typeface="Cambria Math" panose="02040503050406030204" pitchFamily="18" charset="0"/>
                          </a:rPr>
                          <m:t>𝒏</m:t>
                        </m:r>
                        <m:r>
                          <a:rPr lang="en-US" altLang="en-US" b="1" i="1">
                            <a:solidFill>
                              <a:srgbClr val="002060"/>
                            </a:solidFill>
                            <a:latin typeface="Cambria Math" panose="02040503050406030204" pitchFamily="18" charset="0"/>
                          </a:rPr>
                          <m:t> </m:t>
                        </m:r>
                        <m:r>
                          <a:rPr lang="en-US" altLang="en-US" b="1" i="1">
                            <a:solidFill>
                              <a:srgbClr val="002060"/>
                            </a:solidFill>
                            <a:latin typeface="Cambria Math" panose="02040503050406030204" pitchFamily="18" charset="0"/>
                          </a:rPr>
                          <m:t>𝒈</m:t>
                        </m:r>
                        <m:r>
                          <a:rPr lang="en-US" altLang="en-US" b="1" i="1">
                            <a:solidFill>
                              <a:srgbClr val="002060"/>
                            </a:solidFill>
                            <a:latin typeface="Cambria Math" panose="02040503050406030204" pitchFamily="18" charset="0"/>
                          </a:rPr>
                          <m:t>ử</m:t>
                        </m:r>
                        <m:r>
                          <a:rPr lang="en-US" altLang="en-US" b="1" i="1">
                            <a:solidFill>
                              <a:srgbClr val="002060"/>
                            </a:solidFill>
                            <a:latin typeface="Cambria Math" panose="02040503050406030204" pitchFamily="18" charset="0"/>
                          </a:rPr>
                          <m:t>𝒊</m:t>
                        </m:r>
                        <m:r>
                          <a:rPr lang="en-US" altLang="en-US" b="1" i="1">
                            <a:solidFill>
                              <a:srgbClr val="002060"/>
                            </a:solidFill>
                            <a:latin typeface="Cambria Math" panose="02040503050406030204" pitchFamily="18" charset="0"/>
                          </a:rPr>
                          <m:t> </m:t>
                        </m:r>
                        <m:r>
                          <a:rPr lang="en-US" altLang="en-US" b="1" i="1">
                            <a:solidFill>
                              <a:srgbClr val="002060"/>
                            </a:solidFill>
                            <a:latin typeface="Cambria Math" panose="02040503050406030204" pitchFamily="18" charset="0"/>
                          </a:rPr>
                          <m:t>𝑵𝑯</m:t>
                        </m:r>
                      </m:den>
                    </m:f>
                  </m:oMath>
                </a14:m>
                <a:r>
                  <a:rPr lang="en-US" altLang="en-US" b="1">
                    <a:solidFill>
                      <a:srgbClr val="002060"/>
                    </a:solidFill>
                  </a:rPr>
                  <a:t> </a:t>
                </a:r>
                <a:endParaRPr lang="vi-VN" altLang="en-US" b="1">
                  <a:solidFill>
                    <a:srgbClr val="002060"/>
                  </a:solidFill>
                </a:endParaRPr>
              </a:p>
            </p:txBody>
          </p:sp>
        </mc:Choice>
        <mc:Fallback xmlns="">
          <p:sp>
            <p:nvSpPr>
              <p:cNvPr id="6" name="Text Box 20">
                <a:extLst>
                  <a:ext uri="{FF2B5EF4-FFF2-40B4-BE49-F238E27FC236}">
                    <a16:creationId xmlns:a16="http://schemas.microsoft.com/office/drawing/2014/main" id="{7639550B-B7E8-9EA2-AA92-E7B40F66A759}"/>
                  </a:ext>
                </a:extLst>
              </p:cNvPr>
              <p:cNvSpPr txBox="1">
                <a:spLocks noRot="1" noChangeAspect="1" noMove="1" noResize="1" noEditPoints="1" noAdjustHandles="1" noChangeArrowheads="1" noChangeShapeType="1" noTextEdit="1"/>
              </p:cNvSpPr>
              <p:nvPr/>
            </p:nvSpPr>
            <p:spPr bwMode="black">
              <a:xfrm>
                <a:off x="1483360" y="4385910"/>
                <a:ext cx="15392400" cy="7317644"/>
              </a:xfrm>
              <a:prstGeom prst="rect">
                <a:avLst/>
              </a:prstGeom>
              <a:blipFill>
                <a:blip r:embed="rId2"/>
                <a:stretch>
                  <a:fillRect l="-1782" t="-1998"/>
                </a:stretch>
              </a:blipFill>
              <a:ln w="9525">
                <a:no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r>
                  <a:rPr lang="en-US">
                    <a:noFill/>
                  </a:rPr>
                  <a:t> </a:t>
                </a:r>
              </a:p>
            </p:txBody>
          </p:sp>
        </mc:Fallback>
      </mc:AlternateContent>
      <p:sp>
        <p:nvSpPr>
          <p:cNvPr id="8" name="AutoShape 5">
            <a:extLst>
              <a:ext uri="{FF2B5EF4-FFF2-40B4-BE49-F238E27FC236}">
                <a16:creationId xmlns:a16="http://schemas.microsoft.com/office/drawing/2014/main" id="{572BC75C-3973-F606-C23C-AE00C3300C2C}"/>
              </a:ext>
            </a:extLst>
          </p:cNvPr>
          <p:cNvSpPr>
            <a:spLocks noChangeArrowheads="1"/>
          </p:cNvSpPr>
          <p:nvPr/>
        </p:nvSpPr>
        <p:spPr bwMode="auto">
          <a:xfrm>
            <a:off x="9211310" y="7960360"/>
            <a:ext cx="4495800" cy="238124"/>
          </a:xfrm>
          <a:prstGeom prst="leftRightArrow">
            <a:avLst>
              <a:gd name="adj1" fmla="val 50000"/>
              <a:gd name="adj2" fmla="val 377602"/>
            </a:avLst>
          </a:prstGeom>
          <a:solidFill>
            <a:schemeClr val="bg2"/>
          </a:solidFill>
          <a:ln w="9525">
            <a:solidFill>
              <a:schemeClr val="tx1"/>
            </a:solidFill>
            <a:miter lim="800000"/>
            <a:headEnd/>
            <a:tailEnd/>
          </a:ln>
        </p:spPr>
        <p:txBody>
          <a:bodyPr wrap="none" anchor="ct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endParaRPr lang="en-US" altLang="en-US" sz="4800">
              <a:solidFill>
                <a:srgbClr val="002060"/>
              </a:solidFill>
            </a:endParaRPr>
          </a:p>
        </p:txBody>
      </p:sp>
      <p:sp>
        <p:nvSpPr>
          <p:cNvPr id="9" name="Text Box 6">
            <a:extLst>
              <a:ext uri="{FF2B5EF4-FFF2-40B4-BE49-F238E27FC236}">
                <a16:creationId xmlns:a16="http://schemas.microsoft.com/office/drawing/2014/main" id="{AE4B8682-47E1-6CD5-6F11-8AFD0F19D148}"/>
              </a:ext>
            </a:extLst>
          </p:cNvPr>
          <p:cNvSpPr txBox="1">
            <a:spLocks noChangeArrowheads="1"/>
          </p:cNvSpPr>
          <p:nvPr/>
        </p:nvSpPr>
        <p:spPr bwMode="auto">
          <a:xfrm>
            <a:off x="14018260" y="7528560"/>
            <a:ext cx="25527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panose="05000000000000000000" pitchFamily="2" charset="2"/>
              <a:buChar char="v"/>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accent1"/>
              </a:buClr>
              <a:buSzPct val="110000"/>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50000"/>
              </a:spcBef>
              <a:buClrTx/>
              <a:buSzTx/>
              <a:buFontTx/>
              <a:buNone/>
            </a:pPr>
            <a:r>
              <a:rPr lang="en-US" altLang="en-US" sz="4800">
                <a:solidFill>
                  <a:srgbClr val="002060"/>
                </a:solidFill>
              </a:rPr>
              <a:t> Địa tô</a:t>
            </a:r>
          </a:p>
        </p:txBody>
      </p:sp>
      <p:sp>
        <p:nvSpPr>
          <p:cNvPr id="10" name="AutoShape 4">
            <a:extLst>
              <a:ext uri="{FF2B5EF4-FFF2-40B4-BE49-F238E27FC236}">
                <a16:creationId xmlns:a16="http://schemas.microsoft.com/office/drawing/2014/main" id="{21626175-E838-3195-7086-2D4BE4A4C72D}"/>
              </a:ext>
            </a:extLst>
          </p:cNvPr>
          <p:cNvSpPr>
            <a:spLocks noChangeArrowheads="1"/>
          </p:cNvSpPr>
          <p:nvPr/>
        </p:nvSpPr>
        <p:spPr bwMode="auto">
          <a:xfrm>
            <a:off x="8245826" y="10801984"/>
            <a:ext cx="3048000" cy="304800"/>
          </a:xfrm>
          <a:prstGeom prst="leftRightArrow">
            <a:avLst>
              <a:gd name="adj1" fmla="val 50000"/>
              <a:gd name="adj2" fmla="val 200000"/>
            </a:avLst>
          </a:prstGeom>
          <a:solidFill>
            <a:schemeClr val="bg2"/>
          </a:solidFill>
          <a:ln w="9525">
            <a:solidFill>
              <a:schemeClr val="tx1"/>
            </a:solidFill>
            <a:miter lim="800000"/>
            <a:headEnd/>
            <a:tailEnd/>
          </a:ln>
        </p:spPr>
        <p:txBody>
          <a:bodyPr wrap="none" anchor="ctr"/>
          <a:lstStyle>
            <a:lvl1pPr>
              <a:defRPr sz="2400">
                <a:solidFill>
                  <a:schemeClr val="tx1"/>
                </a:solidFill>
                <a:latin typeface="VNI-Times" pitchFamily="2" charset="0"/>
                <a:ea typeface="MS PGothic" panose="020B0600070205080204" pitchFamily="34" charset="-128"/>
              </a:defRPr>
            </a:lvl1pPr>
            <a:lvl2pPr marL="742950" indent="-285750">
              <a:defRPr sz="2400">
                <a:solidFill>
                  <a:schemeClr val="tx1"/>
                </a:solidFill>
                <a:latin typeface="VNI-Times" pitchFamily="2" charset="0"/>
                <a:ea typeface="MS PGothic" panose="020B0600070205080204" pitchFamily="34" charset="-128"/>
              </a:defRPr>
            </a:lvl2pPr>
            <a:lvl3pPr marL="1143000" indent="-228600">
              <a:defRPr sz="2400">
                <a:solidFill>
                  <a:schemeClr val="tx1"/>
                </a:solidFill>
                <a:latin typeface="VNI-Times" pitchFamily="2" charset="0"/>
                <a:ea typeface="MS PGothic" panose="020B0600070205080204" pitchFamily="34" charset="-128"/>
              </a:defRPr>
            </a:lvl3pPr>
            <a:lvl4pPr marL="1600200" indent="-228600">
              <a:defRPr sz="2400">
                <a:solidFill>
                  <a:schemeClr val="tx1"/>
                </a:solidFill>
                <a:latin typeface="VNI-Times" pitchFamily="2" charset="0"/>
                <a:ea typeface="MS PGothic" panose="020B0600070205080204" pitchFamily="34" charset="-128"/>
              </a:defRPr>
            </a:lvl4pPr>
            <a:lvl5pPr marL="2057400" indent="-228600">
              <a:defRPr sz="2400">
                <a:solidFill>
                  <a:schemeClr val="tx1"/>
                </a:solidFill>
                <a:latin typeface="VNI-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NI-Times" pitchFamily="2" charset="0"/>
                <a:ea typeface="MS PGothic" panose="020B0600070205080204" pitchFamily="34" charset="-128"/>
              </a:defRPr>
            </a:lvl9pPr>
          </a:lstStyle>
          <a:p>
            <a:endParaRPr lang="en-US" altLang="en-US" sz="4800">
              <a:solidFill>
                <a:srgbClr val="002060"/>
              </a:solidFill>
            </a:endParaRPr>
          </a:p>
        </p:txBody>
      </p:sp>
      <p:sp>
        <p:nvSpPr>
          <p:cNvPr id="11" name="Text Box 7">
            <a:extLst>
              <a:ext uri="{FF2B5EF4-FFF2-40B4-BE49-F238E27FC236}">
                <a16:creationId xmlns:a16="http://schemas.microsoft.com/office/drawing/2014/main" id="{6F19E143-17CA-D90B-3DBE-5455B7D2190F}"/>
              </a:ext>
            </a:extLst>
          </p:cNvPr>
          <p:cNvSpPr txBox="1">
            <a:spLocks noChangeArrowheads="1"/>
          </p:cNvSpPr>
          <p:nvPr/>
        </p:nvSpPr>
        <p:spPr bwMode="auto">
          <a:xfrm>
            <a:off x="11141426" y="10424160"/>
            <a:ext cx="5486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Wingdings" panose="05000000000000000000" pitchFamily="2" charset="2"/>
              <a:buChar char="v"/>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lr>
                <a:schemeClr val="accent1"/>
              </a:buClr>
              <a:buSzPct val="110000"/>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50000"/>
              </a:spcBef>
              <a:buClrTx/>
              <a:buSzTx/>
              <a:buFontTx/>
              <a:buNone/>
            </a:pPr>
            <a:r>
              <a:rPr lang="en-US" altLang="en-US" sz="4800">
                <a:solidFill>
                  <a:srgbClr val="002060"/>
                </a:solidFill>
              </a:rPr>
              <a:t> Giá cả ruộng đất</a:t>
            </a:r>
          </a:p>
        </p:txBody>
      </p:sp>
    </p:spTree>
    <p:extLst>
      <p:ext uri="{BB962C8B-B14F-4D97-AF65-F5344CB8AC3E}">
        <p14:creationId xmlns:p14="http://schemas.microsoft.com/office/powerpoint/2010/main" val="1777388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down)">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wipe(down)">
                                      <p:cBhvr>
                                        <p:cTn id="27" dur="500"/>
                                        <p:tgtEl>
                                          <p:spTgt spid="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arn(inVertical)">
                                      <p:cBhvr>
                                        <p:cTn id="32" dur="500"/>
                                        <p:tgtEl>
                                          <p:spTgt spid="8"/>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arn(inVertical)">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box(in)">
                                      <p:cBhvr>
                                        <p:cTn id="40" dur="500"/>
                                        <p:tgtEl>
                                          <p:spTgt spid="10"/>
                                        </p:tgtEl>
                                      </p:cBhvr>
                                    </p:animEffect>
                                  </p:childTnLst>
                                </p:cTn>
                              </p:par>
                              <p:par>
                                <p:cTn id="41" presetID="4" presetClass="entr" presetSubtype="16"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box(in)">
                                      <p:cBhvr>
                                        <p:cTn id="4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8" grpId="0" animBg="1"/>
      <p:bldP spid="9" grpId="0"/>
      <p:bldP spid="10" grpId="0" animBg="1"/>
      <p:bldP spid="11"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BD71C1CB-296A-B75E-EAAC-9A4FB7432028}"/>
              </a:ext>
            </a:extLst>
          </p:cNvPr>
          <p:cNvSpPr txBox="1">
            <a:spLocks noChangeArrowheads="1"/>
          </p:cNvSpPr>
          <p:nvPr/>
        </p:nvSpPr>
        <p:spPr bwMode="auto">
          <a:xfrm>
            <a:off x="4235451" y="2287906"/>
            <a:ext cx="18473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9600"/>
          </a:p>
        </p:txBody>
      </p:sp>
      <mc:AlternateContent xmlns:mc="http://schemas.openxmlformats.org/markup-compatibility/2006" xmlns:a14="http://schemas.microsoft.com/office/drawing/2010/main">
        <mc:Choice Requires="a14">
          <p:sp>
            <p:nvSpPr>
              <p:cNvPr id="5" name="Text Box 20">
                <a:extLst>
                  <a:ext uri="{FF2B5EF4-FFF2-40B4-BE49-F238E27FC236}">
                    <a16:creationId xmlns:a16="http://schemas.microsoft.com/office/drawing/2014/main" id="{A9B3E49F-E610-B819-F0E8-968802BBAC7A}"/>
                  </a:ext>
                </a:extLst>
              </p:cNvPr>
              <p:cNvSpPr txBox="1">
                <a:spLocks noChangeArrowheads="1"/>
              </p:cNvSpPr>
              <p:nvPr/>
            </p:nvSpPr>
            <p:spPr bwMode="black">
              <a:xfrm>
                <a:off x="8534400" y="5260693"/>
                <a:ext cx="8229600" cy="7225311"/>
              </a:xfrm>
              <a:prstGeom prst="rect">
                <a:avLst/>
              </a:prstGeom>
              <a:noFill/>
              <a:ln w="9525">
                <a:solidFill>
                  <a:schemeClr val="tx1"/>
                </a:solidFill>
                <a:prstDash val="dash"/>
                <a:miter lim="800000"/>
                <a:headEnd/>
                <a:tailEnd/>
              </a:ln>
              <a:extLst>
                <a:ext uri="{909E8E84-426E-40DD-AFC4-6F175D3DCCD1}">
                  <a14:hiddenFill>
                    <a:solidFill>
                      <a:srgbClr val="FFFFFF"/>
                    </a:solidFill>
                  </a14:hiddenFill>
                </a:ext>
              </a:extLst>
            </p:spPr>
            <p:txBody>
              <a:bodyPr wrap="square">
                <a:spAutoFit/>
              </a:bodyPr>
              <a:lstStyle>
                <a:lvl1pPr algn="ctr" eaLnBrk="0" hangingPunct="0">
                  <a:defRPr>
                    <a:solidFill>
                      <a:schemeClr val="tx1"/>
                    </a:solidFill>
                    <a:latin typeface="Arial" panose="020B0604020202020204" pitchFamily="34" charset="0"/>
                  </a:defRPr>
                </a:lvl1pPr>
                <a:lvl2pPr marL="742950" indent="-285750" algn="ctr" eaLnBrk="0" hangingPunct="0">
                  <a:defRPr>
                    <a:solidFill>
                      <a:schemeClr val="tx1"/>
                    </a:solidFill>
                    <a:latin typeface="Arial" panose="020B0604020202020204" pitchFamily="34" charset="0"/>
                  </a:defRPr>
                </a:lvl2pPr>
                <a:lvl3pPr marL="1143000" indent="-228600" algn="ctr" eaLnBrk="0" hangingPunct="0">
                  <a:defRPr>
                    <a:solidFill>
                      <a:schemeClr val="tx1"/>
                    </a:solidFill>
                    <a:latin typeface="Arial" panose="020B0604020202020204" pitchFamily="34" charset="0"/>
                  </a:defRPr>
                </a:lvl3pPr>
                <a:lvl4pPr marL="1600200" indent="-228600" algn="ctr" eaLnBrk="0" hangingPunct="0">
                  <a:defRPr>
                    <a:solidFill>
                      <a:schemeClr val="tx1"/>
                    </a:solidFill>
                    <a:latin typeface="Arial" panose="020B0604020202020204" pitchFamily="34" charset="0"/>
                  </a:defRPr>
                </a:lvl4pPr>
                <a:lvl5pPr marL="2057400" indent="-228600" algn="ctr"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en-US" altLang="en-US" b="1">
                    <a:solidFill>
                      <a:srgbClr val="002060"/>
                    </a:solidFill>
                    <a:sym typeface="Wingdings" panose="05000000000000000000" pitchFamily="2" charset="2"/>
                  </a:rPr>
                  <a:t>Nhà TBCN thu p</a:t>
                </a:r>
                <a:r>
                  <a:rPr lang="en-US" altLang="en-US" b="1" baseline="-25000">
                    <a:solidFill>
                      <a:srgbClr val="002060"/>
                    </a:solidFill>
                    <a:sym typeface="Wingdings" panose="05000000000000000000" pitchFamily="2" charset="2"/>
                  </a:rPr>
                  <a:t>cn,</a:t>
                </a:r>
                <a:r>
                  <a:rPr lang="en-US" altLang="en-US" b="1">
                    <a:solidFill>
                      <a:srgbClr val="002060"/>
                    </a:solidFill>
                    <a:sym typeface="Wingdings" panose="05000000000000000000" pitchFamily="2" charset="2"/>
                  </a:rPr>
                  <a:t> p</a:t>
                </a:r>
                <a:r>
                  <a:rPr lang="en-US" altLang="en-US" b="1" baseline="-25000">
                    <a:solidFill>
                      <a:srgbClr val="002060"/>
                    </a:solidFill>
                    <a:sym typeface="Wingdings" panose="05000000000000000000" pitchFamily="2" charset="2"/>
                  </a:rPr>
                  <a:t>cn</a:t>
                </a:r>
                <a:r>
                  <a:rPr lang="en-US" altLang="en-US" b="1">
                    <a:solidFill>
                      <a:srgbClr val="002060"/>
                    </a:solidFill>
                    <a:sym typeface="Wingdings" panose="05000000000000000000" pitchFamily="2" charset="2"/>
                  </a:rPr>
                  <a:t> vận động theo quy luật của </a:t>
                </a:r>
                <a14:m>
                  <m:oMath xmlns:m="http://schemas.openxmlformats.org/officeDocument/2006/math">
                    <m:acc>
                      <m:accPr>
                        <m:chr m:val="̅"/>
                        <m:ctrlPr>
                          <a:rPr lang="en-US" altLang="en-US" b="1" i="1">
                            <a:solidFill>
                              <a:srgbClr val="002060"/>
                            </a:solidFill>
                            <a:latin typeface="Cambria Math" panose="02040503050406030204" pitchFamily="18" charset="0"/>
                            <a:sym typeface="Wingdings" panose="05000000000000000000" pitchFamily="2" charset="2"/>
                          </a:rPr>
                        </m:ctrlPr>
                      </m:accPr>
                      <m:e>
                        <m:r>
                          <a:rPr lang="en-US" altLang="en-US" b="1" i="1">
                            <a:solidFill>
                              <a:srgbClr val="002060"/>
                            </a:solidFill>
                            <a:latin typeface="Cambria Math" panose="02040503050406030204" pitchFamily="18" charset="0"/>
                            <a:sym typeface="Wingdings" panose="05000000000000000000" pitchFamily="2" charset="2"/>
                          </a:rPr>
                          <m:t>𝒑</m:t>
                        </m:r>
                        <m:r>
                          <a:rPr lang="en-US" altLang="en-US" b="1" i="1">
                            <a:solidFill>
                              <a:srgbClr val="002060"/>
                            </a:solidFill>
                            <a:latin typeface="Cambria Math" panose="02040503050406030204" pitchFamily="18" charset="0"/>
                            <a:sym typeface="Wingdings" panose="05000000000000000000" pitchFamily="2" charset="2"/>
                          </a:rPr>
                          <m:t>′</m:t>
                        </m:r>
                      </m:e>
                    </m:acc>
                  </m:oMath>
                </a14:m>
                <a:endParaRPr lang="en-US" altLang="en-US" b="1">
                  <a:solidFill>
                    <a:srgbClr val="002060"/>
                  </a:solidFill>
                  <a:sym typeface="Wingdings" panose="05000000000000000000" pitchFamily="2" charset="2"/>
                </a:endParaRPr>
              </a:p>
              <a:p>
                <a:pPr algn="just" eaLnBrk="1" hangingPunct="1">
                  <a:spcBef>
                    <a:spcPct val="50000"/>
                  </a:spcBef>
                </a:pPr>
                <a:r>
                  <a:rPr lang="en-US" altLang="en-US" b="1">
                    <a:solidFill>
                      <a:srgbClr val="002060"/>
                    </a:solidFill>
                    <a:sym typeface="Wingdings" panose="05000000000000000000" pitchFamily="2" charset="2"/>
                  </a:rPr>
                  <a:t>Nhà TBTN thu p</a:t>
                </a:r>
                <a:r>
                  <a:rPr lang="en-US" altLang="en-US" b="1" baseline="-25000">
                    <a:solidFill>
                      <a:srgbClr val="002060"/>
                    </a:solidFill>
                    <a:sym typeface="Wingdings" panose="05000000000000000000" pitchFamily="2" charset="2"/>
                  </a:rPr>
                  <a:t>tn,</a:t>
                </a:r>
                <a:r>
                  <a:rPr lang="en-US" altLang="en-US" b="1">
                    <a:solidFill>
                      <a:srgbClr val="002060"/>
                    </a:solidFill>
                    <a:sym typeface="Wingdings" panose="05000000000000000000" pitchFamily="2" charset="2"/>
                  </a:rPr>
                  <a:t> p</a:t>
                </a:r>
                <a:r>
                  <a:rPr lang="en-US" altLang="en-US" b="1" baseline="-25000">
                    <a:solidFill>
                      <a:srgbClr val="002060"/>
                    </a:solidFill>
                    <a:sym typeface="Wingdings" panose="05000000000000000000" pitchFamily="2" charset="2"/>
                  </a:rPr>
                  <a:t>tn</a:t>
                </a:r>
                <a:r>
                  <a:rPr lang="en-US" altLang="en-US" b="1">
                    <a:solidFill>
                      <a:srgbClr val="002060"/>
                    </a:solidFill>
                    <a:sym typeface="Wingdings" panose="05000000000000000000" pitchFamily="2" charset="2"/>
                  </a:rPr>
                  <a:t> vận động theo quy luật của </a:t>
                </a:r>
                <a14:m>
                  <m:oMath xmlns:m="http://schemas.openxmlformats.org/officeDocument/2006/math">
                    <m:acc>
                      <m:accPr>
                        <m:chr m:val="̅"/>
                        <m:ctrlPr>
                          <a:rPr lang="en-US" altLang="en-US" b="1" i="1">
                            <a:solidFill>
                              <a:srgbClr val="002060"/>
                            </a:solidFill>
                            <a:latin typeface="Cambria Math" panose="02040503050406030204" pitchFamily="18" charset="0"/>
                            <a:sym typeface="Wingdings" panose="05000000000000000000" pitchFamily="2" charset="2"/>
                          </a:rPr>
                        </m:ctrlPr>
                      </m:accPr>
                      <m:e>
                        <m:r>
                          <a:rPr lang="en-US" altLang="en-US" b="1" i="1">
                            <a:solidFill>
                              <a:srgbClr val="002060"/>
                            </a:solidFill>
                            <a:latin typeface="Cambria Math" panose="02040503050406030204" pitchFamily="18" charset="0"/>
                            <a:sym typeface="Wingdings" panose="05000000000000000000" pitchFamily="2" charset="2"/>
                          </a:rPr>
                          <m:t>𝒑</m:t>
                        </m:r>
                        <m:r>
                          <a:rPr lang="en-US" altLang="en-US" b="1" i="1">
                            <a:solidFill>
                              <a:srgbClr val="002060"/>
                            </a:solidFill>
                            <a:latin typeface="Cambria Math" panose="02040503050406030204" pitchFamily="18" charset="0"/>
                            <a:sym typeface="Wingdings" panose="05000000000000000000" pitchFamily="2" charset="2"/>
                          </a:rPr>
                          <m:t>′</m:t>
                        </m:r>
                      </m:e>
                    </m:acc>
                  </m:oMath>
                </a14:m>
                <a:endParaRPr lang="en-US" altLang="en-US" b="1">
                  <a:solidFill>
                    <a:srgbClr val="002060"/>
                  </a:solidFill>
                  <a:sym typeface="Wingdings" panose="05000000000000000000" pitchFamily="2" charset="2"/>
                </a:endParaRPr>
              </a:p>
              <a:p>
                <a:pPr algn="just" eaLnBrk="1" hangingPunct="1">
                  <a:spcBef>
                    <a:spcPct val="50000"/>
                  </a:spcBef>
                </a:pPr>
                <a:r>
                  <a:rPr lang="en-US" altLang="en-US" b="1">
                    <a:solidFill>
                      <a:srgbClr val="002060"/>
                    </a:solidFill>
                    <a:sym typeface="Wingdings" panose="05000000000000000000" pitchFamily="2" charset="2"/>
                  </a:rPr>
                  <a:t>Nhà TBCV thu z, z vận động theo quy luật của z’</a:t>
                </a:r>
              </a:p>
              <a:p>
                <a:pPr algn="just" eaLnBrk="1" hangingPunct="1">
                  <a:spcBef>
                    <a:spcPct val="50000"/>
                  </a:spcBef>
                </a:pPr>
                <a:r>
                  <a:rPr lang="en-US" altLang="en-US" b="1">
                    <a:solidFill>
                      <a:srgbClr val="002060"/>
                    </a:solidFill>
                    <a:sym typeface="Wingdings" panose="05000000000000000000" pitchFamily="2" charset="2"/>
                  </a:rPr>
                  <a:t>Chủ ruộng đất thu được địa tô TBCN</a:t>
                </a:r>
              </a:p>
            </p:txBody>
          </p:sp>
        </mc:Choice>
        <mc:Fallback xmlns="">
          <p:sp>
            <p:nvSpPr>
              <p:cNvPr id="5" name="Text Box 20">
                <a:extLst>
                  <a:ext uri="{FF2B5EF4-FFF2-40B4-BE49-F238E27FC236}">
                    <a16:creationId xmlns:a16="http://schemas.microsoft.com/office/drawing/2014/main" id="{A9B3E49F-E610-B819-F0E8-968802BBAC7A}"/>
                  </a:ext>
                </a:extLst>
              </p:cNvPr>
              <p:cNvSpPr txBox="1">
                <a:spLocks noRot="1" noChangeAspect="1" noMove="1" noResize="1" noEditPoints="1" noAdjustHandles="1" noChangeArrowheads="1" noChangeShapeType="1" noTextEdit="1"/>
              </p:cNvSpPr>
              <p:nvPr/>
            </p:nvSpPr>
            <p:spPr bwMode="black">
              <a:xfrm>
                <a:off x="8534400" y="5260693"/>
                <a:ext cx="8229600" cy="7225311"/>
              </a:xfrm>
              <a:prstGeom prst="rect">
                <a:avLst/>
              </a:prstGeom>
              <a:blipFill>
                <a:blip r:embed="rId2"/>
                <a:stretch>
                  <a:fillRect l="-3254" t="-1938" r="-3254" b="-3370"/>
                </a:stretch>
              </a:blip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r>
                  <a:rPr lang="en-US">
                    <a:noFill/>
                  </a:rPr>
                  <a:t> </a:t>
                </a:r>
              </a:p>
            </p:txBody>
          </p:sp>
        </mc:Fallback>
      </mc:AlternateContent>
      <p:sp>
        <p:nvSpPr>
          <p:cNvPr id="7" name="Rectangle 50">
            <a:extLst>
              <a:ext uri="{FF2B5EF4-FFF2-40B4-BE49-F238E27FC236}">
                <a16:creationId xmlns:a16="http://schemas.microsoft.com/office/drawing/2014/main" id="{72DE3304-5A8C-FDF9-4787-E0EAA7EEE8F4}"/>
              </a:ext>
            </a:extLst>
          </p:cNvPr>
          <p:cNvSpPr>
            <a:spLocks noChangeArrowheads="1"/>
          </p:cNvSpPr>
          <p:nvPr/>
        </p:nvSpPr>
        <p:spPr bwMode="ltGray">
          <a:xfrm flipH="1">
            <a:off x="1584773" y="3192860"/>
            <a:ext cx="11521626" cy="1356984"/>
          </a:xfrm>
          <a:prstGeom prst="rect">
            <a:avLst/>
          </a:prstGeom>
          <a:solidFill>
            <a:schemeClr val="bg2">
              <a:lumMod val="60000"/>
              <a:lumOff val="40000"/>
            </a:schemeClr>
          </a:solidFill>
          <a:ln>
            <a:noFill/>
          </a:ln>
          <a:effectLst/>
        </p:spPr>
        <p:txBody>
          <a:bodyPr wrap="none" anchor="ctr"/>
          <a:lstStyle/>
          <a:p>
            <a:pPr algn="ctr">
              <a:defRPr/>
            </a:pPr>
            <a:r>
              <a:rPr lang="en-US" sz="4000" b="1" kern="0" dirty="0" err="1">
                <a:solidFill>
                  <a:srgbClr val="002060"/>
                </a:solidFill>
              </a:rPr>
              <a:t>Quá</a:t>
            </a:r>
            <a:r>
              <a:rPr lang="en-US" sz="4000" b="1" kern="0" dirty="0">
                <a:solidFill>
                  <a:srgbClr val="002060"/>
                </a:solidFill>
              </a:rPr>
              <a:t> </a:t>
            </a:r>
            <a:r>
              <a:rPr lang="en-US" sz="4000" b="1" kern="0" dirty="0" err="1">
                <a:solidFill>
                  <a:srgbClr val="002060"/>
                </a:solidFill>
              </a:rPr>
              <a:t>trình</a:t>
            </a:r>
            <a:r>
              <a:rPr lang="en-US" sz="4000" b="1" kern="0" dirty="0">
                <a:solidFill>
                  <a:srgbClr val="002060"/>
                </a:solidFill>
              </a:rPr>
              <a:t> TDCT </a:t>
            </a:r>
            <a:r>
              <a:rPr lang="en-US" sz="4000" b="1" kern="0" dirty="0" err="1">
                <a:solidFill>
                  <a:srgbClr val="002060"/>
                </a:solidFill>
              </a:rPr>
              <a:t>đồng</a:t>
            </a:r>
            <a:r>
              <a:rPr lang="en-US" sz="4000" b="1" kern="0" dirty="0">
                <a:solidFill>
                  <a:srgbClr val="002060"/>
                </a:solidFill>
              </a:rPr>
              <a:t> </a:t>
            </a:r>
            <a:r>
              <a:rPr lang="en-US" sz="4000" b="1" kern="0" dirty="0" err="1">
                <a:solidFill>
                  <a:srgbClr val="002060"/>
                </a:solidFill>
              </a:rPr>
              <a:t>thời</a:t>
            </a:r>
            <a:r>
              <a:rPr lang="en-US" sz="4000" b="1" kern="0" dirty="0">
                <a:solidFill>
                  <a:srgbClr val="002060"/>
                </a:solidFill>
              </a:rPr>
              <a:t> </a:t>
            </a:r>
            <a:r>
              <a:rPr lang="en-US" sz="4000" b="1" kern="0" dirty="0" err="1">
                <a:solidFill>
                  <a:srgbClr val="002060"/>
                </a:solidFill>
              </a:rPr>
              <a:t>là</a:t>
            </a:r>
            <a:r>
              <a:rPr lang="en-US" sz="4000" b="1" kern="0" dirty="0">
                <a:solidFill>
                  <a:srgbClr val="002060"/>
                </a:solidFill>
              </a:rPr>
              <a:t> </a:t>
            </a:r>
            <a:r>
              <a:rPr lang="en-US" sz="4000" b="1" kern="0" dirty="0" err="1">
                <a:solidFill>
                  <a:srgbClr val="002060"/>
                </a:solidFill>
              </a:rPr>
              <a:t>quá</a:t>
            </a:r>
            <a:r>
              <a:rPr lang="en-US" sz="4000" b="1" kern="0" dirty="0">
                <a:solidFill>
                  <a:srgbClr val="002060"/>
                </a:solidFill>
              </a:rPr>
              <a:t> </a:t>
            </a:r>
            <a:r>
              <a:rPr lang="en-US" sz="4000" b="1" kern="0" dirty="0" err="1">
                <a:solidFill>
                  <a:srgbClr val="002060"/>
                </a:solidFill>
              </a:rPr>
              <a:t>trình</a:t>
            </a:r>
            <a:r>
              <a:rPr lang="en-US" sz="4000" b="1" kern="0" dirty="0">
                <a:solidFill>
                  <a:srgbClr val="002060"/>
                </a:solidFill>
              </a:rPr>
              <a:t> </a:t>
            </a:r>
            <a:r>
              <a:rPr lang="en-US" sz="4000" b="1" kern="0" dirty="0" err="1">
                <a:solidFill>
                  <a:srgbClr val="002060"/>
                </a:solidFill>
              </a:rPr>
              <a:t>phân</a:t>
            </a:r>
            <a:r>
              <a:rPr lang="en-US" sz="4000" b="1" kern="0" dirty="0">
                <a:solidFill>
                  <a:srgbClr val="002060"/>
                </a:solidFill>
              </a:rPr>
              <a:t> chia m </a:t>
            </a:r>
          </a:p>
          <a:p>
            <a:pPr algn="ctr">
              <a:defRPr/>
            </a:pPr>
            <a:r>
              <a:rPr lang="en-US" sz="4000" b="1" kern="0" dirty="0" err="1">
                <a:solidFill>
                  <a:srgbClr val="002060"/>
                </a:solidFill>
              </a:rPr>
              <a:t>giữa</a:t>
            </a:r>
            <a:r>
              <a:rPr lang="en-US" sz="4000" b="1" kern="0" dirty="0">
                <a:solidFill>
                  <a:srgbClr val="002060"/>
                </a:solidFill>
              </a:rPr>
              <a:t> </a:t>
            </a:r>
            <a:r>
              <a:rPr lang="en-US" sz="4000" b="1" kern="0" dirty="0" err="1">
                <a:solidFill>
                  <a:srgbClr val="002060"/>
                </a:solidFill>
              </a:rPr>
              <a:t>các</a:t>
            </a:r>
            <a:r>
              <a:rPr lang="en-US" sz="4000" b="1" kern="0" dirty="0">
                <a:solidFill>
                  <a:srgbClr val="002060"/>
                </a:solidFill>
              </a:rPr>
              <a:t> </a:t>
            </a:r>
            <a:r>
              <a:rPr lang="en-US" sz="4000" b="1" kern="0" dirty="0" err="1">
                <a:solidFill>
                  <a:srgbClr val="002060"/>
                </a:solidFill>
              </a:rPr>
              <a:t>tập</a:t>
            </a:r>
            <a:r>
              <a:rPr lang="en-US" sz="4000" b="1" kern="0" dirty="0">
                <a:solidFill>
                  <a:srgbClr val="002060"/>
                </a:solidFill>
              </a:rPr>
              <a:t> </a:t>
            </a:r>
            <a:r>
              <a:rPr lang="en-US" sz="4000" b="1" kern="0" dirty="0" err="1">
                <a:solidFill>
                  <a:srgbClr val="002060"/>
                </a:solidFill>
              </a:rPr>
              <a:t>đoàn</a:t>
            </a:r>
            <a:r>
              <a:rPr lang="en-US" sz="4000" b="1" kern="0" dirty="0">
                <a:solidFill>
                  <a:srgbClr val="002060"/>
                </a:solidFill>
              </a:rPr>
              <a:t> </a:t>
            </a:r>
            <a:r>
              <a:rPr lang="en-US" sz="4000" b="1" kern="0" dirty="0" err="1">
                <a:solidFill>
                  <a:srgbClr val="002060"/>
                </a:solidFill>
              </a:rPr>
              <a:t>nhà</a:t>
            </a:r>
            <a:r>
              <a:rPr lang="en-US" sz="4000" b="1" kern="0" dirty="0">
                <a:solidFill>
                  <a:srgbClr val="002060"/>
                </a:solidFill>
              </a:rPr>
              <a:t> TB</a:t>
            </a:r>
          </a:p>
        </p:txBody>
      </p:sp>
      <p:sp>
        <p:nvSpPr>
          <p:cNvPr id="12" name="Rectangle 2">
            <a:extLst>
              <a:ext uri="{FF2B5EF4-FFF2-40B4-BE49-F238E27FC236}">
                <a16:creationId xmlns:a16="http://schemas.microsoft.com/office/drawing/2014/main" id="{4A70D025-3029-1EDC-0880-830E34D15BC6}"/>
              </a:ext>
            </a:extLst>
          </p:cNvPr>
          <p:cNvSpPr txBox="1">
            <a:spLocks noChangeArrowheads="1"/>
          </p:cNvSpPr>
          <p:nvPr/>
        </p:nvSpPr>
        <p:spPr>
          <a:xfrm>
            <a:off x="3883488" y="1184842"/>
            <a:ext cx="10521024" cy="1127124"/>
          </a:xfrm>
          <a:prstGeom prst="rect">
            <a:avLst/>
          </a:prstGeom>
        </p:spPr>
        <p:txBody>
          <a:bodyPr vert="horz" lIns="182880" tIns="91440" rIns="182880" bIns="9144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8000" b="1">
                <a:solidFill>
                  <a:srgbClr val="002060"/>
                </a:solidFill>
                <a:latin typeface="Aachen" panose="02020500000000000000" pitchFamily="18" charset="0"/>
                <a:ea typeface="Aachen" panose="02020500000000000000" pitchFamily="18" charset="0"/>
                <a:cs typeface="Aachen" panose="02020500000000000000" pitchFamily="18" charset="0"/>
              </a:rPr>
              <a:t>KẾT LUẬN</a:t>
            </a:r>
          </a:p>
        </p:txBody>
      </p:sp>
      <p:pic>
        <p:nvPicPr>
          <p:cNvPr id="13" name="Picture 12">
            <a:extLst>
              <a:ext uri="{FF2B5EF4-FFF2-40B4-BE49-F238E27FC236}">
                <a16:creationId xmlns:a16="http://schemas.microsoft.com/office/drawing/2014/main" id="{0B4F1064-F514-6263-1B0B-F5464649D7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7605" y="4869259"/>
            <a:ext cx="6437194" cy="7975774"/>
          </a:xfrm>
          <a:prstGeom prst="rect">
            <a:avLst/>
          </a:prstGeom>
        </p:spPr>
      </p:pic>
    </p:spTree>
    <p:extLst>
      <p:ext uri="{BB962C8B-B14F-4D97-AF65-F5344CB8AC3E}">
        <p14:creationId xmlns:p14="http://schemas.microsoft.com/office/powerpoint/2010/main" val="12229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animEffect transition="in" filter="fade">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a:extLst>
              <a:ext uri="{FF2B5EF4-FFF2-40B4-BE49-F238E27FC236}">
                <a16:creationId xmlns:a16="http://schemas.microsoft.com/office/drawing/2014/main" id="{B0ACC550-088E-B84B-902B-52BC805D05D8}"/>
              </a:ext>
            </a:extLst>
          </p:cNvPr>
          <p:cNvSpPr txBox="1">
            <a:spLocks noChangeArrowheads="1"/>
          </p:cNvSpPr>
          <p:nvPr/>
        </p:nvSpPr>
        <p:spPr bwMode="auto">
          <a:xfrm>
            <a:off x="4011931" y="2145666"/>
            <a:ext cx="18473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9600"/>
          </a:p>
        </p:txBody>
      </p:sp>
      <p:sp>
        <p:nvSpPr>
          <p:cNvPr id="3" name="Text Box 20">
            <a:extLst>
              <a:ext uri="{FF2B5EF4-FFF2-40B4-BE49-F238E27FC236}">
                <a16:creationId xmlns:a16="http://schemas.microsoft.com/office/drawing/2014/main" id="{55C3FF8B-D345-5A56-1C52-A1BE51CEC81F}"/>
              </a:ext>
            </a:extLst>
          </p:cNvPr>
          <p:cNvSpPr txBox="1">
            <a:spLocks noChangeArrowheads="1"/>
          </p:cNvSpPr>
          <p:nvPr/>
        </p:nvSpPr>
        <p:spPr bwMode="black">
          <a:xfrm>
            <a:off x="8006079" y="4763752"/>
            <a:ext cx="8839202" cy="7786747"/>
          </a:xfrm>
          <a:prstGeom prst="rect">
            <a:avLst/>
          </a:prstGeom>
          <a:noFill/>
          <a:ln w="9525">
            <a:noFill/>
            <a:prstDash val="dash"/>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gn="ctr" eaLnBrk="0" hangingPunct="0">
              <a:defRPr>
                <a:solidFill>
                  <a:schemeClr val="tx1"/>
                </a:solidFill>
                <a:latin typeface="Arial" panose="020B0604020202020204" pitchFamily="34" charset="0"/>
              </a:defRPr>
            </a:lvl1pPr>
            <a:lvl2pPr marL="742950" indent="-285750" algn="ctr" eaLnBrk="0" hangingPunct="0">
              <a:defRPr>
                <a:solidFill>
                  <a:schemeClr val="tx1"/>
                </a:solidFill>
                <a:latin typeface="Arial" panose="020B0604020202020204" pitchFamily="34" charset="0"/>
              </a:defRPr>
            </a:lvl2pPr>
            <a:lvl3pPr marL="1143000" indent="-228600" algn="ctr" eaLnBrk="0" hangingPunct="0">
              <a:defRPr>
                <a:solidFill>
                  <a:schemeClr val="tx1"/>
                </a:solidFill>
                <a:latin typeface="Arial" panose="020B0604020202020204" pitchFamily="34" charset="0"/>
              </a:defRPr>
            </a:lvl3pPr>
            <a:lvl4pPr marL="1600200" indent="-228600" algn="ctr" eaLnBrk="0" hangingPunct="0">
              <a:defRPr>
                <a:solidFill>
                  <a:schemeClr val="tx1"/>
                </a:solidFill>
                <a:latin typeface="Arial" panose="020B0604020202020204" pitchFamily="34" charset="0"/>
              </a:defRPr>
            </a:lvl4pPr>
            <a:lvl5pPr marL="2057400" indent="-228600" algn="ctr"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vi-VN" altLang="en-US" sz="4000" b="1">
                <a:solidFill>
                  <a:srgbClr val="002060"/>
                </a:solidFill>
                <a:sym typeface="Wingdings" panose="05000000000000000000" pitchFamily="2" charset="2"/>
              </a:rPr>
              <a:t>Các quan hệ kinh tế chưa bị biến dạng bởi các thế lực </a:t>
            </a:r>
            <a:r>
              <a:rPr lang="en-US" altLang="en-US" sz="4000" b="1">
                <a:solidFill>
                  <a:srgbClr val="002060"/>
                </a:solidFill>
                <a:sym typeface="Wingdings" panose="05000000000000000000" pitchFamily="2" charset="2"/>
              </a:rPr>
              <a:t>ĐQ</a:t>
            </a:r>
            <a:r>
              <a:rPr lang="vi-VN" altLang="en-US" sz="4000" b="1">
                <a:solidFill>
                  <a:srgbClr val="002060"/>
                </a:solidFill>
                <a:sym typeface="Wingdings" panose="05000000000000000000" pitchFamily="2" charset="2"/>
              </a:rPr>
              <a:t> hay các </a:t>
            </a:r>
            <a:r>
              <a:rPr lang="en-US" altLang="en-US" sz="4000" b="1">
                <a:solidFill>
                  <a:srgbClr val="002060"/>
                </a:solidFill>
                <a:sym typeface="Wingdings" panose="05000000000000000000" pitchFamily="2" charset="2"/>
              </a:rPr>
              <a:t>QĐ</a:t>
            </a:r>
            <a:r>
              <a:rPr lang="vi-VN" altLang="en-US" sz="4000" b="1">
                <a:solidFill>
                  <a:srgbClr val="002060"/>
                </a:solidFill>
                <a:sym typeface="Wingdings" panose="05000000000000000000" pitchFamily="2" charset="2"/>
              </a:rPr>
              <a:t> hành chính của N²</a:t>
            </a:r>
          </a:p>
          <a:p>
            <a:pPr algn="just" eaLnBrk="1" hangingPunct="1">
              <a:spcBef>
                <a:spcPct val="50000"/>
              </a:spcBef>
            </a:pPr>
            <a:r>
              <a:rPr lang="vi-VN" altLang="en-US" sz="4000" b="1">
                <a:solidFill>
                  <a:srgbClr val="002060"/>
                </a:solidFill>
                <a:sym typeface="Wingdings" panose="05000000000000000000" pitchFamily="2" charset="2"/>
              </a:rPr>
              <a:t>Giá cả thị trường là kết quả khách quan của quan hệ cung cầu</a:t>
            </a:r>
          </a:p>
          <a:p>
            <a:pPr algn="just" eaLnBrk="1" hangingPunct="1">
              <a:spcBef>
                <a:spcPct val="50000"/>
              </a:spcBef>
            </a:pPr>
            <a:r>
              <a:rPr lang="vi-VN" altLang="en-US" sz="4000" b="1">
                <a:solidFill>
                  <a:srgbClr val="002060"/>
                </a:solidFill>
                <a:sym typeface="Wingdings" panose="05000000000000000000" pitchFamily="2" charset="2"/>
              </a:rPr>
              <a:t>T</a:t>
            </a:r>
            <a:r>
              <a:rPr lang="en-US" altLang="en-US" sz="4000" b="1">
                <a:solidFill>
                  <a:srgbClr val="002060"/>
                </a:solidFill>
                <a:sym typeface="Wingdings" panose="05000000000000000000" pitchFamily="2" charset="2"/>
              </a:rPr>
              <a:t>LSX</a:t>
            </a:r>
            <a:r>
              <a:rPr lang="vi-VN" altLang="en-US" sz="4000" b="1">
                <a:solidFill>
                  <a:srgbClr val="002060"/>
                </a:solidFill>
                <a:sym typeface="Wingdings" panose="05000000000000000000" pitchFamily="2" charset="2"/>
              </a:rPr>
              <a:t> và S</a:t>
            </a:r>
            <a:r>
              <a:rPr lang="en-US" altLang="en-US" sz="4000" b="1">
                <a:solidFill>
                  <a:srgbClr val="002060"/>
                </a:solidFill>
                <a:sym typeface="Wingdings" panose="05000000000000000000" pitchFamily="2" charset="2"/>
              </a:rPr>
              <a:t>LĐ</a:t>
            </a:r>
            <a:r>
              <a:rPr lang="vi-VN" altLang="en-US" sz="4000" b="1">
                <a:solidFill>
                  <a:srgbClr val="002060"/>
                </a:solidFill>
                <a:sym typeface="Wingdings" panose="05000000000000000000" pitchFamily="2" charset="2"/>
              </a:rPr>
              <a:t> được tự do di chuyển giữa các ngành, người SXHH có quyền tự chủ, tự do kinh doanh theo pháp luật</a:t>
            </a:r>
          </a:p>
          <a:p>
            <a:pPr algn="just" eaLnBrk="1" hangingPunct="1">
              <a:spcBef>
                <a:spcPct val="50000"/>
              </a:spcBef>
            </a:pPr>
            <a:r>
              <a:rPr lang="vi-VN" altLang="en-US" sz="4000" b="1">
                <a:solidFill>
                  <a:srgbClr val="002060"/>
                </a:solidFill>
                <a:sym typeface="Wingdings" panose="05000000000000000000" pitchFamily="2" charset="2"/>
              </a:rPr>
              <a:t>Cạnh tranh là sức sống của cơ chế thị trường</a:t>
            </a:r>
          </a:p>
        </p:txBody>
      </p:sp>
      <p:sp>
        <p:nvSpPr>
          <p:cNvPr id="6" name="Rectangle 50">
            <a:extLst>
              <a:ext uri="{FF2B5EF4-FFF2-40B4-BE49-F238E27FC236}">
                <a16:creationId xmlns:a16="http://schemas.microsoft.com/office/drawing/2014/main" id="{7294214F-7F12-761A-E151-58AFA5B39A0C}"/>
              </a:ext>
            </a:extLst>
          </p:cNvPr>
          <p:cNvSpPr>
            <a:spLocks noChangeArrowheads="1"/>
          </p:cNvSpPr>
          <p:nvPr/>
        </p:nvSpPr>
        <p:spPr bwMode="ltGray">
          <a:xfrm flipH="1">
            <a:off x="1361252" y="3050620"/>
            <a:ext cx="8930828" cy="1356984"/>
          </a:xfrm>
          <a:prstGeom prst="rect">
            <a:avLst/>
          </a:prstGeom>
          <a:gradFill rotWithShape="1">
            <a:gsLst>
              <a:gs pos="0">
                <a:srgbClr val="1C4598">
                  <a:alpha val="80000"/>
                </a:srgbClr>
              </a:gs>
              <a:gs pos="50000">
                <a:srgbClr val="1C4598">
                  <a:gamma/>
                  <a:shade val="89020"/>
                  <a:invGamma/>
                </a:srgbClr>
              </a:gs>
              <a:gs pos="100000">
                <a:srgbClr val="1C4598">
                  <a:alpha val="80000"/>
                </a:srgbClr>
              </a:gs>
            </a:gsLst>
            <a:lin ang="0" scaled="1"/>
          </a:gradFill>
          <a:ln>
            <a:noFill/>
          </a:ln>
          <a:effectLst/>
        </p:spPr>
        <p:txBody>
          <a:bodyPr wrap="none" anchor="ctr"/>
          <a:lstStyle/>
          <a:p>
            <a:pPr algn="ctr">
              <a:defRPr/>
            </a:pPr>
            <a:r>
              <a:rPr lang="vi-VN" sz="3600" b="1" kern="0" dirty="0">
                <a:solidFill>
                  <a:srgbClr val="FFFFFF"/>
                </a:solidFill>
              </a:rPr>
              <a:t>Đặc điểm của cơ chế cạnh tranh tự do </a:t>
            </a:r>
            <a:endParaRPr lang="en-US" sz="3600" b="1" kern="0" dirty="0">
              <a:solidFill>
                <a:srgbClr val="FFFFFF"/>
              </a:solidFill>
            </a:endParaRPr>
          </a:p>
          <a:p>
            <a:pPr algn="ctr">
              <a:defRPr/>
            </a:pPr>
            <a:r>
              <a:rPr lang="vi-VN" sz="3600" b="1" kern="0" dirty="0">
                <a:solidFill>
                  <a:srgbClr val="FFFFFF"/>
                </a:solidFill>
              </a:rPr>
              <a:t>trong nền kinh tế thị trường TBCN</a:t>
            </a:r>
          </a:p>
        </p:txBody>
      </p:sp>
      <p:sp>
        <p:nvSpPr>
          <p:cNvPr id="8" name="Rectangle 2">
            <a:extLst>
              <a:ext uri="{FF2B5EF4-FFF2-40B4-BE49-F238E27FC236}">
                <a16:creationId xmlns:a16="http://schemas.microsoft.com/office/drawing/2014/main" id="{3B07AC13-CCF4-4B91-9ACF-E84C5C06D2D3}"/>
              </a:ext>
            </a:extLst>
          </p:cNvPr>
          <p:cNvSpPr txBox="1">
            <a:spLocks noChangeArrowheads="1"/>
          </p:cNvSpPr>
          <p:nvPr/>
        </p:nvSpPr>
        <p:spPr>
          <a:xfrm>
            <a:off x="3883488" y="1003416"/>
            <a:ext cx="10521024" cy="1127124"/>
          </a:xfrm>
          <a:prstGeom prst="rect">
            <a:avLst/>
          </a:prstGeom>
        </p:spPr>
        <p:txBody>
          <a:bodyPr vert="horz" lIns="182880" tIns="91440" rIns="182880" bIns="9144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sz="8000" b="1">
                <a:solidFill>
                  <a:srgbClr val="002060"/>
                </a:solidFill>
                <a:latin typeface="Aachen" panose="02020500000000000000" pitchFamily="18" charset="0"/>
                <a:ea typeface="Aachen" panose="02020500000000000000" pitchFamily="18" charset="0"/>
                <a:cs typeface="Aachen" panose="02020500000000000000" pitchFamily="18" charset="0"/>
              </a:rPr>
              <a:t>KẾT LUẬN</a:t>
            </a:r>
          </a:p>
        </p:txBody>
      </p:sp>
      <p:pic>
        <p:nvPicPr>
          <p:cNvPr id="9" name="Picture 8">
            <a:extLst>
              <a:ext uri="{FF2B5EF4-FFF2-40B4-BE49-F238E27FC236}">
                <a16:creationId xmlns:a16="http://schemas.microsoft.com/office/drawing/2014/main" id="{B7119814-194C-28D6-7C36-C372269CD2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4085" y="5120641"/>
            <a:ext cx="6437194" cy="7162798"/>
          </a:xfrm>
          <a:prstGeom prst="rect">
            <a:avLst/>
          </a:prstGeom>
        </p:spPr>
      </p:pic>
    </p:spTree>
    <p:extLst>
      <p:ext uri="{BB962C8B-B14F-4D97-AF65-F5344CB8AC3E}">
        <p14:creationId xmlns:p14="http://schemas.microsoft.com/office/powerpoint/2010/main" val="107750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Lst>
  </p:timing>
</p:sld>
</file>

<file path=ppt/theme/theme1.xml><?xml version="1.0" encoding="utf-8"?>
<a:theme xmlns:a="http://schemas.openxmlformats.org/drawingml/2006/main" name="Office Theme">
  <a:themeElements>
    <a:clrScheme name="Blue Ready">
      <a:dk1>
        <a:sysClr val="windowText" lastClr="000000"/>
      </a:dk1>
      <a:lt1>
        <a:sysClr val="window" lastClr="FFFFFF"/>
      </a:lt1>
      <a:dk2>
        <a:srgbClr val="797979"/>
      </a:dk2>
      <a:lt2>
        <a:srgbClr val="43B4E3"/>
      </a:lt2>
      <a:accent1>
        <a:srgbClr val="16527E"/>
      </a:accent1>
      <a:accent2>
        <a:srgbClr val="217EC1"/>
      </a:accent2>
      <a:accent3>
        <a:srgbClr val="3CABE9"/>
      </a:accent3>
      <a:accent4>
        <a:srgbClr val="8ACDF0"/>
      </a:accent4>
      <a:accent5>
        <a:srgbClr val="D9EFF9"/>
      </a:accent5>
      <a:accent6>
        <a:srgbClr val="C7C7C7"/>
      </a:accent6>
      <a:hlink>
        <a:srgbClr val="169EBE"/>
      </a:hlink>
      <a:folHlink>
        <a:srgbClr val="1CD1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2B3AF"/>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5266</TotalTime>
  <Words>6876</Words>
  <Application>Microsoft Office PowerPoint</Application>
  <PresentationFormat>Tùy chỉnh</PresentationFormat>
  <Paragraphs>940</Paragraphs>
  <Slides>78</Slides>
  <Notes>2</Notes>
  <HiddenSlides>0</HiddenSlides>
  <MMClips>0</MMClips>
  <ScaleCrop>false</ScaleCrop>
  <HeadingPairs>
    <vt:vector size="6" baseType="variant">
      <vt:variant>
        <vt:lpstr>Phông được Dùng</vt:lpstr>
      </vt:variant>
      <vt:variant>
        <vt:i4>13</vt:i4>
      </vt:variant>
      <vt:variant>
        <vt:lpstr>Chủ đề</vt:lpstr>
      </vt:variant>
      <vt:variant>
        <vt:i4>1</vt:i4>
      </vt:variant>
      <vt:variant>
        <vt:lpstr>Tiêu đề Bản chiếu</vt:lpstr>
      </vt:variant>
      <vt:variant>
        <vt:i4>78</vt:i4>
      </vt:variant>
    </vt:vector>
  </HeadingPairs>
  <TitlesOfParts>
    <vt:vector size="92" baseType="lpstr">
      <vt:lpstr>ＭＳ Ｐゴシック</vt:lpstr>
      <vt:lpstr>ＭＳ Ｐゴシック</vt:lpstr>
      <vt:lpstr>.VnTime</vt:lpstr>
      <vt:lpstr>.VnTimeH</vt:lpstr>
      <vt:lpstr>Aachen</vt:lpstr>
      <vt:lpstr>Arial</vt:lpstr>
      <vt:lpstr>Calibri</vt:lpstr>
      <vt:lpstr>Cambria Math</vt:lpstr>
      <vt:lpstr>Source Sans Pro ExtraLight</vt:lpstr>
      <vt:lpstr>Times New Roman</vt:lpstr>
      <vt:lpstr>Verdana</vt:lpstr>
      <vt:lpstr>VNI-Times</vt:lpstr>
      <vt:lpstr>Wingdings</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Louis Twelve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dc:title>
  <dc:creator>Louis Twelve</dc:creator>
  <cp:lastModifiedBy>Tra Minh</cp:lastModifiedBy>
  <cp:revision>941</cp:revision>
  <dcterms:created xsi:type="dcterms:W3CDTF">2014-11-10T20:05:35Z</dcterms:created>
  <dcterms:modified xsi:type="dcterms:W3CDTF">2025-03-26T03:24:24Z</dcterms:modified>
</cp:coreProperties>
</file>